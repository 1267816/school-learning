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3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76" r:id="rId5"/>
    <p:sldId id="277" r:id="rId6"/>
    <p:sldId id="278" r:id="rId7"/>
    <p:sldId id="279" r:id="rId8"/>
    <p:sldId id="280" r:id="rId9"/>
    <p:sldId id="281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E2424-4A80-4946-884C-E6F1F6D82D4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912DB-F6CB-4352-B3B9-7A907E506F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85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1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4.png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230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Layout" Target="../slideLayouts/slideLayout8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image" Target="../media/image7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7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5.wdp"/><Relationship Id="rId3" Type="http://schemas.openxmlformats.org/officeDocument/2006/relationships/image" Target="../media/image22.png"/><Relationship Id="rId7" Type="http://schemas.microsoft.com/office/2007/relationships/hdphoto" Target="../media/hdphoto3.wdp"/><Relationship Id="rId12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microsoft.com/office/2007/relationships/hdphoto" Target="../media/hdphoto4.wdp"/><Relationship Id="rId5" Type="http://schemas.openxmlformats.org/officeDocument/2006/relationships/image" Target="../media/image24.png"/><Relationship Id="rId10" Type="http://schemas.openxmlformats.org/officeDocument/2006/relationships/image" Target="../media/image26.png"/><Relationship Id="rId4" Type="http://schemas.openxmlformats.org/officeDocument/2006/relationships/image" Target="../media/image23.GIF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624330" y="2303780"/>
            <a:ext cx="2631440" cy="2631440"/>
          </a:xfrm>
          <a:prstGeom prst="ellipse">
            <a:avLst/>
          </a:prstGeom>
          <a:gradFill>
            <a:gsLst>
              <a:gs pos="71000">
                <a:schemeClr val="bg1"/>
              </a:gs>
              <a:gs pos="33000">
                <a:srgbClr val="F4FBFC"/>
              </a:gs>
              <a:gs pos="100000">
                <a:schemeClr val="bg2">
                  <a:alpha val="22000"/>
                  <a:lumMod val="68000"/>
                  <a:lumOff val="32000"/>
                </a:schemeClr>
              </a:gs>
              <a:gs pos="0">
                <a:schemeClr val="bg2">
                  <a:lumMod val="39000"/>
                  <a:lumOff val="61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3703" y="2303780"/>
            <a:ext cx="3288479" cy="3302029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342242" y="5303857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9341348" y="546391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 flipH="1">
            <a:off x="762000" y="0"/>
            <a:ext cx="1143000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5">
            <a:alphaModFix amt="19000"/>
          </a:blip>
          <a:stretch>
            <a:fillRect/>
          </a:stretch>
        </p:blipFill>
        <p:spPr>
          <a:xfrm>
            <a:off x="5308361" y="55890"/>
            <a:ext cx="7734858" cy="514894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6968988" y="5204833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4289305" y="2833469"/>
            <a:ext cx="772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选择结构程序设计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6075542" y="4082802"/>
            <a:ext cx="5122916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590795" y="1268356"/>
            <a:ext cx="2342308" cy="450892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9600">
                <a:gradFill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lin ang="6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7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4</a:t>
            </a:r>
            <a:endParaRPr kumimoji="0" lang="zh-CN" altLang="en-US" sz="287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alpha val="0"/>
                    </a:prstClr>
                  </a:gs>
                  <a:gs pos="47000">
                    <a:prstClr val="white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651979" y="1158515"/>
            <a:ext cx="471142" cy="471142"/>
            <a:chOff x="5800489" y="913200"/>
            <a:chExt cx="591022" cy="591022"/>
          </a:xfrm>
        </p:grpSpPr>
        <p:sp>
          <p:nvSpPr>
            <p:cNvPr id="7" name="图形 40"/>
            <p:cNvSpPr/>
            <p:nvPr/>
          </p:nvSpPr>
          <p:spPr>
            <a:xfrm>
              <a:off x="5900824" y="1050989"/>
              <a:ext cx="390352" cy="365098"/>
            </a:xfrm>
            <a:custGeom>
              <a:avLst/>
              <a:gdLst>
                <a:gd name="csX0" fmla="*/ 35354 w 494954"/>
                <a:gd name="csY0" fmla="*/ 494954 h 494954"/>
                <a:gd name="csX1" fmla="*/ 459600 w 494954"/>
                <a:gd name="csY1" fmla="*/ 494954 h 494954"/>
                <a:gd name="csX2" fmla="*/ 494954 w 494954"/>
                <a:gd name="csY2" fmla="*/ 459600 h 494954"/>
                <a:gd name="csX3" fmla="*/ 494954 w 494954"/>
                <a:gd name="csY3" fmla="*/ 35354 h 494954"/>
                <a:gd name="csX4" fmla="*/ 459600 w 494954"/>
                <a:gd name="csY4" fmla="*/ 0 h 494954"/>
                <a:gd name="csX5" fmla="*/ 35354 w 494954"/>
                <a:gd name="csY5" fmla="*/ 0 h 494954"/>
                <a:gd name="csX6" fmla="*/ 0 w 494954"/>
                <a:gd name="csY6" fmla="*/ 35354 h 494954"/>
                <a:gd name="csX7" fmla="*/ 0 w 494954"/>
                <a:gd name="csY7" fmla="*/ 459600 h 494954"/>
                <a:gd name="csX8" fmla="*/ 35354 w 494954"/>
                <a:gd name="csY8" fmla="*/ 494954 h 494954"/>
                <a:gd name="csX9" fmla="*/ 194500 w 494954"/>
                <a:gd name="csY9" fmla="*/ 361472 h 494954"/>
                <a:gd name="csX10" fmla="*/ 266023 w 494954"/>
                <a:gd name="csY10" fmla="*/ 124543 h 494954"/>
                <a:gd name="csX11" fmla="*/ 295626 w 494954"/>
                <a:gd name="csY11" fmla="*/ 133482 h 494954"/>
                <a:gd name="csX12" fmla="*/ 224137 w 494954"/>
                <a:gd name="csY12" fmla="*/ 370411 h 494954"/>
                <a:gd name="csX13" fmla="*/ 194500 w 494954"/>
                <a:gd name="csY13" fmla="*/ 361472 h 494954"/>
                <a:gd name="csX14" fmla="*/ 307352 w 494954"/>
                <a:gd name="csY14" fmla="*/ 332174 h 494954"/>
                <a:gd name="csX15" fmla="*/ 381036 w 494954"/>
                <a:gd name="csY15" fmla="*/ 262944 h 494954"/>
                <a:gd name="csX16" fmla="*/ 307352 w 494954"/>
                <a:gd name="csY16" fmla="*/ 193713 h 494954"/>
                <a:gd name="csX17" fmla="*/ 331914 w 494954"/>
                <a:gd name="csY17" fmla="*/ 170635 h 494954"/>
                <a:gd name="csX18" fmla="*/ 405600 w 494954"/>
                <a:gd name="csY18" fmla="*/ 239867 h 494954"/>
                <a:gd name="csX19" fmla="*/ 430163 w 494954"/>
                <a:gd name="csY19" fmla="*/ 262944 h 494954"/>
                <a:gd name="csX20" fmla="*/ 405601 w 494954"/>
                <a:gd name="csY20" fmla="*/ 286024 h 494954"/>
                <a:gd name="csX21" fmla="*/ 331914 w 494954"/>
                <a:gd name="csY21" fmla="*/ 355253 h 494954"/>
                <a:gd name="csX22" fmla="*/ 307352 w 494954"/>
                <a:gd name="csY22" fmla="*/ 332174 h 494954"/>
                <a:gd name="csX23" fmla="*/ 86664 w 494954"/>
                <a:gd name="csY23" fmla="*/ 284816 h 494954"/>
                <a:gd name="csX24" fmla="*/ 64792 w 494954"/>
                <a:gd name="csY24" fmla="*/ 262944 h 494954"/>
                <a:gd name="csX25" fmla="*/ 86664 w 494954"/>
                <a:gd name="csY25" fmla="*/ 241075 h 494954"/>
                <a:gd name="csX26" fmla="*/ 152276 w 494954"/>
                <a:gd name="csY26" fmla="*/ 175461 h 494954"/>
                <a:gd name="csX27" fmla="*/ 174145 w 494954"/>
                <a:gd name="csY27" fmla="*/ 197333 h 494954"/>
                <a:gd name="csX28" fmla="*/ 108534 w 494954"/>
                <a:gd name="csY28" fmla="*/ 262944 h 494954"/>
                <a:gd name="csX29" fmla="*/ 174145 w 494954"/>
                <a:gd name="csY29" fmla="*/ 328558 h 494954"/>
                <a:gd name="csX30" fmla="*/ 152275 w 494954"/>
                <a:gd name="csY30" fmla="*/ 350428 h 494954"/>
                <a:gd name="csX31" fmla="*/ 86664 w 494954"/>
                <a:gd name="csY31" fmla="*/ 284816 h 49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94954" h="494954">
                  <a:moveTo>
                    <a:pt x="35354" y="494954"/>
                  </a:moveTo>
                  <a:lnTo>
                    <a:pt x="459600" y="494954"/>
                  </a:lnTo>
                  <a:cubicBezTo>
                    <a:pt x="479126" y="494954"/>
                    <a:pt x="494954" y="479126"/>
                    <a:pt x="494954" y="459600"/>
                  </a:cubicBezTo>
                  <a:lnTo>
                    <a:pt x="494954" y="35354"/>
                  </a:lnTo>
                  <a:cubicBezTo>
                    <a:pt x="494954" y="15829"/>
                    <a:pt x="479126" y="0"/>
                    <a:pt x="459600" y="0"/>
                  </a:cubicBezTo>
                  <a:lnTo>
                    <a:pt x="35354" y="0"/>
                  </a:lnTo>
                  <a:cubicBezTo>
                    <a:pt x="15829" y="0"/>
                    <a:pt x="0" y="15829"/>
                    <a:pt x="0" y="35354"/>
                  </a:cubicBezTo>
                  <a:lnTo>
                    <a:pt x="0" y="459600"/>
                  </a:lnTo>
                  <a:cubicBezTo>
                    <a:pt x="0" y="479126"/>
                    <a:pt x="15829" y="494954"/>
                    <a:pt x="35354" y="494954"/>
                  </a:cubicBezTo>
                  <a:close/>
                  <a:moveTo>
                    <a:pt x="194500" y="361472"/>
                  </a:moveTo>
                  <a:lnTo>
                    <a:pt x="266023" y="124543"/>
                  </a:lnTo>
                  <a:lnTo>
                    <a:pt x="295626" y="133482"/>
                  </a:lnTo>
                  <a:lnTo>
                    <a:pt x="224137" y="370411"/>
                  </a:lnTo>
                  <a:lnTo>
                    <a:pt x="194500" y="361472"/>
                  </a:lnTo>
                  <a:close/>
                  <a:moveTo>
                    <a:pt x="307352" y="332174"/>
                  </a:moveTo>
                  <a:lnTo>
                    <a:pt x="381036" y="262944"/>
                  </a:lnTo>
                  <a:lnTo>
                    <a:pt x="307352" y="193713"/>
                  </a:lnTo>
                  <a:lnTo>
                    <a:pt x="331914" y="170635"/>
                  </a:lnTo>
                  <a:lnTo>
                    <a:pt x="405600" y="239867"/>
                  </a:lnTo>
                  <a:lnTo>
                    <a:pt x="430163" y="262944"/>
                  </a:lnTo>
                  <a:lnTo>
                    <a:pt x="405601" y="286024"/>
                  </a:lnTo>
                  <a:lnTo>
                    <a:pt x="331914" y="355253"/>
                  </a:lnTo>
                  <a:lnTo>
                    <a:pt x="307352" y="332174"/>
                  </a:lnTo>
                  <a:close/>
                  <a:moveTo>
                    <a:pt x="86664" y="284816"/>
                  </a:moveTo>
                  <a:lnTo>
                    <a:pt x="64792" y="262944"/>
                  </a:lnTo>
                  <a:lnTo>
                    <a:pt x="86664" y="241075"/>
                  </a:lnTo>
                  <a:lnTo>
                    <a:pt x="152276" y="175461"/>
                  </a:lnTo>
                  <a:lnTo>
                    <a:pt x="174145" y="197333"/>
                  </a:lnTo>
                  <a:lnTo>
                    <a:pt x="108534" y="262944"/>
                  </a:lnTo>
                  <a:lnTo>
                    <a:pt x="174145" y="328558"/>
                  </a:lnTo>
                  <a:lnTo>
                    <a:pt x="152275" y="350428"/>
                  </a:lnTo>
                  <a:lnTo>
                    <a:pt x="86664" y="284816"/>
                  </a:ln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54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图片 8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800489" y="913200"/>
              <a:ext cx="591022" cy="591022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354518" y="1570536"/>
            <a:ext cx="637029" cy="637029"/>
            <a:chOff x="5332525" y="-777658"/>
            <a:chExt cx="637029" cy="637029"/>
          </a:xfrm>
        </p:grpSpPr>
        <p:sp>
          <p:nvSpPr>
            <p:cNvPr id="12" name="任意多边形: 形状 11"/>
            <p:cNvSpPr/>
            <p:nvPr/>
          </p:nvSpPr>
          <p:spPr>
            <a:xfrm>
              <a:off x="5455291" y="-648875"/>
              <a:ext cx="394126" cy="394081"/>
            </a:xfrm>
            <a:custGeom>
              <a:avLst/>
              <a:gdLst>
                <a:gd name="csX0" fmla="*/ 228229 w 358158"/>
                <a:gd name="csY0" fmla="*/ 299177 h 358117"/>
                <a:gd name="csX1" fmla="*/ 222141 w 358158"/>
                <a:gd name="csY1" fmla="*/ 300371 h 358117"/>
                <a:gd name="csX2" fmla="*/ 217241 w 358158"/>
                <a:gd name="csY2" fmla="*/ 303803 h 358117"/>
                <a:gd name="csX3" fmla="*/ 213826 w 358158"/>
                <a:gd name="csY3" fmla="*/ 308727 h 358117"/>
                <a:gd name="csX4" fmla="*/ 212638 w 358158"/>
                <a:gd name="csY4" fmla="*/ 314845 h 358117"/>
                <a:gd name="csX5" fmla="*/ 213826 w 358158"/>
                <a:gd name="csY5" fmla="*/ 320963 h 358117"/>
                <a:gd name="csX6" fmla="*/ 217241 w 358158"/>
                <a:gd name="csY6" fmla="*/ 325887 h 358117"/>
                <a:gd name="csX7" fmla="*/ 222141 w 358158"/>
                <a:gd name="csY7" fmla="*/ 329319 h 358117"/>
                <a:gd name="csX8" fmla="*/ 228229 w 358158"/>
                <a:gd name="csY8" fmla="*/ 330512 h 358117"/>
                <a:gd name="csX9" fmla="*/ 234317 w 358158"/>
                <a:gd name="csY9" fmla="*/ 329319 h 358117"/>
                <a:gd name="csX10" fmla="*/ 239217 w 358158"/>
                <a:gd name="csY10" fmla="*/ 325887 h 358117"/>
                <a:gd name="csX11" fmla="*/ 242633 w 358158"/>
                <a:gd name="csY11" fmla="*/ 320963 h 358117"/>
                <a:gd name="csX12" fmla="*/ 243821 w 358158"/>
                <a:gd name="csY12" fmla="*/ 314845 h 358117"/>
                <a:gd name="csX13" fmla="*/ 242633 w 358158"/>
                <a:gd name="csY13" fmla="*/ 308727 h 358117"/>
                <a:gd name="csX14" fmla="*/ 239217 w 358158"/>
                <a:gd name="csY14" fmla="*/ 303803 h 358117"/>
                <a:gd name="csX15" fmla="*/ 234317 w 358158"/>
                <a:gd name="csY15" fmla="*/ 300371 h 358117"/>
                <a:gd name="csX16" fmla="*/ 277083 w 358158"/>
                <a:gd name="csY16" fmla="*/ 90574 h 358117"/>
                <a:gd name="csX17" fmla="*/ 308117 w 358158"/>
                <a:gd name="csY17" fmla="*/ 90574 h 358117"/>
                <a:gd name="csX18" fmla="*/ 310196 w 358158"/>
                <a:gd name="csY18" fmla="*/ 90723 h 358117"/>
                <a:gd name="csX19" fmla="*/ 313314 w 358158"/>
                <a:gd name="csY19" fmla="*/ 91171 h 358117"/>
                <a:gd name="csX20" fmla="*/ 317472 w 358158"/>
                <a:gd name="csY20" fmla="*/ 92066 h 358117"/>
                <a:gd name="csX21" fmla="*/ 322224 w 358158"/>
                <a:gd name="csY21" fmla="*/ 93857 h 358117"/>
                <a:gd name="csX22" fmla="*/ 327421 w 358158"/>
                <a:gd name="csY22" fmla="*/ 96543 h 358117"/>
                <a:gd name="csX23" fmla="*/ 332766 w 358158"/>
                <a:gd name="csY23" fmla="*/ 100571 h 358117"/>
                <a:gd name="csX24" fmla="*/ 338112 w 358158"/>
                <a:gd name="csY24" fmla="*/ 105794 h 358117"/>
                <a:gd name="csX25" fmla="*/ 343309 w 358158"/>
                <a:gd name="csY25" fmla="*/ 112807 h 358117"/>
                <a:gd name="csX26" fmla="*/ 348061 w 358158"/>
                <a:gd name="csY26" fmla="*/ 121611 h 358117"/>
                <a:gd name="csX27" fmla="*/ 352219 w 358158"/>
                <a:gd name="csY27" fmla="*/ 132504 h 358117"/>
                <a:gd name="csX28" fmla="*/ 355337 w 358158"/>
                <a:gd name="csY28" fmla="*/ 145634 h 358117"/>
                <a:gd name="csX29" fmla="*/ 357416 w 358158"/>
                <a:gd name="csY29" fmla="*/ 161153 h 358117"/>
                <a:gd name="csX30" fmla="*/ 358158 w 358158"/>
                <a:gd name="csY30" fmla="*/ 179506 h 358117"/>
                <a:gd name="csX31" fmla="*/ 357267 w 358158"/>
                <a:gd name="csY31" fmla="*/ 197860 h 358117"/>
                <a:gd name="csX32" fmla="*/ 354891 w 358158"/>
                <a:gd name="csY32" fmla="*/ 213378 h 358117"/>
                <a:gd name="csX33" fmla="*/ 351328 w 358158"/>
                <a:gd name="csY33" fmla="*/ 226211 h 358117"/>
                <a:gd name="csX34" fmla="*/ 346576 w 358158"/>
                <a:gd name="csY34" fmla="*/ 236805 h 358117"/>
                <a:gd name="csX35" fmla="*/ 341230 w 358158"/>
                <a:gd name="csY35" fmla="*/ 245310 h 358117"/>
                <a:gd name="csX36" fmla="*/ 335291 w 358158"/>
                <a:gd name="csY36" fmla="*/ 252025 h 358117"/>
                <a:gd name="csX37" fmla="*/ 329054 w 358158"/>
                <a:gd name="csY37" fmla="*/ 256949 h 358117"/>
                <a:gd name="csX38" fmla="*/ 322818 w 358158"/>
                <a:gd name="csY38" fmla="*/ 260530 h 358117"/>
                <a:gd name="csX39" fmla="*/ 316878 w 358158"/>
                <a:gd name="csY39" fmla="*/ 262918 h 358117"/>
                <a:gd name="csX40" fmla="*/ 311532 w 358158"/>
                <a:gd name="csY40" fmla="*/ 264261 h 358117"/>
                <a:gd name="csX41" fmla="*/ 306781 w 358158"/>
                <a:gd name="csY41" fmla="*/ 265007 h 358117"/>
                <a:gd name="csX42" fmla="*/ 303217 w 358158"/>
                <a:gd name="csY42" fmla="*/ 265305 h 358117"/>
                <a:gd name="csX43" fmla="*/ 300841 w 358158"/>
                <a:gd name="csY43" fmla="*/ 265156 h 358117"/>
                <a:gd name="csX44" fmla="*/ 178782 w 358158"/>
                <a:gd name="csY44" fmla="*/ 265156 h 358117"/>
                <a:gd name="csX45" fmla="*/ 178782 w 358158"/>
                <a:gd name="csY45" fmla="*/ 277392 h 358117"/>
                <a:gd name="csX46" fmla="*/ 265500 w 358158"/>
                <a:gd name="csY46" fmla="*/ 277392 h 358117"/>
                <a:gd name="csX47" fmla="*/ 265649 w 358158"/>
                <a:gd name="csY47" fmla="*/ 318575 h 358117"/>
                <a:gd name="csX48" fmla="*/ 265946 w 358158"/>
                <a:gd name="csY48" fmla="*/ 323947 h 358117"/>
                <a:gd name="csX49" fmla="*/ 265203 w 358158"/>
                <a:gd name="csY49" fmla="*/ 329020 h 358117"/>
                <a:gd name="csX50" fmla="*/ 263570 w 358158"/>
                <a:gd name="csY50" fmla="*/ 333646 h 358117"/>
                <a:gd name="csX51" fmla="*/ 261046 w 358158"/>
                <a:gd name="csY51" fmla="*/ 337973 h 358117"/>
                <a:gd name="csX52" fmla="*/ 257333 w 358158"/>
                <a:gd name="csY52" fmla="*/ 341704 h 358117"/>
                <a:gd name="csX53" fmla="*/ 252730 w 358158"/>
                <a:gd name="csY53" fmla="*/ 345285 h 358117"/>
                <a:gd name="csX54" fmla="*/ 247087 w 358158"/>
                <a:gd name="csY54" fmla="*/ 348269 h 358117"/>
                <a:gd name="csX55" fmla="*/ 240554 w 358158"/>
                <a:gd name="csY55" fmla="*/ 350806 h 358117"/>
                <a:gd name="csX56" fmla="*/ 232981 w 358158"/>
                <a:gd name="csY56" fmla="*/ 353044 h 358117"/>
                <a:gd name="csX57" fmla="*/ 224368 w 358158"/>
                <a:gd name="csY57" fmla="*/ 354984 h 358117"/>
                <a:gd name="csX58" fmla="*/ 214865 w 358158"/>
                <a:gd name="csY58" fmla="*/ 356327 h 358117"/>
                <a:gd name="csX59" fmla="*/ 204322 w 358158"/>
                <a:gd name="csY59" fmla="*/ 357371 h 358117"/>
                <a:gd name="csX60" fmla="*/ 192888 w 358158"/>
                <a:gd name="csY60" fmla="*/ 357968 h 358117"/>
                <a:gd name="csX61" fmla="*/ 180415 w 358158"/>
                <a:gd name="csY61" fmla="*/ 358117 h 358117"/>
                <a:gd name="csX62" fmla="*/ 161557 w 358158"/>
                <a:gd name="csY62" fmla="*/ 357520 h 358117"/>
                <a:gd name="csX63" fmla="*/ 145669 w 358158"/>
                <a:gd name="csY63" fmla="*/ 355431 h 358117"/>
                <a:gd name="csX64" fmla="*/ 132304 w 358158"/>
                <a:gd name="csY64" fmla="*/ 352447 h 358117"/>
                <a:gd name="csX65" fmla="*/ 121465 w 358158"/>
                <a:gd name="csY65" fmla="*/ 348717 h 358117"/>
                <a:gd name="csX66" fmla="*/ 112704 w 358158"/>
                <a:gd name="csY66" fmla="*/ 344240 h 358117"/>
                <a:gd name="csX67" fmla="*/ 106022 w 358158"/>
                <a:gd name="csY67" fmla="*/ 339316 h 358117"/>
                <a:gd name="csX68" fmla="*/ 100973 w 358158"/>
                <a:gd name="csY68" fmla="*/ 334243 h 358117"/>
                <a:gd name="csX69" fmla="*/ 97261 w 358158"/>
                <a:gd name="csY69" fmla="*/ 329169 h 358117"/>
                <a:gd name="csX70" fmla="*/ 94885 w 358158"/>
                <a:gd name="csY70" fmla="*/ 324245 h 358117"/>
                <a:gd name="csX71" fmla="*/ 93400 w 358158"/>
                <a:gd name="csY71" fmla="*/ 319769 h 358117"/>
                <a:gd name="csX72" fmla="*/ 92806 w 358158"/>
                <a:gd name="csY72" fmla="*/ 316039 h 358117"/>
                <a:gd name="csX73" fmla="*/ 92509 w 358158"/>
                <a:gd name="csY73" fmla="*/ 313054 h 358117"/>
                <a:gd name="csX74" fmla="*/ 92657 w 358158"/>
                <a:gd name="csY74" fmla="*/ 311114 h 358117"/>
                <a:gd name="csX75" fmla="*/ 92657 w 358158"/>
                <a:gd name="csY75" fmla="*/ 231433 h 358117"/>
                <a:gd name="csX76" fmla="*/ 93400 w 358158"/>
                <a:gd name="csY76" fmla="*/ 221884 h 358117"/>
                <a:gd name="csX77" fmla="*/ 95330 w 358158"/>
                <a:gd name="csY77" fmla="*/ 213826 h 358117"/>
                <a:gd name="csX78" fmla="*/ 98449 w 358158"/>
                <a:gd name="csY78" fmla="*/ 206962 h 358117"/>
                <a:gd name="csX79" fmla="*/ 102309 w 358158"/>
                <a:gd name="csY79" fmla="*/ 201292 h 358117"/>
                <a:gd name="csX80" fmla="*/ 106764 w 358158"/>
                <a:gd name="csY80" fmla="*/ 196517 h 358117"/>
                <a:gd name="csX81" fmla="*/ 111664 w 358158"/>
                <a:gd name="csY81" fmla="*/ 192936 h 358117"/>
                <a:gd name="csX82" fmla="*/ 116861 w 358158"/>
                <a:gd name="csY82" fmla="*/ 189951 h 358117"/>
                <a:gd name="csX83" fmla="*/ 122059 w 358158"/>
                <a:gd name="csY83" fmla="*/ 187862 h 358117"/>
                <a:gd name="csX84" fmla="*/ 126959 w 358158"/>
                <a:gd name="csY84" fmla="*/ 186370 h 358117"/>
                <a:gd name="csX85" fmla="*/ 131413 w 358158"/>
                <a:gd name="csY85" fmla="*/ 185475 h 358117"/>
                <a:gd name="csX86" fmla="*/ 135274 w 358158"/>
                <a:gd name="csY86" fmla="*/ 184878 h 358117"/>
                <a:gd name="csX87" fmla="*/ 138393 w 358158"/>
                <a:gd name="csY87" fmla="*/ 184580 h 358117"/>
                <a:gd name="csX88" fmla="*/ 140323 w 358158"/>
                <a:gd name="csY88" fmla="*/ 184430 h 358117"/>
                <a:gd name="csX89" fmla="*/ 227041 w 358158"/>
                <a:gd name="csY89" fmla="*/ 184430 h 358117"/>
                <a:gd name="csX90" fmla="*/ 237287 w 358158"/>
                <a:gd name="csY90" fmla="*/ 183684 h 358117"/>
                <a:gd name="csX91" fmla="*/ 246048 w 358158"/>
                <a:gd name="csY91" fmla="*/ 181595 h 358117"/>
                <a:gd name="csX92" fmla="*/ 253473 w 358158"/>
                <a:gd name="csY92" fmla="*/ 178462 h 358117"/>
                <a:gd name="csX93" fmla="*/ 259561 w 358158"/>
                <a:gd name="csY93" fmla="*/ 174284 h 358117"/>
                <a:gd name="csX94" fmla="*/ 264461 w 358158"/>
                <a:gd name="csY94" fmla="*/ 169509 h 358117"/>
                <a:gd name="csX95" fmla="*/ 268470 w 358158"/>
                <a:gd name="csY95" fmla="*/ 164286 h 358117"/>
                <a:gd name="csX96" fmla="*/ 271440 w 358158"/>
                <a:gd name="csY96" fmla="*/ 158915 h 358117"/>
                <a:gd name="csX97" fmla="*/ 273667 w 358158"/>
                <a:gd name="csY97" fmla="*/ 153543 h 358117"/>
                <a:gd name="csX98" fmla="*/ 275152 w 358158"/>
                <a:gd name="csY98" fmla="*/ 148320 h 358117"/>
                <a:gd name="csX99" fmla="*/ 276192 w 358158"/>
                <a:gd name="csY99" fmla="*/ 143545 h 358117"/>
                <a:gd name="csX100" fmla="*/ 276786 w 358158"/>
                <a:gd name="csY100" fmla="*/ 139367 h 358117"/>
                <a:gd name="csX101" fmla="*/ 277083 w 358158"/>
                <a:gd name="csY101" fmla="*/ 136234 h 358117"/>
                <a:gd name="csX102" fmla="*/ 129929 w 358158"/>
                <a:gd name="csY102" fmla="*/ 27605 h 358117"/>
                <a:gd name="csX103" fmla="*/ 123841 w 358158"/>
                <a:gd name="csY103" fmla="*/ 28948 h 358117"/>
                <a:gd name="csX104" fmla="*/ 118941 w 358158"/>
                <a:gd name="csY104" fmla="*/ 32231 h 358117"/>
                <a:gd name="csX105" fmla="*/ 115526 w 358158"/>
                <a:gd name="csY105" fmla="*/ 37155 h 358117"/>
                <a:gd name="csX106" fmla="*/ 114338 w 358158"/>
                <a:gd name="csY106" fmla="*/ 43272 h 358117"/>
                <a:gd name="csX107" fmla="*/ 115526 w 358158"/>
                <a:gd name="csY107" fmla="*/ 49390 h 358117"/>
                <a:gd name="csX108" fmla="*/ 118941 w 358158"/>
                <a:gd name="csY108" fmla="*/ 54464 h 358117"/>
                <a:gd name="csX109" fmla="*/ 123841 w 358158"/>
                <a:gd name="csY109" fmla="*/ 57746 h 358117"/>
                <a:gd name="csX110" fmla="*/ 129929 w 358158"/>
                <a:gd name="csY110" fmla="*/ 59089 h 358117"/>
                <a:gd name="csX111" fmla="*/ 136017 w 358158"/>
                <a:gd name="csY111" fmla="*/ 57746 h 358117"/>
                <a:gd name="csX112" fmla="*/ 140917 w 358158"/>
                <a:gd name="csY112" fmla="*/ 54464 h 358117"/>
                <a:gd name="csX113" fmla="*/ 144333 w 358158"/>
                <a:gd name="csY113" fmla="*/ 49390 h 358117"/>
                <a:gd name="csX114" fmla="*/ 145521 w 358158"/>
                <a:gd name="csY114" fmla="*/ 43272 h 358117"/>
                <a:gd name="csX115" fmla="*/ 144333 w 358158"/>
                <a:gd name="csY115" fmla="*/ 37155 h 358117"/>
                <a:gd name="csX116" fmla="*/ 140917 w 358158"/>
                <a:gd name="csY116" fmla="*/ 32231 h 358117"/>
                <a:gd name="csX117" fmla="*/ 136017 w 358158"/>
                <a:gd name="csY117" fmla="*/ 28948 h 358117"/>
                <a:gd name="csX118" fmla="*/ 177743 w 358158"/>
                <a:gd name="csY118" fmla="*/ 0 h 358117"/>
                <a:gd name="csX119" fmla="*/ 196601 w 358158"/>
                <a:gd name="csY119" fmla="*/ 746 h 358117"/>
                <a:gd name="csX120" fmla="*/ 212490 w 358158"/>
                <a:gd name="csY120" fmla="*/ 2686 h 358117"/>
                <a:gd name="csX121" fmla="*/ 225854 w 358158"/>
                <a:gd name="csY121" fmla="*/ 5670 h 358117"/>
                <a:gd name="csX122" fmla="*/ 236694 w 358158"/>
                <a:gd name="csY122" fmla="*/ 9550 h 358117"/>
                <a:gd name="csX123" fmla="*/ 245455 w 358158"/>
                <a:gd name="csY123" fmla="*/ 14026 h 358117"/>
                <a:gd name="csX124" fmla="*/ 252137 w 358158"/>
                <a:gd name="csY124" fmla="*/ 18801 h 358117"/>
                <a:gd name="csX125" fmla="*/ 257185 w 358158"/>
                <a:gd name="csY125" fmla="*/ 23874 h 358117"/>
                <a:gd name="csX126" fmla="*/ 260898 w 358158"/>
                <a:gd name="csY126" fmla="*/ 28948 h 358117"/>
                <a:gd name="csX127" fmla="*/ 263273 w 358158"/>
                <a:gd name="csY127" fmla="*/ 33872 h 358117"/>
                <a:gd name="csX128" fmla="*/ 264758 w 358158"/>
                <a:gd name="csY128" fmla="*/ 38348 h 358117"/>
                <a:gd name="csX129" fmla="*/ 265352 w 358158"/>
                <a:gd name="csY129" fmla="*/ 42228 h 358117"/>
                <a:gd name="csX130" fmla="*/ 265649 w 358158"/>
                <a:gd name="csY130" fmla="*/ 45212 h 358117"/>
                <a:gd name="csX131" fmla="*/ 265501 w 358158"/>
                <a:gd name="csY131" fmla="*/ 47152 h 358117"/>
                <a:gd name="csX132" fmla="*/ 265501 w 358158"/>
                <a:gd name="csY132" fmla="*/ 126833 h 358117"/>
                <a:gd name="csX133" fmla="*/ 264758 w 358158"/>
                <a:gd name="csY133" fmla="*/ 136234 h 358117"/>
                <a:gd name="csX134" fmla="*/ 262828 w 358158"/>
                <a:gd name="csY134" fmla="*/ 144441 h 358117"/>
                <a:gd name="csX135" fmla="*/ 259710 w 358158"/>
                <a:gd name="csY135" fmla="*/ 151304 h 358117"/>
                <a:gd name="csX136" fmla="*/ 255849 w 358158"/>
                <a:gd name="csY136" fmla="*/ 156975 h 358117"/>
                <a:gd name="csX137" fmla="*/ 251394 w 358158"/>
                <a:gd name="csY137" fmla="*/ 161600 h 358117"/>
                <a:gd name="csX138" fmla="*/ 246494 w 358158"/>
                <a:gd name="csY138" fmla="*/ 165331 h 358117"/>
                <a:gd name="csX139" fmla="*/ 241297 w 358158"/>
                <a:gd name="csY139" fmla="*/ 168166 h 358117"/>
                <a:gd name="csX140" fmla="*/ 236100 w 358158"/>
                <a:gd name="csY140" fmla="*/ 170255 h 358117"/>
                <a:gd name="csX141" fmla="*/ 231200 w 358158"/>
                <a:gd name="csY141" fmla="*/ 171747 h 358117"/>
                <a:gd name="csX142" fmla="*/ 226745 w 358158"/>
                <a:gd name="csY142" fmla="*/ 172791 h 358117"/>
                <a:gd name="csX143" fmla="*/ 222884 w 358158"/>
                <a:gd name="csY143" fmla="*/ 173388 h 358117"/>
                <a:gd name="csX144" fmla="*/ 219766 w 358158"/>
                <a:gd name="csY144" fmla="*/ 173687 h 358117"/>
                <a:gd name="csX145" fmla="*/ 131117 w 358158"/>
                <a:gd name="csY145" fmla="*/ 173687 h 358117"/>
                <a:gd name="csX146" fmla="*/ 120871 w 358158"/>
                <a:gd name="csY146" fmla="*/ 174433 h 358117"/>
                <a:gd name="csX147" fmla="*/ 112110 w 358158"/>
                <a:gd name="csY147" fmla="*/ 176522 h 358117"/>
                <a:gd name="csX148" fmla="*/ 104686 w 358158"/>
                <a:gd name="csY148" fmla="*/ 179805 h 358117"/>
                <a:gd name="csX149" fmla="*/ 98598 w 358158"/>
                <a:gd name="csY149" fmla="*/ 183833 h 358117"/>
                <a:gd name="csX150" fmla="*/ 93697 w 358158"/>
                <a:gd name="csY150" fmla="*/ 188608 h 358117"/>
                <a:gd name="csX151" fmla="*/ 89688 w 358158"/>
                <a:gd name="csY151" fmla="*/ 193831 h 358117"/>
                <a:gd name="csX152" fmla="*/ 86718 w 358158"/>
                <a:gd name="csY152" fmla="*/ 199203 h 358117"/>
                <a:gd name="csX153" fmla="*/ 84491 w 358158"/>
                <a:gd name="csY153" fmla="*/ 204724 h 358117"/>
                <a:gd name="csX154" fmla="*/ 83006 w 358158"/>
                <a:gd name="csY154" fmla="*/ 209946 h 358117"/>
                <a:gd name="csX155" fmla="*/ 81967 w 358158"/>
                <a:gd name="csY155" fmla="*/ 214721 h 358117"/>
                <a:gd name="csX156" fmla="*/ 81373 w 358158"/>
                <a:gd name="csY156" fmla="*/ 218750 h 358117"/>
                <a:gd name="csX157" fmla="*/ 81076 w 358158"/>
                <a:gd name="csY157" fmla="*/ 221883 h 358117"/>
                <a:gd name="csX158" fmla="*/ 81076 w 358158"/>
                <a:gd name="csY158" fmla="*/ 267543 h 358117"/>
                <a:gd name="csX159" fmla="*/ 47962 w 358158"/>
                <a:gd name="csY159" fmla="*/ 267543 h 358117"/>
                <a:gd name="csX160" fmla="*/ 44844 w 358158"/>
                <a:gd name="csY160" fmla="*/ 267096 h 358117"/>
                <a:gd name="csX161" fmla="*/ 40686 w 358158"/>
                <a:gd name="csY161" fmla="*/ 266051 h 358117"/>
                <a:gd name="csX162" fmla="*/ 35935 w 358158"/>
                <a:gd name="csY162" fmla="*/ 264261 h 358117"/>
                <a:gd name="csX163" fmla="*/ 30738 w 358158"/>
                <a:gd name="csY163" fmla="*/ 261575 h 358117"/>
                <a:gd name="csX164" fmla="*/ 25392 w 358158"/>
                <a:gd name="csY164" fmla="*/ 257695 h 358117"/>
                <a:gd name="csX165" fmla="*/ 20046 w 358158"/>
                <a:gd name="csY165" fmla="*/ 252323 h 358117"/>
                <a:gd name="csX166" fmla="*/ 14849 w 358158"/>
                <a:gd name="csY166" fmla="*/ 245459 h 358117"/>
                <a:gd name="csX167" fmla="*/ 10097 w 358158"/>
                <a:gd name="csY167" fmla="*/ 236656 h 358117"/>
                <a:gd name="csX168" fmla="*/ 5940 w 358158"/>
                <a:gd name="csY168" fmla="*/ 225763 h 358117"/>
                <a:gd name="csX169" fmla="*/ 2821 w 358158"/>
                <a:gd name="csY169" fmla="*/ 212632 h 358117"/>
                <a:gd name="csX170" fmla="*/ 742 w 358158"/>
                <a:gd name="csY170" fmla="*/ 196964 h 358117"/>
                <a:gd name="csX171" fmla="*/ 0 w 358158"/>
                <a:gd name="csY171" fmla="*/ 178611 h 358117"/>
                <a:gd name="csX172" fmla="*/ 891 w 358158"/>
                <a:gd name="csY172" fmla="*/ 160407 h 358117"/>
                <a:gd name="csX173" fmla="*/ 3267 w 358158"/>
                <a:gd name="csY173" fmla="*/ 144888 h 358117"/>
                <a:gd name="csX174" fmla="*/ 6831 w 358158"/>
                <a:gd name="csY174" fmla="*/ 131906 h 358117"/>
                <a:gd name="csX175" fmla="*/ 11582 w 358158"/>
                <a:gd name="csY175" fmla="*/ 121312 h 358117"/>
                <a:gd name="csX176" fmla="*/ 16928 w 358158"/>
                <a:gd name="csY176" fmla="*/ 112807 h 358117"/>
                <a:gd name="csX177" fmla="*/ 22868 w 358158"/>
                <a:gd name="csY177" fmla="*/ 106241 h 358117"/>
                <a:gd name="csX178" fmla="*/ 29104 w 358158"/>
                <a:gd name="csY178" fmla="*/ 101317 h 358117"/>
                <a:gd name="csX179" fmla="*/ 35341 w 358158"/>
                <a:gd name="csY179" fmla="*/ 97736 h 358117"/>
                <a:gd name="csX180" fmla="*/ 41280 w 358158"/>
                <a:gd name="csY180" fmla="*/ 95349 h 358117"/>
                <a:gd name="csX181" fmla="*/ 46626 w 358158"/>
                <a:gd name="csY181" fmla="*/ 93856 h 358117"/>
                <a:gd name="csX182" fmla="*/ 51378 w 358158"/>
                <a:gd name="csY182" fmla="*/ 93110 h 358117"/>
                <a:gd name="csX183" fmla="*/ 54941 w 358158"/>
                <a:gd name="csY183" fmla="*/ 92961 h 358117"/>
                <a:gd name="csX184" fmla="*/ 57317 w 358158"/>
                <a:gd name="csY184" fmla="*/ 92961 h 358117"/>
                <a:gd name="csX185" fmla="*/ 58208 w 358158"/>
                <a:gd name="csY185" fmla="*/ 93110 h 358117"/>
                <a:gd name="csX186" fmla="*/ 179376 w 358158"/>
                <a:gd name="csY186" fmla="*/ 93110 h 358117"/>
                <a:gd name="csX187" fmla="*/ 179376 w 358158"/>
                <a:gd name="csY187" fmla="*/ 80726 h 358117"/>
                <a:gd name="csX188" fmla="*/ 92658 w 358158"/>
                <a:gd name="csY188" fmla="*/ 80726 h 358117"/>
                <a:gd name="csX189" fmla="*/ 92509 w 358158"/>
                <a:gd name="csY189" fmla="*/ 39691 h 358117"/>
                <a:gd name="csX190" fmla="*/ 92213 w 358158"/>
                <a:gd name="csY190" fmla="*/ 34170 h 358117"/>
                <a:gd name="csX191" fmla="*/ 92955 w 358158"/>
                <a:gd name="csY191" fmla="*/ 29097 h 358117"/>
                <a:gd name="csX192" fmla="*/ 94588 w 358158"/>
                <a:gd name="csY192" fmla="*/ 24471 h 358117"/>
                <a:gd name="csX193" fmla="*/ 97113 w 358158"/>
                <a:gd name="csY193" fmla="*/ 20293 h 358117"/>
                <a:gd name="csX194" fmla="*/ 100825 w 358158"/>
                <a:gd name="csY194" fmla="*/ 16414 h 358117"/>
                <a:gd name="csX195" fmla="*/ 105428 w 358158"/>
                <a:gd name="csY195" fmla="*/ 12982 h 358117"/>
                <a:gd name="csX196" fmla="*/ 111071 w 358158"/>
                <a:gd name="csY196" fmla="*/ 9997 h 358117"/>
                <a:gd name="csX197" fmla="*/ 117604 w 358158"/>
                <a:gd name="csY197" fmla="*/ 7312 h 358117"/>
                <a:gd name="csX198" fmla="*/ 125177 w 358158"/>
                <a:gd name="csY198" fmla="*/ 5073 h 358117"/>
                <a:gd name="csX199" fmla="*/ 133790 w 358158"/>
                <a:gd name="csY199" fmla="*/ 3283 h 358117"/>
                <a:gd name="csX200" fmla="*/ 143293 w 358158"/>
                <a:gd name="csY200" fmla="*/ 1791 h 358117"/>
                <a:gd name="csX201" fmla="*/ 153836 w 358158"/>
                <a:gd name="csY201" fmla="*/ 895 h 358117"/>
                <a:gd name="csX202" fmla="*/ 165270 w 358158"/>
                <a:gd name="csY202" fmla="*/ 298 h 358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58158" h="358117">
                  <a:moveTo>
                    <a:pt x="228229" y="299177"/>
                  </a:moveTo>
                  <a:lnTo>
                    <a:pt x="222141" y="300371"/>
                  </a:lnTo>
                  <a:lnTo>
                    <a:pt x="217241" y="303803"/>
                  </a:lnTo>
                  <a:lnTo>
                    <a:pt x="213826" y="308727"/>
                  </a:lnTo>
                  <a:lnTo>
                    <a:pt x="212638" y="314845"/>
                  </a:lnTo>
                  <a:lnTo>
                    <a:pt x="213826" y="320963"/>
                  </a:lnTo>
                  <a:lnTo>
                    <a:pt x="217241" y="325887"/>
                  </a:lnTo>
                  <a:lnTo>
                    <a:pt x="222141" y="329319"/>
                  </a:lnTo>
                  <a:lnTo>
                    <a:pt x="228229" y="330512"/>
                  </a:lnTo>
                  <a:lnTo>
                    <a:pt x="234317" y="329319"/>
                  </a:lnTo>
                  <a:lnTo>
                    <a:pt x="239217" y="325887"/>
                  </a:lnTo>
                  <a:lnTo>
                    <a:pt x="242633" y="320963"/>
                  </a:lnTo>
                  <a:lnTo>
                    <a:pt x="243821" y="314845"/>
                  </a:lnTo>
                  <a:lnTo>
                    <a:pt x="242633" y="308727"/>
                  </a:lnTo>
                  <a:lnTo>
                    <a:pt x="239217" y="303803"/>
                  </a:lnTo>
                  <a:lnTo>
                    <a:pt x="234317" y="300371"/>
                  </a:lnTo>
                  <a:close/>
                  <a:moveTo>
                    <a:pt x="277083" y="90574"/>
                  </a:moveTo>
                  <a:lnTo>
                    <a:pt x="308117" y="90574"/>
                  </a:lnTo>
                  <a:lnTo>
                    <a:pt x="310196" y="90723"/>
                  </a:lnTo>
                  <a:lnTo>
                    <a:pt x="313314" y="91171"/>
                  </a:lnTo>
                  <a:lnTo>
                    <a:pt x="317472" y="92066"/>
                  </a:lnTo>
                  <a:lnTo>
                    <a:pt x="322224" y="93857"/>
                  </a:lnTo>
                  <a:lnTo>
                    <a:pt x="327421" y="96543"/>
                  </a:lnTo>
                  <a:lnTo>
                    <a:pt x="332766" y="100571"/>
                  </a:lnTo>
                  <a:lnTo>
                    <a:pt x="338112" y="105794"/>
                  </a:lnTo>
                  <a:lnTo>
                    <a:pt x="343309" y="112807"/>
                  </a:lnTo>
                  <a:lnTo>
                    <a:pt x="348061" y="121611"/>
                  </a:lnTo>
                  <a:lnTo>
                    <a:pt x="352219" y="132504"/>
                  </a:lnTo>
                  <a:lnTo>
                    <a:pt x="355337" y="145634"/>
                  </a:lnTo>
                  <a:lnTo>
                    <a:pt x="357416" y="161153"/>
                  </a:lnTo>
                  <a:lnTo>
                    <a:pt x="358158" y="179506"/>
                  </a:lnTo>
                  <a:lnTo>
                    <a:pt x="357267" y="197860"/>
                  </a:lnTo>
                  <a:lnTo>
                    <a:pt x="354891" y="213378"/>
                  </a:lnTo>
                  <a:lnTo>
                    <a:pt x="351328" y="226211"/>
                  </a:lnTo>
                  <a:lnTo>
                    <a:pt x="346576" y="236805"/>
                  </a:lnTo>
                  <a:lnTo>
                    <a:pt x="341230" y="245310"/>
                  </a:lnTo>
                  <a:lnTo>
                    <a:pt x="335291" y="252025"/>
                  </a:lnTo>
                  <a:lnTo>
                    <a:pt x="329054" y="256949"/>
                  </a:lnTo>
                  <a:lnTo>
                    <a:pt x="322818" y="260530"/>
                  </a:lnTo>
                  <a:lnTo>
                    <a:pt x="316878" y="262918"/>
                  </a:lnTo>
                  <a:lnTo>
                    <a:pt x="311532" y="264261"/>
                  </a:lnTo>
                  <a:lnTo>
                    <a:pt x="306781" y="265007"/>
                  </a:lnTo>
                  <a:lnTo>
                    <a:pt x="303217" y="265305"/>
                  </a:lnTo>
                  <a:lnTo>
                    <a:pt x="300841" y="265156"/>
                  </a:lnTo>
                  <a:lnTo>
                    <a:pt x="178782" y="265156"/>
                  </a:lnTo>
                  <a:lnTo>
                    <a:pt x="178782" y="277392"/>
                  </a:lnTo>
                  <a:lnTo>
                    <a:pt x="265500" y="277392"/>
                  </a:lnTo>
                  <a:lnTo>
                    <a:pt x="265649" y="318575"/>
                  </a:lnTo>
                  <a:lnTo>
                    <a:pt x="265946" y="323947"/>
                  </a:lnTo>
                  <a:lnTo>
                    <a:pt x="265203" y="329020"/>
                  </a:lnTo>
                  <a:lnTo>
                    <a:pt x="263570" y="333646"/>
                  </a:lnTo>
                  <a:lnTo>
                    <a:pt x="261046" y="337973"/>
                  </a:lnTo>
                  <a:lnTo>
                    <a:pt x="257333" y="341704"/>
                  </a:lnTo>
                  <a:lnTo>
                    <a:pt x="252730" y="345285"/>
                  </a:lnTo>
                  <a:lnTo>
                    <a:pt x="247087" y="348269"/>
                  </a:lnTo>
                  <a:lnTo>
                    <a:pt x="240554" y="350806"/>
                  </a:lnTo>
                  <a:lnTo>
                    <a:pt x="232981" y="353044"/>
                  </a:lnTo>
                  <a:lnTo>
                    <a:pt x="224368" y="354984"/>
                  </a:lnTo>
                  <a:lnTo>
                    <a:pt x="214865" y="356327"/>
                  </a:lnTo>
                  <a:lnTo>
                    <a:pt x="204322" y="357371"/>
                  </a:lnTo>
                  <a:lnTo>
                    <a:pt x="192888" y="357968"/>
                  </a:lnTo>
                  <a:lnTo>
                    <a:pt x="180415" y="358117"/>
                  </a:lnTo>
                  <a:lnTo>
                    <a:pt x="161557" y="357520"/>
                  </a:lnTo>
                  <a:lnTo>
                    <a:pt x="145669" y="355431"/>
                  </a:lnTo>
                  <a:lnTo>
                    <a:pt x="132304" y="352447"/>
                  </a:lnTo>
                  <a:lnTo>
                    <a:pt x="121465" y="348717"/>
                  </a:lnTo>
                  <a:lnTo>
                    <a:pt x="112704" y="344240"/>
                  </a:lnTo>
                  <a:lnTo>
                    <a:pt x="106022" y="339316"/>
                  </a:lnTo>
                  <a:lnTo>
                    <a:pt x="100973" y="334243"/>
                  </a:lnTo>
                  <a:lnTo>
                    <a:pt x="97261" y="329169"/>
                  </a:lnTo>
                  <a:lnTo>
                    <a:pt x="94885" y="324245"/>
                  </a:lnTo>
                  <a:lnTo>
                    <a:pt x="93400" y="319769"/>
                  </a:lnTo>
                  <a:lnTo>
                    <a:pt x="92806" y="316039"/>
                  </a:lnTo>
                  <a:lnTo>
                    <a:pt x="92509" y="313054"/>
                  </a:lnTo>
                  <a:lnTo>
                    <a:pt x="92657" y="311114"/>
                  </a:lnTo>
                  <a:lnTo>
                    <a:pt x="92657" y="231433"/>
                  </a:lnTo>
                  <a:lnTo>
                    <a:pt x="93400" y="221884"/>
                  </a:lnTo>
                  <a:lnTo>
                    <a:pt x="95330" y="213826"/>
                  </a:lnTo>
                  <a:lnTo>
                    <a:pt x="98449" y="206962"/>
                  </a:lnTo>
                  <a:lnTo>
                    <a:pt x="102309" y="201292"/>
                  </a:lnTo>
                  <a:lnTo>
                    <a:pt x="106764" y="196517"/>
                  </a:lnTo>
                  <a:lnTo>
                    <a:pt x="111664" y="192936"/>
                  </a:lnTo>
                  <a:lnTo>
                    <a:pt x="116861" y="189951"/>
                  </a:lnTo>
                  <a:lnTo>
                    <a:pt x="122059" y="187862"/>
                  </a:lnTo>
                  <a:lnTo>
                    <a:pt x="126959" y="186370"/>
                  </a:lnTo>
                  <a:lnTo>
                    <a:pt x="131413" y="185475"/>
                  </a:lnTo>
                  <a:lnTo>
                    <a:pt x="135274" y="184878"/>
                  </a:lnTo>
                  <a:lnTo>
                    <a:pt x="138393" y="184580"/>
                  </a:lnTo>
                  <a:lnTo>
                    <a:pt x="140323" y="184430"/>
                  </a:lnTo>
                  <a:lnTo>
                    <a:pt x="227041" y="184430"/>
                  </a:lnTo>
                  <a:lnTo>
                    <a:pt x="237287" y="183684"/>
                  </a:lnTo>
                  <a:lnTo>
                    <a:pt x="246048" y="181595"/>
                  </a:lnTo>
                  <a:lnTo>
                    <a:pt x="253473" y="178462"/>
                  </a:lnTo>
                  <a:lnTo>
                    <a:pt x="259561" y="174284"/>
                  </a:lnTo>
                  <a:lnTo>
                    <a:pt x="264461" y="169509"/>
                  </a:lnTo>
                  <a:lnTo>
                    <a:pt x="268470" y="164286"/>
                  </a:lnTo>
                  <a:lnTo>
                    <a:pt x="271440" y="158915"/>
                  </a:lnTo>
                  <a:lnTo>
                    <a:pt x="273667" y="153543"/>
                  </a:lnTo>
                  <a:lnTo>
                    <a:pt x="275152" y="148320"/>
                  </a:lnTo>
                  <a:lnTo>
                    <a:pt x="276192" y="143545"/>
                  </a:lnTo>
                  <a:lnTo>
                    <a:pt x="276786" y="139367"/>
                  </a:lnTo>
                  <a:lnTo>
                    <a:pt x="277083" y="136234"/>
                  </a:lnTo>
                  <a:close/>
                  <a:moveTo>
                    <a:pt x="129929" y="27605"/>
                  </a:moveTo>
                  <a:lnTo>
                    <a:pt x="123841" y="28948"/>
                  </a:lnTo>
                  <a:lnTo>
                    <a:pt x="118941" y="32231"/>
                  </a:lnTo>
                  <a:lnTo>
                    <a:pt x="115526" y="37155"/>
                  </a:lnTo>
                  <a:lnTo>
                    <a:pt x="114338" y="43272"/>
                  </a:lnTo>
                  <a:lnTo>
                    <a:pt x="115526" y="49390"/>
                  </a:lnTo>
                  <a:lnTo>
                    <a:pt x="118941" y="54464"/>
                  </a:lnTo>
                  <a:lnTo>
                    <a:pt x="123841" y="57746"/>
                  </a:lnTo>
                  <a:lnTo>
                    <a:pt x="129929" y="59089"/>
                  </a:lnTo>
                  <a:lnTo>
                    <a:pt x="136017" y="57746"/>
                  </a:lnTo>
                  <a:lnTo>
                    <a:pt x="140917" y="54464"/>
                  </a:lnTo>
                  <a:lnTo>
                    <a:pt x="144333" y="49390"/>
                  </a:lnTo>
                  <a:lnTo>
                    <a:pt x="145521" y="43272"/>
                  </a:lnTo>
                  <a:lnTo>
                    <a:pt x="144333" y="37155"/>
                  </a:lnTo>
                  <a:lnTo>
                    <a:pt x="140917" y="32231"/>
                  </a:lnTo>
                  <a:lnTo>
                    <a:pt x="136017" y="28948"/>
                  </a:lnTo>
                  <a:close/>
                  <a:moveTo>
                    <a:pt x="177743" y="0"/>
                  </a:moveTo>
                  <a:lnTo>
                    <a:pt x="196601" y="746"/>
                  </a:lnTo>
                  <a:lnTo>
                    <a:pt x="212490" y="2686"/>
                  </a:lnTo>
                  <a:lnTo>
                    <a:pt x="225854" y="5670"/>
                  </a:lnTo>
                  <a:lnTo>
                    <a:pt x="236694" y="9550"/>
                  </a:lnTo>
                  <a:lnTo>
                    <a:pt x="245455" y="14026"/>
                  </a:lnTo>
                  <a:lnTo>
                    <a:pt x="252137" y="18801"/>
                  </a:lnTo>
                  <a:lnTo>
                    <a:pt x="257185" y="23874"/>
                  </a:lnTo>
                  <a:lnTo>
                    <a:pt x="260898" y="28948"/>
                  </a:lnTo>
                  <a:lnTo>
                    <a:pt x="263273" y="33872"/>
                  </a:lnTo>
                  <a:lnTo>
                    <a:pt x="264758" y="38348"/>
                  </a:lnTo>
                  <a:lnTo>
                    <a:pt x="265352" y="42228"/>
                  </a:lnTo>
                  <a:lnTo>
                    <a:pt x="265649" y="45212"/>
                  </a:lnTo>
                  <a:lnTo>
                    <a:pt x="265501" y="47152"/>
                  </a:lnTo>
                  <a:lnTo>
                    <a:pt x="265501" y="126833"/>
                  </a:lnTo>
                  <a:lnTo>
                    <a:pt x="264758" y="136234"/>
                  </a:lnTo>
                  <a:lnTo>
                    <a:pt x="262828" y="144441"/>
                  </a:lnTo>
                  <a:lnTo>
                    <a:pt x="259710" y="151304"/>
                  </a:lnTo>
                  <a:lnTo>
                    <a:pt x="255849" y="156975"/>
                  </a:lnTo>
                  <a:lnTo>
                    <a:pt x="251394" y="161600"/>
                  </a:lnTo>
                  <a:lnTo>
                    <a:pt x="246494" y="165331"/>
                  </a:lnTo>
                  <a:lnTo>
                    <a:pt x="241297" y="168166"/>
                  </a:lnTo>
                  <a:lnTo>
                    <a:pt x="236100" y="170255"/>
                  </a:lnTo>
                  <a:lnTo>
                    <a:pt x="231200" y="171747"/>
                  </a:lnTo>
                  <a:lnTo>
                    <a:pt x="226745" y="172791"/>
                  </a:lnTo>
                  <a:lnTo>
                    <a:pt x="222884" y="173388"/>
                  </a:lnTo>
                  <a:lnTo>
                    <a:pt x="219766" y="173687"/>
                  </a:lnTo>
                  <a:lnTo>
                    <a:pt x="131117" y="173687"/>
                  </a:lnTo>
                  <a:lnTo>
                    <a:pt x="120871" y="174433"/>
                  </a:lnTo>
                  <a:lnTo>
                    <a:pt x="112110" y="176522"/>
                  </a:lnTo>
                  <a:lnTo>
                    <a:pt x="104686" y="179805"/>
                  </a:lnTo>
                  <a:lnTo>
                    <a:pt x="98598" y="183833"/>
                  </a:lnTo>
                  <a:lnTo>
                    <a:pt x="93697" y="188608"/>
                  </a:lnTo>
                  <a:lnTo>
                    <a:pt x="89688" y="193831"/>
                  </a:lnTo>
                  <a:lnTo>
                    <a:pt x="86718" y="199203"/>
                  </a:lnTo>
                  <a:lnTo>
                    <a:pt x="84491" y="204724"/>
                  </a:lnTo>
                  <a:lnTo>
                    <a:pt x="83006" y="209946"/>
                  </a:lnTo>
                  <a:lnTo>
                    <a:pt x="81967" y="214721"/>
                  </a:lnTo>
                  <a:lnTo>
                    <a:pt x="81373" y="218750"/>
                  </a:lnTo>
                  <a:lnTo>
                    <a:pt x="81076" y="221883"/>
                  </a:lnTo>
                  <a:lnTo>
                    <a:pt x="81076" y="267543"/>
                  </a:lnTo>
                  <a:lnTo>
                    <a:pt x="47962" y="267543"/>
                  </a:lnTo>
                  <a:lnTo>
                    <a:pt x="44844" y="267096"/>
                  </a:lnTo>
                  <a:lnTo>
                    <a:pt x="40686" y="266051"/>
                  </a:lnTo>
                  <a:lnTo>
                    <a:pt x="35935" y="264261"/>
                  </a:lnTo>
                  <a:lnTo>
                    <a:pt x="30738" y="261575"/>
                  </a:lnTo>
                  <a:lnTo>
                    <a:pt x="25392" y="257695"/>
                  </a:lnTo>
                  <a:lnTo>
                    <a:pt x="20046" y="252323"/>
                  </a:lnTo>
                  <a:lnTo>
                    <a:pt x="14849" y="245459"/>
                  </a:lnTo>
                  <a:lnTo>
                    <a:pt x="10097" y="236656"/>
                  </a:lnTo>
                  <a:lnTo>
                    <a:pt x="5940" y="225763"/>
                  </a:lnTo>
                  <a:lnTo>
                    <a:pt x="2821" y="212632"/>
                  </a:lnTo>
                  <a:lnTo>
                    <a:pt x="742" y="196964"/>
                  </a:lnTo>
                  <a:lnTo>
                    <a:pt x="0" y="178611"/>
                  </a:lnTo>
                  <a:lnTo>
                    <a:pt x="891" y="160407"/>
                  </a:lnTo>
                  <a:lnTo>
                    <a:pt x="3267" y="144888"/>
                  </a:lnTo>
                  <a:lnTo>
                    <a:pt x="6831" y="131906"/>
                  </a:lnTo>
                  <a:lnTo>
                    <a:pt x="11582" y="121312"/>
                  </a:lnTo>
                  <a:lnTo>
                    <a:pt x="16928" y="112807"/>
                  </a:lnTo>
                  <a:lnTo>
                    <a:pt x="22868" y="106241"/>
                  </a:lnTo>
                  <a:lnTo>
                    <a:pt x="29104" y="101317"/>
                  </a:lnTo>
                  <a:lnTo>
                    <a:pt x="35341" y="97736"/>
                  </a:lnTo>
                  <a:lnTo>
                    <a:pt x="41280" y="95349"/>
                  </a:lnTo>
                  <a:lnTo>
                    <a:pt x="46626" y="93856"/>
                  </a:lnTo>
                  <a:lnTo>
                    <a:pt x="51378" y="93110"/>
                  </a:lnTo>
                  <a:lnTo>
                    <a:pt x="54941" y="92961"/>
                  </a:lnTo>
                  <a:lnTo>
                    <a:pt x="57317" y="92961"/>
                  </a:lnTo>
                  <a:lnTo>
                    <a:pt x="58208" y="93110"/>
                  </a:lnTo>
                  <a:lnTo>
                    <a:pt x="179376" y="93110"/>
                  </a:lnTo>
                  <a:lnTo>
                    <a:pt x="179376" y="80726"/>
                  </a:lnTo>
                  <a:lnTo>
                    <a:pt x="92658" y="80726"/>
                  </a:lnTo>
                  <a:lnTo>
                    <a:pt x="92509" y="39691"/>
                  </a:lnTo>
                  <a:lnTo>
                    <a:pt x="92213" y="34170"/>
                  </a:lnTo>
                  <a:lnTo>
                    <a:pt x="92955" y="29097"/>
                  </a:lnTo>
                  <a:lnTo>
                    <a:pt x="94588" y="24471"/>
                  </a:lnTo>
                  <a:lnTo>
                    <a:pt x="97113" y="20293"/>
                  </a:lnTo>
                  <a:lnTo>
                    <a:pt x="100825" y="16414"/>
                  </a:lnTo>
                  <a:lnTo>
                    <a:pt x="105428" y="12982"/>
                  </a:lnTo>
                  <a:lnTo>
                    <a:pt x="111071" y="9997"/>
                  </a:lnTo>
                  <a:lnTo>
                    <a:pt x="117604" y="7312"/>
                  </a:lnTo>
                  <a:lnTo>
                    <a:pt x="125177" y="5073"/>
                  </a:lnTo>
                  <a:lnTo>
                    <a:pt x="133790" y="3283"/>
                  </a:lnTo>
                  <a:lnTo>
                    <a:pt x="143293" y="1791"/>
                  </a:lnTo>
                  <a:lnTo>
                    <a:pt x="153836" y="895"/>
                  </a:lnTo>
                  <a:lnTo>
                    <a:pt x="165270" y="298"/>
                  </a:lnTo>
                  <a:close/>
                </a:path>
              </a:pathLst>
            </a:custGeom>
            <a:gradFill>
              <a:gsLst>
                <a:gs pos="26000">
                  <a:schemeClr val="accent4"/>
                </a:gs>
                <a:gs pos="0">
                  <a:schemeClr val="bg2"/>
                </a:gs>
                <a:gs pos="66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342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3" name="图片 12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332525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6003256" y="830452"/>
            <a:ext cx="677972" cy="677972"/>
            <a:chOff x="6287406" y="-777658"/>
            <a:chExt cx="637029" cy="637029"/>
          </a:xfrm>
        </p:grpSpPr>
        <p:sp>
          <p:nvSpPr>
            <p:cNvPr id="15" name="任意多边形: 形状 14"/>
            <p:cNvSpPr/>
            <p:nvPr/>
          </p:nvSpPr>
          <p:spPr>
            <a:xfrm>
              <a:off x="6426861" y="-729528"/>
              <a:ext cx="358117" cy="501665"/>
            </a:xfrm>
            <a:custGeom>
              <a:avLst/>
              <a:gdLst>
                <a:gd name="csX0" fmla="*/ 449375 w 450202"/>
                <a:gd name="csY0" fmla="*/ 572689 h 630661"/>
                <a:gd name="csX1" fmla="*/ 167171 w 450202"/>
                <a:gd name="csY1" fmla="*/ 628748 h 630661"/>
                <a:gd name="csX2" fmla="*/ 80535 w 450202"/>
                <a:gd name="csY2" fmla="*/ 611548 h 630661"/>
                <a:gd name="csX3" fmla="*/ 358280 w 450202"/>
                <a:gd name="csY3" fmla="*/ 607726 h 630661"/>
                <a:gd name="csX4" fmla="*/ 449375 w 450202"/>
                <a:gd name="csY4" fmla="*/ 572689 h 630661"/>
                <a:gd name="csX5" fmla="*/ 84228 w 450202"/>
                <a:gd name="csY5" fmla="*/ 537777 h 630661"/>
                <a:gd name="csX6" fmla="*/ 97736 w 450202"/>
                <a:gd name="csY6" fmla="*/ 541474 h 630661"/>
                <a:gd name="csX7" fmla="*/ 76077 w 450202"/>
                <a:gd name="csY7" fmla="*/ 543385 h 630661"/>
                <a:gd name="csX8" fmla="*/ 44225 w 450202"/>
                <a:gd name="csY8" fmla="*/ 568866 h 630661"/>
                <a:gd name="csX9" fmla="*/ 391406 w 450202"/>
                <a:gd name="csY9" fmla="*/ 567592 h 630661"/>
                <a:gd name="csX10" fmla="*/ 411154 w 450202"/>
                <a:gd name="csY10" fmla="*/ 542111 h 630661"/>
                <a:gd name="csX11" fmla="*/ 30848 w 450202"/>
                <a:gd name="csY11" fmla="*/ 588614 h 630661"/>
                <a:gd name="csX12" fmla="*/ 84228 w 450202"/>
                <a:gd name="csY12" fmla="*/ 537777 h 630661"/>
                <a:gd name="csX13" fmla="*/ 144875 w 450202"/>
                <a:gd name="csY13" fmla="*/ 492423 h 630661"/>
                <a:gd name="csX14" fmla="*/ 161438 w 450202"/>
                <a:gd name="csY14" fmla="*/ 510897 h 630661"/>
                <a:gd name="csX15" fmla="*/ 287570 w 450202"/>
                <a:gd name="csY15" fmla="*/ 505801 h 630661"/>
                <a:gd name="csX16" fmla="*/ 320695 w 450202"/>
                <a:gd name="csY16" fmla="*/ 522363 h 630661"/>
                <a:gd name="csX17" fmla="*/ 144875 w 450202"/>
                <a:gd name="csY17" fmla="*/ 492423 h 630661"/>
                <a:gd name="csX18" fmla="*/ 130224 w 450202"/>
                <a:gd name="csY18" fmla="*/ 426172 h 630661"/>
                <a:gd name="csX19" fmla="*/ 144875 w 450202"/>
                <a:gd name="csY19" fmla="*/ 449742 h 630661"/>
                <a:gd name="csX20" fmla="*/ 307318 w 450202"/>
                <a:gd name="csY20" fmla="*/ 441461 h 630661"/>
                <a:gd name="csX21" fmla="*/ 332799 w 450202"/>
                <a:gd name="csY21" fmla="*/ 456749 h 630661"/>
                <a:gd name="csX22" fmla="*/ 130224 w 450202"/>
                <a:gd name="csY22" fmla="*/ 426172 h 630661"/>
                <a:gd name="csX23" fmla="*/ 148279 w 450202"/>
                <a:gd name="csY23" fmla="*/ 356627 h 630661"/>
                <a:gd name="csX24" fmla="*/ 155705 w 450202"/>
                <a:gd name="csY24" fmla="*/ 356736 h 630661"/>
                <a:gd name="csX25" fmla="*/ 116209 w 450202"/>
                <a:gd name="csY25" fmla="*/ 391772 h 630661"/>
                <a:gd name="csX26" fmla="*/ 262726 w 450202"/>
                <a:gd name="csY26" fmla="*/ 389861 h 630661"/>
                <a:gd name="csX27" fmla="*/ 354458 w 450202"/>
                <a:gd name="csY27" fmla="*/ 377758 h 630661"/>
                <a:gd name="csX28" fmla="*/ 326429 w 450202"/>
                <a:gd name="csY28" fmla="*/ 393046 h 630661"/>
                <a:gd name="csX29" fmla="*/ 58877 w 450202"/>
                <a:gd name="csY29" fmla="*/ 378395 h 630661"/>
                <a:gd name="csX30" fmla="*/ 148279 w 450202"/>
                <a:gd name="csY30" fmla="*/ 356627 h 630661"/>
                <a:gd name="csX31" fmla="*/ 403045 w 450202"/>
                <a:gd name="csY31" fmla="*/ 351456 h 630661"/>
                <a:gd name="csX32" fmla="*/ 353184 w 450202"/>
                <a:gd name="csY32" fmla="*/ 471401 h 630661"/>
                <a:gd name="csX33" fmla="*/ 355095 w 450202"/>
                <a:gd name="csY33" fmla="*/ 468216 h 630661"/>
                <a:gd name="csX34" fmla="*/ 379939 w 450202"/>
                <a:gd name="csY34" fmla="*/ 359284 h 630661"/>
                <a:gd name="csX35" fmla="*/ 366561 w 450202"/>
                <a:gd name="csY35" fmla="*/ 362469 h 630661"/>
                <a:gd name="csX36" fmla="*/ 376754 w 450202"/>
                <a:gd name="csY36" fmla="*/ 355462 h 630661"/>
                <a:gd name="csX37" fmla="*/ 403045 w 450202"/>
                <a:gd name="csY37" fmla="*/ 351456 h 630661"/>
                <a:gd name="csX38" fmla="*/ 362739 w 450202"/>
                <a:gd name="csY38" fmla="*/ 123583 h 630661"/>
                <a:gd name="csX39" fmla="*/ 286295 w 450202"/>
                <a:gd name="csY39" fmla="*/ 268189 h 630661"/>
                <a:gd name="csX40" fmla="*/ 245525 w 450202"/>
                <a:gd name="csY40" fmla="*/ 354825 h 630661"/>
                <a:gd name="csX41" fmla="*/ 253807 w 450202"/>
                <a:gd name="csY41" fmla="*/ 290485 h 630661"/>
                <a:gd name="csX42" fmla="*/ 362739 w 450202"/>
                <a:gd name="csY42" fmla="*/ 123583 h 630661"/>
                <a:gd name="csX43" fmla="*/ 286296 w 450202"/>
                <a:gd name="csY43" fmla="*/ 0 h 630661"/>
                <a:gd name="csX44" fmla="*/ 226415 w 450202"/>
                <a:gd name="csY44" fmla="*/ 160531 h 630661"/>
                <a:gd name="csX45" fmla="*/ 226415 w 450202"/>
                <a:gd name="csY45" fmla="*/ 335077 h 630661"/>
                <a:gd name="csX46" fmla="*/ 155068 w 450202"/>
                <a:gd name="csY46" fmla="*/ 194294 h 630661"/>
                <a:gd name="csX47" fmla="*/ 286296 w 450202"/>
                <a:gd name="csY47" fmla="*/ 0 h 63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450202" h="630661">
                  <a:moveTo>
                    <a:pt x="449375" y="572689"/>
                  </a:moveTo>
                  <a:cubicBezTo>
                    <a:pt x="444916" y="624925"/>
                    <a:pt x="276740" y="635755"/>
                    <a:pt x="167171" y="628748"/>
                  </a:cubicBezTo>
                  <a:cubicBezTo>
                    <a:pt x="95824" y="624288"/>
                    <a:pt x="81809" y="612185"/>
                    <a:pt x="80535" y="611548"/>
                  </a:cubicBezTo>
                  <a:cubicBezTo>
                    <a:pt x="148697" y="623014"/>
                    <a:pt x="264636" y="624925"/>
                    <a:pt x="358280" y="607726"/>
                  </a:cubicBezTo>
                  <a:cubicBezTo>
                    <a:pt x="441093" y="592437"/>
                    <a:pt x="449375" y="572689"/>
                    <a:pt x="449375" y="572689"/>
                  </a:cubicBezTo>
                  <a:close/>
                  <a:moveTo>
                    <a:pt x="84228" y="537777"/>
                  </a:moveTo>
                  <a:cubicBezTo>
                    <a:pt x="89992" y="538080"/>
                    <a:pt x="94710" y="539244"/>
                    <a:pt x="97736" y="541474"/>
                  </a:cubicBezTo>
                  <a:cubicBezTo>
                    <a:pt x="97736" y="541474"/>
                    <a:pt x="89454" y="540200"/>
                    <a:pt x="76077" y="543385"/>
                  </a:cubicBezTo>
                  <a:cubicBezTo>
                    <a:pt x="63973" y="546570"/>
                    <a:pt x="22566" y="559311"/>
                    <a:pt x="44225" y="568866"/>
                  </a:cubicBezTo>
                  <a:cubicBezTo>
                    <a:pt x="104743" y="595622"/>
                    <a:pt x="321970" y="589251"/>
                    <a:pt x="391406" y="567592"/>
                  </a:cubicBezTo>
                  <a:cubicBezTo>
                    <a:pt x="428354" y="556763"/>
                    <a:pt x="411154" y="542111"/>
                    <a:pt x="411154" y="542111"/>
                  </a:cubicBezTo>
                  <a:cubicBezTo>
                    <a:pt x="474220" y="570777"/>
                    <a:pt x="273556" y="627473"/>
                    <a:pt x="30848" y="588614"/>
                  </a:cubicBezTo>
                  <a:cubicBezTo>
                    <a:pt x="-47746" y="575794"/>
                    <a:pt x="43877" y="535661"/>
                    <a:pt x="84228" y="537777"/>
                  </a:cubicBezTo>
                  <a:close/>
                  <a:moveTo>
                    <a:pt x="144875" y="492423"/>
                  </a:moveTo>
                  <a:cubicBezTo>
                    <a:pt x="144875" y="492423"/>
                    <a:pt x="121305" y="505801"/>
                    <a:pt x="161438" y="510897"/>
                  </a:cubicBezTo>
                  <a:cubicBezTo>
                    <a:pt x="209215" y="515993"/>
                    <a:pt x="234696" y="515993"/>
                    <a:pt x="287570" y="505801"/>
                  </a:cubicBezTo>
                  <a:cubicBezTo>
                    <a:pt x="287570" y="505801"/>
                    <a:pt x="302221" y="515356"/>
                    <a:pt x="320695" y="522363"/>
                  </a:cubicBezTo>
                  <a:cubicBezTo>
                    <a:pt x="201571" y="572689"/>
                    <a:pt x="51232" y="519178"/>
                    <a:pt x="144875" y="492423"/>
                  </a:cubicBezTo>
                  <a:close/>
                  <a:moveTo>
                    <a:pt x="130224" y="426172"/>
                  </a:moveTo>
                  <a:cubicBezTo>
                    <a:pt x="130224" y="426172"/>
                    <a:pt x="103468" y="445920"/>
                    <a:pt x="144875" y="449742"/>
                  </a:cubicBezTo>
                  <a:cubicBezTo>
                    <a:pt x="196475" y="454838"/>
                    <a:pt x="237881" y="456112"/>
                    <a:pt x="307318" y="441461"/>
                  </a:cubicBezTo>
                  <a:cubicBezTo>
                    <a:pt x="307318" y="441461"/>
                    <a:pt x="317510" y="451653"/>
                    <a:pt x="332799" y="456749"/>
                  </a:cubicBezTo>
                  <a:cubicBezTo>
                    <a:pt x="188830" y="499430"/>
                    <a:pt x="27662" y="459935"/>
                    <a:pt x="130224" y="426172"/>
                  </a:cubicBezTo>
                  <a:close/>
                  <a:moveTo>
                    <a:pt x="148279" y="356627"/>
                  </a:moveTo>
                  <a:cubicBezTo>
                    <a:pt x="153077" y="356537"/>
                    <a:pt x="155705" y="356736"/>
                    <a:pt x="155705" y="356736"/>
                  </a:cubicBezTo>
                  <a:cubicBezTo>
                    <a:pt x="155705" y="356736"/>
                    <a:pt x="44862" y="383491"/>
                    <a:pt x="116209" y="391772"/>
                  </a:cubicBezTo>
                  <a:cubicBezTo>
                    <a:pt x="146787" y="395594"/>
                    <a:pt x="207305" y="394957"/>
                    <a:pt x="262726" y="389861"/>
                  </a:cubicBezTo>
                  <a:cubicBezTo>
                    <a:pt x="308592" y="386039"/>
                    <a:pt x="354458" y="377758"/>
                    <a:pt x="354458" y="377758"/>
                  </a:cubicBezTo>
                  <a:cubicBezTo>
                    <a:pt x="354458" y="377758"/>
                    <a:pt x="337896" y="384765"/>
                    <a:pt x="326429" y="393046"/>
                  </a:cubicBezTo>
                  <a:cubicBezTo>
                    <a:pt x="213675" y="422987"/>
                    <a:pt x="-3552" y="409609"/>
                    <a:pt x="58877" y="378395"/>
                  </a:cubicBezTo>
                  <a:cubicBezTo>
                    <a:pt x="99965" y="359762"/>
                    <a:pt x="133887" y="356895"/>
                    <a:pt x="148279" y="356627"/>
                  </a:cubicBezTo>
                  <a:close/>
                  <a:moveTo>
                    <a:pt x="403045" y="351456"/>
                  </a:moveTo>
                  <a:cubicBezTo>
                    <a:pt x="460762" y="354208"/>
                    <a:pt x="486960" y="435727"/>
                    <a:pt x="353184" y="471401"/>
                  </a:cubicBezTo>
                  <a:cubicBezTo>
                    <a:pt x="352547" y="471401"/>
                    <a:pt x="354458" y="469490"/>
                    <a:pt x="355095" y="468216"/>
                  </a:cubicBezTo>
                  <a:cubicBezTo>
                    <a:pt x="469123" y="408972"/>
                    <a:pt x="416250" y="351003"/>
                    <a:pt x="379939" y="359284"/>
                  </a:cubicBezTo>
                  <a:cubicBezTo>
                    <a:pt x="370383" y="361195"/>
                    <a:pt x="366561" y="362469"/>
                    <a:pt x="366561" y="362469"/>
                  </a:cubicBezTo>
                  <a:cubicBezTo>
                    <a:pt x="366561" y="362469"/>
                    <a:pt x="369746" y="357373"/>
                    <a:pt x="376754" y="355462"/>
                  </a:cubicBezTo>
                  <a:cubicBezTo>
                    <a:pt x="385912" y="352277"/>
                    <a:pt x="394800" y="351063"/>
                    <a:pt x="403045" y="351456"/>
                  </a:cubicBezTo>
                  <a:close/>
                  <a:moveTo>
                    <a:pt x="362739" y="123583"/>
                  </a:moveTo>
                  <a:cubicBezTo>
                    <a:pt x="229600" y="201301"/>
                    <a:pt x="254444" y="223597"/>
                    <a:pt x="286295" y="268189"/>
                  </a:cubicBezTo>
                  <a:cubicBezTo>
                    <a:pt x="320058" y="316603"/>
                    <a:pt x="245525" y="354825"/>
                    <a:pt x="245525" y="354825"/>
                  </a:cubicBezTo>
                  <a:cubicBezTo>
                    <a:pt x="245525" y="354825"/>
                    <a:pt x="283747" y="323610"/>
                    <a:pt x="253807" y="290485"/>
                  </a:cubicBezTo>
                  <a:cubicBezTo>
                    <a:pt x="153793" y="177093"/>
                    <a:pt x="362739" y="124220"/>
                    <a:pt x="362739" y="123583"/>
                  </a:cubicBezTo>
                  <a:close/>
                  <a:moveTo>
                    <a:pt x="286296" y="0"/>
                  </a:moveTo>
                  <a:cubicBezTo>
                    <a:pt x="286296" y="0"/>
                    <a:pt x="349362" y="63066"/>
                    <a:pt x="226415" y="160531"/>
                  </a:cubicBezTo>
                  <a:cubicBezTo>
                    <a:pt x="128313" y="238886"/>
                    <a:pt x="204119" y="283478"/>
                    <a:pt x="226415" y="335077"/>
                  </a:cubicBezTo>
                  <a:cubicBezTo>
                    <a:pt x="168446" y="282841"/>
                    <a:pt x="127039" y="236975"/>
                    <a:pt x="155068" y="194294"/>
                  </a:cubicBezTo>
                  <a:cubicBezTo>
                    <a:pt x="195201" y="131228"/>
                    <a:pt x="311777" y="100651"/>
                    <a:pt x="286296" y="0"/>
                  </a:cubicBez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614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6" name="图片 15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6287406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5938530" y="3825682"/>
            <a:ext cx="5694061" cy="402459"/>
            <a:chOff x="623326" y="2794001"/>
            <a:chExt cx="10945350" cy="1414057"/>
          </a:xfrm>
        </p:grpSpPr>
        <p:sp>
          <p:nvSpPr>
            <p:cNvPr id="20" name="梯形 19"/>
            <p:cNvSpPr/>
            <p:nvPr/>
          </p:nvSpPr>
          <p:spPr>
            <a:xfrm>
              <a:off x="1393373" y="3283819"/>
              <a:ext cx="9405257" cy="924239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4"/>
                </a:gs>
                <a:gs pos="60000">
                  <a:schemeClr val="tx2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梯形 20"/>
            <p:cNvSpPr/>
            <p:nvPr/>
          </p:nvSpPr>
          <p:spPr>
            <a:xfrm>
              <a:off x="623326" y="2794001"/>
              <a:ext cx="10945350" cy="1075583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5"/>
                </a:gs>
                <a:gs pos="60000">
                  <a:schemeClr val="accent3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任意多边形: 形状 23"/>
          <p:cNvSpPr/>
          <p:nvPr/>
        </p:nvSpPr>
        <p:spPr>
          <a:xfrm>
            <a:off x="11152411" y="6423662"/>
            <a:ext cx="661478" cy="100283"/>
          </a:xfrm>
          <a:custGeom>
            <a:avLst/>
            <a:gdLst>
              <a:gd name="connsiteX0" fmla="*/ 0 w 323850"/>
              <a:gd name="connsiteY0" fmla="*/ 0 h 47625"/>
              <a:gd name="connsiteX1" fmla="*/ 80963 w 323850"/>
              <a:gd name="connsiteY1" fmla="*/ 0 h 47625"/>
              <a:gd name="connsiteX2" fmla="*/ 107918 w 323850"/>
              <a:gd name="connsiteY2" fmla="*/ 26956 h 47625"/>
              <a:gd name="connsiteX3" fmla="*/ 80963 w 323850"/>
              <a:gd name="connsiteY3" fmla="*/ 53912 h 47625"/>
              <a:gd name="connsiteX4" fmla="*/ 0 w 323850"/>
              <a:gd name="connsiteY4" fmla="*/ 53912 h 47625"/>
              <a:gd name="connsiteX5" fmla="*/ 26956 w 323850"/>
              <a:gd name="connsiteY5" fmla="*/ 26956 h 47625"/>
              <a:gd name="connsiteX6" fmla="*/ 0 w 323850"/>
              <a:gd name="connsiteY6" fmla="*/ 0 h 47625"/>
              <a:gd name="connsiteX7" fmla="*/ 134969 w 323850"/>
              <a:gd name="connsiteY7" fmla="*/ 26956 h 47625"/>
              <a:gd name="connsiteX8" fmla="*/ 108014 w 323850"/>
              <a:gd name="connsiteY8" fmla="*/ 53912 h 47625"/>
              <a:gd name="connsiteX9" fmla="*/ 189071 w 323850"/>
              <a:gd name="connsiteY9" fmla="*/ 53912 h 47625"/>
              <a:gd name="connsiteX10" fmla="*/ 216027 w 323850"/>
              <a:gd name="connsiteY10" fmla="*/ 26956 h 47625"/>
              <a:gd name="connsiteX11" fmla="*/ 189071 w 323850"/>
              <a:gd name="connsiteY11" fmla="*/ 0 h 47625"/>
              <a:gd name="connsiteX12" fmla="*/ 108014 w 323850"/>
              <a:gd name="connsiteY12" fmla="*/ 0 h 47625"/>
              <a:gd name="connsiteX13" fmla="*/ 134969 w 323850"/>
              <a:gd name="connsiteY13" fmla="*/ 26956 h 47625"/>
              <a:gd name="connsiteX14" fmla="*/ 243078 w 323850"/>
              <a:gd name="connsiteY14" fmla="*/ 26956 h 47625"/>
              <a:gd name="connsiteX15" fmla="*/ 216027 w 323850"/>
              <a:gd name="connsiteY15" fmla="*/ 53912 h 47625"/>
              <a:gd name="connsiteX16" fmla="*/ 296990 w 323850"/>
              <a:gd name="connsiteY16" fmla="*/ 53912 h 47625"/>
              <a:gd name="connsiteX17" fmla="*/ 324040 w 323850"/>
              <a:gd name="connsiteY17" fmla="*/ 26956 h 47625"/>
              <a:gd name="connsiteX18" fmla="*/ 296990 w 323850"/>
              <a:gd name="connsiteY18" fmla="*/ 0 h 47625"/>
              <a:gd name="connsiteX19" fmla="*/ 216027 w 323850"/>
              <a:gd name="connsiteY19" fmla="*/ 0 h 47625"/>
              <a:gd name="connsiteX20" fmla="*/ 243078 w 323850"/>
              <a:gd name="connsiteY20" fmla="*/ 26956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3850" h="47625">
                <a:moveTo>
                  <a:pt x="0" y="0"/>
                </a:moveTo>
                <a:lnTo>
                  <a:pt x="80963" y="0"/>
                </a:lnTo>
                <a:lnTo>
                  <a:pt x="107918" y="26956"/>
                </a:lnTo>
                <a:lnTo>
                  <a:pt x="80963" y="53912"/>
                </a:lnTo>
                <a:lnTo>
                  <a:pt x="0" y="53912"/>
                </a:lnTo>
                <a:lnTo>
                  <a:pt x="26956" y="26956"/>
                </a:lnTo>
                <a:lnTo>
                  <a:pt x="0" y="0"/>
                </a:lnTo>
                <a:close/>
                <a:moveTo>
                  <a:pt x="134969" y="26956"/>
                </a:moveTo>
                <a:lnTo>
                  <a:pt x="108014" y="53912"/>
                </a:lnTo>
                <a:lnTo>
                  <a:pt x="189071" y="53912"/>
                </a:lnTo>
                <a:lnTo>
                  <a:pt x="216027" y="26956"/>
                </a:lnTo>
                <a:lnTo>
                  <a:pt x="189071" y="0"/>
                </a:lnTo>
                <a:lnTo>
                  <a:pt x="108014" y="0"/>
                </a:lnTo>
                <a:lnTo>
                  <a:pt x="134969" y="26956"/>
                </a:lnTo>
                <a:close/>
                <a:moveTo>
                  <a:pt x="243078" y="26956"/>
                </a:moveTo>
                <a:lnTo>
                  <a:pt x="216027" y="53912"/>
                </a:lnTo>
                <a:lnTo>
                  <a:pt x="296990" y="53912"/>
                </a:lnTo>
                <a:lnTo>
                  <a:pt x="324040" y="26956"/>
                </a:lnTo>
                <a:lnTo>
                  <a:pt x="296990" y="0"/>
                </a:lnTo>
                <a:lnTo>
                  <a:pt x="216027" y="0"/>
                </a:lnTo>
                <a:lnTo>
                  <a:pt x="243078" y="26956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3"/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lIns="91440" tIns="45720" rIns="91440" bIns="45720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03886A7-B64E-00D7-C222-2223B5D7BD66}"/>
              </a:ext>
            </a:extLst>
          </p:cNvPr>
          <p:cNvSpPr txBox="1">
            <a:spLocks/>
          </p:cNvSpPr>
          <p:nvPr/>
        </p:nvSpPr>
        <p:spPr>
          <a:xfrm>
            <a:off x="5815550" y="4647518"/>
            <a:ext cx="5323467" cy="7544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</a:rPr>
              <a:t>——if</a:t>
            </a:r>
            <a:r>
              <a:rPr lang="zh-CN" altLang="en-US" sz="3600" dirty="0">
                <a:solidFill>
                  <a:schemeClr val="bg1"/>
                </a:solidFill>
              </a:rPr>
              <a:t>语句和条件表达式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20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396165"/>
            <a:ext cx="5457293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14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16"/>
              </p:custDataLst>
            </p:nvPr>
          </p:nvSpPr>
          <p:spPr>
            <a:xfrm>
              <a:off x="5186825" y="1531228"/>
              <a:ext cx="3344780" cy="4689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en-US" altLang="zh-CN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if</a:t>
              </a:r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语句</a:t>
              </a:r>
            </a:p>
          </p:txBody>
        </p:sp>
        <p:sp>
          <p:nvSpPr>
            <p:cNvPr id="30" name="梯形 29"/>
            <p:cNvSpPr/>
            <p:nvPr>
              <p:custDataLst>
                <p:tags r:id="rId17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18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16136" y="2811346"/>
            <a:ext cx="5457293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9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1"/>
              </p:custDataLst>
            </p:nvPr>
          </p:nvSpPr>
          <p:spPr>
            <a:xfrm>
              <a:off x="5846150" y="1548285"/>
              <a:ext cx="2026131" cy="4689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en-US" altLang="zh-CN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if</a:t>
              </a:r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语句嵌套</a:t>
              </a:r>
            </a:p>
          </p:txBody>
        </p:sp>
        <p:sp>
          <p:nvSpPr>
            <p:cNvPr id="37" name="梯形 36"/>
            <p:cNvSpPr/>
            <p:nvPr>
              <p:custDataLst>
                <p:tags r:id="rId12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3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8" y="4268669"/>
            <a:ext cx="5457292" cy="701832"/>
            <a:chOff x="4316361" y="1433503"/>
            <a:chExt cx="5197419" cy="668411"/>
          </a:xfrm>
        </p:grpSpPr>
        <p:sp>
          <p:nvSpPr>
            <p:cNvPr id="40" name="任意多边形: 形状 39"/>
            <p:cNvSpPr/>
            <p:nvPr>
              <p:custDataLst>
                <p:tags r:id="rId4"/>
              </p:custDataLst>
            </p:nvPr>
          </p:nvSpPr>
          <p:spPr>
            <a:xfrm>
              <a:off x="4321820" y="1435961"/>
              <a:ext cx="5179880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6"/>
              </p:custDataLst>
            </p:nvPr>
          </p:nvSpPr>
          <p:spPr>
            <a:xfrm>
              <a:off x="6196396" y="1555241"/>
              <a:ext cx="2146496" cy="4689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2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条件表达式</a:t>
              </a:r>
            </a:p>
          </p:txBody>
        </p:sp>
        <p:sp>
          <p:nvSpPr>
            <p:cNvPr id="43" name="梯形 42"/>
            <p:cNvSpPr/>
            <p:nvPr>
              <p:custDataLst>
                <p:tags r:id="rId7"/>
              </p:custDataLst>
            </p:nvPr>
          </p:nvSpPr>
          <p:spPr>
            <a:xfrm rot="5400000">
              <a:off x="9400882" y="1745235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8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if</a:t>
            </a:r>
            <a:r>
              <a:rPr lang="zh-CN" altLang="en-US" sz="2400" dirty="0"/>
              <a:t>语句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4A89FB5-2F3F-4CAB-15EF-E551A4577A16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if</a:t>
            </a:r>
            <a:r>
              <a:rPr lang="zh-CN" altLang="en-US" sz="2400" dirty="0"/>
              <a:t>语句的一般语法形式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9D66F0-CEE7-6E64-67A2-5EBFAB1E00FB}"/>
              </a:ext>
            </a:extLst>
          </p:cNvPr>
          <p:cNvSpPr/>
          <p:nvPr/>
        </p:nvSpPr>
        <p:spPr>
          <a:xfrm>
            <a:off x="1010479" y="1294910"/>
            <a:ext cx="3183834" cy="754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0" rIns="14400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2000" b="1">
                <a:latin typeface="+mn-ea"/>
              </a:rPr>
              <a:t>if (</a:t>
            </a:r>
            <a:r>
              <a:rPr lang="zh-CN" altLang="en-US" sz="2000" b="1">
                <a:latin typeface="+mn-ea"/>
              </a:rPr>
              <a:t>表达式</a:t>
            </a:r>
            <a:r>
              <a:rPr lang="en-US" altLang="zh-CN" sz="2000" b="1">
                <a:latin typeface="+mn-ea"/>
              </a:rPr>
              <a:t>) </a:t>
            </a:r>
            <a:r>
              <a:rPr lang="zh-CN" altLang="en-US" sz="2000" b="1">
                <a:latin typeface="+mn-ea"/>
              </a:rPr>
              <a:t>语句</a:t>
            </a:r>
            <a:r>
              <a:rPr lang="en-US" altLang="zh-CN" sz="2000" b="1">
                <a:latin typeface="+mn-ea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zh-CN" sz="2000" b="1">
                <a:latin typeface="+mn-ea"/>
              </a:rPr>
              <a:t>[ else  </a:t>
            </a:r>
            <a:r>
              <a:rPr lang="zh-CN" altLang="en-US" sz="2000" b="1">
                <a:latin typeface="+mn-ea"/>
              </a:rPr>
              <a:t>语句</a:t>
            </a:r>
            <a:r>
              <a:rPr lang="en-US" altLang="zh-CN" sz="2000" b="1">
                <a:latin typeface="+mn-ea"/>
              </a:rPr>
              <a:t>2 ]</a:t>
            </a:r>
            <a:endParaRPr lang="zh-CN" altLang="en-US" sz="2000" b="1">
              <a:latin typeface="+mn-ea"/>
            </a:endParaRPr>
          </a:p>
        </p:txBody>
      </p:sp>
      <p:sp>
        <p:nvSpPr>
          <p:cNvPr id="8" name="MH_Desc_1">
            <a:extLst>
              <a:ext uri="{FF2B5EF4-FFF2-40B4-BE49-F238E27FC236}">
                <a16:creationId xmlns:a16="http://schemas.microsoft.com/office/drawing/2014/main" id="{D01AA6D5-E1FF-E643-6E54-306FC20B02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10479" y="2349833"/>
            <a:ext cx="3183834" cy="396571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“表达式”可以是关系表达式、逻辑表达式，甚至是数值表达式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方括号内的部分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即</a:t>
            </a:r>
            <a:r>
              <a:rPr lang="en-US" altLang="zh-CN">
                <a:solidFill>
                  <a:schemeClr val="tx1"/>
                </a:solidFill>
              </a:rPr>
              <a:t>else</a:t>
            </a:r>
            <a:r>
              <a:rPr lang="zh-CN" altLang="en-US">
                <a:solidFill>
                  <a:schemeClr val="tx1"/>
                </a:solidFill>
              </a:rPr>
              <a:t>子句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为可选的，既可以有，也可以没有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语句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和语句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可以是一个简单的语句，也可以是一个复合语句，还可以是另一个</a:t>
            </a:r>
            <a:r>
              <a:rPr lang="en-US" altLang="zh-CN">
                <a:solidFill>
                  <a:schemeClr val="tx1"/>
                </a:solidFill>
              </a:rPr>
              <a:t>if</a:t>
            </a:r>
            <a:r>
              <a:rPr lang="zh-CN" altLang="en-US">
                <a:solidFill>
                  <a:schemeClr val="tx1"/>
                </a:solidFill>
              </a:rPr>
              <a:t>语句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9" name="MH_Other_1">
            <a:extLst>
              <a:ext uri="{FF2B5EF4-FFF2-40B4-BE49-F238E27FC236}">
                <a16:creationId xmlns:a16="http://schemas.microsoft.com/office/drawing/2014/main" id="{486D09BF-F165-F1B1-EE7C-1401A715B5EC}"/>
              </a:ext>
            </a:extLst>
          </p:cNvPr>
          <p:cNvCxnSpPr>
            <a:stCxn id="7" idx="3"/>
          </p:cNvCxnSpPr>
          <p:nvPr>
            <p:custDataLst>
              <p:tags r:id="rId2"/>
            </p:custDataLst>
          </p:nvPr>
        </p:nvCxnSpPr>
        <p:spPr>
          <a:xfrm>
            <a:off x="4194313" y="1672376"/>
            <a:ext cx="1714018" cy="520534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MH_Other_2">
            <a:extLst>
              <a:ext uri="{FF2B5EF4-FFF2-40B4-BE49-F238E27FC236}">
                <a16:creationId xmlns:a16="http://schemas.microsoft.com/office/drawing/2014/main" id="{3BC6BCB4-362B-0BEF-564D-26176EEBC525}"/>
              </a:ext>
            </a:extLst>
          </p:cNvPr>
          <p:cNvCxnSpPr>
            <a:endCxn id="40" idx="2"/>
          </p:cNvCxnSpPr>
          <p:nvPr>
            <p:custDataLst>
              <p:tags r:id="rId3"/>
            </p:custDataLst>
          </p:nvPr>
        </p:nvCxnSpPr>
        <p:spPr>
          <a:xfrm>
            <a:off x="4194313" y="1878496"/>
            <a:ext cx="1714016" cy="2216495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MH_Other_3">
            <a:extLst>
              <a:ext uri="{FF2B5EF4-FFF2-40B4-BE49-F238E27FC236}">
                <a16:creationId xmlns:a16="http://schemas.microsoft.com/office/drawing/2014/main" id="{85EDAB32-C084-0CEE-BE9D-3E1A908A471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V="1">
            <a:off x="4194313" y="1184426"/>
            <a:ext cx="1714018" cy="306444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0E0C30B-F774-19B4-FE6C-985E257EED46}"/>
              </a:ext>
            </a:extLst>
          </p:cNvPr>
          <p:cNvGrpSpPr/>
          <p:nvPr/>
        </p:nvGrpSpPr>
        <p:grpSpPr>
          <a:xfrm>
            <a:off x="5908331" y="907051"/>
            <a:ext cx="5136519" cy="824461"/>
            <a:chOff x="6132870" y="2758143"/>
            <a:chExt cx="5136519" cy="824461"/>
          </a:xfrm>
        </p:grpSpPr>
        <p:sp>
          <p:nvSpPr>
            <p:cNvPr id="33" name="MH_Text_1">
              <a:extLst>
                <a:ext uri="{FF2B5EF4-FFF2-40B4-BE49-F238E27FC236}">
                  <a16:creationId xmlns:a16="http://schemas.microsoft.com/office/drawing/2014/main" id="{0AA0FEFC-E5CD-6043-C5E9-F5E1F91A175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132870" y="3098120"/>
              <a:ext cx="5136519" cy="484484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wrap="square" tIns="90000" bIns="90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if(</a:t>
              </a:r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表达式</a:t>
              </a: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 </a:t>
              </a:r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语句</a:t>
              </a: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MH_Other_1">
              <a:extLst>
                <a:ext uri="{FF2B5EF4-FFF2-40B4-BE49-F238E27FC236}">
                  <a16:creationId xmlns:a16="http://schemas.microsoft.com/office/drawing/2014/main" id="{8FF62C31-58A7-264F-6B76-1156D674C4A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132870" y="2758143"/>
              <a:ext cx="5136519" cy="390239"/>
            </a:xfrm>
            <a:prstGeom prst="round2SameRect">
              <a:avLst>
                <a:gd name="adj1" fmla="val 20839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形式</a:t>
              </a:r>
              <a:r>
                <a:rPr lang="en-US" altLang="zh-CN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	</a:t>
              </a:r>
              <a:r>
                <a:rPr lang="zh-CN" altLang="en-US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没有</a:t>
              </a:r>
              <a:r>
                <a:rPr lang="en-US" altLang="zh-CN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else</a:t>
              </a:r>
              <a:r>
                <a:rPr lang="zh-CN" altLang="en-US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子句部分</a:t>
              </a:r>
              <a:endPara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C8A4D6C-C652-C219-1EDD-CEAECCFB56FA}"/>
              </a:ext>
            </a:extLst>
          </p:cNvPr>
          <p:cNvGrpSpPr/>
          <p:nvPr/>
        </p:nvGrpSpPr>
        <p:grpSpPr>
          <a:xfrm>
            <a:off x="5908330" y="1877800"/>
            <a:ext cx="5136519" cy="1809617"/>
            <a:chOff x="6132870" y="2758143"/>
            <a:chExt cx="5136519" cy="1809617"/>
          </a:xfrm>
        </p:grpSpPr>
        <p:sp>
          <p:nvSpPr>
            <p:cNvPr id="36" name="MH_Text_1">
              <a:extLst>
                <a:ext uri="{FF2B5EF4-FFF2-40B4-BE49-F238E27FC236}">
                  <a16:creationId xmlns:a16="http://schemas.microsoft.com/office/drawing/2014/main" id="{5EC73E88-6625-C08E-C56F-7A4A09DC13D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132870" y="3098119"/>
              <a:ext cx="5136519" cy="1469641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wrap="square" tIns="90000" bIns="90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625475">
                <a:lnSpc>
                  <a:spcPct val="120000"/>
                </a:lnSpc>
              </a:pP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if (</a:t>
              </a:r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表达式</a:t>
              </a: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</a:p>
            <a:p>
              <a:pPr algn="just" defTabSz="625475">
                <a:lnSpc>
                  <a:spcPct val="120000"/>
                </a:lnSpc>
              </a:pP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	</a:t>
              </a:r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语句</a:t>
              </a: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 </a:t>
              </a:r>
            </a:p>
            <a:p>
              <a:pPr algn="just" defTabSz="625475">
                <a:lnSpc>
                  <a:spcPct val="120000"/>
                </a:lnSpc>
              </a:pP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else </a:t>
              </a:r>
            </a:p>
            <a:p>
              <a:pPr algn="just" defTabSz="625475">
                <a:lnSpc>
                  <a:spcPct val="120000"/>
                </a:lnSpc>
              </a:pP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	</a:t>
              </a:r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语句</a:t>
              </a: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7" name="MH_Other_1">
              <a:extLst>
                <a:ext uri="{FF2B5EF4-FFF2-40B4-BE49-F238E27FC236}">
                  <a16:creationId xmlns:a16="http://schemas.microsoft.com/office/drawing/2014/main" id="{842D6171-DA50-89FB-998A-4FBB25A0321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132870" y="2758143"/>
              <a:ext cx="5136519" cy="390239"/>
            </a:xfrm>
            <a:prstGeom prst="round2SameRect">
              <a:avLst>
                <a:gd name="adj1" fmla="val 23386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形式</a:t>
              </a:r>
              <a:r>
                <a:rPr lang="en-US" altLang="zh-CN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2	</a:t>
              </a:r>
              <a:r>
                <a:rPr lang="zh-CN" altLang="en-US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有</a:t>
              </a:r>
              <a:r>
                <a:rPr lang="en-US" altLang="zh-CN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else</a:t>
              </a:r>
              <a:r>
                <a:rPr lang="zh-CN" altLang="en-US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子句部分</a:t>
              </a:r>
              <a:endPara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8FFE8C0-82FA-21D6-EE8E-24778028C61B}"/>
              </a:ext>
            </a:extLst>
          </p:cNvPr>
          <p:cNvGrpSpPr/>
          <p:nvPr/>
        </p:nvGrpSpPr>
        <p:grpSpPr>
          <a:xfrm>
            <a:off x="5908329" y="3899871"/>
            <a:ext cx="5136519" cy="2420384"/>
            <a:chOff x="6132870" y="2758143"/>
            <a:chExt cx="5136519" cy="24203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MH_Text_1">
                  <a:extLst>
                    <a:ext uri="{FF2B5EF4-FFF2-40B4-BE49-F238E27FC236}">
                      <a16:creationId xmlns:a16="http://schemas.microsoft.com/office/drawing/2014/main" id="{B8E0ED46-A2B6-22F5-8F76-C6926B59910C}"/>
                    </a:ext>
                  </a:extLst>
                </p:cNvPr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132870" y="3098119"/>
                  <a:ext cx="5136519" cy="2080408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 algn="ctr">
                  <a:solidFill>
                    <a:schemeClr val="accent2"/>
                  </a:solidFill>
                  <a:prstDash val="solid"/>
                </a:ln>
                <a:effectLst/>
              </p:spPr>
              <p:txBody>
                <a:bodyPr wrap="square" tIns="90000" bIns="90000" rtlCol="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 defTabSz="625475">
                    <a:lnSpc>
                      <a:spcPct val="120000"/>
                    </a:lnSpc>
                  </a:pP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if(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表达式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1)		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语句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</a:t>
                  </a:r>
                </a:p>
                <a:p>
                  <a:pPr algn="just" defTabSz="625475">
                    <a:lnSpc>
                      <a:spcPct val="120000"/>
                    </a:lnSpc>
                  </a:pP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else if(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表达式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2) 	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语句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2</a:t>
                  </a:r>
                </a:p>
                <a:p>
                  <a:pPr algn="just" defTabSz="625475">
                    <a:lnSpc>
                      <a:spcPct val="120000"/>
                    </a:lnSpc>
                  </a:pP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else if(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表达式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3) 	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语句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3</a:t>
                  </a:r>
                </a:p>
                <a:p>
                  <a:pPr algn="just" defTabSz="625475">
                    <a:lnSpc>
                      <a:spcPct val="120000"/>
                    </a:lnSpc>
                  </a:pP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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a typeface="Cambria Math" panose="02040503050406030204" pitchFamily="18" charset="0"/>
                    </a:rPr>
                    <a:t>			   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endParaRPr>
                </a:p>
                <a:p>
                  <a:pPr algn="just" defTabSz="625475">
                    <a:lnSpc>
                      <a:spcPct val="120000"/>
                    </a:lnSpc>
                  </a:pP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else if(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表达式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m) 	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语句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</a:t>
                  </a:r>
                </a:p>
                <a:p>
                  <a:pPr algn="just" defTabSz="625475">
                    <a:lnSpc>
                      <a:spcPct val="120000"/>
                    </a:lnSpc>
                  </a:pP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else			</a:t>
                  </a:r>
                  <a:r>
                    <a:rPr lang="zh-CN" altLang="en-US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语句</a:t>
                  </a:r>
                  <a:r>
                    <a:rPr lang="en-US" altLang="zh-CN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m+1</a:t>
                  </a:r>
                </a:p>
              </p:txBody>
            </p:sp>
          </mc:Choice>
          <mc:Fallback xmlns="">
            <p:sp>
              <p:nvSpPr>
                <p:cNvPr id="30" name="MH_Text_1"/>
                <p:cNvSpPr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3"/>
                  </p:custDataLst>
                </p:nvPr>
              </p:nvSpPr>
              <p:spPr>
                <a:xfrm>
                  <a:off x="6132870" y="3098119"/>
                  <a:ext cx="5136519" cy="2080408"/>
                </a:xfrm>
                <a:prstGeom prst="rect">
                  <a:avLst/>
                </a:prstGeom>
                <a:blipFill>
                  <a:blip r:embed="rId14" cstate="print"/>
                  <a:stretch>
                    <a:fillRect l="-828" b="-4956"/>
                  </a:stretch>
                </a:blipFill>
                <a:ln w="9525" cap="flat" cmpd="sng" algn="ctr">
                  <a:solidFill>
                    <a:schemeClr val="accent2"/>
                  </a:solidFill>
                  <a:prstDash val="solid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MH_Other_1">
              <a:extLst>
                <a:ext uri="{FF2B5EF4-FFF2-40B4-BE49-F238E27FC236}">
                  <a16:creationId xmlns:a16="http://schemas.microsoft.com/office/drawing/2014/main" id="{89433E9B-E95E-B888-E77F-0F1E630FB1C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132870" y="2758143"/>
              <a:ext cx="5136519" cy="390239"/>
            </a:xfrm>
            <a:prstGeom prst="round2SameRect">
              <a:avLst>
                <a:gd name="adj1" fmla="val 20839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形式</a:t>
              </a:r>
              <a:r>
                <a:rPr lang="en-US" altLang="zh-CN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3	</a:t>
              </a:r>
              <a:r>
                <a:rPr lang="zh-CN" altLang="en-US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在</a:t>
              </a:r>
              <a:r>
                <a:rPr lang="en-US" altLang="zh-CN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else</a:t>
              </a:r>
              <a:r>
                <a:rPr lang="zh-CN" altLang="en-US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部分又嵌套了多层的</a:t>
              </a:r>
              <a:r>
                <a:rPr lang="en-US" altLang="zh-CN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if</a:t>
              </a:r>
              <a:r>
                <a:rPr lang="zh-CN" altLang="en-US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语句</a:t>
              </a:r>
              <a:endPara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CE4F-9615-CEC2-90A1-0EB5E5C7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EDEC589-2243-A759-7241-47A932EB22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if</a:t>
            </a:r>
            <a:r>
              <a:rPr lang="zh-CN" altLang="en-US" sz="2400" dirty="0"/>
              <a:t>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955CAF-D05B-6552-33A4-CEBFA2A3E3E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037FAFF-10FA-7A30-072A-E27C38B292FD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使用</a:t>
            </a:r>
            <a:r>
              <a:rPr lang="en-US" altLang="zh-CN" sz="2400" dirty="0"/>
              <a:t>if</a:t>
            </a:r>
            <a:r>
              <a:rPr lang="zh-CN" altLang="en-US" sz="2400" dirty="0"/>
              <a:t>语句实现选择结构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5CB8E-7AFC-7DFD-B11D-D82A4B8302BA}"/>
              </a:ext>
            </a:extLst>
          </p:cNvPr>
          <p:cNvSpPr txBox="1">
            <a:spLocks/>
          </p:cNvSpPr>
          <p:nvPr/>
        </p:nvSpPr>
        <p:spPr>
          <a:xfrm>
            <a:off x="622407" y="987125"/>
            <a:ext cx="10260746" cy="113779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【</a:t>
            </a:r>
            <a:r>
              <a:rPr lang="zh-CN" altLang="en-US" sz="2000" b="1" dirty="0">
                <a:solidFill>
                  <a:schemeClr val="accent1"/>
                </a:solidFill>
              </a:rPr>
              <a:t>例</a:t>
            </a:r>
            <a:r>
              <a:rPr lang="en-US" altLang="zh-CN" sz="2000" b="1" dirty="0">
                <a:solidFill>
                  <a:schemeClr val="accent1"/>
                </a:solidFill>
              </a:rPr>
              <a:t>4.1】</a:t>
            </a:r>
            <a:r>
              <a:rPr lang="zh-CN" altLang="en-US" sz="2000" b="1" dirty="0">
                <a:solidFill>
                  <a:schemeClr val="accent1"/>
                </a:solidFill>
              </a:rPr>
              <a:t>输入两个实数，按由小到大的顺序输出这两个数。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marL="88900" indent="-88900">
              <a:lnSpc>
                <a:spcPct val="120000"/>
              </a:lnSpc>
              <a:buNone/>
            </a:pPr>
            <a:r>
              <a:rPr lang="zh-CN" altLang="en-US" sz="2000" b="1" dirty="0"/>
              <a:t>解题思路</a:t>
            </a:r>
            <a:r>
              <a:rPr lang="en-US" altLang="zh-CN" sz="2000" b="1" dirty="0"/>
              <a:t>: </a:t>
            </a:r>
            <a:r>
              <a:rPr lang="zh-CN" altLang="en-US" sz="2000" dirty="0"/>
              <a:t> 只要做一次比较，然后进行一次交换即可。用</a:t>
            </a:r>
            <a:r>
              <a:rPr lang="en-US" altLang="zh-CN" sz="2000" dirty="0"/>
              <a:t>if</a:t>
            </a:r>
            <a:r>
              <a:rPr lang="zh-CN" altLang="en-US" sz="2000" dirty="0"/>
              <a:t>语句实现条件判断。</a:t>
            </a:r>
          </a:p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4" name="圆角矩形 12">
            <a:extLst>
              <a:ext uri="{FF2B5EF4-FFF2-40B4-BE49-F238E27FC236}">
                <a16:creationId xmlns:a16="http://schemas.microsoft.com/office/drawing/2014/main" id="{9B2B9F9B-2386-0E7C-F051-175D5C4B2475}"/>
              </a:ext>
            </a:extLst>
          </p:cNvPr>
          <p:cNvSpPr/>
          <p:nvPr/>
        </p:nvSpPr>
        <p:spPr>
          <a:xfrm>
            <a:off x="772755" y="2317589"/>
            <a:ext cx="4579174" cy="3733587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float </a:t>
            </a:r>
            <a:r>
              <a:rPr lang="en-US" altLang="zh-CN" sz="1400" dirty="0" err="1"/>
              <a:t>a,b,t</a:t>
            </a:r>
            <a:r>
              <a:rPr lang="en-US" altLang="zh-CN" sz="14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("%</a:t>
            </a:r>
            <a:r>
              <a:rPr lang="en-US" altLang="zh-CN" sz="1400" dirty="0" err="1"/>
              <a:t>f,%f",&amp;a,&amp;b</a:t>
            </a:r>
            <a:r>
              <a:rPr lang="en-US" altLang="zh-CN" sz="14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if(a&gt;b)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solidFill>
                  <a:schemeClr val="accent6"/>
                </a:solidFill>
              </a:rPr>
              <a:t>	{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将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和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的值互换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>
                <a:solidFill>
                  <a:schemeClr val="accent6"/>
                </a:solidFill>
              </a:rPr>
              <a:t>		</a:t>
            </a:r>
            <a:r>
              <a:rPr lang="en-US" altLang="zh-CN" sz="1400" dirty="0">
                <a:solidFill>
                  <a:schemeClr val="accent6"/>
                </a:solidFill>
              </a:rPr>
              <a:t>t=a;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solidFill>
                  <a:schemeClr val="accent6"/>
                </a:solidFill>
              </a:rPr>
              <a:t>		a=b;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solidFill>
                  <a:schemeClr val="accent6"/>
                </a:solidFill>
              </a:rPr>
              <a:t>		b=t;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solidFill>
                  <a:schemeClr val="accent6"/>
                </a:solidFill>
              </a:rPr>
              <a:t>	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("%5.2f,%5.2f\n",</a:t>
            </a:r>
            <a:r>
              <a:rPr lang="en-US" altLang="zh-CN" sz="1400" dirty="0" err="1"/>
              <a:t>a,b</a:t>
            </a:r>
            <a:r>
              <a:rPr lang="en-US" altLang="zh-CN" sz="14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479FBE1-C782-1DB2-934E-8B90905E1F4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5999" y="2622878"/>
            <a:ext cx="4857985" cy="1137791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D621571D-D261-DC7B-3C0D-0200D71DE58F}"/>
              </a:ext>
            </a:extLst>
          </p:cNvPr>
          <p:cNvGrpSpPr/>
          <p:nvPr/>
        </p:nvGrpSpPr>
        <p:grpSpPr>
          <a:xfrm>
            <a:off x="6095999" y="4256495"/>
            <a:ext cx="4857985" cy="1612243"/>
            <a:chOff x="4807819" y="4248289"/>
            <a:chExt cx="4949071" cy="1566102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423F5DD-0F61-CEB4-F87F-DE12929A2F2D}"/>
                </a:ext>
              </a:extLst>
            </p:cNvPr>
            <p:cNvGrpSpPr/>
            <p:nvPr/>
          </p:nvGrpSpPr>
          <p:grpSpPr>
            <a:xfrm>
              <a:off x="4807819" y="4248289"/>
              <a:ext cx="4949071" cy="1566102"/>
              <a:chOff x="8050697" y="5019262"/>
              <a:chExt cx="4949071" cy="156610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剪去单角的矩形 51">
                <a:extLst>
                  <a:ext uri="{FF2B5EF4-FFF2-40B4-BE49-F238E27FC236}">
                    <a16:creationId xmlns:a16="http://schemas.microsoft.com/office/drawing/2014/main" id="{16728777-6ACB-86D9-C5CC-0A82AF8B0630}"/>
                  </a:ext>
                </a:extLst>
              </p:cNvPr>
              <p:cNvSpPr/>
              <p:nvPr/>
            </p:nvSpPr>
            <p:spPr>
              <a:xfrm>
                <a:off x="8050697" y="5019262"/>
                <a:ext cx="4949071" cy="1566102"/>
              </a:xfrm>
              <a:prstGeom prst="snip1Rect">
                <a:avLst>
                  <a:gd name="adj" fmla="val 875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E786635D-AEA7-12C4-1B4E-10CD3A1BC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08212" y="5064435"/>
                <a:ext cx="290352" cy="327244"/>
              </a:xfrm>
              <a:prstGeom prst="rect">
                <a:avLst/>
              </a:prstGeom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4B401A5-0BB6-2719-C43E-A0BE683C7DE8}"/>
                  </a:ext>
                </a:extLst>
              </p:cNvPr>
              <p:cNvSpPr txBox="1"/>
              <p:nvPr/>
            </p:nvSpPr>
            <p:spPr>
              <a:xfrm>
                <a:off x="8388005" y="5054496"/>
                <a:ext cx="452421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</a:rPr>
                  <a:t>两个变量值的互换</a:t>
                </a:r>
                <a:endParaRPr lang="en-US" altLang="zh-CN" sz="1400" dirty="0">
                  <a:solidFill>
                    <a:schemeClr val="bg1"/>
                  </a:solidFill>
                </a:endParaRPr>
              </a:p>
              <a:p>
                <a:endParaRPr lang="en-US" altLang="zh-CN" sz="1400" dirty="0">
                  <a:solidFill>
                    <a:schemeClr val="bg1"/>
                  </a:solidFill>
                </a:endParaRPr>
              </a:p>
              <a:p>
                <a:endParaRPr lang="en-US" altLang="zh-CN" sz="1400" dirty="0">
                  <a:solidFill>
                    <a:schemeClr val="bg1"/>
                  </a:solidFill>
                </a:endParaRPr>
              </a:p>
              <a:p>
                <a:endParaRPr lang="en-US" altLang="zh-CN" sz="1400" dirty="0">
                  <a:solidFill>
                    <a:schemeClr val="bg1"/>
                  </a:solidFill>
                </a:endParaRPr>
              </a:p>
              <a:p>
                <a:endParaRPr lang="en-US" altLang="zh-CN" sz="1400" dirty="0">
                  <a:solidFill>
                    <a:schemeClr val="bg1"/>
                  </a:solidFill>
                </a:endParaRPr>
              </a:p>
              <a:p>
                <a:r>
                  <a:rPr lang="zh-CN" altLang="en-US" sz="1400" dirty="0">
                    <a:solidFill>
                      <a:schemeClr val="bg1"/>
                    </a:solidFill>
                  </a:rPr>
                  <a:t>因此，为了实现互换，必须借助于第三个变量</a:t>
                </a:r>
                <a:endParaRPr lang="en-US" altLang="zh-CN" sz="1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圆角矩形 54">
              <a:extLst>
                <a:ext uri="{FF2B5EF4-FFF2-40B4-BE49-F238E27FC236}">
                  <a16:creationId xmlns:a16="http://schemas.microsoft.com/office/drawing/2014/main" id="{600418BD-EA4D-FA82-0C05-50D0E9E79423}"/>
                </a:ext>
              </a:extLst>
            </p:cNvPr>
            <p:cNvSpPr/>
            <p:nvPr/>
          </p:nvSpPr>
          <p:spPr>
            <a:xfrm>
              <a:off x="5213201" y="4620705"/>
              <a:ext cx="4348242" cy="647033"/>
            </a:xfrm>
            <a:prstGeom prst="roundRect">
              <a:avLst>
                <a:gd name="adj" fmla="val 8916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defTabSz="363538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/>
                  </a:solidFill>
                </a:rPr>
                <a:t>a=b;  </a:t>
              </a:r>
              <a:r>
                <a:rPr lang="en-US" altLang="zh-CN" sz="1400" dirty="0">
                  <a:solidFill>
                    <a:srgbClr val="92D050"/>
                  </a:solidFill>
                </a:rPr>
                <a:t>//</a:t>
              </a:r>
              <a:r>
                <a:rPr lang="zh-CN" altLang="en-US" sz="1400" dirty="0">
                  <a:solidFill>
                    <a:srgbClr val="92D050"/>
                  </a:solidFill>
                </a:rPr>
                <a:t>把变量</a:t>
              </a:r>
              <a:r>
                <a:rPr lang="en-US" altLang="zh-CN" sz="1400" dirty="0">
                  <a:solidFill>
                    <a:srgbClr val="92D050"/>
                  </a:solidFill>
                </a:rPr>
                <a:t>b</a:t>
              </a:r>
              <a:r>
                <a:rPr lang="zh-CN" altLang="en-US" sz="1400" dirty="0">
                  <a:solidFill>
                    <a:srgbClr val="92D050"/>
                  </a:solidFill>
                </a:rPr>
                <a:t>的值赋给变量</a:t>
              </a:r>
              <a:r>
                <a:rPr lang="en-US" altLang="zh-CN" sz="1400" dirty="0">
                  <a:solidFill>
                    <a:srgbClr val="92D050"/>
                  </a:solidFill>
                </a:rPr>
                <a:t>a</a:t>
              </a:r>
              <a:r>
                <a:rPr lang="zh-CN" altLang="en-US" sz="1400" dirty="0">
                  <a:solidFill>
                    <a:srgbClr val="92D050"/>
                  </a:solidFill>
                </a:rPr>
                <a:t>，</a:t>
              </a:r>
              <a:r>
                <a:rPr lang="en-US" altLang="zh-CN" sz="1400" dirty="0">
                  <a:solidFill>
                    <a:srgbClr val="92D050"/>
                  </a:solidFill>
                </a:rPr>
                <a:t>a</a:t>
              </a:r>
              <a:r>
                <a:rPr lang="zh-CN" altLang="en-US" sz="1400" dirty="0">
                  <a:solidFill>
                    <a:srgbClr val="92D050"/>
                  </a:solidFill>
                </a:rPr>
                <a:t>的值等于</a:t>
              </a:r>
              <a:r>
                <a:rPr lang="en-US" altLang="zh-CN" sz="1400" dirty="0">
                  <a:solidFill>
                    <a:srgbClr val="92D050"/>
                  </a:solidFill>
                </a:rPr>
                <a:t>b</a:t>
              </a:r>
              <a:r>
                <a:rPr lang="zh-CN" altLang="en-US" sz="1400" dirty="0">
                  <a:solidFill>
                    <a:srgbClr val="92D050"/>
                  </a:solidFill>
                </a:rPr>
                <a:t>的值</a:t>
              </a:r>
            </a:p>
            <a:p>
              <a:pPr defTabSz="363538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/>
                  </a:solidFill>
                </a:rPr>
                <a:t>b=a;  </a:t>
              </a:r>
              <a:r>
                <a:rPr lang="en-US" altLang="zh-CN" sz="1400" dirty="0">
                  <a:solidFill>
                    <a:srgbClr val="92D050"/>
                  </a:solidFill>
                </a:rPr>
                <a:t>//</a:t>
              </a:r>
              <a:r>
                <a:rPr lang="zh-CN" altLang="en-US" sz="1400" dirty="0">
                  <a:solidFill>
                    <a:srgbClr val="92D050"/>
                  </a:solidFill>
                </a:rPr>
                <a:t>再把变量</a:t>
              </a:r>
              <a:r>
                <a:rPr lang="en-US" altLang="zh-CN" sz="1400" dirty="0">
                  <a:solidFill>
                    <a:srgbClr val="92D050"/>
                  </a:solidFill>
                </a:rPr>
                <a:t>a</a:t>
              </a:r>
              <a:r>
                <a:rPr lang="zh-CN" altLang="en-US" sz="1400" dirty="0">
                  <a:solidFill>
                    <a:srgbClr val="92D050"/>
                  </a:solidFill>
                </a:rPr>
                <a:t>的值赋给变量</a:t>
              </a:r>
              <a:r>
                <a:rPr lang="en-US" altLang="zh-CN" sz="1400" dirty="0">
                  <a:solidFill>
                    <a:srgbClr val="92D050"/>
                  </a:solidFill>
                </a:rPr>
                <a:t>b</a:t>
              </a:r>
              <a:r>
                <a:rPr lang="zh-CN" altLang="en-US" sz="1400" dirty="0">
                  <a:solidFill>
                    <a:srgbClr val="92D050"/>
                  </a:solidFill>
                </a:rPr>
                <a:t>，变量</a:t>
              </a:r>
              <a:r>
                <a:rPr lang="en-US" altLang="zh-CN" sz="1400" dirty="0">
                  <a:solidFill>
                    <a:srgbClr val="92D050"/>
                  </a:solidFill>
                </a:rPr>
                <a:t>b</a:t>
              </a:r>
              <a:r>
                <a:rPr lang="zh-CN" altLang="en-US" sz="1400" dirty="0">
                  <a:solidFill>
                    <a:srgbClr val="92D050"/>
                  </a:solidFill>
                </a:rPr>
                <a:t>值没有改变</a:t>
              </a:r>
              <a:endParaRPr lang="en-US" altLang="zh-CN" sz="1400" dirty="0">
                <a:solidFill>
                  <a:srgbClr val="92D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519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46FC-BBEC-6387-C404-5EF67026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3342935-95FB-934B-2B95-D66289F0C0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if</a:t>
            </a:r>
            <a:r>
              <a:rPr lang="zh-CN" altLang="en-US" sz="2400" dirty="0"/>
              <a:t>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F0161D-E92A-C955-8A3B-CF55FE64649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4A57E19-CE77-BC69-2C58-C4DA0AA70BA0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使用</a:t>
            </a:r>
            <a:r>
              <a:rPr lang="en-US" altLang="zh-CN" sz="2400" dirty="0"/>
              <a:t>if</a:t>
            </a:r>
            <a:r>
              <a:rPr lang="zh-CN" altLang="en-US" sz="2400" dirty="0"/>
              <a:t>语句实现选择结构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1139A82-4B48-905B-E094-8D9EB041042F}"/>
              </a:ext>
            </a:extLst>
          </p:cNvPr>
          <p:cNvSpPr txBox="1">
            <a:spLocks/>
          </p:cNvSpPr>
          <p:nvPr/>
        </p:nvSpPr>
        <p:spPr>
          <a:xfrm>
            <a:off x="410197" y="949800"/>
            <a:ext cx="7494850" cy="5422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【</a:t>
            </a:r>
            <a:r>
              <a:rPr lang="zh-CN" altLang="en-US" sz="2000" b="1" dirty="0">
                <a:solidFill>
                  <a:schemeClr val="accent1"/>
                </a:solidFill>
              </a:rPr>
              <a:t>例</a:t>
            </a:r>
            <a:r>
              <a:rPr lang="en-US" altLang="zh-CN" sz="2000" b="1" dirty="0">
                <a:solidFill>
                  <a:schemeClr val="accent1"/>
                </a:solidFill>
              </a:rPr>
              <a:t>4.2】</a:t>
            </a:r>
            <a:r>
              <a:rPr lang="zh-CN" altLang="en-US" sz="2000" b="1" dirty="0">
                <a:solidFill>
                  <a:schemeClr val="accent1"/>
                </a:solidFill>
              </a:rPr>
              <a:t>输入</a:t>
            </a:r>
            <a:r>
              <a:rPr lang="en-US" altLang="zh-CN" sz="2000" b="1" dirty="0">
                <a:solidFill>
                  <a:schemeClr val="accent1"/>
                </a:solidFill>
              </a:rPr>
              <a:t>3</a:t>
            </a:r>
            <a:r>
              <a:rPr lang="zh-CN" altLang="en-US" sz="2000" b="1" dirty="0">
                <a:solidFill>
                  <a:schemeClr val="accent1"/>
                </a:solidFill>
              </a:rPr>
              <a:t>个数</a:t>
            </a:r>
            <a:r>
              <a:rPr lang="en-US" altLang="zh-CN" sz="2000" b="1" dirty="0">
                <a:solidFill>
                  <a:schemeClr val="accent1"/>
                </a:solidFill>
              </a:rPr>
              <a:t>a</a:t>
            </a:r>
            <a:r>
              <a:rPr lang="zh-CN" altLang="en-US" sz="2000" b="1" dirty="0">
                <a:solidFill>
                  <a:schemeClr val="accent1"/>
                </a:solidFill>
              </a:rPr>
              <a:t>，</a:t>
            </a:r>
            <a:r>
              <a:rPr lang="en-US" altLang="zh-CN" sz="2000" b="1" dirty="0">
                <a:solidFill>
                  <a:schemeClr val="accent1"/>
                </a:solidFill>
              </a:rPr>
              <a:t>b</a:t>
            </a:r>
            <a:r>
              <a:rPr lang="zh-CN" altLang="en-US" sz="2000" b="1" dirty="0">
                <a:solidFill>
                  <a:schemeClr val="accent1"/>
                </a:solidFill>
              </a:rPr>
              <a:t>，</a:t>
            </a:r>
            <a:r>
              <a:rPr lang="en-US" altLang="zh-CN" sz="2000" b="1" dirty="0">
                <a:solidFill>
                  <a:schemeClr val="accent1"/>
                </a:solidFill>
              </a:rPr>
              <a:t>c</a:t>
            </a:r>
            <a:r>
              <a:rPr lang="zh-CN" altLang="en-US" sz="2000" b="1" dirty="0">
                <a:solidFill>
                  <a:schemeClr val="accent1"/>
                </a:solidFill>
              </a:rPr>
              <a:t>，要求按由小到大的顺序输出。</a:t>
            </a:r>
          </a:p>
        </p:txBody>
      </p:sp>
      <p:sp>
        <p:nvSpPr>
          <p:cNvPr id="9" name="圆角矩形 12">
            <a:extLst>
              <a:ext uri="{FF2B5EF4-FFF2-40B4-BE49-F238E27FC236}">
                <a16:creationId xmlns:a16="http://schemas.microsoft.com/office/drawing/2014/main" id="{E881193F-3C43-4A16-8575-E174A6BC9AC3}"/>
              </a:ext>
            </a:extLst>
          </p:cNvPr>
          <p:cNvSpPr/>
          <p:nvPr/>
        </p:nvSpPr>
        <p:spPr>
          <a:xfrm>
            <a:off x="808178" y="1624642"/>
            <a:ext cx="5562805" cy="5028632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en-US" altLang="zh-CN" sz="1400"/>
              <a:t>#include &lt;stdio.h&gt;</a:t>
            </a:r>
          </a:p>
          <a:p>
            <a:pPr defTabSz="363538"/>
            <a:r>
              <a:rPr lang="en-US" altLang="zh-CN" sz="1400"/>
              <a:t>int main()</a:t>
            </a:r>
          </a:p>
          <a:p>
            <a:pPr defTabSz="363538"/>
            <a:r>
              <a:rPr lang="en-US" altLang="zh-CN" sz="1400"/>
              <a:t>{</a:t>
            </a:r>
          </a:p>
          <a:p>
            <a:pPr defTabSz="363538"/>
            <a:r>
              <a:rPr lang="en-US" altLang="zh-CN" sz="1400"/>
              <a:t>	float a,b,c,t;</a:t>
            </a:r>
          </a:p>
          <a:p>
            <a:pPr defTabSz="363538"/>
            <a:r>
              <a:rPr lang="en-US" altLang="zh-CN" sz="1400"/>
              <a:t>	scanf("%f,%f,%f",&amp;a,&amp;b,&amp;c);</a:t>
            </a:r>
          </a:p>
          <a:p>
            <a:pPr defTabSz="363538"/>
            <a:r>
              <a:rPr lang="en-US" altLang="zh-CN" sz="1400"/>
              <a:t>	if(a&gt;b)</a:t>
            </a:r>
          </a:p>
          <a:p>
            <a:pPr defTabSz="363538"/>
            <a:r>
              <a:rPr lang="en-US" altLang="zh-CN" sz="1400"/>
              <a:t>	{	t=a;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借助变量</a:t>
            </a:r>
            <a:r>
              <a:rPr lang="en-US" altLang="zh-CN" sz="1400">
                <a:solidFill>
                  <a:srgbClr val="008000"/>
                </a:solidFill>
              </a:rPr>
              <a:t>t</a:t>
            </a:r>
            <a:r>
              <a:rPr lang="zh-CN" altLang="en-US" sz="1400">
                <a:solidFill>
                  <a:srgbClr val="008000"/>
                </a:solidFill>
              </a:rPr>
              <a:t>，实现变量</a:t>
            </a:r>
            <a:r>
              <a:rPr lang="en-US" altLang="zh-CN" sz="1400">
                <a:solidFill>
                  <a:srgbClr val="008000"/>
                </a:solidFill>
              </a:rPr>
              <a:t>a</a:t>
            </a:r>
            <a:r>
              <a:rPr lang="zh-CN" altLang="en-US" sz="1400">
                <a:solidFill>
                  <a:srgbClr val="008000"/>
                </a:solidFill>
              </a:rPr>
              <a:t>和变量</a:t>
            </a:r>
            <a:r>
              <a:rPr lang="en-US" altLang="zh-CN" sz="1400">
                <a:solidFill>
                  <a:srgbClr val="008000"/>
                </a:solidFill>
              </a:rPr>
              <a:t>b</a:t>
            </a:r>
            <a:r>
              <a:rPr lang="zh-CN" altLang="en-US" sz="1400">
                <a:solidFill>
                  <a:srgbClr val="008000"/>
                </a:solidFill>
              </a:rPr>
              <a:t>互换值</a:t>
            </a:r>
          </a:p>
          <a:p>
            <a:pPr defTabSz="363538"/>
            <a:r>
              <a:rPr lang="zh-CN" altLang="en-US" sz="1400"/>
              <a:t>		</a:t>
            </a:r>
            <a:r>
              <a:rPr lang="en-US" altLang="zh-CN" sz="1400"/>
              <a:t>a=b;</a:t>
            </a:r>
          </a:p>
          <a:p>
            <a:pPr defTabSz="363538"/>
            <a:r>
              <a:rPr lang="en-US" altLang="zh-CN" sz="1400"/>
              <a:t>		b=t;</a:t>
            </a:r>
          </a:p>
          <a:p>
            <a:pPr defTabSz="363538"/>
            <a:r>
              <a:rPr lang="en-US" altLang="zh-CN" sz="1400"/>
              <a:t>	}	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互换后，</a:t>
            </a:r>
            <a:r>
              <a:rPr lang="en-US" altLang="zh-CN" sz="1400">
                <a:solidFill>
                  <a:srgbClr val="008000"/>
                </a:solidFill>
              </a:rPr>
              <a:t>a</a:t>
            </a:r>
            <a:r>
              <a:rPr lang="zh-CN" altLang="en-US" sz="1400">
                <a:solidFill>
                  <a:srgbClr val="008000"/>
                </a:solidFill>
              </a:rPr>
              <a:t>小于或等于</a:t>
            </a:r>
            <a:r>
              <a:rPr lang="en-US" altLang="zh-CN" sz="1400">
                <a:solidFill>
                  <a:srgbClr val="008000"/>
                </a:solidFill>
              </a:rPr>
              <a:t>b     </a:t>
            </a:r>
          </a:p>
          <a:p>
            <a:pPr defTabSz="363538"/>
            <a:r>
              <a:rPr lang="en-US" altLang="zh-CN" sz="1400"/>
              <a:t>	if(a&gt;c)</a:t>
            </a:r>
          </a:p>
          <a:p>
            <a:pPr defTabSz="363538"/>
            <a:r>
              <a:rPr lang="en-US" altLang="zh-CN" sz="1400"/>
              <a:t>	{	t=a;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借助变量</a:t>
            </a:r>
            <a:r>
              <a:rPr lang="en-US" altLang="zh-CN" sz="1400">
                <a:solidFill>
                  <a:srgbClr val="008000"/>
                </a:solidFill>
              </a:rPr>
              <a:t>t</a:t>
            </a:r>
            <a:r>
              <a:rPr lang="zh-CN" altLang="en-US" sz="1400">
                <a:solidFill>
                  <a:srgbClr val="008000"/>
                </a:solidFill>
              </a:rPr>
              <a:t>，实现变量</a:t>
            </a:r>
            <a:r>
              <a:rPr lang="en-US" altLang="zh-CN" sz="1400">
                <a:solidFill>
                  <a:srgbClr val="008000"/>
                </a:solidFill>
              </a:rPr>
              <a:t>a</a:t>
            </a:r>
            <a:r>
              <a:rPr lang="zh-CN" altLang="en-US" sz="1400">
                <a:solidFill>
                  <a:srgbClr val="008000"/>
                </a:solidFill>
              </a:rPr>
              <a:t>和变量</a:t>
            </a:r>
            <a:r>
              <a:rPr lang="en-US" altLang="zh-CN" sz="1400">
                <a:solidFill>
                  <a:srgbClr val="008000"/>
                </a:solidFill>
              </a:rPr>
              <a:t>c</a:t>
            </a:r>
            <a:r>
              <a:rPr lang="zh-CN" altLang="en-US" sz="1400">
                <a:solidFill>
                  <a:srgbClr val="008000"/>
                </a:solidFill>
              </a:rPr>
              <a:t>互换值</a:t>
            </a:r>
          </a:p>
          <a:p>
            <a:pPr defTabSz="363538"/>
            <a:r>
              <a:rPr lang="zh-CN" altLang="en-US" sz="1400"/>
              <a:t>		</a:t>
            </a:r>
            <a:r>
              <a:rPr lang="en-US" altLang="zh-CN" sz="1400"/>
              <a:t>a=c;</a:t>
            </a:r>
          </a:p>
          <a:p>
            <a:pPr defTabSz="363538"/>
            <a:r>
              <a:rPr lang="en-US" altLang="zh-CN" sz="1400"/>
              <a:t>		c=t;</a:t>
            </a:r>
          </a:p>
          <a:p>
            <a:pPr defTabSz="363538"/>
            <a:r>
              <a:rPr lang="en-US" altLang="zh-CN" sz="1400"/>
              <a:t>	}	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互换后，</a:t>
            </a:r>
            <a:r>
              <a:rPr lang="en-US" altLang="zh-CN" sz="1400">
                <a:solidFill>
                  <a:srgbClr val="008000"/>
                </a:solidFill>
              </a:rPr>
              <a:t>a</a:t>
            </a:r>
            <a:r>
              <a:rPr lang="zh-CN" altLang="en-US" sz="1400">
                <a:solidFill>
                  <a:srgbClr val="008000"/>
                </a:solidFill>
              </a:rPr>
              <a:t>小于或等于</a:t>
            </a:r>
            <a:r>
              <a:rPr lang="en-US" altLang="zh-CN" sz="1400">
                <a:solidFill>
                  <a:srgbClr val="008000"/>
                </a:solidFill>
              </a:rPr>
              <a:t>c       </a:t>
            </a:r>
          </a:p>
          <a:p>
            <a:pPr defTabSz="363538"/>
            <a:r>
              <a:rPr lang="en-US" altLang="zh-CN" sz="1400"/>
              <a:t>	if(b&gt;c)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还要</a:t>
            </a:r>
          </a:p>
          <a:p>
            <a:pPr defTabSz="363538"/>
            <a:r>
              <a:rPr lang="zh-CN" altLang="en-US" sz="1400"/>
              <a:t>	</a:t>
            </a:r>
            <a:r>
              <a:rPr lang="en-US" altLang="zh-CN" sz="1400"/>
              <a:t>{	t=b;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借助变量</a:t>
            </a:r>
            <a:r>
              <a:rPr lang="en-US" altLang="zh-CN" sz="1400">
                <a:solidFill>
                  <a:srgbClr val="008000"/>
                </a:solidFill>
              </a:rPr>
              <a:t>t</a:t>
            </a:r>
            <a:r>
              <a:rPr lang="zh-CN" altLang="en-US" sz="1400">
                <a:solidFill>
                  <a:srgbClr val="008000"/>
                </a:solidFill>
              </a:rPr>
              <a:t>，实现变量</a:t>
            </a:r>
            <a:r>
              <a:rPr lang="en-US" altLang="zh-CN" sz="1400">
                <a:solidFill>
                  <a:srgbClr val="008000"/>
                </a:solidFill>
              </a:rPr>
              <a:t>b</a:t>
            </a:r>
            <a:r>
              <a:rPr lang="zh-CN" altLang="en-US" sz="1400">
                <a:solidFill>
                  <a:srgbClr val="008000"/>
                </a:solidFill>
              </a:rPr>
              <a:t>和变量</a:t>
            </a:r>
            <a:r>
              <a:rPr lang="en-US" altLang="zh-CN" sz="1400">
                <a:solidFill>
                  <a:srgbClr val="008000"/>
                </a:solidFill>
              </a:rPr>
              <a:t>c</a:t>
            </a:r>
            <a:r>
              <a:rPr lang="zh-CN" altLang="en-US" sz="1400">
                <a:solidFill>
                  <a:srgbClr val="008000"/>
                </a:solidFill>
              </a:rPr>
              <a:t>互换值</a:t>
            </a:r>
          </a:p>
          <a:p>
            <a:pPr defTabSz="363538"/>
            <a:r>
              <a:rPr lang="zh-CN" altLang="en-US" sz="1400"/>
              <a:t>		</a:t>
            </a:r>
            <a:r>
              <a:rPr lang="en-US" altLang="zh-CN" sz="1400"/>
              <a:t>b=c;</a:t>
            </a:r>
          </a:p>
          <a:p>
            <a:pPr defTabSz="363538"/>
            <a:r>
              <a:rPr lang="en-US" altLang="zh-CN" sz="1400"/>
              <a:t>		c=t;</a:t>
            </a:r>
          </a:p>
          <a:p>
            <a:pPr defTabSz="363538"/>
            <a:r>
              <a:rPr lang="en-US" altLang="zh-CN" sz="1400"/>
              <a:t>	}	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互换后，</a:t>
            </a:r>
            <a:r>
              <a:rPr lang="en-US" altLang="zh-CN" sz="1400">
                <a:solidFill>
                  <a:srgbClr val="008000"/>
                </a:solidFill>
              </a:rPr>
              <a:t>b</a:t>
            </a:r>
            <a:r>
              <a:rPr lang="zh-CN" altLang="en-US" sz="1400">
                <a:solidFill>
                  <a:srgbClr val="008000"/>
                </a:solidFill>
              </a:rPr>
              <a:t>小于或等于</a:t>
            </a:r>
            <a:r>
              <a:rPr lang="en-US" altLang="zh-CN" sz="1400">
                <a:solidFill>
                  <a:srgbClr val="008000"/>
                </a:solidFill>
              </a:rPr>
              <a:t>c                       </a:t>
            </a:r>
          </a:p>
          <a:p>
            <a:pPr defTabSz="363538"/>
            <a:r>
              <a:rPr lang="en-US" altLang="zh-CN" sz="1400"/>
              <a:t>	printf("%5.2f,%5.2f,%5.2f\n",a,b,c); 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顺序输出</a:t>
            </a:r>
            <a:r>
              <a:rPr lang="en-US" altLang="zh-CN" sz="1400">
                <a:solidFill>
                  <a:srgbClr val="008000"/>
                </a:solidFill>
              </a:rPr>
              <a:t>a,b,c</a:t>
            </a:r>
            <a:r>
              <a:rPr lang="zh-CN" altLang="en-US" sz="1400">
                <a:solidFill>
                  <a:srgbClr val="008000"/>
                </a:solidFill>
              </a:rPr>
              <a:t>的值</a:t>
            </a:r>
          </a:p>
          <a:p>
            <a:pPr defTabSz="363538"/>
            <a:r>
              <a:rPr lang="zh-CN" altLang="en-US" sz="1400"/>
              <a:t>	</a:t>
            </a:r>
            <a:r>
              <a:rPr lang="en-US" altLang="zh-CN" sz="1400"/>
              <a:t>return 0;</a:t>
            </a:r>
          </a:p>
          <a:p>
            <a:pPr defTabSz="363538"/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5815E28-5C54-921B-7D73-9CE5989586CE}"/>
              </a:ext>
            </a:extLst>
          </p:cNvPr>
          <p:cNvGrpSpPr/>
          <p:nvPr/>
        </p:nvGrpSpPr>
        <p:grpSpPr>
          <a:xfrm>
            <a:off x="6966851" y="5413529"/>
            <a:ext cx="4500739" cy="989341"/>
            <a:chOff x="8052477" y="5019262"/>
            <a:chExt cx="4626331" cy="98934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8" name="剪去单角的矩形 51">
              <a:extLst>
                <a:ext uri="{FF2B5EF4-FFF2-40B4-BE49-F238E27FC236}">
                  <a16:creationId xmlns:a16="http://schemas.microsoft.com/office/drawing/2014/main" id="{311968BF-FC25-6591-51BF-574DE540D26F}"/>
                </a:ext>
              </a:extLst>
            </p:cNvPr>
            <p:cNvSpPr/>
            <p:nvPr/>
          </p:nvSpPr>
          <p:spPr>
            <a:xfrm>
              <a:off x="8052477" y="5019262"/>
              <a:ext cx="4626331" cy="989341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8B193407-82AD-AE4B-42BC-B71F518F8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9C25095-3E04-EBFD-3E8B-4CAC212EBF82}"/>
                </a:ext>
              </a:extLst>
            </p:cNvPr>
            <p:cNvSpPr txBox="1"/>
            <p:nvPr/>
          </p:nvSpPr>
          <p:spPr>
            <a:xfrm>
              <a:off x="8388005" y="5054496"/>
              <a:ext cx="421944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在经过第</a:t>
              </a:r>
              <a:r>
                <a:rPr lang="en-US" altLang="zh-CN" sz="1400" dirty="0">
                  <a:solidFill>
                    <a:schemeClr val="bg1"/>
                  </a:solidFill>
                </a:rPr>
                <a:t>1</a:t>
              </a:r>
              <a:r>
                <a:rPr lang="zh-CN" altLang="en-US" sz="1400" dirty="0">
                  <a:solidFill>
                    <a:schemeClr val="bg1"/>
                  </a:solidFill>
                </a:rPr>
                <a:t>次互换值后，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a≤b</a:t>
              </a:r>
              <a:r>
                <a:rPr lang="zh-CN" altLang="en-US" sz="1400" dirty="0">
                  <a:solidFill>
                    <a:schemeClr val="bg1"/>
                  </a:solidFill>
                </a:rPr>
                <a:t>，经过第</a:t>
              </a:r>
              <a:r>
                <a:rPr lang="en-US" altLang="zh-CN" sz="1400" dirty="0">
                  <a:solidFill>
                    <a:schemeClr val="bg1"/>
                  </a:solidFill>
                </a:rPr>
                <a:t>2</a:t>
              </a:r>
              <a:r>
                <a:rPr lang="zh-CN" altLang="en-US" sz="1400" dirty="0">
                  <a:solidFill>
                    <a:schemeClr val="bg1"/>
                  </a:solidFill>
                </a:rPr>
                <a:t>次互换值后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a≤c</a:t>
              </a:r>
              <a:r>
                <a:rPr lang="zh-CN" altLang="en-US" sz="1400" dirty="0">
                  <a:solidFill>
                    <a:schemeClr val="bg1"/>
                  </a:solidFill>
                </a:rPr>
                <a:t>，这样</a:t>
              </a:r>
              <a:r>
                <a:rPr lang="en-US" altLang="zh-CN" sz="1400" dirty="0">
                  <a:solidFill>
                    <a:schemeClr val="bg1"/>
                  </a:solidFill>
                </a:rPr>
                <a:t>a</a:t>
              </a:r>
              <a:r>
                <a:rPr lang="zh-CN" altLang="en-US" sz="1400" dirty="0">
                  <a:solidFill>
                    <a:schemeClr val="bg1"/>
                  </a:solidFill>
                </a:rPr>
                <a:t>已是三者中最小的</a:t>
              </a:r>
              <a:r>
                <a:rPr lang="en-US" altLang="zh-CN" sz="1400" dirty="0">
                  <a:solidFill>
                    <a:schemeClr val="bg1"/>
                  </a:solidFill>
                </a:rPr>
                <a:t>(</a:t>
              </a:r>
              <a:r>
                <a:rPr lang="zh-CN" altLang="en-US" sz="1400" dirty="0">
                  <a:solidFill>
                    <a:schemeClr val="bg1"/>
                  </a:solidFill>
                </a:rPr>
                <a:t>或最小者之一</a:t>
              </a:r>
              <a:r>
                <a:rPr lang="en-US" altLang="zh-CN" sz="1400" dirty="0">
                  <a:solidFill>
                    <a:schemeClr val="bg1"/>
                  </a:solidFill>
                </a:rPr>
                <a:t>)</a:t>
              </a:r>
              <a:r>
                <a:rPr lang="zh-CN" altLang="en-US" sz="1400" dirty="0">
                  <a:solidFill>
                    <a:schemeClr val="bg1"/>
                  </a:solidFill>
                </a:rPr>
                <a:t>，但是</a:t>
              </a:r>
              <a:r>
                <a:rPr lang="en-US" altLang="zh-CN" sz="1400" dirty="0">
                  <a:solidFill>
                    <a:schemeClr val="bg1"/>
                  </a:solidFill>
                </a:rPr>
                <a:t>b</a:t>
              </a:r>
              <a:r>
                <a:rPr lang="zh-CN" altLang="en-US" sz="1400" dirty="0">
                  <a:solidFill>
                    <a:schemeClr val="bg1"/>
                  </a:solidFill>
                </a:rPr>
                <a:t>和</a:t>
              </a:r>
              <a:r>
                <a:rPr lang="en-US" altLang="zh-CN" sz="1400" dirty="0">
                  <a:solidFill>
                    <a:schemeClr val="bg1"/>
                  </a:solidFill>
                </a:rPr>
                <a:t>c</a:t>
              </a:r>
              <a:r>
                <a:rPr lang="zh-CN" altLang="en-US" sz="1400" dirty="0">
                  <a:solidFill>
                    <a:schemeClr val="bg1"/>
                  </a:solidFill>
                </a:rPr>
                <a:t>谁大还未解决，还需要进行比较和互换。经过第</a:t>
              </a:r>
              <a:r>
                <a:rPr lang="en-US" altLang="zh-CN" sz="1400" dirty="0">
                  <a:solidFill>
                    <a:schemeClr val="bg1"/>
                  </a:solidFill>
                </a:rPr>
                <a:t>3</a:t>
              </a:r>
              <a:r>
                <a:rPr lang="zh-CN" altLang="en-US" sz="1400" dirty="0">
                  <a:solidFill>
                    <a:schemeClr val="bg1"/>
                  </a:solidFill>
                </a:rPr>
                <a:t>次互换值后，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a≤b≤c</a:t>
              </a:r>
              <a:r>
                <a:rPr lang="zh-CN" altLang="en-US" sz="1400" dirty="0">
                  <a:solidFill>
                    <a:schemeClr val="bg1"/>
                  </a:solidFill>
                </a:rPr>
                <a:t>。</a:t>
              </a:r>
              <a:endParaRPr lang="en-US" altLang="zh-CN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F4316BE-479F-B9E7-AB02-AB899A09F7B9}"/>
              </a:ext>
            </a:extLst>
          </p:cNvPr>
          <p:cNvGrpSpPr/>
          <p:nvPr/>
        </p:nvGrpSpPr>
        <p:grpSpPr>
          <a:xfrm>
            <a:off x="7736484" y="698337"/>
            <a:ext cx="2958007" cy="3294688"/>
            <a:chOff x="4030665" y="1795463"/>
            <a:chExt cx="3717926" cy="4624986"/>
          </a:xfrm>
        </p:grpSpPr>
        <p:sp>
          <p:nvSpPr>
            <p:cNvPr id="22" name="MH_Text_1">
              <a:extLst>
                <a:ext uri="{FF2B5EF4-FFF2-40B4-BE49-F238E27FC236}">
                  <a16:creationId xmlns:a16="http://schemas.microsoft.com/office/drawing/2014/main" id="{CD6C7D85-E575-4424-5C9E-5825DC052040}"/>
                </a:ext>
              </a:extLst>
            </p:cNvPr>
            <p:cNvSpPr>
              <a:spLocks noChangeAspect="1"/>
            </p:cNvSpPr>
            <p:nvPr>
              <p:custDataLst>
                <p:tags r:id="rId1"/>
              </p:custDataLst>
            </p:nvPr>
          </p:nvSpPr>
          <p:spPr>
            <a:xfrm>
              <a:off x="4030665" y="1916113"/>
              <a:ext cx="3717926" cy="4504336"/>
            </a:xfrm>
            <a:prstGeom prst="roundRect">
              <a:avLst>
                <a:gd name="adj" fmla="val 1429"/>
              </a:avLst>
            </a:prstGeom>
            <a:solidFill>
              <a:srgbClr val="F2F2F2"/>
            </a:solidFill>
            <a:ln w="3175">
              <a:solidFill>
                <a:srgbClr val="D5D5D5"/>
              </a:solidFill>
              <a:prstDash val="soli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lIns="288000" tIns="720000" rIns="288000" bIns="360000" anchor="ctr">
              <a:noAutofit/>
            </a:bodyPr>
            <a:lstStyle/>
            <a:p>
              <a:pPr algn="just">
                <a:defRPr/>
              </a:pPr>
              <a:r>
                <a:rPr lang="en-US" altLang="zh-CN" sz="1400" dirty="0">
                  <a:solidFill>
                    <a:srgbClr val="454545"/>
                  </a:solidFill>
                </a:rPr>
                <a:t>S1: if a&gt;b</a:t>
              </a:r>
              <a:r>
                <a:rPr lang="zh-CN" altLang="en-US" sz="1400" dirty="0">
                  <a:solidFill>
                    <a:srgbClr val="454545"/>
                  </a:solidFill>
                </a:rPr>
                <a:t>，将</a:t>
              </a:r>
              <a:r>
                <a:rPr lang="en-US" altLang="zh-CN" sz="1400" dirty="0">
                  <a:solidFill>
                    <a:srgbClr val="454545"/>
                  </a:solidFill>
                </a:rPr>
                <a:t>a</a:t>
              </a:r>
              <a:r>
                <a:rPr lang="zh-CN" altLang="en-US" sz="1400" dirty="0">
                  <a:solidFill>
                    <a:srgbClr val="454545"/>
                  </a:solidFill>
                </a:rPr>
                <a:t>和</a:t>
              </a:r>
              <a:r>
                <a:rPr lang="en-US" altLang="zh-CN" sz="1400" dirty="0">
                  <a:solidFill>
                    <a:srgbClr val="454545"/>
                  </a:solidFill>
                </a:rPr>
                <a:t>b</a:t>
              </a:r>
              <a:r>
                <a:rPr lang="zh-CN" altLang="en-US" sz="1400" dirty="0">
                  <a:solidFill>
                    <a:srgbClr val="454545"/>
                  </a:solidFill>
                </a:rPr>
                <a:t>对换</a:t>
              </a:r>
              <a:endParaRPr lang="en-US" altLang="zh-CN" sz="1400" dirty="0">
                <a:solidFill>
                  <a:srgbClr val="454545"/>
                </a:solidFill>
              </a:endParaRPr>
            </a:p>
            <a:p>
              <a:pPr algn="just">
                <a:defRPr/>
              </a:pPr>
              <a:r>
                <a:rPr lang="en-US" altLang="zh-CN" sz="1400" dirty="0">
                  <a:solidFill>
                    <a:srgbClr val="454545"/>
                  </a:solidFill>
                </a:rPr>
                <a:t>(</a:t>
              </a:r>
              <a:r>
                <a:rPr lang="zh-CN" altLang="en-US" sz="1400" dirty="0">
                  <a:solidFill>
                    <a:srgbClr val="454545"/>
                  </a:solidFill>
                </a:rPr>
                <a:t>交换后，</a:t>
              </a:r>
              <a:r>
                <a:rPr lang="en-US" altLang="zh-CN" sz="1400" dirty="0">
                  <a:solidFill>
                    <a:srgbClr val="454545"/>
                  </a:solidFill>
                </a:rPr>
                <a:t>a</a:t>
              </a:r>
              <a:r>
                <a:rPr lang="zh-CN" altLang="en-US" sz="1400" dirty="0">
                  <a:solidFill>
                    <a:srgbClr val="454545"/>
                  </a:solidFill>
                </a:rPr>
                <a:t>是</a:t>
              </a:r>
              <a:r>
                <a:rPr lang="en-US" altLang="zh-CN" sz="1400" dirty="0">
                  <a:solidFill>
                    <a:srgbClr val="454545"/>
                  </a:solidFill>
                </a:rPr>
                <a:t>a</a:t>
              </a:r>
              <a:r>
                <a:rPr lang="zh-CN" altLang="en-US" sz="1400" dirty="0">
                  <a:solidFill>
                    <a:srgbClr val="454545"/>
                  </a:solidFill>
                </a:rPr>
                <a:t>、</a:t>
              </a:r>
              <a:r>
                <a:rPr lang="en-US" altLang="zh-CN" sz="1400" dirty="0">
                  <a:solidFill>
                    <a:srgbClr val="454545"/>
                  </a:solidFill>
                </a:rPr>
                <a:t>b</a:t>
              </a:r>
              <a:r>
                <a:rPr lang="zh-CN" altLang="en-US" sz="1400" dirty="0">
                  <a:solidFill>
                    <a:srgbClr val="454545"/>
                  </a:solidFill>
                </a:rPr>
                <a:t>中的小者</a:t>
              </a:r>
              <a:r>
                <a:rPr lang="en-US" altLang="zh-CN" sz="1400" dirty="0">
                  <a:solidFill>
                    <a:srgbClr val="454545"/>
                  </a:solidFill>
                </a:rPr>
                <a:t>)</a:t>
              </a:r>
            </a:p>
            <a:p>
              <a:pPr algn="just">
                <a:defRPr/>
              </a:pPr>
              <a:endParaRPr lang="en-US" altLang="zh-CN" sz="1400" dirty="0">
                <a:solidFill>
                  <a:srgbClr val="454545"/>
                </a:solidFill>
              </a:endParaRPr>
            </a:p>
            <a:p>
              <a:pPr algn="just">
                <a:defRPr/>
              </a:pPr>
              <a:r>
                <a:rPr lang="en-US" altLang="zh-CN" sz="1400" dirty="0">
                  <a:solidFill>
                    <a:srgbClr val="454545"/>
                  </a:solidFill>
                </a:rPr>
                <a:t>S2: if a&gt;c</a:t>
              </a:r>
              <a:r>
                <a:rPr lang="zh-CN" altLang="en-US" sz="1400" dirty="0">
                  <a:solidFill>
                    <a:srgbClr val="454545"/>
                  </a:solidFill>
                </a:rPr>
                <a:t>，将</a:t>
              </a:r>
              <a:r>
                <a:rPr lang="en-US" altLang="zh-CN" sz="1400" dirty="0">
                  <a:solidFill>
                    <a:srgbClr val="454545"/>
                  </a:solidFill>
                </a:rPr>
                <a:t>a</a:t>
              </a:r>
              <a:r>
                <a:rPr lang="zh-CN" altLang="en-US" sz="1400" dirty="0">
                  <a:solidFill>
                    <a:srgbClr val="454545"/>
                  </a:solidFill>
                </a:rPr>
                <a:t>和</a:t>
              </a:r>
              <a:r>
                <a:rPr lang="en-US" altLang="zh-CN" sz="1400" dirty="0">
                  <a:solidFill>
                    <a:srgbClr val="454545"/>
                  </a:solidFill>
                </a:rPr>
                <a:t>c</a:t>
              </a:r>
              <a:r>
                <a:rPr lang="zh-CN" altLang="en-US" sz="1400" dirty="0">
                  <a:solidFill>
                    <a:srgbClr val="454545"/>
                  </a:solidFill>
                </a:rPr>
                <a:t>对换</a:t>
              </a:r>
              <a:endParaRPr lang="en-US" altLang="zh-CN" sz="1400" dirty="0">
                <a:solidFill>
                  <a:srgbClr val="454545"/>
                </a:solidFill>
              </a:endParaRPr>
            </a:p>
            <a:p>
              <a:pPr algn="just">
                <a:defRPr/>
              </a:pPr>
              <a:r>
                <a:rPr lang="en-US" altLang="zh-CN" sz="1400" dirty="0">
                  <a:solidFill>
                    <a:srgbClr val="454545"/>
                  </a:solidFill>
                </a:rPr>
                <a:t>(</a:t>
              </a:r>
              <a:r>
                <a:rPr lang="zh-CN" altLang="en-US" sz="1400" dirty="0">
                  <a:solidFill>
                    <a:srgbClr val="454545"/>
                  </a:solidFill>
                </a:rPr>
                <a:t>交换后，</a:t>
              </a:r>
              <a:r>
                <a:rPr lang="en-US" altLang="zh-CN" sz="1400" dirty="0">
                  <a:solidFill>
                    <a:srgbClr val="454545"/>
                  </a:solidFill>
                </a:rPr>
                <a:t>a</a:t>
              </a:r>
              <a:r>
                <a:rPr lang="zh-CN" altLang="en-US" sz="1400" dirty="0">
                  <a:solidFill>
                    <a:srgbClr val="454545"/>
                  </a:solidFill>
                </a:rPr>
                <a:t>是</a:t>
              </a:r>
              <a:r>
                <a:rPr lang="en-US" altLang="zh-CN" sz="1400" dirty="0">
                  <a:solidFill>
                    <a:srgbClr val="454545"/>
                  </a:solidFill>
                </a:rPr>
                <a:t>a</a:t>
              </a:r>
              <a:r>
                <a:rPr lang="zh-CN" altLang="en-US" sz="1400" dirty="0">
                  <a:solidFill>
                    <a:srgbClr val="454545"/>
                  </a:solidFill>
                </a:rPr>
                <a:t>、</a:t>
              </a:r>
              <a:r>
                <a:rPr lang="en-US" altLang="zh-CN" sz="1400" dirty="0">
                  <a:solidFill>
                    <a:srgbClr val="454545"/>
                  </a:solidFill>
                </a:rPr>
                <a:t>c</a:t>
              </a:r>
              <a:r>
                <a:rPr lang="zh-CN" altLang="en-US" sz="1400" dirty="0">
                  <a:solidFill>
                    <a:srgbClr val="454545"/>
                  </a:solidFill>
                </a:rPr>
                <a:t>中的小者，因此</a:t>
              </a:r>
              <a:r>
                <a:rPr lang="en-US" altLang="zh-CN" sz="1400" dirty="0">
                  <a:solidFill>
                    <a:srgbClr val="454545"/>
                  </a:solidFill>
                </a:rPr>
                <a:t>a</a:t>
              </a:r>
              <a:r>
                <a:rPr lang="zh-CN" altLang="en-US" sz="1400" dirty="0">
                  <a:solidFill>
                    <a:srgbClr val="454545"/>
                  </a:solidFill>
                </a:rPr>
                <a:t>是三者中最小者</a:t>
              </a:r>
              <a:r>
                <a:rPr lang="en-US" altLang="zh-CN" sz="1400" dirty="0">
                  <a:solidFill>
                    <a:srgbClr val="454545"/>
                  </a:solidFill>
                </a:rPr>
                <a:t>)</a:t>
              </a:r>
            </a:p>
            <a:p>
              <a:pPr algn="just">
                <a:defRPr/>
              </a:pPr>
              <a:endParaRPr lang="en-US" altLang="zh-CN" sz="1400" dirty="0">
                <a:solidFill>
                  <a:srgbClr val="454545"/>
                </a:solidFill>
              </a:endParaRPr>
            </a:p>
            <a:p>
              <a:pPr algn="just">
                <a:defRPr/>
              </a:pPr>
              <a:r>
                <a:rPr lang="en-US" altLang="zh-CN" sz="1400" dirty="0">
                  <a:solidFill>
                    <a:srgbClr val="454545"/>
                  </a:solidFill>
                </a:rPr>
                <a:t>S3: if b&gt;c</a:t>
              </a:r>
              <a:r>
                <a:rPr lang="zh-CN" altLang="en-US" sz="1400" dirty="0">
                  <a:solidFill>
                    <a:srgbClr val="454545"/>
                  </a:solidFill>
                </a:rPr>
                <a:t>，将</a:t>
              </a:r>
              <a:r>
                <a:rPr lang="en-US" altLang="zh-CN" sz="1400" dirty="0">
                  <a:solidFill>
                    <a:srgbClr val="454545"/>
                  </a:solidFill>
                </a:rPr>
                <a:t>b</a:t>
              </a:r>
              <a:r>
                <a:rPr lang="zh-CN" altLang="en-US" sz="1400" dirty="0">
                  <a:solidFill>
                    <a:srgbClr val="454545"/>
                  </a:solidFill>
                </a:rPr>
                <a:t>和</a:t>
              </a:r>
              <a:r>
                <a:rPr lang="en-US" altLang="zh-CN" sz="1400" dirty="0">
                  <a:solidFill>
                    <a:srgbClr val="454545"/>
                  </a:solidFill>
                </a:rPr>
                <a:t>c</a:t>
              </a:r>
              <a:r>
                <a:rPr lang="zh-CN" altLang="en-US" sz="1400" dirty="0">
                  <a:solidFill>
                    <a:srgbClr val="454545"/>
                  </a:solidFill>
                </a:rPr>
                <a:t>对换</a:t>
              </a:r>
              <a:endParaRPr lang="en-US" altLang="zh-CN" sz="1400" dirty="0">
                <a:solidFill>
                  <a:srgbClr val="454545"/>
                </a:solidFill>
              </a:endParaRPr>
            </a:p>
            <a:p>
              <a:pPr algn="just">
                <a:defRPr/>
              </a:pPr>
              <a:r>
                <a:rPr lang="en-US" altLang="zh-CN" sz="1400" dirty="0">
                  <a:solidFill>
                    <a:srgbClr val="454545"/>
                  </a:solidFill>
                </a:rPr>
                <a:t>(</a:t>
              </a:r>
              <a:r>
                <a:rPr lang="zh-CN" altLang="en-US" sz="1400" dirty="0">
                  <a:solidFill>
                    <a:srgbClr val="454545"/>
                  </a:solidFill>
                </a:rPr>
                <a:t>交换后，</a:t>
              </a:r>
              <a:r>
                <a:rPr lang="en-US" altLang="zh-CN" sz="1400" dirty="0">
                  <a:solidFill>
                    <a:srgbClr val="454545"/>
                  </a:solidFill>
                </a:rPr>
                <a:t>b</a:t>
              </a:r>
              <a:r>
                <a:rPr lang="zh-CN" altLang="en-US" sz="1400" dirty="0">
                  <a:solidFill>
                    <a:srgbClr val="454545"/>
                  </a:solidFill>
                </a:rPr>
                <a:t>是</a:t>
              </a:r>
              <a:r>
                <a:rPr lang="en-US" altLang="zh-CN" sz="1400" dirty="0">
                  <a:solidFill>
                    <a:srgbClr val="454545"/>
                  </a:solidFill>
                </a:rPr>
                <a:t>b</a:t>
              </a:r>
              <a:r>
                <a:rPr lang="zh-CN" altLang="en-US" sz="1400" dirty="0">
                  <a:solidFill>
                    <a:srgbClr val="454545"/>
                  </a:solidFill>
                </a:rPr>
                <a:t>、</a:t>
              </a:r>
              <a:r>
                <a:rPr lang="en-US" altLang="zh-CN" sz="1400" dirty="0">
                  <a:solidFill>
                    <a:srgbClr val="454545"/>
                  </a:solidFill>
                </a:rPr>
                <a:t>c</a:t>
              </a:r>
              <a:r>
                <a:rPr lang="zh-CN" altLang="en-US" sz="1400" dirty="0">
                  <a:solidFill>
                    <a:srgbClr val="454545"/>
                  </a:solidFill>
                </a:rPr>
                <a:t>中的小者，也是三者中次小者</a:t>
              </a:r>
              <a:r>
                <a:rPr lang="en-US" altLang="zh-CN" sz="1400" dirty="0">
                  <a:solidFill>
                    <a:srgbClr val="454545"/>
                  </a:solidFill>
                </a:rPr>
                <a:t>)</a:t>
              </a:r>
            </a:p>
            <a:p>
              <a:pPr algn="just">
                <a:defRPr/>
              </a:pPr>
              <a:endParaRPr lang="en-US" altLang="zh-CN" sz="1400" dirty="0">
                <a:solidFill>
                  <a:srgbClr val="454545"/>
                </a:solidFill>
              </a:endParaRPr>
            </a:p>
            <a:p>
              <a:pPr algn="just">
                <a:defRPr/>
              </a:pPr>
              <a:r>
                <a:rPr lang="en-US" altLang="zh-CN" sz="1400" dirty="0">
                  <a:solidFill>
                    <a:srgbClr val="454545"/>
                  </a:solidFill>
                </a:rPr>
                <a:t>S4: </a:t>
              </a:r>
              <a:r>
                <a:rPr lang="zh-CN" altLang="en-US" sz="1400" dirty="0">
                  <a:solidFill>
                    <a:srgbClr val="454545"/>
                  </a:solidFill>
                </a:rPr>
                <a:t>顺序输出</a:t>
              </a:r>
              <a:r>
                <a:rPr lang="en-US" altLang="zh-CN" sz="1400" dirty="0">
                  <a:solidFill>
                    <a:srgbClr val="454545"/>
                  </a:solidFill>
                </a:rPr>
                <a:t>a</a:t>
              </a:r>
              <a:r>
                <a:rPr lang="zh-CN" altLang="en-US" sz="1400" dirty="0">
                  <a:solidFill>
                    <a:srgbClr val="454545"/>
                  </a:solidFill>
                </a:rPr>
                <a:t>，</a:t>
              </a:r>
              <a:r>
                <a:rPr lang="en-US" altLang="zh-CN" sz="1400" dirty="0">
                  <a:solidFill>
                    <a:srgbClr val="454545"/>
                  </a:solidFill>
                </a:rPr>
                <a:t>b</a:t>
              </a:r>
              <a:r>
                <a:rPr lang="zh-CN" altLang="en-US" sz="1400" dirty="0">
                  <a:solidFill>
                    <a:srgbClr val="454545"/>
                  </a:solidFill>
                </a:rPr>
                <a:t>，</a:t>
              </a:r>
              <a:r>
                <a:rPr lang="en-US" altLang="zh-CN" sz="1400" dirty="0">
                  <a:solidFill>
                    <a:srgbClr val="454545"/>
                  </a:solidFill>
                </a:rPr>
                <a:t>c</a:t>
              </a:r>
              <a:endParaRPr lang="zh-CN" altLang="en-US" sz="1400" dirty="0">
                <a:solidFill>
                  <a:srgbClr val="454545"/>
                </a:solidFill>
              </a:endParaRPr>
            </a:p>
          </p:txBody>
        </p:sp>
        <p:sp>
          <p:nvSpPr>
            <p:cNvPr id="23" name="MH_Other_1">
              <a:extLst>
                <a:ext uri="{FF2B5EF4-FFF2-40B4-BE49-F238E27FC236}">
                  <a16:creationId xmlns:a16="http://schemas.microsoft.com/office/drawing/2014/main" id="{BF8D60F5-F1CB-FCDC-137A-C241BDA30C5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21214" y="1795463"/>
              <a:ext cx="276225" cy="120650"/>
            </a:xfrm>
            <a:custGeom>
              <a:avLst/>
              <a:gdLst>
                <a:gd name="connsiteX0" fmla="*/ 131005 w 311731"/>
                <a:gd name="connsiteY0" fmla="*/ 0 h 121823"/>
                <a:gd name="connsiteX1" fmla="*/ 180725 w 311731"/>
                <a:gd name="connsiteY1" fmla="*/ 0 h 121823"/>
                <a:gd name="connsiteX2" fmla="*/ 205433 w 311731"/>
                <a:gd name="connsiteY2" fmla="*/ 4162 h 121823"/>
                <a:gd name="connsiteX3" fmla="*/ 309453 w 311731"/>
                <a:gd name="connsiteY3" fmla="*/ 109253 h 121823"/>
                <a:gd name="connsiteX4" fmla="*/ 311731 w 311731"/>
                <a:gd name="connsiteY4" fmla="*/ 121823 h 121823"/>
                <a:gd name="connsiteX5" fmla="*/ 0 w 311731"/>
                <a:gd name="connsiteY5" fmla="*/ 121823 h 121823"/>
                <a:gd name="connsiteX6" fmla="*/ 2277 w 311731"/>
                <a:gd name="connsiteY6" fmla="*/ 109253 h 121823"/>
                <a:gd name="connsiteX7" fmla="*/ 106298 w 311731"/>
                <a:gd name="connsiteY7" fmla="*/ 4162 h 121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1731" h="121823">
                  <a:moveTo>
                    <a:pt x="131005" y="0"/>
                  </a:moveTo>
                  <a:lnTo>
                    <a:pt x="180725" y="0"/>
                  </a:lnTo>
                  <a:lnTo>
                    <a:pt x="205433" y="4162"/>
                  </a:lnTo>
                  <a:cubicBezTo>
                    <a:pt x="252408" y="20443"/>
                    <a:pt x="290475" y="59254"/>
                    <a:pt x="309453" y="109253"/>
                  </a:cubicBezTo>
                  <a:lnTo>
                    <a:pt x="311731" y="121823"/>
                  </a:lnTo>
                  <a:lnTo>
                    <a:pt x="0" y="121823"/>
                  </a:lnTo>
                  <a:lnTo>
                    <a:pt x="2277" y="109253"/>
                  </a:lnTo>
                  <a:cubicBezTo>
                    <a:pt x="21256" y="59254"/>
                    <a:pt x="59323" y="20443"/>
                    <a:pt x="106298" y="416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49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24" name="MH_Other_2">
              <a:extLst>
                <a:ext uri="{FF2B5EF4-FFF2-40B4-BE49-F238E27FC236}">
                  <a16:creationId xmlns:a16="http://schemas.microsoft.com/office/drawing/2014/main" id="{0881D325-D23C-3215-042E-45A98EDF313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948489" y="1795463"/>
              <a:ext cx="261937" cy="120650"/>
            </a:xfrm>
            <a:custGeom>
              <a:avLst/>
              <a:gdLst>
                <a:gd name="connsiteX0" fmla="*/ 145370 w 318081"/>
                <a:gd name="connsiteY0" fmla="*/ 0 h 130555"/>
                <a:gd name="connsiteX1" fmla="*/ 172710 w 318081"/>
                <a:gd name="connsiteY1" fmla="*/ 0 h 130555"/>
                <a:gd name="connsiteX2" fmla="*/ 209618 w 318081"/>
                <a:gd name="connsiteY2" fmla="*/ 6428 h 130555"/>
                <a:gd name="connsiteX3" fmla="*/ 315757 w 318081"/>
                <a:gd name="connsiteY3" fmla="*/ 117294 h 130555"/>
                <a:gd name="connsiteX4" fmla="*/ 318081 w 318081"/>
                <a:gd name="connsiteY4" fmla="*/ 130555 h 130555"/>
                <a:gd name="connsiteX5" fmla="*/ 0 w 318081"/>
                <a:gd name="connsiteY5" fmla="*/ 130555 h 130555"/>
                <a:gd name="connsiteX6" fmla="*/ 2324 w 318081"/>
                <a:gd name="connsiteY6" fmla="*/ 117294 h 130555"/>
                <a:gd name="connsiteX7" fmla="*/ 108463 w 318081"/>
                <a:gd name="connsiteY7" fmla="*/ 6428 h 13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8081" h="130555">
                  <a:moveTo>
                    <a:pt x="145370" y="0"/>
                  </a:moveTo>
                  <a:lnTo>
                    <a:pt x="172710" y="0"/>
                  </a:lnTo>
                  <a:lnTo>
                    <a:pt x="209618" y="6428"/>
                  </a:lnTo>
                  <a:cubicBezTo>
                    <a:pt x="257550" y="23604"/>
                    <a:pt x="296392" y="64548"/>
                    <a:pt x="315757" y="117294"/>
                  </a:cubicBezTo>
                  <a:lnTo>
                    <a:pt x="318081" y="130555"/>
                  </a:lnTo>
                  <a:lnTo>
                    <a:pt x="0" y="130555"/>
                  </a:lnTo>
                  <a:lnTo>
                    <a:pt x="2324" y="117294"/>
                  </a:lnTo>
                  <a:cubicBezTo>
                    <a:pt x="21689" y="64548"/>
                    <a:pt x="60531" y="23604"/>
                    <a:pt x="108463" y="6428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49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25" name="MH_SubTitle_1">
              <a:extLst>
                <a:ext uri="{FF2B5EF4-FFF2-40B4-BE49-F238E27FC236}">
                  <a16:creationId xmlns:a16="http://schemas.microsoft.com/office/drawing/2014/main" id="{F90BA233-97F7-9C27-3A8C-C82924781C8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760914" y="1795464"/>
              <a:ext cx="2308225" cy="649287"/>
            </a:xfrm>
            <a:custGeom>
              <a:avLst/>
              <a:gdLst>
                <a:gd name="connsiteX0" fmla="*/ 0 w 2600830"/>
                <a:gd name="connsiteY0" fmla="*/ 0 h 649288"/>
                <a:gd name="connsiteX1" fmla="*/ 2600830 w 2600830"/>
                <a:gd name="connsiteY1" fmla="*/ 0 h 649288"/>
                <a:gd name="connsiteX2" fmla="*/ 2520047 w 2600830"/>
                <a:gd name="connsiteY2" fmla="*/ 89402 h 649288"/>
                <a:gd name="connsiteX3" fmla="*/ 1945040 w 2600830"/>
                <a:gd name="connsiteY3" fmla="*/ 646112 h 649288"/>
                <a:gd name="connsiteX4" fmla="*/ 648052 w 2600830"/>
                <a:gd name="connsiteY4" fmla="*/ 649287 h 649288"/>
                <a:gd name="connsiteX5" fmla="*/ 77908 w 2600830"/>
                <a:gd name="connsiteY5" fmla="*/ 84156 h 64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0830" h="649288">
                  <a:moveTo>
                    <a:pt x="0" y="0"/>
                  </a:moveTo>
                  <a:lnTo>
                    <a:pt x="2600830" y="0"/>
                  </a:lnTo>
                  <a:lnTo>
                    <a:pt x="2520047" y="89402"/>
                  </a:lnTo>
                  <a:cubicBezTo>
                    <a:pt x="2351572" y="318525"/>
                    <a:pt x="2323328" y="645186"/>
                    <a:pt x="1945040" y="646112"/>
                  </a:cubicBezTo>
                  <a:lnTo>
                    <a:pt x="648052" y="649287"/>
                  </a:lnTo>
                  <a:cubicBezTo>
                    <a:pt x="269764" y="650213"/>
                    <a:pt x="245977" y="310819"/>
                    <a:pt x="77908" y="8415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26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算法步骤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BFD3420E-6636-52A6-67ED-71ABAF39D55B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65119" y="4138958"/>
            <a:ext cx="4500739" cy="107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72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972F-72DF-95AA-E276-3A7C046F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2B0B3A1-6414-2BA4-06D0-DC1688DD56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if</a:t>
            </a:r>
            <a:r>
              <a:rPr lang="zh-CN" altLang="en-US" sz="2400" dirty="0"/>
              <a:t>语嵌套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C09123-2354-CE34-15B6-CFDD86F19F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2436466-9E78-A4ED-1417-7AC689668EF6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if</a:t>
            </a:r>
            <a:r>
              <a:rPr lang="zh-CN" altLang="en-US" sz="2400" dirty="0"/>
              <a:t>语句的嵌套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B6B50C-4232-0AD3-8936-70CFF5CB56F0}"/>
              </a:ext>
            </a:extLst>
          </p:cNvPr>
          <p:cNvSpPr/>
          <p:nvPr/>
        </p:nvSpPr>
        <p:spPr>
          <a:xfrm>
            <a:off x="703184" y="1210023"/>
            <a:ext cx="3730486" cy="2530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b="1"/>
              <a:t>if()</a:t>
            </a:r>
          </a:p>
          <a:p>
            <a:pPr>
              <a:lnSpc>
                <a:spcPct val="150000"/>
              </a:lnSpc>
            </a:pPr>
            <a:r>
              <a:rPr lang="en-US" altLang="zh-CN" b="1"/>
              <a:t>	if()  </a:t>
            </a:r>
            <a:r>
              <a:rPr lang="zh-CN" altLang="en-US" b="1"/>
              <a:t>语句</a:t>
            </a:r>
            <a:r>
              <a:rPr lang="en-US" altLang="zh-CN" b="1"/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b="1"/>
              <a:t>	else  </a:t>
            </a:r>
            <a:r>
              <a:rPr lang="zh-CN" altLang="en-US" b="1"/>
              <a:t>语句</a:t>
            </a:r>
            <a:r>
              <a:rPr lang="en-US" altLang="zh-CN" b="1"/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b="1"/>
              <a:t>else</a:t>
            </a:r>
          </a:p>
          <a:p>
            <a:pPr>
              <a:lnSpc>
                <a:spcPct val="150000"/>
              </a:lnSpc>
            </a:pPr>
            <a:r>
              <a:rPr lang="en-US" altLang="zh-CN" b="1"/>
              <a:t>	if()  </a:t>
            </a:r>
            <a:r>
              <a:rPr lang="zh-CN" altLang="en-US" b="1"/>
              <a:t>语句</a:t>
            </a:r>
            <a:r>
              <a:rPr lang="en-US" altLang="zh-CN" b="1"/>
              <a:t>3</a:t>
            </a:r>
          </a:p>
          <a:p>
            <a:pPr>
              <a:lnSpc>
                <a:spcPct val="150000"/>
              </a:lnSpc>
            </a:pPr>
            <a:r>
              <a:rPr lang="en-US" altLang="zh-CN" b="1"/>
              <a:t>	else  </a:t>
            </a:r>
            <a:r>
              <a:rPr lang="zh-CN" altLang="en-US" b="1"/>
              <a:t>语句</a:t>
            </a:r>
            <a:r>
              <a:rPr lang="en-US" altLang="zh-CN" b="1"/>
              <a:t>4</a:t>
            </a:r>
            <a:endParaRPr lang="zh-CN" altLang="en-US" b="1"/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id="{486C3C53-80B9-45F9-7231-3DC6655297D2}"/>
              </a:ext>
            </a:extLst>
          </p:cNvPr>
          <p:cNvSpPr/>
          <p:nvPr/>
        </p:nvSpPr>
        <p:spPr>
          <a:xfrm>
            <a:off x="3081951" y="1783716"/>
            <a:ext cx="159026" cy="646043"/>
          </a:xfrm>
          <a:prstGeom prst="rightBrace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C2F8F611-D0DD-AEE2-7856-7CFA5B049693}"/>
              </a:ext>
            </a:extLst>
          </p:cNvPr>
          <p:cNvSpPr/>
          <p:nvPr/>
        </p:nvSpPr>
        <p:spPr>
          <a:xfrm>
            <a:off x="3081951" y="3074688"/>
            <a:ext cx="159026" cy="646043"/>
          </a:xfrm>
          <a:prstGeom prst="rightBrace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8DAB6B-6DD2-AB4D-0007-C66EDDEAFF96}"/>
              </a:ext>
            </a:extLst>
          </p:cNvPr>
          <p:cNvSpPr txBox="1"/>
          <p:nvPr/>
        </p:nvSpPr>
        <p:spPr>
          <a:xfrm>
            <a:off x="3418223" y="1922071"/>
            <a:ext cx="1015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内嵌</a:t>
            </a:r>
            <a:r>
              <a:rPr lang="en-US" altLang="zh-CN" b="1">
                <a:solidFill>
                  <a:schemeClr val="bg1"/>
                </a:solidFill>
              </a:rPr>
              <a:t>if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BA65BE-732A-B2FD-E1E1-F0580EC268C4}"/>
              </a:ext>
            </a:extLst>
          </p:cNvPr>
          <p:cNvSpPr txBox="1"/>
          <p:nvPr/>
        </p:nvSpPr>
        <p:spPr>
          <a:xfrm>
            <a:off x="3418224" y="3208378"/>
            <a:ext cx="1015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内嵌</a:t>
            </a:r>
            <a:r>
              <a:rPr lang="en-US" altLang="zh-CN" b="1">
                <a:solidFill>
                  <a:schemeClr val="bg1"/>
                </a:solidFill>
              </a:rPr>
              <a:t>if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9" name="MH_Other_1">
            <a:extLst>
              <a:ext uri="{FF2B5EF4-FFF2-40B4-BE49-F238E27FC236}">
                <a16:creationId xmlns:a16="http://schemas.microsoft.com/office/drawing/2014/main" id="{548E4E6F-8106-C89A-561F-E8307DB8885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27805" y="1210416"/>
            <a:ext cx="774700" cy="522287"/>
          </a:xfrm>
          <a:custGeom>
            <a:avLst/>
            <a:gdLst>
              <a:gd name="connsiteX0" fmla="*/ 0 w 2429934"/>
              <a:gd name="connsiteY0" fmla="*/ 360367 h 372534"/>
              <a:gd name="connsiteX1" fmla="*/ 2429934 w 2429934"/>
              <a:gd name="connsiteY1" fmla="*/ 360367 h 372534"/>
              <a:gd name="connsiteX2" fmla="*/ 2429934 w 2429934"/>
              <a:gd name="connsiteY2" fmla="*/ 372534 h 372534"/>
              <a:gd name="connsiteX3" fmla="*/ 0 w 2429934"/>
              <a:gd name="connsiteY3" fmla="*/ 372534 h 372534"/>
              <a:gd name="connsiteX4" fmla="*/ 0 w 2429934"/>
              <a:gd name="connsiteY4" fmla="*/ 30167 h 372534"/>
              <a:gd name="connsiteX5" fmla="*/ 2429934 w 2429934"/>
              <a:gd name="connsiteY5" fmla="*/ 30167 h 372534"/>
              <a:gd name="connsiteX6" fmla="*/ 2429934 w 2429934"/>
              <a:gd name="connsiteY6" fmla="*/ 342367 h 372534"/>
              <a:gd name="connsiteX7" fmla="*/ 0 w 2429934"/>
              <a:gd name="connsiteY7" fmla="*/ 342367 h 372534"/>
              <a:gd name="connsiteX8" fmla="*/ 0 w 2429934"/>
              <a:gd name="connsiteY8" fmla="*/ 0 h 372534"/>
              <a:gd name="connsiteX9" fmla="*/ 2429934 w 2429934"/>
              <a:gd name="connsiteY9" fmla="*/ 0 h 372534"/>
              <a:gd name="connsiteX10" fmla="*/ 2429934 w 2429934"/>
              <a:gd name="connsiteY10" fmla="*/ 12167 h 372534"/>
              <a:gd name="connsiteX11" fmla="*/ 0 w 2429934"/>
              <a:gd name="connsiteY11" fmla="*/ 12167 h 37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29934" h="372534">
                <a:moveTo>
                  <a:pt x="0" y="360367"/>
                </a:moveTo>
                <a:lnTo>
                  <a:pt x="2429934" y="360367"/>
                </a:lnTo>
                <a:lnTo>
                  <a:pt x="2429934" y="372534"/>
                </a:lnTo>
                <a:lnTo>
                  <a:pt x="0" y="372534"/>
                </a:lnTo>
                <a:close/>
                <a:moveTo>
                  <a:pt x="0" y="30167"/>
                </a:moveTo>
                <a:lnTo>
                  <a:pt x="2429934" y="30167"/>
                </a:lnTo>
                <a:lnTo>
                  <a:pt x="2429934" y="342367"/>
                </a:lnTo>
                <a:lnTo>
                  <a:pt x="0" y="342367"/>
                </a:lnTo>
                <a:close/>
                <a:moveTo>
                  <a:pt x="0" y="0"/>
                </a:moveTo>
                <a:lnTo>
                  <a:pt x="2429934" y="0"/>
                </a:lnTo>
                <a:lnTo>
                  <a:pt x="2429934" y="12167"/>
                </a:lnTo>
                <a:lnTo>
                  <a:pt x="0" y="12167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EFFFF"/>
                </a:solidFill>
              </a:rPr>
              <a:t>注意</a:t>
            </a:r>
          </a:p>
        </p:txBody>
      </p:sp>
      <p:sp>
        <p:nvSpPr>
          <p:cNvPr id="20" name="MH_SubTitle_1">
            <a:extLst>
              <a:ext uri="{FF2B5EF4-FFF2-40B4-BE49-F238E27FC236}">
                <a16:creationId xmlns:a16="http://schemas.microsoft.com/office/drawing/2014/main" id="{7886CF25-6A6B-B83B-450F-67C30DFC475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802504" y="1210416"/>
            <a:ext cx="5745323" cy="5199811"/>
          </a:xfrm>
          <a:prstGeom prst="rect">
            <a:avLst/>
          </a:prstGeom>
          <a:solidFill>
            <a:srgbClr val="FEFFFF"/>
          </a:solidFill>
          <a:ln w="9525">
            <a:solidFill>
              <a:srgbClr val="B2B2B2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1C1C1C"/>
                </a:solidFill>
              </a:rPr>
              <a:t>if</a:t>
            </a:r>
            <a:r>
              <a:rPr lang="zh-CN" altLang="en-US" b="1" dirty="0">
                <a:solidFill>
                  <a:srgbClr val="1C1C1C"/>
                </a:solidFill>
              </a:rPr>
              <a:t>与</a:t>
            </a:r>
            <a:r>
              <a:rPr lang="en-US" altLang="zh-CN" b="1" dirty="0">
                <a:solidFill>
                  <a:srgbClr val="1C1C1C"/>
                </a:solidFill>
              </a:rPr>
              <a:t>else</a:t>
            </a:r>
            <a:r>
              <a:rPr lang="zh-CN" altLang="en-US" b="1" dirty="0">
                <a:solidFill>
                  <a:srgbClr val="1C1C1C"/>
                </a:solidFill>
              </a:rPr>
              <a:t>的配对关系。</a:t>
            </a:r>
            <a:endParaRPr lang="en-US" altLang="zh-CN" b="1" dirty="0">
              <a:solidFill>
                <a:srgbClr val="1C1C1C"/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dirty="0">
                <a:solidFill>
                  <a:srgbClr val="1C1C1C"/>
                </a:solidFill>
              </a:rPr>
              <a:t>else</a:t>
            </a:r>
            <a:r>
              <a:rPr lang="zh-CN" altLang="en-US" dirty="0">
                <a:solidFill>
                  <a:srgbClr val="1C1C1C"/>
                </a:solidFill>
              </a:rPr>
              <a:t>总是与它上面的最近的未配对的</a:t>
            </a:r>
            <a:r>
              <a:rPr lang="en-US" altLang="zh-CN" dirty="0">
                <a:solidFill>
                  <a:srgbClr val="1C1C1C"/>
                </a:solidFill>
              </a:rPr>
              <a:t>if</a:t>
            </a:r>
            <a:r>
              <a:rPr lang="zh-CN" altLang="en-US" dirty="0">
                <a:solidFill>
                  <a:srgbClr val="1C1C1C"/>
                </a:solidFill>
              </a:rPr>
              <a:t>配对。</a:t>
            </a:r>
            <a:endParaRPr lang="en-US" altLang="zh-CN" dirty="0">
              <a:solidFill>
                <a:srgbClr val="1C1C1C"/>
              </a:solidFill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solidFill>
                <a:srgbClr val="1C1C1C"/>
              </a:solidFill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solidFill>
                <a:srgbClr val="1C1C1C"/>
              </a:solidFill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solidFill>
                <a:srgbClr val="1C1C1C"/>
              </a:solidFill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solidFill>
                <a:srgbClr val="1C1C1C"/>
              </a:solidFill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solidFill>
                <a:srgbClr val="1C1C1C"/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dirty="0">
                <a:solidFill>
                  <a:srgbClr val="1C1C1C"/>
                </a:solidFill>
              </a:rPr>
              <a:t>如果</a:t>
            </a:r>
            <a:r>
              <a:rPr lang="en-US" altLang="zh-CN" dirty="0">
                <a:solidFill>
                  <a:srgbClr val="1C1C1C"/>
                </a:solidFill>
              </a:rPr>
              <a:t>if</a:t>
            </a:r>
            <a:r>
              <a:rPr lang="zh-CN" altLang="en-US" dirty="0">
                <a:solidFill>
                  <a:srgbClr val="1C1C1C"/>
                </a:solidFill>
              </a:rPr>
              <a:t>与</a:t>
            </a:r>
            <a:r>
              <a:rPr lang="en-US" altLang="zh-CN" dirty="0">
                <a:solidFill>
                  <a:srgbClr val="1C1C1C"/>
                </a:solidFill>
              </a:rPr>
              <a:t>else</a:t>
            </a:r>
            <a:r>
              <a:rPr lang="zh-CN" altLang="en-US" dirty="0">
                <a:solidFill>
                  <a:srgbClr val="1C1C1C"/>
                </a:solidFill>
              </a:rPr>
              <a:t>的数目不一样，为实现程序设计者的思想</a:t>
            </a:r>
            <a:r>
              <a:rPr lang="en-US" altLang="zh-CN" dirty="0">
                <a:solidFill>
                  <a:srgbClr val="1C1C1C"/>
                </a:solidFill>
              </a:rPr>
              <a:t>,</a:t>
            </a:r>
            <a:r>
              <a:rPr lang="zh-CN" altLang="en-US" dirty="0">
                <a:solidFill>
                  <a:srgbClr val="1C1C1C"/>
                </a:solidFill>
              </a:rPr>
              <a:t>可以加花括号来确定配对关系。</a:t>
            </a:r>
          </a:p>
        </p:txBody>
      </p:sp>
      <p:sp>
        <p:nvSpPr>
          <p:cNvPr id="21" name="MH_Other_2">
            <a:extLst>
              <a:ext uri="{FF2B5EF4-FFF2-40B4-BE49-F238E27FC236}">
                <a16:creationId xmlns:a16="http://schemas.microsoft.com/office/drawing/2014/main" id="{77494374-40C7-FE5E-73B5-9DCD54EB208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6200000">
            <a:off x="11246202" y="6108602"/>
            <a:ext cx="301625" cy="301625"/>
          </a:xfrm>
          <a:prstGeom prst="rtTriangl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6A34DF4-06ED-7FBC-D800-2B8AD847C34C}"/>
              </a:ext>
            </a:extLst>
          </p:cNvPr>
          <p:cNvCxnSpPr/>
          <p:nvPr/>
        </p:nvCxnSpPr>
        <p:spPr>
          <a:xfrm>
            <a:off x="4791142" y="1253921"/>
            <a:ext cx="0" cy="2643803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chemeClr val="accent1"/>
                </a:gs>
                <a:gs pos="6600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38">
            <a:extLst>
              <a:ext uri="{FF2B5EF4-FFF2-40B4-BE49-F238E27FC236}">
                <a16:creationId xmlns:a16="http://schemas.microsoft.com/office/drawing/2014/main" id="{120C7877-06D2-D524-E3F8-86F046967E87}"/>
              </a:ext>
            </a:extLst>
          </p:cNvPr>
          <p:cNvSpPr/>
          <p:nvPr/>
        </p:nvSpPr>
        <p:spPr>
          <a:xfrm>
            <a:off x="6063688" y="2073371"/>
            <a:ext cx="2067340" cy="1667238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if()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	if()	</a:t>
            </a:r>
            <a:r>
              <a:rPr lang="zh-CN" altLang="en-US" sz="1600"/>
              <a:t>语句</a:t>
            </a:r>
            <a:r>
              <a:rPr lang="en-US" altLang="zh-CN" sz="1600"/>
              <a:t>1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else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	if()	</a:t>
            </a:r>
            <a:r>
              <a:rPr lang="zh-CN" altLang="en-US" sz="1600"/>
              <a:t>语句</a:t>
            </a:r>
            <a:r>
              <a:rPr lang="en-US" altLang="zh-CN" sz="1600"/>
              <a:t>2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else		</a:t>
            </a:r>
            <a:r>
              <a:rPr lang="zh-CN" altLang="en-US" sz="1600"/>
              <a:t>语句</a:t>
            </a:r>
            <a:r>
              <a:rPr lang="en-US" altLang="zh-CN" sz="1600"/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888DB39-7C3A-C31C-4A16-D80CE46920A1}"/>
              </a:ext>
            </a:extLst>
          </p:cNvPr>
          <p:cNvSpPr/>
          <p:nvPr/>
        </p:nvSpPr>
        <p:spPr>
          <a:xfrm>
            <a:off x="8265442" y="2019440"/>
            <a:ext cx="3131579" cy="1725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编程序者把else写在与第1个if(外层if)同一列上，意图是使else与第1个if对应，但实际上else是与第2个if配对，因为它们相距最近。</a:t>
            </a:r>
          </a:p>
        </p:txBody>
      </p:sp>
      <p:sp>
        <p:nvSpPr>
          <p:cNvPr id="25" name="圆角矩形 39">
            <a:extLst>
              <a:ext uri="{FF2B5EF4-FFF2-40B4-BE49-F238E27FC236}">
                <a16:creationId xmlns:a16="http://schemas.microsoft.com/office/drawing/2014/main" id="{0C099993-22D6-C75B-20A1-63E947134842}"/>
              </a:ext>
            </a:extLst>
          </p:cNvPr>
          <p:cNvSpPr/>
          <p:nvPr/>
        </p:nvSpPr>
        <p:spPr>
          <a:xfrm>
            <a:off x="7278114" y="4603564"/>
            <a:ext cx="2782957" cy="1667238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if()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	if()	</a:t>
            </a:r>
            <a:r>
              <a:rPr lang="zh-CN" altLang="en-US" sz="1600"/>
              <a:t>语句</a:t>
            </a:r>
            <a:r>
              <a:rPr lang="en-US" altLang="zh-CN" sz="1600"/>
              <a:t>1		</a:t>
            </a:r>
            <a:r>
              <a:rPr lang="zh-CN" altLang="en-US" sz="1600"/>
              <a:t>内嵌</a:t>
            </a:r>
            <a:r>
              <a:rPr lang="en-US" altLang="zh-CN" sz="1600"/>
              <a:t>if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else		</a:t>
            </a:r>
            <a:r>
              <a:rPr lang="zh-CN" altLang="en-US" sz="1600"/>
              <a:t>语句</a:t>
            </a:r>
            <a:r>
              <a:rPr lang="en-US" altLang="zh-CN" sz="1600"/>
              <a:t>2</a:t>
            </a:r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02BD2E63-1B3D-FC75-C75F-A09A1A475501}"/>
              </a:ext>
            </a:extLst>
          </p:cNvPr>
          <p:cNvSpPr/>
          <p:nvPr/>
        </p:nvSpPr>
        <p:spPr>
          <a:xfrm>
            <a:off x="8727376" y="5036305"/>
            <a:ext cx="148558" cy="801756"/>
          </a:xfrm>
          <a:prstGeom prst="rightBrac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94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FE7E-DC33-DF8A-10B7-8BFDF747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2D2BA20-4D19-B516-6040-74E1EF9887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if</a:t>
            </a:r>
            <a:r>
              <a:rPr lang="zh-CN" altLang="en-US" sz="2400" dirty="0"/>
              <a:t>语嵌套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3D61B1-8605-ADF0-4916-CE8C806F16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7372EF0-94DF-1FE0-9CC2-BA8DAA90A99D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if</a:t>
            </a:r>
            <a:r>
              <a:rPr lang="zh-CN" altLang="en-US" sz="2400" dirty="0"/>
              <a:t>语句嵌套程序示例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9338C9-3DC0-5BD3-5DD4-321B3766C756}"/>
              </a:ext>
            </a:extLst>
          </p:cNvPr>
          <p:cNvSpPr/>
          <p:nvPr/>
        </p:nvSpPr>
        <p:spPr>
          <a:xfrm>
            <a:off x="5695403" y="2137897"/>
            <a:ext cx="2773016" cy="2992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0A3F20A-65AB-1ABD-23E2-39FD068977B7}"/>
              </a:ext>
            </a:extLst>
          </p:cNvPr>
          <p:cNvSpPr txBox="1">
            <a:spLocks/>
          </p:cNvSpPr>
          <p:nvPr/>
        </p:nvSpPr>
        <p:spPr>
          <a:xfrm>
            <a:off x="410197" y="1050620"/>
            <a:ext cx="5697239" cy="43233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【</a:t>
            </a:r>
            <a:r>
              <a:rPr lang="zh-CN" altLang="en-US" sz="2000" b="1" dirty="0">
                <a:solidFill>
                  <a:schemeClr val="accent1"/>
                </a:solidFill>
              </a:rPr>
              <a:t>例</a:t>
            </a:r>
            <a:r>
              <a:rPr lang="en-US" altLang="zh-CN" sz="2000" b="1" dirty="0">
                <a:solidFill>
                  <a:schemeClr val="accent1"/>
                </a:solidFill>
              </a:rPr>
              <a:t>4.3】</a:t>
            </a:r>
            <a:r>
              <a:rPr lang="zh-CN" altLang="en-US" sz="2000" b="1" dirty="0">
                <a:solidFill>
                  <a:schemeClr val="accent1"/>
                </a:solidFill>
              </a:rPr>
              <a:t>写一程序，判断某一年是否为闰年。</a:t>
            </a:r>
          </a:p>
        </p:txBody>
      </p:sp>
      <p:sp>
        <p:nvSpPr>
          <p:cNvPr id="10" name="圆角矩形 12">
            <a:extLst>
              <a:ext uri="{FF2B5EF4-FFF2-40B4-BE49-F238E27FC236}">
                <a16:creationId xmlns:a16="http://schemas.microsoft.com/office/drawing/2014/main" id="{90375153-93F3-90FE-4F9B-4AC1923B9607}"/>
              </a:ext>
            </a:extLst>
          </p:cNvPr>
          <p:cNvSpPr/>
          <p:nvPr/>
        </p:nvSpPr>
        <p:spPr>
          <a:xfrm>
            <a:off x="5695403" y="778820"/>
            <a:ext cx="2773016" cy="5864087"/>
          </a:xfrm>
          <a:prstGeom prst="roundRect">
            <a:avLst>
              <a:gd name="adj" fmla="val 184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1" spcCol="324000" rtlCol="0" anchor="t"/>
          <a:lstStyle/>
          <a:p>
            <a:pPr defTabSz="363538"/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/>
            <a:r>
              <a:rPr lang="en-US" altLang="zh-CN" sz="1400" dirty="0"/>
              <a:t>int main()	</a:t>
            </a:r>
          </a:p>
          <a:p>
            <a:pPr defTabSz="363538"/>
            <a:r>
              <a:rPr lang="en-US" altLang="zh-CN" sz="1400" dirty="0"/>
              <a:t>{</a:t>
            </a:r>
          </a:p>
          <a:p>
            <a:pPr defTabSz="363538"/>
            <a:r>
              <a:rPr lang="en-US" altLang="zh-CN" sz="1400" dirty="0"/>
              <a:t>	int </a:t>
            </a:r>
            <a:r>
              <a:rPr lang="en-US" altLang="zh-CN" sz="1400" dirty="0" err="1"/>
              <a:t>year,leap</a:t>
            </a:r>
            <a:r>
              <a:rPr lang="en-US" altLang="zh-CN" sz="1400" dirty="0"/>
              <a:t>;</a:t>
            </a:r>
          </a:p>
          <a:p>
            <a:pPr defTabSz="363538"/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("enter year:");</a:t>
            </a:r>
          </a:p>
          <a:p>
            <a:pPr defTabSz="363538"/>
            <a:r>
              <a:rPr lang="en-US" altLang="zh-CN" sz="1400" dirty="0"/>
              <a:t>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("%</a:t>
            </a:r>
            <a:r>
              <a:rPr lang="en-US" altLang="zh-CN" sz="1400" dirty="0" err="1"/>
              <a:t>d",&amp;year</a:t>
            </a:r>
            <a:r>
              <a:rPr lang="en-US" altLang="zh-CN" sz="1400" dirty="0"/>
              <a:t>);</a:t>
            </a:r>
          </a:p>
          <a:p>
            <a:pPr defTabSz="363538"/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if(year%4==0)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{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if(year%100==0)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{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	if(year%400==0)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		leap=1;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	else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		leap=0;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}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else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	leap=1;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}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else</a:t>
            </a:r>
          </a:p>
          <a:p>
            <a:pPr defTabSz="363538"/>
            <a:r>
              <a:rPr lang="en-US" altLang="zh-CN" sz="1400" dirty="0">
                <a:solidFill>
                  <a:schemeClr val="accent6"/>
                </a:solidFill>
              </a:rPr>
              <a:t>		leap=0;</a:t>
            </a:r>
          </a:p>
          <a:p>
            <a:pPr defTabSz="363538"/>
            <a:r>
              <a:rPr lang="en-US" altLang="zh-CN" sz="1400" dirty="0"/>
              <a:t>	if(leap)</a:t>
            </a:r>
          </a:p>
          <a:p>
            <a:pPr defTabSz="363538"/>
            <a:r>
              <a:rPr lang="en-US" altLang="zh-CN" sz="1400" dirty="0"/>
              <a:t>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("%d is ",year);</a:t>
            </a:r>
          </a:p>
          <a:p>
            <a:pPr defTabSz="363538"/>
            <a:r>
              <a:rPr lang="en-US" altLang="zh-CN" sz="1400" dirty="0"/>
              <a:t>	else</a:t>
            </a:r>
          </a:p>
          <a:p>
            <a:pPr defTabSz="363538"/>
            <a:r>
              <a:rPr lang="en-US" altLang="zh-CN" sz="1400" dirty="0"/>
              <a:t>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("%d is not ",year);</a:t>
            </a:r>
          </a:p>
          <a:p>
            <a:pPr defTabSz="363538"/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("a leap year.\n");</a:t>
            </a:r>
          </a:p>
          <a:p>
            <a:pPr defTabSz="363538"/>
            <a:r>
              <a:rPr lang="en-US" altLang="zh-CN" sz="1400" dirty="0"/>
              <a:t>	return 0;</a:t>
            </a:r>
          </a:p>
          <a:p>
            <a:pPr defTabSz="363538"/>
            <a:r>
              <a:rPr lang="en-US" altLang="zh-CN" sz="1400" dirty="0"/>
              <a:t>}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56B4B14-EE90-4FA2-24C1-6C29ECB1A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609477"/>
              </p:ext>
            </p:extLst>
          </p:nvPr>
        </p:nvGraphicFramePr>
        <p:xfrm>
          <a:off x="1193225" y="1992741"/>
          <a:ext cx="3514036" cy="24688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78509">
                  <a:extLst>
                    <a:ext uri="{9D8B030D-6E8A-4147-A177-3AD203B41FA5}">
                      <a16:colId xmlns:a16="http://schemas.microsoft.com/office/drawing/2014/main" val="3680760886"/>
                    </a:ext>
                  </a:extLst>
                </a:gridCol>
                <a:gridCol w="878509">
                  <a:extLst>
                    <a:ext uri="{9D8B030D-6E8A-4147-A177-3AD203B41FA5}">
                      <a16:colId xmlns:a16="http://schemas.microsoft.com/office/drawing/2014/main" val="1798099947"/>
                    </a:ext>
                  </a:extLst>
                </a:gridCol>
                <a:gridCol w="878509">
                  <a:extLst>
                    <a:ext uri="{9D8B030D-6E8A-4147-A177-3AD203B41FA5}">
                      <a16:colId xmlns:a16="http://schemas.microsoft.com/office/drawing/2014/main" val="2520813459"/>
                    </a:ext>
                  </a:extLst>
                </a:gridCol>
                <a:gridCol w="878509">
                  <a:extLst>
                    <a:ext uri="{9D8B030D-6E8A-4147-A177-3AD203B41FA5}">
                      <a16:colId xmlns:a16="http://schemas.microsoft.com/office/drawing/2014/main" val="103248970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dirty="0"/>
                        <a:t>year</a:t>
                      </a:r>
                      <a:r>
                        <a:rPr lang="zh-CN" altLang="en-US" sz="1400" dirty="0"/>
                        <a:t>被</a:t>
                      </a:r>
                      <a:r>
                        <a:rPr lang="en-US" altLang="zh-CN" sz="1400" dirty="0"/>
                        <a:t>4</a:t>
                      </a:r>
                      <a:r>
                        <a:rPr lang="zh-CN" altLang="en-US" sz="1400" dirty="0"/>
                        <a:t>整除</a:t>
                      </a:r>
                      <a:endParaRPr lang="en-US" altLang="zh-CN" sz="14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dirty="0"/>
                        <a:t>真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/>
                        <a:t>假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819009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/>
                        <a:t>真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/>
                        <a:t>假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leap=0</a:t>
                      </a:r>
                      <a:endParaRPr lang="zh-CN" altLang="en-US" sz="14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01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/>
                        <a:t>真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/>
                        <a:t>假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leap=1</a:t>
                      </a:r>
                      <a:endParaRPr lang="zh-CN" altLang="en-US" sz="14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434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leap=1</a:t>
                      </a:r>
                      <a:endParaRPr lang="zh-CN" altLang="en-US" sz="14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leap=0</a:t>
                      </a:r>
                      <a:endParaRPr lang="zh-CN" altLang="en-US" sz="14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69047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/>
                        <a:t>真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leap                     </a:t>
                      </a:r>
                      <a:r>
                        <a:rPr lang="zh-CN" altLang="en-US" sz="1400"/>
                        <a:t>假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68722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dirty="0"/>
                        <a:t>输出“闰年”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dirty="0"/>
                        <a:t>输出“非闰年”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529051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E1C8280D-1E66-7879-58BB-CF5E5CD3C37C}"/>
              </a:ext>
            </a:extLst>
          </p:cNvPr>
          <p:cNvSpPr/>
          <p:nvPr/>
        </p:nvSpPr>
        <p:spPr>
          <a:xfrm>
            <a:off x="1424292" y="2973455"/>
            <a:ext cx="13340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/>
              <a:t>year</a:t>
            </a:r>
            <a:r>
              <a:rPr lang="zh-CN" altLang="en-US" sz="1400"/>
              <a:t>被</a:t>
            </a:r>
            <a:r>
              <a:rPr lang="en-US" altLang="zh-CN" sz="1400"/>
              <a:t>400</a:t>
            </a:r>
            <a:r>
              <a:rPr lang="zh-CN" altLang="en-US" sz="1400"/>
              <a:t>整除</a:t>
            </a:r>
            <a:endParaRPr lang="en-US" altLang="zh-CN" sz="1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A0C71E-46E1-92FC-A3F0-B67442A497CC}"/>
              </a:ext>
            </a:extLst>
          </p:cNvPr>
          <p:cNvSpPr/>
          <p:nvPr/>
        </p:nvSpPr>
        <p:spPr>
          <a:xfrm>
            <a:off x="2091302" y="2507886"/>
            <a:ext cx="13340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year</a:t>
            </a:r>
            <a:r>
              <a:rPr lang="zh-CN" altLang="en-US" sz="1400"/>
              <a:t>被</a:t>
            </a:r>
            <a:r>
              <a:rPr lang="en-US" altLang="zh-CN" sz="1400"/>
              <a:t>100</a:t>
            </a:r>
            <a:r>
              <a:rPr lang="zh-CN" altLang="en-US" sz="1400"/>
              <a:t>整除</a:t>
            </a:r>
            <a:endParaRPr lang="en-US" altLang="zh-CN" sz="140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A4C59E0-B0EB-5ED1-4A66-F1C7EACA418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95604" y="4612516"/>
            <a:ext cx="3511657" cy="9429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A1D4FD2-EEC2-EB50-6731-4042D6436E7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93225" y="5706386"/>
            <a:ext cx="3511657" cy="914400"/>
          </a:xfrm>
          <a:prstGeom prst="rect">
            <a:avLst/>
          </a:prstGeom>
        </p:spPr>
      </p:pic>
      <p:sp>
        <p:nvSpPr>
          <p:cNvPr id="16" name="圆角矩形 28">
            <a:extLst>
              <a:ext uri="{FF2B5EF4-FFF2-40B4-BE49-F238E27FC236}">
                <a16:creationId xmlns:a16="http://schemas.microsoft.com/office/drawing/2014/main" id="{13D7C472-A1B0-0F43-BFCE-6031344E6E44}"/>
              </a:ext>
            </a:extLst>
          </p:cNvPr>
          <p:cNvSpPr/>
          <p:nvPr/>
        </p:nvSpPr>
        <p:spPr>
          <a:xfrm>
            <a:off x="8812293" y="2137897"/>
            <a:ext cx="2773016" cy="1836807"/>
          </a:xfrm>
          <a:prstGeom prst="roundRect">
            <a:avLst>
              <a:gd name="adj" fmla="val 401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357188"/>
            <a:r>
              <a:rPr lang="en-US" altLang="zh-CN">
                <a:solidFill>
                  <a:schemeClr val="lt1"/>
                </a:solidFill>
              </a:rPr>
              <a:t>	</a:t>
            </a:r>
            <a:r>
              <a:rPr lang="en-US" altLang="zh-CN" sz="1400">
                <a:solidFill>
                  <a:schemeClr val="accent6"/>
                </a:solidFill>
              </a:rPr>
              <a:t>if(year%4!=0)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	leap=0;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else if (year%100!=0)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	leap=1;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else if(year%400!=0)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	leap=0;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else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	leap=1;</a:t>
            </a:r>
          </a:p>
        </p:txBody>
      </p:sp>
      <p:sp>
        <p:nvSpPr>
          <p:cNvPr id="27" name="圆角矩形 29">
            <a:extLst>
              <a:ext uri="{FF2B5EF4-FFF2-40B4-BE49-F238E27FC236}">
                <a16:creationId xmlns:a16="http://schemas.microsoft.com/office/drawing/2014/main" id="{C733BDE1-2253-37F0-A2B3-1BCFE10D4907}"/>
              </a:ext>
            </a:extLst>
          </p:cNvPr>
          <p:cNvSpPr/>
          <p:nvPr/>
        </p:nvSpPr>
        <p:spPr>
          <a:xfrm>
            <a:off x="7561204" y="4123982"/>
            <a:ext cx="4552006" cy="1006433"/>
          </a:xfrm>
          <a:prstGeom prst="roundRect">
            <a:avLst>
              <a:gd name="adj" fmla="val 678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if((year%4==0 &amp;&amp; year%100!=0) || (year%400==0))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  leap=1;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else</a:t>
            </a:r>
          </a:p>
          <a:p>
            <a:pPr defTabSz="357188"/>
            <a:r>
              <a:rPr lang="en-US" altLang="zh-CN" sz="1400">
                <a:solidFill>
                  <a:schemeClr val="accent6"/>
                </a:solidFill>
              </a:rPr>
              <a:t>	  leap=0;</a:t>
            </a:r>
          </a:p>
        </p:txBody>
      </p:sp>
    </p:spTree>
    <p:extLst>
      <p:ext uri="{BB962C8B-B14F-4D97-AF65-F5344CB8AC3E}">
        <p14:creationId xmlns:p14="http://schemas.microsoft.com/office/powerpoint/2010/main" val="226285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D5E4D-87A7-1D28-F471-47E444AE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55792FC-C4DB-309E-BACD-9D9440AA918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条件表达式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8675CB-8F12-1FC1-3865-8A1CD33947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C03B33B-C486-EA0B-E3EC-9480ECBBFE09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/>
              <a:t>条件运算符和条件表达式</a:t>
            </a:r>
            <a:endParaRPr lang="zh-CN" alt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023973-0383-D95E-6073-4B87BA9F3421}"/>
              </a:ext>
            </a:extLst>
          </p:cNvPr>
          <p:cNvSpPr/>
          <p:nvPr/>
        </p:nvSpPr>
        <p:spPr>
          <a:xfrm>
            <a:off x="1050235" y="3279063"/>
            <a:ext cx="4964057" cy="437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表达式</a:t>
            </a:r>
            <a:r>
              <a:rPr lang="en-US" altLang="zh-CN" b="1"/>
              <a:t>1 ? </a:t>
            </a:r>
            <a:r>
              <a:rPr lang="zh-CN" altLang="en-US" b="1"/>
              <a:t>表达式</a:t>
            </a:r>
            <a:r>
              <a:rPr lang="en-US" altLang="zh-CN" b="1"/>
              <a:t>2 : </a:t>
            </a:r>
            <a:r>
              <a:rPr lang="zh-CN" altLang="en-US" b="1"/>
              <a:t>表达式</a:t>
            </a:r>
            <a:r>
              <a:rPr lang="en-US" altLang="zh-CN" b="1"/>
              <a:t>3</a:t>
            </a:r>
            <a:endParaRPr lang="zh-CN" altLang="en-US" b="1"/>
          </a:p>
        </p:txBody>
      </p:sp>
      <p:sp>
        <p:nvSpPr>
          <p:cNvPr id="8" name="MH_Desc_1">
            <a:extLst>
              <a:ext uri="{FF2B5EF4-FFF2-40B4-BE49-F238E27FC236}">
                <a16:creationId xmlns:a16="http://schemas.microsoft.com/office/drawing/2014/main" id="{D516EC13-849E-B3F3-C518-9FAD28074FC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0235" y="3951495"/>
            <a:ext cx="4950023" cy="237973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</a:rPr>
              <a:t>条件运算符由两个符号</a:t>
            </a:r>
            <a:r>
              <a:rPr lang="en-US" altLang="zh-CN" sz="1400" dirty="0">
                <a:solidFill>
                  <a:schemeClr val="tx1"/>
                </a:solidFill>
              </a:rPr>
              <a:t>(?</a:t>
            </a:r>
            <a:r>
              <a:rPr lang="zh-CN" altLang="en-US" sz="1400" dirty="0">
                <a:solidFill>
                  <a:schemeClr val="tx1"/>
                </a:solidFill>
              </a:rPr>
              <a:t>和</a:t>
            </a:r>
            <a:r>
              <a:rPr lang="en-US" altLang="zh-CN" sz="1400" dirty="0">
                <a:solidFill>
                  <a:schemeClr val="tx1"/>
                </a:solidFill>
              </a:rPr>
              <a:t>:)</a:t>
            </a:r>
            <a:r>
              <a:rPr lang="zh-CN" altLang="en-US" sz="1400" dirty="0">
                <a:solidFill>
                  <a:schemeClr val="tx1"/>
                </a:solidFill>
              </a:rPr>
              <a:t>组成，必须一起使用。要求有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个操作对象，称为三目</a:t>
            </a:r>
            <a:r>
              <a:rPr lang="en-US" altLang="zh-CN" sz="1400" dirty="0">
                <a:solidFill>
                  <a:schemeClr val="tx1"/>
                </a:solidFill>
              </a:rPr>
              <a:t>(</a:t>
            </a:r>
            <a:r>
              <a:rPr lang="zh-CN" altLang="en-US" sz="1400" dirty="0">
                <a:solidFill>
                  <a:schemeClr val="tx1"/>
                </a:solidFill>
              </a:rPr>
              <a:t>元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  <a:r>
              <a:rPr lang="zh-CN" altLang="en-US" sz="1400" dirty="0">
                <a:solidFill>
                  <a:schemeClr val="tx1"/>
                </a:solidFill>
              </a:rPr>
              <a:t>运算符，它是Ｃ语言中唯一的一个三目运算符。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</a:rPr>
              <a:t>条件运算符的执行顺序</a:t>
            </a:r>
            <a:r>
              <a:rPr lang="en-US" altLang="zh-CN" sz="1400" dirty="0">
                <a:solidFill>
                  <a:schemeClr val="tx1"/>
                </a:solidFill>
              </a:rPr>
              <a:t>: </a:t>
            </a:r>
            <a:r>
              <a:rPr lang="zh-CN" altLang="en-US" sz="1400" dirty="0">
                <a:solidFill>
                  <a:schemeClr val="tx1"/>
                </a:solidFill>
              </a:rPr>
              <a:t>先求解表达式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，若为非</a:t>
            </a:r>
            <a:r>
              <a:rPr lang="en-US" altLang="zh-CN" sz="1400" dirty="0">
                <a:solidFill>
                  <a:schemeClr val="tx1"/>
                </a:solidFill>
              </a:rPr>
              <a:t>0(</a:t>
            </a:r>
            <a:r>
              <a:rPr lang="zh-CN" altLang="en-US" sz="1400" dirty="0">
                <a:solidFill>
                  <a:schemeClr val="tx1"/>
                </a:solidFill>
              </a:rPr>
              <a:t>真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  <a:r>
              <a:rPr lang="zh-CN" altLang="en-US" sz="1400" dirty="0">
                <a:solidFill>
                  <a:schemeClr val="tx1"/>
                </a:solidFill>
              </a:rPr>
              <a:t>则求解表达式２，此时表达式２的值就作为整个条件表达式的值。若表达式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的值为</a:t>
            </a:r>
            <a:r>
              <a:rPr lang="en-US" altLang="zh-CN" sz="1400" dirty="0">
                <a:solidFill>
                  <a:schemeClr val="tx1"/>
                </a:solidFill>
              </a:rPr>
              <a:t>0(</a:t>
            </a:r>
            <a:r>
              <a:rPr lang="zh-CN" altLang="en-US" sz="1400" dirty="0">
                <a:solidFill>
                  <a:schemeClr val="tx1"/>
                </a:solidFill>
              </a:rPr>
              <a:t>假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  <a:r>
              <a:rPr lang="zh-CN" altLang="en-US" sz="1400" dirty="0">
                <a:solidFill>
                  <a:schemeClr val="tx1"/>
                </a:solidFill>
              </a:rPr>
              <a:t>，则求解表达式３，表达式３的值就是整个条件表达式的值。</a:t>
            </a:r>
          </a:p>
        </p:txBody>
      </p:sp>
      <p:sp>
        <p:nvSpPr>
          <p:cNvPr id="9" name="圆角矩形 15">
            <a:extLst>
              <a:ext uri="{FF2B5EF4-FFF2-40B4-BE49-F238E27FC236}">
                <a16:creationId xmlns:a16="http://schemas.microsoft.com/office/drawing/2014/main" id="{E483449A-AF42-EA8B-86A2-FBE21BB5C8E0}"/>
              </a:ext>
            </a:extLst>
          </p:cNvPr>
          <p:cNvSpPr/>
          <p:nvPr/>
        </p:nvSpPr>
        <p:spPr>
          <a:xfrm>
            <a:off x="1050236" y="1496423"/>
            <a:ext cx="1736036" cy="1631452"/>
          </a:xfrm>
          <a:prstGeom prst="roundRect">
            <a:avLst>
              <a:gd name="adj" fmla="val 643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50000"/>
              </a:lnSpc>
            </a:pPr>
            <a:r>
              <a:rPr lang="en-US" altLang="zh-CN" sz="1600"/>
              <a:t>if (a&gt;b)</a:t>
            </a:r>
          </a:p>
          <a:p>
            <a:pPr defTabSz="363538">
              <a:lnSpc>
                <a:spcPct val="150000"/>
              </a:lnSpc>
            </a:pPr>
            <a:r>
              <a:rPr lang="en-US" altLang="zh-CN" sz="1600"/>
              <a:t>	max=a;</a:t>
            </a:r>
          </a:p>
          <a:p>
            <a:pPr defTabSz="363538">
              <a:lnSpc>
                <a:spcPct val="150000"/>
              </a:lnSpc>
            </a:pPr>
            <a:r>
              <a:rPr lang="en-US" altLang="zh-CN" sz="1600"/>
              <a:t>else </a:t>
            </a:r>
          </a:p>
          <a:p>
            <a:pPr defTabSz="363538">
              <a:lnSpc>
                <a:spcPct val="150000"/>
              </a:lnSpc>
            </a:pPr>
            <a:r>
              <a:rPr lang="en-US" altLang="zh-CN" sz="1600"/>
              <a:t>	max=b;</a:t>
            </a:r>
            <a:endParaRPr lang="en-US" altLang="zh-CN" sz="1600">
              <a:solidFill>
                <a:srgbClr val="0070C0"/>
              </a:solidFill>
            </a:endParaRPr>
          </a:p>
        </p:txBody>
      </p:sp>
      <p:sp>
        <p:nvSpPr>
          <p:cNvPr id="17" name="KSO_Shape">
            <a:extLst>
              <a:ext uri="{FF2B5EF4-FFF2-40B4-BE49-F238E27FC236}">
                <a16:creationId xmlns:a16="http://schemas.microsoft.com/office/drawing/2014/main" id="{0503ED31-6ABF-D664-5BE1-69AC3C5E435C}"/>
              </a:ext>
            </a:extLst>
          </p:cNvPr>
          <p:cNvSpPr>
            <a:spLocks/>
          </p:cNvSpPr>
          <p:nvPr/>
        </p:nvSpPr>
        <p:spPr bwMode="auto">
          <a:xfrm>
            <a:off x="2991750" y="2037105"/>
            <a:ext cx="463686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8" name="圆角矩形 18">
            <a:extLst>
              <a:ext uri="{FF2B5EF4-FFF2-40B4-BE49-F238E27FC236}">
                <a16:creationId xmlns:a16="http://schemas.microsoft.com/office/drawing/2014/main" id="{A683E188-E1FD-D59C-FA95-64F7F8FE3A9F}"/>
              </a:ext>
            </a:extLst>
          </p:cNvPr>
          <p:cNvSpPr/>
          <p:nvPr/>
        </p:nvSpPr>
        <p:spPr>
          <a:xfrm>
            <a:off x="3505058" y="2033005"/>
            <a:ext cx="1934960" cy="596239"/>
          </a:xfrm>
          <a:prstGeom prst="roundRect">
            <a:avLst>
              <a:gd name="adj" fmla="val 131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50000"/>
              </a:lnSpc>
            </a:pPr>
            <a:r>
              <a:rPr lang="en-US" altLang="zh-CN" sz="1600"/>
              <a:t>max=(a&gt;b) ? a : b;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D2C9014-15CA-B73F-3269-3BF29F63243B}"/>
              </a:ext>
            </a:extLst>
          </p:cNvPr>
          <p:cNvGrpSpPr/>
          <p:nvPr/>
        </p:nvGrpSpPr>
        <p:grpSpPr>
          <a:xfrm>
            <a:off x="6705938" y="3497723"/>
            <a:ext cx="4870174" cy="2847825"/>
            <a:chOff x="6420678" y="3346445"/>
            <a:chExt cx="4870174" cy="2847825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6935CC8F-F844-6C98-9B47-5F7024F97DAD}"/>
                </a:ext>
              </a:extLst>
            </p:cNvPr>
            <p:cNvCxnSpPr/>
            <p:nvPr/>
          </p:nvCxnSpPr>
          <p:spPr>
            <a:xfrm>
              <a:off x="8855841" y="334644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图: 决策 20">
              <a:extLst>
                <a:ext uri="{FF2B5EF4-FFF2-40B4-BE49-F238E27FC236}">
                  <a16:creationId xmlns:a16="http://schemas.microsoft.com/office/drawing/2014/main" id="{70DC04D1-F8EC-9116-99EE-64CEFCBC54D8}"/>
                </a:ext>
              </a:extLst>
            </p:cNvPr>
            <p:cNvSpPr/>
            <p:nvPr/>
          </p:nvSpPr>
          <p:spPr>
            <a:xfrm>
              <a:off x="7941365" y="3706445"/>
              <a:ext cx="1828800" cy="746629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表达式</a:t>
              </a:r>
              <a:r>
                <a:rPr lang="en-US" altLang="zh-CN" sz="1600"/>
                <a:t>1</a:t>
              </a:r>
              <a:endParaRPr lang="zh-CN" altLang="en-US" sz="1600"/>
            </a:p>
          </p:txBody>
        </p:sp>
        <p:sp>
          <p:nvSpPr>
            <p:cNvPr id="22" name="任意多边形 21">
              <a:extLst>
                <a:ext uri="{FF2B5EF4-FFF2-40B4-BE49-F238E27FC236}">
                  <a16:creationId xmlns:a16="http://schemas.microsoft.com/office/drawing/2014/main" id="{C2B47064-06A7-2938-506A-91CB3C39004A}"/>
                </a:ext>
              </a:extLst>
            </p:cNvPr>
            <p:cNvSpPr/>
            <p:nvPr/>
          </p:nvSpPr>
          <p:spPr>
            <a:xfrm>
              <a:off x="7275443" y="4079759"/>
              <a:ext cx="665922" cy="755374"/>
            </a:xfrm>
            <a:custGeom>
              <a:avLst/>
              <a:gdLst>
                <a:gd name="connsiteX0" fmla="*/ 665922 w 665922"/>
                <a:gd name="connsiteY0" fmla="*/ 0 h 755374"/>
                <a:gd name="connsiteX1" fmla="*/ 0 w 665922"/>
                <a:gd name="connsiteY1" fmla="*/ 0 h 755374"/>
                <a:gd name="connsiteX2" fmla="*/ 0 w 665922"/>
                <a:gd name="connsiteY2" fmla="*/ 755374 h 7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922" h="755374">
                  <a:moveTo>
                    <a:pt x="665922" y="0"/>
                  </a:moveTo>
                  <a:lnTo>
                    <a:pt x="0" y="0"/>
                  </a:lnTo>
                  <a:lnTo>
                    <a:pt x="0" y="755374"/>
                  </a:ln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25C46A9-CBDB-3E51-9B02-09DB344838FC}"/>
                </a:ext>
              </a:extLst>
            </p:cNvPr>
            <p:cNvSpPr/>
            <p:nvPr/>
          </p:nvSpPr>
          <p:spPr>
            <a:xfrm>
              <a:off x="6420678" y="4820696"/>
              <a:ext cx="1709530" cy="6214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条件表达式</a:t>
              </a:r>
              <a:endParaRPr lang="en-US" altLang="zh-CN"/>
            </a:p>
            <a:p>
              <a:pPr algn="ctr"/>
              <a:r>
                <a:rPr lang="zh-CN" altLang="en-US"/>
                <a:t>取表达式</a:t>
              </a:r>
              <a:r>
                <a:rPr lang="en-US" altLang="zh-CN"/>
                <a:t>2</a:t>
              </a:r>
              <a:r>
                <a:rPr lang="zh-CN" altLang="en-US"/>
                <a:t>的值</a:t>
              </a:r>
            </a:p>
          </p:txBody>
        </p:sp>
        <p:sp>
          <p:nvSpPr>
            <p:cNvPr id="24" name="任意多边形 23">
              <a:extLst>
                <a:ext uri="{FF2B5EF4-FFF2-40B4-BE49-F238E27FC236}">
                  <a16:creationId xmlns:a16="http://schemas.microsoft.com/office/drawing/2014/main" id="{83B3E472-1390-A9A9-EDB3-8BCC69B38BA6}"/>
                </a:ext>
              </a:extLst>
            </p:cNvPr>
            <p:cNvSpPr/>
            <p:nvPr/>
          </p:nvSpPr>
          <p:spPr>
            <a:xfrm flipH="1">
              <a:off x="9770165" y="4079759"/>
              <a:ext cx="665922" cy="755374"/>
            </a:xfrm>
            <a:custGeom>
              <a:avLst/>
              <a:gdLst>
                <a:gd name="connsiteX0" fmla="*/ 665922 w 665922"/>
                <a:gd name="connsiteY0" fmla="*/ 0 h 755374"/>
                <a:gd name="connsiteX1" fmla="*/ 0 w 665922"/>
                <a:gd name="connsiteY1" fmla="*/ 0 h 755374"/>
                <a:gd name="connsiteX2" fmla="*/ 0 w 665922"/>
                <a:gd name="connsiteY2" fmla="*/ 755374 h 7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922" h="755374">
                  <a:moveTo>
                    <a:pt x="665922" y="0"/>
                  </a:moveTo>
                  <a:lnTo>
                    <a:pt x="0" y="0"/>
                  </a:lnTo>
                  <a:lnTo>
                    <a:pt x="0" y="755374"/>
                  </a:ln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39CE3E4-38D1-4675-2938-75757EE554D8}"/>
                </a:ext>
              </a:extLst>
            </p:cNvPr>
            <p:cNvSpPr/>
            <p:nvPr/>
          </p:nvSpPr>
          <p:spPr>
            <a:xfrm>
              <a:off x="9581322" y="4847607"/>
              <a:ext cx="1709530" cy="6214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条件表达式</a:t>
              </a:r>
              <a:endParaRPr lang="en-US" altLang="zh-CN"/>
            </a:p>
            <a:p>
              <a:pPr algn="ctr"/>
              <a:r>
                <a:rPr lang="zh-CN" altLang="en-US"/>
                <a:t>取表达式</a:t>
              </a:r>
              <a:r>
                <a:rPr lang="en-US" altLang="zh-CN"/>
                <a:t>3</a:t>
              </a:r>
              <a:r>
                <a:rPr lang="zh-CN" altLang="en-US"/>
                <a:t>的值</a:t>
              </a:r>
            </a:p>
          </p:txBody>
        </p:sp>
        <p:sp>
          <p:nvSpPr>
            <p:cNvPr id="26" name="任意多边形 25">
              <a:extLst>
                <a:ext uri="{FF2B5EF4-FFF2-40B4-BE49-F238E27FC236}">
                  <a16:creationId xmlns:a16="http://schemas.microsoft.com/office/drawing/2014/main" id="{6F405B63-5F4F-E1B5-8144-4C70F1D3F6A7}"/>
                </a:ext>
              </a:extLst>
            </p:cNvPr>
            <p:cNvSpPr/>
            <p:nvPr/>
          </p:nvSpPr>
          <p:spPr>
            <a:xfrm>
              <a:off x="7305261" y="5456583"/>
              <a:ext cx="1570382" cy="377687"/>
            </a:xfrm>
            <a:custGeom>
              <a:avLst/>
              <a:gdLst>
                <a:gd name="connsiteX0" fmla="*/ 0 w 1570382"/>
                <a:gd name="connsiteY0" fmla="*/ 0 h 377687"/>
                <a:gd name="connsiteX1" fmla="*/ 0 w 1570382"/>
                <a:gd name="connsiteY1" fmla="*/ 377687 h 377687"/>
                <a:gd name="connsiteX2" fmla="*/ 1570382 w 1570382"/>
                <a:gd name="connsiteY2" fmla="*/ 377687 h 37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0382" h="377687">
                  <a:moveTo>
                    <a:pt x="0" y="0"/>
                  </a:moveTo>
                  <a:lnTo>
                    <a:pt x="0" y="377687"/>
                  </a:lnTo>
                  <a:lnTo>
                    <a:pt x="1570382" y="377687"/>
                  </a:ln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任意多边形 26">
              <a:extLst>
                <a:ext uri="{FF2B5EF4-FFF2-40B4-BE49-F238E27FC236}">
                  <a16:creationId xmlns:a16="http://schemas.microsoft.com/office/drawing/2014/main" id="{553CFE43-9DA2-3DC6-CB9A-EF7F1F3E3B16}"/>
                </a:ext>
              </a:extLst>
            </p:cNvPr>
            <p:cNvSpPr/>
            <p:nvPr/>
          </p:nvSpPr>
          <p:spPr>
            <a:xfrm flipH="1">
              <a:off x="8875642" y="5485903"/>
              <a:ext cx="1560443" cy="348367"/>
            </a:xfrm>
            <a:custGeom>
              <a:avLst/>
              <a:gdLst>
                <a:gd name="connsiteX0" fmla="*/ 0 w 1570382"/>
                <a:gd name="connsiteY0" fmla="*/ 0 h 377687"/>
                <a:gd name="connsiteX1" fmla="*/ 0 w 1570382"/>
                <a:gd name="connsiteY1" fmla="*/ 377687 h 377687"/>
                <a:gd name="connsiteX2" fmla="*/ 1570382 w 1570382"/>
                <a:gd name="connsiteY2" fmla="*/ 377687 h 37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0382" h="377687">
                  <a:moveTo>
                    <a:pt x="0" y="0"/>
                  </a:moveTo>
                  <a:lnTo>
                    <a:pt x="0" y="377687"/>
                  </a:lnTo>
                  <a:lnTo>
                    <a:pt x="1570382" y="377687"/>
                  </a:ln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A937965-6AEB-44AB-F911-6ABEFB8E0BAF}"/>
                </a:ext>
              </a:extLst>
            </p:cNvPr>
            <p:cNvCxnSpPr/>
            <p:nvPr/>
          </p:nvCxnSpPr>
          <p:spPr>
            <a:xfrm>
              <a:off x="8875642" y="583427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D9244D8-A162-4009-797E-6784D98FE27E}"/>
                </a:ext>
              </a:extLst>
            </p:cNvPr>
            <p:cNvSpPr txBox="1"/>
            <p:nvPr/>
          </p:nvSpPr>
          <p:spPr>
            <a:xfrm>
              <a:off x="7275443" y="3706445"/>
              <a:ext cx="3160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47675"/>
              <a:r>
                <a:rPr lang="zh-CN" altLang="en-US"/>
                <a:t>真</a:t>
              </a:r>
              <a:r>
                <a:rPr lang="en-US" altLang="zh-CN"/>
                <a:t>(</a:t>
              </a:r>
              <a:r>
                <a:rPr lang="zh-CN" altLang="en-US"/>
                <a:t>非</a:t>
              </a:r>
              <a:r>
                <a:rPr lang="en-US" altLang="zh-CN"/>
                <a:t>0)				   </a:t>
              </a:r>
              <a:r>
                <a:rPr lang="zh-CN" altLang="en-US"/>
                <a:t>假</a:t>
              </a:r>
              <a:r>
                <a:rPr lang="en-US" altLang="zh-CN"/>
                <a:t>(0)</a:t>
              </a:r>
              <a:endParaRPr lang="zh-CN" altLang="en-US"/>
            </a:p>
          </p:txBody>
        </p:sp>
      </p:grpSp>
      <p:sp>
        <p:nvSpPr>
          <p:cNvPr id="30" name="圆角矩形 30">
            <a:extLst>
              <a:ext uri="{FF2B5EF4-FFF2-40B4-BE49-F238E27FC236}">
                <a16:creationId xmlns:a16="http://schemas.microsoft.com/office/drawing/2014/main" id="{3835434D-314D-2B89-68FA-19C2AE90EF57}"/>
              </a:ext>
            </a:extLst>
          </p:cNvPr>
          <p:cNvSpPr/>
          <p:nvPr/>
        </p:nvSpPr>
        <p:spPr>
          <a:xfrm>
            <a:off x="5893905" y="2033005"/>
            <a:ext cx="5682207" cy="596239"/>
          </a:xfrm>
          <a:prstGeom prst="roundRect">
            <a:avLst>
              <a:gd name="adj" fmla="val 131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50000"/>
              </a:lnSpc>
            </a:pPr>
            <a:r>
              <a:rPr lang="en-US" altLang="zh-CN" sz="1600" dirty="0"/>
              <a:t>a&gt;b ? (max=a) : (max=b);  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表达式</a:t>
            </a:r>
            <a:r>
              <a:rPr lang="en-US" altLang="zh-CN" sz="1600" dirty="0">
                <a:solidFill>
                  <a:srgbClr val="008000"/>
                </a:solidFill>
              </a:rPr>
              <a:t>2</a:t>
            </a:r>
            <a:r>
              <a:rPr lang="zh-CN" altLang="en-US" sz="1600" dirty="0">
                <a:solidFill>
                  <a:srgbClr val="008000"/>
                </a:solidFill>
              </a:rPr>
              <a:t>和表达式</a:t>
            </a:r>
            <a:r>
              <a:rPr lang="en-US" altLang="zh-CN" sz="1600" dirty="0">
                <a:solidFill>
                  <a:srgbClr val="008000"/>
                </a:solidFill>
              </a:rPr>
              <a:t>3</a:t>
            </a:r>
            <a:r>
              <a:rPr lang="zh-CN" altLang="en-US" sz="1600" dirty="0">
                <a:solidFill>
                  <a:srgbClr val="008000"/>
                </a:solidFill>
              </a:rPr>
              <a:t>是赋值表达式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22742C5-DA2C-5714-EC2D-84487B796B02}"/>
              </a:ext>
            </a:extLst>
          </p:cNvPr>
          <p:cNvSpPr txBox="1"/>
          <p:nvPr/>
        </p:nvSpPr>
        <p:spPr>
          <a:xfrm>
            <a:off x="5456584" y="2176670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或</a:t>
            </a:r>
          </a:p>
        </p:txBody>
      </p:sp>
    </p:spTree>
    <p:extLst>
      <p:ext uri="{BB962C8B-B14F-4D97-AF65-F5344CB8AC3E}">
        <p14:creationId xmlns:p14="http://schemas.microsoft.com/office/powerpoint/2010/main" val="125757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CA7A-AD8C-AA37-3A81-6D1E1A24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96D7A94-D57D-6629-F315-E6B49D0BAE1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条件表达式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4945DC-8172-E89F-45C7-B03EF1B0DD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89115FC-3905-3B83-5DA8-206A56326FEC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条件表达式程序示例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F5F80A3-1DD0-2C4B-4219-2A343D359695}"/>
              </a:ext>
            </a:extLst>
          </p:cNvPr>
          <p:cNvSpPr txBox="1">
            <a:spLocks/>
          </p:cNvSpPr>
          <p:nvPr/>
        </p:nvSpPr>
        <p:spPr>
          <a:xfrm>
            <a:off x="410197" y="1066846"/>
            <a:ext cx="11165918" cy="82820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【</a:t>
            </a:r>
            <a:r>
              <a:rPr lang="zh-CN" altLang="en-US" sz="2000" b="1" dirty="0">
                <a:solidFill>
                  <a:schemeClr val="accent1"/>
                </a:solidFill>
              </a:rPr>
              <a:t>例</a:t>
            </a:r>
            <a:r>
              <a:rPr lang="en-US" altLang="zh-CN" sz="2000" b="1" dirty="0">
                <a:solidFill>
                  <a:schemeClr val="accent1"/>
                </a:solidFill>
              </a:rPr>
              <a:t>4.4】</a:t>
            </a:r>
            <a:r>
              <a:rPr lang="zh-CN" altLang="en-US" sz="2000" b="1" dirty="0">
                <a:solidFill>
                  <a:schemeClr val="accent1"/>
                </a:solidFill>
              </a:rPr>
              <a:t>输入一个字符，判别它是否为大写字母，如果是，将它转换成小写字母；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marL="88900" indent="-889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  </a:t>
            </a:r>
            <a:r>
              <a:rPr lang="zh-CN" altLang="en-US" sz="2000" b="1" dirty="0">
                <a:solidFill>
                  <a:schemeClr val="accent1"/>
                </a:solidFill>
              </a:rPr>
              <a:t>如果不是，不转换。然后输出最后得到的字符。</a:t>
            </a:r>
          </a:p>
        </p:txBody>
      </p:sp>
      <p:sp>
        <p:nvSpPr>
          <p:cNvPr id="10" name="圆角矩形 12">
            <a:extLst>
              <a:ext uri="{FF2B5EF4-FFF2-40B4-BE49-F238E27FC236}">
                <a16:creationId xmlns:a16="http://schemas.microsoft.com/office/drawing/2014/main" id="{29A80736-9DFF-7B04-1DC6-4EE1A70EF32F}"/>
              </a:ext>
            </a:extLst>
          </p:cNvPr>
          <p:cNvSpPr/>
          <p:nvPr/>
        </p:nvSpPr>
        <p:spPr>
          <a:xfrm>
            <a:off x="596359" y="2809777"/>
            <a:ext cx="5153992" cy="2903135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char ch;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("%</a:t>
            </a:r>
            <a:r>
              <a:rPr lang="en-US" altLang="zh-CN" sz="1600" dirty="0" err="1"/>
              <a:t>c",&amp;ch</a:t>
            </a:r>
            <a:r>
              <a:rPr lang="en-US" altLang="zh-CN" sz="16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ch=(ch&gt;='A'&amp;&amp;ch&lt;='Z')?(ch+32):ch;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("%c\</a:t>
            </a:r>
            <a:r>
              <a:rPr lang="en-US" altLang="zh-CN" sz="1600" dirty="0" err="1"/>
              <a:t>n",ch</a:t>
            </a:r>
            <a:r>
              <a:rPr lang="en-US" altLang="zh-CN" sz="16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}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7EB6F6-D015-6981-ED6F-95B9E7171F72}"/>
              </a:ext>
            </a:extLst>
          </p:cNvPr>
          <p:cNvSpPr/>
          <p:nvPr/>
        </p:nvSpPr>
        <p:spPr>
          <a:xfrm>
            <a:off x="595232" y="2085136"/>
            <a:ext cx="10781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解题思路</a:t>
            </a:r>
            <a:r>
              <a:rPr lang="en-US" altLang="zh-CN" b="1" dirty="0"/>
              <a:t>: </a:t>
            </a:r>
            <a:r>
              <a:rPr lang="zh-CN" altLang="en-US" dirty="0"/>
              <a:t> 用条件表达式来处理，当字母是大写时，转换成小写字母，否则不转换。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A2E9CE-091B-8C50-347B-1FD5A36E0FB3}"/>
              </a:ext>
            </a:extLst>
          </p:cNvPr>
          <p:cNvGrpSpPr/>
          <p:nvPr/>
        </p:nvGrpSpPr>
        <p:grpSpPr>
          <a:xfrm>
            <a:off x="6345313" y="4508127"/>
            <a:ext cx="4989986" cy="1817259"/>
            <a:chOff x="8050697" y="5019262"/>
            <a:chExt cx="4949071" cy="120478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" name="剪去单角的矩形 51">
              <a:extLst>
                <a:ext uri="{FF2B5EF4-FFF2-40B4-BE49-F238E27FC236}">
                  <a16:creationId xmlns:a16="http://schemas.microsoft.com/office/drawing/2014/main" id="{E8693858-781C-E236-555A-F0510C670D81}"/>
                </a:ext>
              </a:extLst>
            </p:cNvPr>
            <p:cNvSpPr/>
            <p:nvPr/>
          </p:nvSpPr>
          <p:spPr>
            <a:xfrm>
              <a:off x="8050697" y="5019262"/>
              <a:ext cx="4949071" cy="1204785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CB5221E7-0C51-13C2-CC24-426E4BB76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9A762DB-0677-6FEC-0595-FACF4D27099C}"/>
                </a:ext>
              </a:extLst>
            </p:cNvPr>
            <p:cNvSpPr txBox="1"/>
            <p:nvPr/>
          </p:nvSpPr>
          <p:spPr>
            <a:xfrm>
              <a:off x="8388005" y="5054496"/>
              <a:ext cx="4524214" cy="1040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</a:rPr>
                <a:t>条件表达式“</a:t>
              </a:r>
              <a:r>
                <a:rPr lang="en-US" altLang="zh-CN" sz="1600" dirty="0">
                  <a:solidFill>
                    <a:schemeClr val="bg1"/>
                  </a:solidFill>
                </a:rPr>
                <a:t>(ch&gt;='A'&amp;&amp;ch&lt;='Z')?(ch+32):ch”</a:t>
              </a:r>
              <a:r>
                <a:rPr lang="zh-CN" altLang="en-US" sz="1600" dirty="0">
                  <a:solidFill>
                    <a:schemeClr val="bg1"/>
                  </a:solidFill>
                </a:rPr>
                <a:t>的作用是</a:t>
              </a:r>
              <a:r>
                <a:rPr lang="en-US" altLang="zh-CN" sz="1600" dirty="0">
                  <a:solidFill>
                    <a:schemeClr val="bg1"/>
                  </a:solidFill>
                </a:rPr>
                <a:t>: </a:t>
              </a:r>
            </a:p>
            <a:p>
              <a:r>
                <a:rPr lang="zh-CN" altLang="en-US" sz="1600" dirty="0">
                  <a:solidFill>
                    <a:schemeClr val="bg1"/>
                  </a:solidFill>
                </a:rPr>
                <a:t>如果字符变量</a:t>
              </a:r>
              <a:r>
                <a:rPr lang="en-US" altLang="zh-CN" sz="1600" dirty="0">
                  <a:solidFill>
                    <a:schemeClr val="bg1"/>
                  </a:solidFill>
                </a:rPr>
                <a:t>ch</a:t>
              </a:r>
              <a:r>
                <a:rPr lang="zh-CN" altLang="en-US" sz="1600" dirty="0">
                  <a:solidFill>
                    <a:schemeClr val="bg1"/>
                  </a:solidFill>
                </a:rPr>
                <a:t>的值为大写字母，则条件表达式的值为</a:t>
              </a:r>
              <a:r>
                <a:rPr lang="en-US" altLang="zh-CN" sz="1600" dirty="0">
                  <a:solidFill>
                    <a:schemeClr val="bg1"/>
                  </a:solidFill>
                </a:rPr>
                <a:t>(ch+32)</a:t>
              </a:r>
              <a:r>
                <a:rPr lang="zh-CN" altLang="en-US" sz="1600" dirty="0">
                  <a:solidFill>
                    <a:schemeClr val="bg1"/>
                  </a:solidFill>
                </a:rPr>
                <a:t>，即相应的小写字母，</a:t>
              </a:r>
              <a:r>
                <a:rPr lang="en-US" altLang="zh-CN" sz="1600" dirty="0">
                  <a:solidFill>
                    <a:schemeClr val="bg1"/>
                  </a:solidFill>
                </a:rPr>
                <a:t>32</a:t>
              </a:r>
              <a:r>
                <a:rPr lang="zh-CN" altLang="en-US" sz="1600" dirty="0">
                  <a:solidFill>
                    <a:schemeClr val="bg1"/>
                  </a:solidFill>
                </a:rPr>
                <a:t>是小写字母和大写字母</a:t>
              </a:r>
              <a:r>
                <a:rPr lang="en-US" altLang="zh-CN" sz="1600" dirty="0">
                  <a:solidFill>
                    <a:schemeClr val="bg1"/>
                  </a:solidFill>
                </a:rPr>
                <a:t>ASCII</a:t>
              </a:r>
              <a:r>
                <a:rPr lang="zh-CN" altLang="en-US" sz="1600" dirty="0">
                  <a:solidFill>
                    <a:schemeClr val="bg1"/>
                  </a:solidFill>
                </a:rPr>
                <a:t>的差值。如果</a:t>
              </a:r>
              <a:r>
                <a:rPr lang="en-US" altLang="zh-CN" sz="1600" dirty="0">
                  <a:solidFill>
                    <a:schemeClr val="bg1"/>
                  </a:solidFill>
                </a:rPr>
                <a:t>ch</a:t>
              </a:r>
              <a:r>
                <a:rPr lang="zh-CN" altLang="en-US" sz="1600" dirty="0">
                  <a:solidFill>
                    <a:schemeClr val="bg1"/>
                  </a:solidFill>
                </a:rPr>
                <a:t>的值不是大写字母，则条件表达式的值为</a:t>
              </a:r>
              <a:r>
                <a:rPr lang="en-US" altLang="zh-CN" sz="1600" dirty="0">
                  <a:solidFill>
                    <a:schemeClr val="bg1"/>
                  </a:solidFill>
                </a:rPr>
                <a:t>ch</a:t>
              </a:r>
              <a:r>
                <a:rPr lang="zh-CN" altLang="en-US" sz="1600" dirty="0">
                  <a:solidFill>
                    <a:schemeClr val="bg1"/>
                  </a:solidFill>
                </a:rPr>
                <a:t>，即不进行转换。</a:t>
              </a:r>
              <a:endParaRPr lang="en-US" altLang="zh-CN" sz="1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589DA28C-C2A9-54F5-D3EA-7F437A82169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45312" y="2826608"/>
            <a:ext cx="4989986" cy="130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55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25937"/>
  <p:tag name="MH_LIBRARY" val="GRAPHIC"/>
  <p:tag name="MH_TYPE" val="Other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25937"/>
  <p:tag name="MH_LIBRARY" val="GRAPHIC"/>
  <p:tag name="MH_TYPE" val="Other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225937"/>
  <p:tag name="MH_LIBRARY" val="GRAPHIC"/>
  <p:tag name="MH_TYPE" val="Other"/>
  <p:tag name="MH_ORDER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230300"/>
  <p:tag name="MH_LIBRARY" val="GRAPHIC"/>
  <p:tag name="MH_TYPE" val="Text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230300"/>
  <p:tag name="MH_LIBRARY" val="GRAPHIC"/>
  <p:tag name="MH_TYPE" val="Other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230300"/>
  <p:tag name="MH_LIBRARY" val="GRAPHIC"/>
  <p:tag name="MH_TYPE" val="Text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230300"/>
  <p:tag name="MH_LIBRARY" val="GRAPHIC"/>
  <p:tag name="MH_TYPE" val="Other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230300"/>
  <p:tag name="MH_LIBRARY" val="GRAPHIC"/>
  <p:tag name="MH_TYPE" val="Text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230300"/>
  <p:tag name="MH_LIBRARY" val="GRAPHIC"/>
  <p:tag name="MH_TYPE" val="Other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15606"/>
  <p:tag name="MH_LIBRARY" val="GRAPHIC"/>
  <p:tag name="MH_TYPE" val="Text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15606"/>
  <p:tag name="MH_LIBRARY" val="GRAPHIC"/>
  <p:tag name="MH_TYPE" val="Other"/>
  <p:tag name="MH_ORDE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15606"/>
  <p:tag name="MH_LIBRARY" val="GRAPHIC"/>
  <p:tag name="MH_TYPE" val="Other"/>
  <p:tag name="MH_ORDER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15606"/>
  <p:tag name="MH_LIBRARY" val="GRAPHIC"/>
  <p:tag name="MH_TYPE" val="SubTitle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230300"/>
  <p:tag name="MH_LIBRARY" val="GRAPHIC"/>
  <p:tag name="MH_TYPE" val="Text"/>
  <p:tag name="MH_ORDER" val="1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1702</Words>
  <Application>Microsoft Office PowerPoint</Application>
  <PresentationFormat>宽屏</PresentationFormat>
  <Paragraphs>231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OPPOSans R</vt:lpstr>
      <vt:lpstr>百度综艺简体</vt:lpstr>
      <vt:lpstr>等线</vt:lpstr>
      <vt:lpstr>黑体</vt:lpstr>
      <vt:lpstr>思源黑体 CN Regular</vt:lpstr>
      <vt:lpstr>微软雅黑</vt:lpstr>
      <vt:lpstr>优设标题黑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晓刚 张</cp:lastModifiedBy>
  <cp:revision>50</cp:revision>
  <dcterms:created xsi:type="dcterms:W3CDTF">2026-05-06T02:15:00Z</dcterms:created>
  <dcterms:modified xsi:type="dcterms:W3CDTF">2026-05-27T12:01:39Z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