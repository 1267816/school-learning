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86" r:id="rId4"/>
    <p:sldId id="288" r:id="rId5"/>
    <p:sldId id="290" r:id="rId6"/>
    <p:sldId id="289" r:id="rId7"/>
    <p:sldId id="287" r:id="rId8"/>
    <p:sldId id="291" r:id="rId9"/>
    <p:sldId id="292" r:id="rId10"/>
    <p:sldId id="293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E2424-4A80-4946-884C-E6F1F6D82D4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912DB-F6CB-4352-B3B9-7A907E506F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85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1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4.png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3" Type="http://schemas.openxmlformats.org/officeDocument/2006/relationships/tags" Target="../tags/tag23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16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15.png"/><Relationship Id="rId5" Type="http://schemas.openxmlformats.org/officeDocument/2006/relationships/tags" Target="../tags/tag25.xml"/><Relationship Id="rId10" Type="http://schemas.openxmlformats.org/officeDocument/2006/relationships/image" Target="../media/image140.png"/><Relationship Id="rId4" Type="http://schemas.openxmlformats.org/officeDocument/2006/relationships/tags" Target="../tags/tag24.xml"/><Relationship Id="rId9" Type="http://schemas.openxmlformats.org/officeDocument/2006/relationships/image" Target="../media/image130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29.xml"/><Relationship Id="rId7" Type="http://schemas.openxmlformats.org/officeDocument/2006/relationships/image" Target="../media/image20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30.xml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5.wdp"/><Relationship Id="rId3" Type="http://schemas.openxmlformats.org/officeDocument/2006/relationships/image" Target="../media/image28.png"/><Relationship Id="rId7" Type="http://schemas.microsoft.com/office/2007/relationships/hdphoto" Target="../media/hdphoto3.wdp"/><Relationship Id="rId12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microsoft.com/office/2007/relationships/hdphoto" Target="../media/hdphoto4.wdp"/><Relationship Id="rId5" Type="http://schemas.openxmlformats.org/officeDocument/2006/relationships/image" Target="../media/image30.png"/><Relationship Id="rId10" Type="http://schemas.openxmlformats.org/officeDocument/2006/relationships/image" Target="../media/image32.png"/><Relationship Id="rId4" Type="http://schemas.openxmlformats.org/officeDocument/2006/relationships/image" Target="../media/image29.GIF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624330" y="2303780"/>
            <a:ext cx="2631440" cy="2631440"/>
          </a:xfrm>
          <a:prstGeom prst="ellipse">
            <a:avLst/>
          </a:prstGeom>
          <a:gradFill>
            <a:gsLst>
              <a:gs pos="71000">
                <a:schemeClr val="bg1"/>
              </a:gs>
              <a:gs pos="33000">
                <a:srgbClr val="F4FBFC"/>
              </a:gs>
              <a:gs pos="100000">
                <a:schemeClr val="bg2">
                  <a:alpha val="22000"/>
                  <a:lumMod val="68000"/>
                  <a:lumOff val="32000"/>
                </a:schemeClr>
              </a:gs>
              <a:gs pos="0">
                <a:schemeClr val="bg2">
                  <a:lumMod val="39000"/>
                  <a:lumOff val="61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3703" y="2303780"/>
            <a:ext cx="3288479" cy="3302029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342242" y="5303857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9341348" y="546391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 flipH="1">
            <a:off x="762000" y="0"/>
            <a:ext cx="1143000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5">
            <a:alphaModFix amt="19000"/>
          </a:blip>
          <a:stretch>
            <a:fillRect/>
          </a:stretch>
        </p:blipFill>
        <p:spPr>
          <a:xfrm>
            <a:off x="5308361" y="55890"/>
            <a:ext cx="7734858" cy="514894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6968988" y="5204833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4289305" y="2833469"/>
            <a:ext cx="772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循环结构程序设计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6075542" y="4082802"/>
            <a:ext cx="5122916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590795" y="1268356"/>
            <a:ext cx="2342308" cy="450892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9600">
                <a:gradFill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lin ang="6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700" dirty="0">
                <a:gradFill flip="none" rotWithShape="1"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5</a:t>
            </a:r>
            <a:endParaRPr kumimoji="0" lang="zh-CN" altLang="en-US" sz="287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alpha val="0"/>
                    </a:prstClr>
                  </a:gs>
                  <a:gs pos="47000">
                    <a:prstClr val="white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651979" y="1158515"/>
            <a:ext cx="471142" cy="471142"/>
            <a:chOff x="5800489" y="913200"/>
            <a:chExt cx="591022" cy="591022"/>
          </a:xfrm>
        </p:grpSpPr>
        <p:sp>
          <p:nvSpPr>
            <p:cNvPr id="7" name="图形 40"/>
            <p:cNvSpPr/>
            <p:nvPr/>
          </p:nvSpPr>
          <p:spPr>
            <a:xfrm>
              <a:off x="5900824" y="1050989"/>
              <a:ext cx="390352" cy="365098"/>
            </a:xfrm>
            <a:custGeom>
              <a:avLst/>
              <a:gdLst>
                <a:gd name="csX0" fmla="*/ 35354 w 494954"/>
                <a:gd name="csY0" fmla="*/ 494954 h 494954"/>
                <a:gd name="csX1" fmla="*/ 459600 w 494954"/>
                <a:gd name="csY1" fmla="*/ 494954 h 494954"/>
                <a:gd name="csX2" fmla="*/ 494954 w 494954"/>
                <a:gd name="csY2" fmla="*/ 459600 h 494954"/>
                <a:gd name="csX3" fmla="*/ 494954 w 494954"/>
                <a:gd name="csY3" fmla="*/ 35354 h 494954"/>
                <a:gd name="csX4" fmla="*/ 459600 w 494954"/>
                <a:gd name="csY4" fmla="*/ 0 h 494954"/>
                <a:gd name="csX5" fmla="*/ 35354 w 494954"/>
                <a:gd name="csY5" fmla="*/ 0 h 494954"/>
                <a:gd name="csX6" fmla="*/ 0 w 494954"/>
                <a:gd name="csY6" fmla="*/ 35354 h 494954"/>
                <a:gd name="csX7" fmla="*/ 0 w 494954"/>
                <a:gd name="csY7" fmla="*/ 459600 h 494954"/>
                <a:gd name="csX8" fmla="*/ 35354 w 494954"/>
                <a:gd name="csY8" fmla="*/ 494954 h 494954"/>
                <a:gd name="csX9" fmla="*/ 194500 w 494954"/>
                <a:gd name="csY9" fmla="*/ 361472 h 494954"/>
                <a:gd name="csX10" fmla="*/ 266023 w 494954"/>
                <a:gd name="csY10" fmla="*/ 124543 h 494954"/>
                <a:gd name="csX11" fmla="*/ 295626 w 494954"/>
                <a:gd name="csY11" fmla="*/ 133482 h 494954"/>
                <a:gd name="csX12" fmla="*/ 224137 w 494954"/>
                <a:gd name="csY12" fmla="*/ 370411 h 494954"/>
                <a:gd name="csX13" fmla="*/ 194500 w 494954"/>
                <a:gd name="csY13" fmla="*/ 361472 h 494954"/>
                <a:gd name="csX14" fmla="*/ 307352 w 494954"/>
                <a:gd name="csY14" fmla="*/ 332174 h 494954"/>
                <a:gd name="csX15" fmla="*/ 381036 w 494954"/>
                <a:gd name="csY15" fmla="*/ 262944 h 494954"/>
                <a:gd name="csX16" fmla="*/ 307352 w 494954"/>
                <a:gd name="csY16" fmla="*/ 193713 h 494954"/>
                <a:gd name="csX17" fmla="*/ 331914 w 494954"/>
                <a:gd name="csY17" fmla="*/ 170635 h 494954"/>
                <a:gd name="csX18" fmla="*/ 405600 w 494954"/>
                <a:gd name="csY18" fmla="*/ 239867 h 494954"/>
                <a:gd name="csX19" fmla="*/ 430163 w 494954"/>
                <a:gd name="csY19" fmla="*/ 262944 h 494954"/>
                <a:gd name="csX20" fmla="*/ 405601 w 494954"/>
                <a:gd name="csY20" fmla="*/ 286024 h 494954"/>
                <a:gd name="csX21" fmla="*/ 331914 w 494954"/>
                <a:gd name="csY21" fmla="*/ 355253 h 494954"/>
                <a:gd name="csX22" fmla="*/ 307352 w 494954"/>
                <a:gd name="csY22" fmla="*/ 332174 h 494954"/>
                <a:gd name="csX23" fmla="*/ 86664 w 494954"/>
                <a:gd name="csY23" fmla="*/ 284816 h 494954"/>
                <a:gd name="csX24" fmla="*/ 64792 w 494954"/>
                <a:gd name="csY24" fmla="*/ 262944 h 494954"/>
                <a:gd name="csX25" fmla="*/ 86664 w 494954"/>
                <a:gd name="csY25" fmla="*/ 241075 h 494954"/>
                <a:gd name="csX26" fmla="*/ 152276 w 494954"/>
                <a:gd name="csY26" fmla="*/ 175461 h 494954"/>
                <a:gd name="csX27" fmla="*/ 174145 w 494954"/>
                <a:gd name="csY27" fmla="*/ 197333 h 494954"/>
                <a:gd name="csX28" fmla="*/ 108534 w 494954"/>
                <a:gd name="csY28" fmla="*/ 262944 h 494954"/>
                <a:gd name="csX29" fmla="*/ 174145 w 494954"/>
                <a:gd name="csY29" fmla="*/ 328558 h 494954"/>
                <a:gd name="csX30" fmla="*/ 152275 w 494954"/>
                <a:gd name="csY30" fmla="*/ 350428 h 494954"/>
                <a:gd name="csX31" fmla="*/ 86664 w 494954"/>
                <a:gd name="csY31" fmla="*/ 284816 h 49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94954" h="494954">
                  <a:moveTo>
                    <a:pt x="35354" y="494954"/>
                  </a:moveTo>
                  <a:lnTo>
                    <a:pt x="459600" y="494954"/>
                  </a:lnTo>
                  <a:cubicBezTo>
                    <a:pt x="479126" y="494954"/>
                    <a:pt x="494954" y="479126"/>
                    <a:pt x="494954" y="459600"/>
                  </a:cubicBezTo>
                  <a:lnTo>
                    <a:pt x="494954" y="35354"/>
                  </a:lnTo>
                  <a:cubicBezTo>
                    <a:pt x="494954" y="15829"/>
                    <a:pt x="479126" y="0"/>
                    <a:pt x="459600" y="0"/>
                  </a:cubicBezTo>
                  <a:lnTo>
                    <a:pt x="35354" y="0"/>
                  </a:lnTo>
                  <a:cubicBezTo>
                    <a:pt x="15829" y="0"/>
                    <a:pt x="0" y="15829"/>
                    <a:pt x="0" y="35354"/>
                  </a:cubicBezTo>
                  <a:lnTo>
                    <a:pt x="0" y="459600"/>
                  </a:lnTo>
                  <a:cubicBezTo>
                    <a:pt x="0" y="479126"/>
                    <a:pt x="15829" y="494954"/>
                    <a:pt x="35354" y="494954"/>
                  </a:cubicBezTo>
                  <a:close/>
                  <a:moveTo>
                    <a:pt x="194500" y="361472"/>
                  </a:moveTo>
                  <a:lnTo>
                    <a:pt x="266023" y="124543"/>
                  </a:lnTo>
                  <a:lnTo>
                    <a:pt x="295626" y="133482"/>
                  </a:lnTo>
                  <a:lnTo>
                    <a:pt x="224137" y="370411"/>
                  </a:lnTo>
                  <a:lnTo>
                    <a:pt x="194500" y="361472"/>
                  </a:lnTo>
                  <a:close/>
                  <a:moveTo>
                    <a:pt x="307352" y="332174"/>
                  </a:moveTo>
                  <a:lnTo>
                    <a:pt x="381036" y="262944"/>
                  </a:lnTo>
                  <a:lnTo>
                    <a:pt x="307352" y="193713"/>
                  </a:lnTo>
                  <a:lnTo>
                    <a:pt x="331914" y="170635"/>
                  </a:lnTo>
                  <a:lnTo>
                    <a:pt x="405600" y="239867"/>
                  </a:lnTo>
                  <a:lnTo>
                    <a:pt x="430163" y="262944"/>
                  </a:lnTo>
                  <a:lnTo>
                    <a:pt x="405601" y="286024"/>
                  </a:lnTo>
                  <a:lnTo>
                    <a:pt x="331914" y="355253"/>
                  </a:lnTo>
                  <a:lnTo>
                    <a:pt x="307352" y="332174"/>
                  </a:lnTo>
                  <a:close/>
                  <a:moveTo>
                    <a:pt x="86664" y="284816"/>
                  </a:moveTo>
                  <a:lnTo>
                    <a:pt x="64792" y="262944"/>
                  </a:lnTo>
                  <a:lnTo>
                    <a:pt x="86664" y="241075"/>
                  </a:lnTo>
                  <a:lnTo>
                    <a:pt x="152276" y="175461"/>
                  </a:lnTo>
                  <a:lnTo>
                    <a:pt x="174145" y="197333"/>
                  </a:lnTo>
                  <a:lnTo>
                    <a:pt x="108534" y="262944"/>
                  </a:lnTo>
                  <a:lnTo>
                    <a:pt x="174145" y="328558"/>
                  </a:lnTo>
                  <a:lnTo>
                    <a:pt x="152275" y="350428"/>
                  </a:lnTo>
                  <a:lnTo>
                    <a:pt x="86664" y="284816"/>
                  </a:ln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54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图片 8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800489" y="913200"/>
              <a:ext cx="591022" cy="591022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354518" y="1570536"/>
            <a:ext cx="637029" cy="637029"/>
            <a:chOff x="5332525" y="-777658"/>
            <a:chExt cx="637029" cy="637029"/>
          </a:xfrm>
        </p:grpSpPr>
        <p:sp>
          <p:nvSpPr>
            <p:cNvPr id="12" name="任意多边形: 形状 11"/>
            <p:cNvSpPr/>
            <p:nvPr/>
          </p:nvSpPr>
          <p:spPr>
            <a:xfrm>
              <a:off x="5455291" y="-648875"/>
              <a:ext cx="394126" cy="394081"/>
            </a:xfrm>
            <a:custGeom>
              <a:avLst/>
              <a:gdLst>
                <a:gd name="csX0" fmla="*/ 228229 w 358158"/>
                <a:gd name="csY0" fmla="*/ 299177 h 358117"/>
                <a:gd name="csX1" fmla="*/ 222141 w 358158"/>
                <a:gd name="csY1" fmla="*/ 300371 h 358117"/>
                <a:gd name="csX2" fmla="*/ 217241 w 358158"/>
                <a:gd name="csY2" fmla="*/ 303803 h 358117"/>
                <a:gd name="csX3" fmla="*/ 213826 w 358158"/>
                <a:gd name="csY3" fmla="*/ 308727 h 358117"/>
                <a:gd name="csX4" fmla="*/ 212638 w 358158"/>
                <a:gd name="csY4" fmla="*/ 314845 h 358117"/>
                <a:gd name="csX5" fmla="*/ 213826 w 358158"/>
                <a:gd name="csY5" fmla="*/ 320963 h 358117"/>
                <a:gd name="csX6" fmla="*/ 217241 w 358158"/>
                <a:gd name="csY6" fmla="*/ 325887 h 358117"/>
                <a:gd name="csX7" fmla="*/ 222141 w 358158"/>
                <a:gd name="csY7" fmla="*/ 329319 h 358117"/>
                <a:gd name="csX8" fmla="*/ 228229 w 358158"/>
                <a:gd name="csY8" fmla="*/ 330512 h 358117"/>
                <a:gd name="csX9" fmla="*/ 234317 w 358158"/>
                <a:gd name="csY9" fmla="*/ 329319 h 358117"/>
                <a:gd name="csX10" fmla="*/ 239217 w 358158"/>
                <a:gd name="csY10" fmla="*/ 325887 h 358117"/>
                <a:gd name="csX11" fmla="*/ 242633 w 358158"/>
                <a:gd name="csY11" fmla="*/ 320963 h 358117"/>
                <a:gd name="csX12" fmla="*/ 243821 w 358158"/>
                <a:gd name="csY12" fmla="*/ 314845 h 358117"/>
                <a:gd name="csX13" fmla="*/ 242633 w 358158"/>
                <a:gd name="csY13" fmla="*/ 308727 h 358117"/>
                <a:gd name="csX14" fmla="*/ 239217 w 358158"/>
                <a:gd name="csY14" fmla="*/ 303803 h 358117"/>
                <a:gd name="csX15" fmla="*/ 234317 w 358158"/>
                <a:gd name="csY15" fmla="*/ 300371 h 358117"/>
                <a:gd name="csX16" fmla="*/ 277083 w 358158"/>
                <a:gd name="csY16" fmla="*/ 90574 h 358117"/>
                <a:gd name="csX17" fmla="*/ 308117 w 358158"/>
                <a:gd name="csY17" fmla="*/ 90574 h 358117"/>
                <a:gd name="csX18" fmla="*/ 310196 w 358158"/>
                <a:gd name="csY18" fmla="*/ 90723 h 358117"/>
                <a:gd name="csX19" fmla="*/ 313314 w 358158"/>
                <a:gd name="csY19" fmla="*/ 91171 h 358117"/>
                <a:gd name="csX20" fmla="*/ 317472 w 358158"/>
                <a:gd name="csY20" fmla="*/ 92066 h 358117"/>
                <a:gd name="csX21" fmla="*/ 322224 w 358158"/>
                <a:gd name="csY21" fmla="*/ 93857 h 358117"/>
                <a:gd name="csX22" fmla="*/ 327421 w 358158"/>
                <a:gd name="csY22" fmla="*/ 96543 h 358117"/>
                <a:gd name="csX23" fmla="*/ 332766 w 358158"/>
                <a:gd name="csY23" fmla="*/ 100571 h 358117"/>
                <a:gd name="csX24" fmla="*/ 338112 w 358158"/>
                <a:gd name="csY24" fmla="*/ 105794 h 358117"/>
                <a:gd name="csX25" fmla="*/ 343309 w 358158"/>
                <a:gd name="csY25" fmla="*/ 112807 h 358117"/>
                <a:gd name="csX26" fmla="*/ 348061 w 358158"/>
                <a:gd name="csY26" fmla="*/ 121611 h 358117"/>
                <a:gd name="csX27" fmla="*/ 352219 w 358158"/>
                <a:gd name="csY27" fmla="*/ 132504 h 358117"/>
                <a:gd name="csX28" fmla="*/ 355337 w 358158"/>
                <a:gd name="csY28" fmla="*/ 145634 h 358117"/>
                <a:gd name="csX29" fmla="*/ 357416 w 358158"/>
                <a:gd name="csY29" fmla="*/ 161153 h 358117"/>
                <a:gd name="csX30" fmla="*/ 358158 w 358158"/>
                <a:gd name="csY30" fmla="*/ 179506 h 358117"/>
                <a:gd name="csX31" fmla="*/ 357267 w 358158"/>
                <a:gd name="csY31" fmla="*/ 197860 h 358117"/>
                <a:gd name="csX32" fmla="*/ 354891 w 358158"/>
                <a:gd name="csY32" fmla="*/ 213378 h 358117"/>
                <a:gd name="csX33" fmla="*/ 351328 w 358158"/>
                <a:gd name="csY33" fmla="*/ 226211 h 358117"/>
                <a:gd name="csX34" fmla="*/ 346576 w 358158"/>
                <a:gd name="csY34" fmla="*/ 236805 h 358117"/>
                <a:gd name="csX35" fmla="*/ 341230 w 358158"/>
                <a:gd name="csY35" fmla="*/ 245310 h 358117"/>
                <a:gd name="csX36" fmla="*/ 335291 w 358158"/>
                <a:gd name="csY36" fmla="*/ 252025 h 358117"/>
                <a:gd name="csX37" fmla="*/ 329054 w 358158"/>
                <a:gd name="csY37" fmla="*/ 256949 h 358117"/>
                <a:gd name="csX38" fmla="*/ 322818 w 358158"/>
                <a:gd name="csY38" fmla="*/ 260530 h 358117"/>
                <a:gd name="csX39" fmla="*/ 316878 w 358158"/>
                <a:gd name="csY39" fmla="*/ 262918 h 358117"/>
                <a:gd name="csX40" fmla="*/ 311532 w 358158"/>
                <a:gd name="csY40" fmla="*/ 264261 h 358117"/>
                <a:gd name="csX41" fmla="*/ 306781 w 358158"/>
                <a:gd name="csY41" fmla="*/ 265007 h 358117"/>
                <a:gd name="csX42" fmla="*/ 303217 w 358158"/>
                <a:gd name="csY42" fmla="*/ 265305 h 358117"/>
                <a:gd name="csX43" fmla="*/ 300841 w 358158"/>
                <a:gd name="csY43" fmla="*/ 265156 h 358117"/>
                <a:gd name="csX44" fmla="*/ 178782 w 358158"/>
                <a:gd name="csY44" fmla="*/ 265156 h 358117"/>
                <a:gd name="csX45" fmla="*/ 178782 w 358158"/>
                <a:gd name="csY45" fmla="*/ 277392 h 358117"/>
                <a:gd name="csX46" fmla="*/ 265500 w 358158"/>
                <a:gd name="csY46" fmla="*/ 277392 h 358117"/>
                <a:gd name="csX47" fmla="*/ 265649 w 358158"/>
                <a:gd name="csY47" fmla="*/ 318575 h 358117"/>
                <a:gd name="csX48" fmla="*/ 265946 w 358158"/>
                <a:gd name="csY48" fmla="*/ 323947 h 358117"/>
                <a:gd name="csX49" fmla="*/ 265203 w 358158"/>
                <a:gd name="csY49" fmla="*/ 329020 h 358117"/>
                <a:gd name="csX50" fmla="*/ 263570 w 358158"/>
                <a:gd name="csY50" fmla="*/ 333646 h 358117"/>
                <a:gd name="csX51" fmla="*/ 261046 w 358158"/>
                <a:gd name="csY51" fmla="*/ 337973 h 358117"/>
                <a:gd name="csX52" fmla="*/ 257333 w 358158"/>
                <a:gd name="csY52" fmla="*/ 341704 h 358117"/>
                <a:gd name="csX53" fmla="*/ 252730 w 358158"/>
                <a:gd name="csY53" fmla="*/ 345285 h 358117"/>
                <a:gd name="csX54" fmla="*/ 247087 w 358158"/>
                <a:gd name="csY54" fmla="*/ 348269 h 358117"/>
                <a:gd name="csX55" fmla="*/ 240554 w 358158"/>
                <a:gd name="csY55" fmla="*/ 350806 h 358117"/>
                <a:gd name="csX56" fmla="*/ 232981 w 358158"/>
                <a:gd name="csY56" fmla="*/ 353044 h 358117"/>
                <a:gd name="csX57" fmla="*/ 224368 w 358158"/>
                <a:gd name="csY57" fmla="*/ 354984 h 358117"/>
                <a:gd name="csX58" fmla="*/ 214865 w 358158"/>
                <a:gd name="csY58" fmla="*/ 356327 h 358117"/>
                <a:gd name="csX59" fmla="*/ 204322 w 358158"/>
                <a:gd name="csY59" fmla="*/ 357371 h 358117"/>
                <a:gd name="csX60" fmla="*/ 192888 w 358158"/>
                <a:gd name="csY60" fmla="*/ 357968 h 358117"/>
                <a:gd name="csX61" fmla="*/ 180415 w 358158"/>
                <a:gd name="csY61" fmla="*/ 358117 h 358117"/>
                <a:gd name="csX62" fmla="*/ 161557 w 358158"/>
                <a:gd name="csY62" fmla="*/ 357520 h 358117"/>
                <a:gd name="csX63" fmla="*/ 145669 w 358158"/>
                <a:gd name="csY63" fmla="*/ 355431 h 358117"/>
                <a:gd name="csX64" fmla="*/ 132304 w 358158"/>
                <a:gd name="csY64" fmla="*/ 352447 h 358117"/>
                <a:gd name="csX65" fmla="*/ 121465 w 358158"/>
                <a:gd name="csY65" fmla="*/ 348717 h 358117"/>
                <a:gd name="csX66" fmla="*/ 112704 w 358158"/>
                <a:gd name="csY66" fmla="*/ 344240 h 358117"/>
                <a:gd name="csX67" fmla="*/ 106022 w 358158"/>
                <a:gd name="csY67" fmla="*/ 339316 h 358117"/>
                <a:gd name="csX68" fmla="*/ 100973 w 358158"/>
                <a:gd name="csY68" fmla="*/ 334243 h 358117"/>
                <a:gd name="csX69" fmla="*/ 97261 w 358158"/>
                <a:gd name="csY69" fmla="*/ 329169 h 358117"/>
                <a:gd name="csX70" fmla="*/ 94885 w 358158"/>
                <a:gd name="csY70" fmla="*/ 324245 h 358117"/>
                <a:gd name="csX71" fmla="*/ 93400 w 358158"/>
                <a:gd name="csY71" fmla="*/ 319769 h 358117"/>
                <a:gd name="csX72" fmla="*/ 92806 w 358158"/>
                <a:gd name="csY72" fmla="*/ 316039 h 358117"/>
                <a:gd name="csX73" fmla="*/ 92509 w 358158"/>
                <a:gd name="csY73" fmla="*/ 313054 h 358117"/>
                <a:gd name="csX74" fmla="*/ 92657 w 358158"/>
                <a:gd name="csY74" fmla="*/ 311114 h 358117"/>
                <a:gd name="csX75" fmla="*/ 92657 w 358158"/>
                <a:gd name="csY75" fmla="*/ 231433 h 358117"/>
                <a:gd name="csX76" fmla="*/ 93400 w 358158"/>
                <a:gd name="csY76" fmla="*/ 221884 h 358117"/>
                <a:gd name="csX77" fmla="*/ 95330 w 358158"/>
                <a:gd name="csY77" fmla="*/ 213826 h 358117"/>
                <a:gd name="csX78" fmla="*/ 98449 w 358158"/>
                <a:gd name="csY78" fmla="*/ 206962 h 358117"/>
                <a:gd name="csX79" fmla="*/ 102309 w 358158"/>
                <a:gd name="csY79" fmla="*/ 201292 h 358117"/>
                <a:gd name="csX80" fmla="*/ 106764 w 358158"/>
                <a:gd name="csY80" fmla="*/ 196517 h 358117"/>
                <a:gd name="csX81" fmla="*/ 111664 w 358158"/>
                <a:gd name="csY81" fmla="*/ 192936 h 358117"/>
                <a:gd name="csX82" fmla="*/ 116861 w 358158"/>
                <a:gd name="csY82" fmla="*/ 189951 h 358117"/>
                <a:gd name="csX83" fmla="*/ 122059 w 358158"/>
                <a:gd name="csY83" fmla="*/ 187862 h 358117"/>
                <a:gd name="csX84" fmla="*/ 126959 w 358158"/>
                <a:gd name="csY84" fmla="*/ 186370 h 358117"/>
                <a:gd name="csX85" fmla="*/ 131413 w 358158"/>
                <a:gd name="csY85" fmla="*/ 185475 h 358117"/>
                <a:gd name="csX86" fmla="*/ 135274 w 358158"/>
                <a:gd name="csY86" fmla="*/ 184878 h 358117"/>
                <a:gd name="csX87" fmla="*/ 138393 w 358158"/>
                <a:gd name="csY87" fmla="*/ 184580 h 358117"/>
                <a:gd name="csX88" fmla="*/ 140323 w 358158"/>
                <a:gd name="csY88" fmla="*/ 184430 h 358117"/>
                <a:gd name="csX89" fmla="*/ 227041 w 358158"/>
                <a:gd name="csY89" fmla="*/ 184430 h 358117"/>
                <a:gd name="csX90" fmla="*/ 237287 w 358158"/>
                <a:gd name="csY90" fmla="*/ 183684 h 358117"/>
                <a:gd name="csX91" fmla="*/ 246048 w 358158"/>
                <a:gd name="csY91" fmla="*/ 181595 h 358117"/>
                <a:gd name="csX92" fmla="*/ 253473 w 358158"/>
                <a:gd name="csY92" fmla="*/ 178462 h 358117"/>
                <a:gd name="csX93" fmla="*/ 259561 w 358158"/>
                <a:gd name="csY93" fmla="*/ 174284 h 358117"/>
                <a:gd name="csX94" fmla="*/ 264461 w 358158"/>
                <a:gd name="csY94" fmla="*/ 169509 h 358117"/>
                <a:gd name="csX95" fmla="*/ 268470 w 358158"/>
                <a:gd name="csY95" fmla="*/ 164286 h 358117"/>
                <a:gd name="csX96" fmla="*/ 271440 w 358158"/>
                <a:gd name="csY96" fmla="*/ 158915 h 358117"/>
                <a:gd name="csX97" fmla="*/ 273667 w 358158"/>
                <a:gd name="csY97" fmla="*/ 153543 h 358117"/>
                <a:gd name="csX98" fmla="*/ 275152 w 358158"/>
                <a:gd name="csY98" fmla="*/ 148320 h 358117"/>
                <a:gd name="csX99" fmla="*/ 276192 w 358158"/>
                <a:gd name="csY99" fmla="*/ 143545 h 358117"/>
                <a:gd name="csX100" fmla="*/ 276786 w 358158"/>
                <a:gd name="csY100" fmla="*/ 139367 h 358117"/>
                <a:gd name="csX101" fmla="*/ 277083 w 358158"/>
                <a:gd name="csY101" fmla="*/ 136234 h 358117"/>
                <a:gd name="csX102" fmla="*/ 129929 w 358158"/>
                <a:gd name="csY102" fmla="*/ 27605 h 358117"/>
                <a:gd name="csX103" fmla="*/ 123841 w 358158"/>
                <a:gd name="csY103" fmla="*/ 28948 h 358117"/>
                <a:gd name="csX104" fmla="*/ 118941 w 358158"/>
                <a:gd name="csY104" fmla="*/ 32231 h 358117"/>
                <a:gd name="csX105" fmla="*/ 115526 w 358158"/>
                <a:gd name="csY105" fmla="*/ 37155 h 358117"/>
                <a:gd name="csX106" fmla="*/ 114338 w 358158"/>
                <a:gd name="csY106" fmla="*/ 43272 h 358117"/>
                <a:gd name="csX107" fmla="*/ 115526 w 358158"/>
                <a:gd name="csY107" fmla="*/ 49390 h 358117"/>
                <a:gd name="csX108" fmla="*/ 118941 w 358158"/>
                <a:gd name="csY108" fmla="*/ 54464 h 358117"/>
                <a:gd name="csX109" fmla="*/ 123841 w 358158"/>
                <a:gd name="csY109" fmla="*/ 57746 h 358117"/>
                <a:gd name="csX110" fmla="*/ 129929 w 358158"/>
                <a:gd name="csY110" fmla="*/ 59089 h 358117"/>
                <a:gd name="csX111" fmla="*/ 136017 w 358158"/>
                <a:gd name="csY111" fmla="*/ 57746 h 358117"/>
                <a:gd name="csX112" fmla="*/ 140917 w 358158"/>
                <a:gd name="csY112" fmla="*/ 54464 h 358117"/>
                <a:gd name="csX113" fmla="*/ 144333 w 358158"/>
                <a:gd name="csY113" fmla="*/ 49390 h 358117"/>
                <a:gd name="csX114" fmla="*/ 145521 w 358158"/>
                <a:gd name="csY114" fmla="*/ 43272 h 358117"/>
                <a:gd name="csX115" fmla="*/ 144333 w 358158"/>
                <a:gd name="csY115" fmla="*/ 37155 h 358117"/>
                <a:gd name="csX116" fmla="*/ 140917 w 358158"/>
                <a:gd name="csY116" fmla="*/ 32231 h 358117"/>
                <a:gd name="csX117" fmla="*/ 136017 w 358158"/>
                <a:gd name="csY117" fmla="*/ 28948 h 358117"/>
                <a:gd name="csX118" fmla="*/ 177743 w 358158"/>
                <a:gd name="csY118" fmla="*/ 0 h 358117"/>
                <a:gd name="csX119" fmla="*/ 196601 w 358158"/>
                <a:gd name="csY119" fmla="*/ 746 h 358117"/>
                <a:gd name="csX120" fmla="*/ 212490 w 358158"/>
                <a:gd name="csY120" fmla="*/ 2686 h 358117"/>
                <a:gd name="csX121" fmla="*/ 225854 w 358158"/>
                <a:gd name="csY121" fmla="*/ 5670 h 358117"/>
                <a:gd name="csX122" fmla="*/ 236694 w 358158"/>
                <a:gd name="csY122" fmla="*/ 9550 h 358117"/>
                <a:gd name="csX123" fmla="*/ 245455 w 358158"/>
                <a:gd name="csY123" fmla="*/ 14026 h 358117"/>
                <a:gd name="csX124" fmla="*/ 252137 w 358158"/>
                <a:gd name="csY124" fmla="*/ 18801 h 358117"/>
                <a:gd name="csX125" fmla="*/ 257185 w 358158"/>
                <a:gd name="csY125" fmla="*/ 23874 h 358117"/>
                <a:gd name="csX126" fmla="*/ 260898 w 358158"/>
                <a:gd name="csY126" fmla="*/ 28948 h 358117"/>
                <a:gd name="csX127" fmla="*/ 263273 w 358158"/>
                <a:gd name="csY127" fmla="*/ 33872 h 358117"/>
                <a:gd name="csX128" fmla="*/ 264758 w 358158"/>
                <a:gd name="csY128" fmla="*/ 38348 h 358117"/>
                <a:gd name="csX129" fmla="*/ 265352 w 358158"/>
                <a:gd name="csY129" fmla="*/ 42228 h 358117"/>
                <a:gd name="csX130" fmla="*/ 265649 w 358158"/>
                <a:gd name="csY130" fmla="*/ 45212 h 358117"/>
                <a:gd name="csX131" fmla="*/ 265501 w 358158"/>
                <a:gd name="csY131" fmla="*/ 47152 h 358117"/>
                <a:gd name="csX132" fmla="*/ 265501 w 358158"/>
                <a:gd name="csY132" fmla="*/ 126833 h 358117"/>
                <a:gd name="csX133" fmla="*/ 264758 w 358158"/>
                <a:gd name="csY133" fmla="*/ 136234 h 358117"/>
                <a:gd name="csX134" fmla="*/ 262828 w 358158"/>
                <a:gd name="csY134" fmla="*/ 144441 h 358117"/>
                <a:gd name="csX135" fmla="*/ 259710 w 358158"/>
                <a:gd name="csY135" fmla="*/ 151304 h 358117"/>
                <a:gd name="csX136" fmla="*/ 255849 w 358158"/>
                <a:gd name="csY136" fmla="*/ 156975 h 358117"/>
                <a:gd name="csX137" fmla="*/ 251394 w 358158"/>
                <a:gd name="csY137" fmla="*/ 161600 h 358117"/>
                <a:gd name="csX138" fmla="*/ 246494 w 358158"/>
                <a:gd name="csY138" fmla="*/ 165331 h 358117"/>
                <a:gd name="csX139" fmla="*/ 241297 w 358158"/>
                <a:gd name="csY139" fmla="*/ 168166 h 358117"/>
                <a:gd name="csX140" fmla="*/ 236100 w 358158"/>
                <a:gd name="csY140" fmla="*/ 170255 h 358117"/>
                <a:gd name="csX141" fmla="*/ 231200 w 358158"/>
                <a:gd name="csY141" fmla="*/ 171747 h 358117"/>
                <a:gd name="csX142" fmla="*/ 226745 w 358158"/>
                <a:gd name="csY142" fmla="*/ 172791 h 358117"/>
                <a:gd name="csX143" fmla="*/ 222884 w 358158"/>
                <a:gd name="csY143" fmla="*/ 173388 h 358117"/>
                <a:gd name="csX144" fmla="*/ 219766 w 358158"/>
                <a:gd name="csY144" fmla="*/ 173687 h 358117"/>
                <a:gd name="csX145" fmla="*/ 131117 w 358158"/>
                <a:gd name="csY145" fmla="*/ 173687 h 358117"/>
                <a:gd name="csX146" fmla="*/ 120871 w 358158"/>
                <a:gd name="csY146" fmla="*/ 174433 h 358117"/>
                <a:gd name="csX147" fmla="*/ 112110 w 358158"/>
                <a:gd name="csY147" fmla="*/ 176522 h 358117"/>
                <a:gd name="csX148" fmla="*/ 104686 w 358158"/>
                <a:gd name="csY148" fmla="*/ 179805 h 358117"/>
                <a:gd name="csX149" fmla="*/ 98598 w 358158"/>
                <a:gd name="csY149" fmla="*/ 183833 h 358117"/>
                <a:gd name="csX150" fmla="*/ 93697 w 358158"/>
                <a:gd name="csY150" fmla="*/ 188608 h 358117"/>
                <a:gd name="csX151" fmla="*/ 89688 w 358158"/>
                <a:gd name="csY151" fmla="*/ 193831 h 358117"/>
                <a:gd name="csX152" fmla="*/ 86718 w 358158"/>
                <a:gd name="csY152" fmla="*/ 199203 h 358117"/>
                <a:gd name="csX153" fmla="*/ 84491 w 358158"/>
                <a:gd name="csY153" fmla="*/ 204724 h 358117"/>
                <a:gd name="csX154" fmla="*/ 83006 w 358158"/>
                <a:gd name="csY154" fmla="*/ 209946 h 358117"/>
                <a:gd name="csX155" fmla="*/ 81967 w 358158"/>
                <a:gd name="csY155" fmla="*/ 214721 h 358117"/>
                <a:gd name="csX156" fmla="*/ 81373 w 358158"/>
                <a:gd name="csY156" fmla="*/ 218750 h 358117"/>
                <a:gd name="csX157" fmla="*/ 81076 w 358158"/>
                <a:gd name="csY157" fmla="*/ 221883 h 358117"/>
                <a:gd name="csX158" fmla="*/ 81076 w 358158"/>
                <a:gd name="csY158" fmla="*/ 267543 h 358117"/>
                <a:gd name="csX159" fmla="*/ 47962 w 358158"/>
                <a:gd name="csY159" fmla="*/ 267543 h 358117"/>
                <a:gd name="csX160" fmla="*/ 44844 w 358158"/>
                <a:gd name="csY160" fmla="*/ 267096 h 358117"/>
                <a:gd name="csX161" fmla="*/ 40686 w 358158"/>
                <a:gd name="csY161" fmla="*/ 266051 h 358117"/>
                <a:gd name="csX162" fmla="*/ 35935 w 358158"/>
                <a:gd name="csY162" fmla="*/ 264261 h 358117"/>
                <a:gd name="csX163" fmla="*/ 30738 w 358158"/>
                <a:gd name="csY163" fmla="*/ 261575 h 358117"/>
                <a:gd name="csX164" fmla="*/ 25392 w 358158"/>
                <a:gd name="csY164" fmla="*/ 257695 h 358117"/>
                <a:gd name="csX165" fmla="*/ 20046 w 358158"/>
                <a:gd name="csY165" fmla="*/ 252323 h 358117"/>
                <a:gd name="csX166" fmla="*/ 14849 w 358158"/>
                <a:gd name="csY166" fmla="*/ 245459 h 358117"/>
                <a:gd name="csX167" fmla="*/ 10097 w 358158"/>
                <a:gd name="csY167" fmla="*/ 236656 h 358117"/>
                <a:gd name="csX168" fmla="*/ 5940 w 358158"/>
                <a:gd name="csY168" fmla="*/ 225763 h 358117"/>
                <a:gd name="csX169" fmla="*/ 2821 w 358158"/>
                <a:gd name="csY169" fmla="*/ 212632 h 358117"/>
                <a:gd name="csX170" fmla="*/ 742 w 358158"/>
                <a:gd name="csY170" fmla="*/ 196964 h 358117"/>
                <a:gd name="csX171" fmla="*/ 0 w 358158"/>
                <a:gd name="csY171" fmla="*/ 178611 h 358117"/>
                <a:gd name="csX172" fmla="*/ 891 w 358158"/>
                <a:gd name="csY172" fmla="*/ 160407 h 358117"/>
                <a:gd name="csX173" fmla="*/ 3267 w 358158"/>
                <a:gd name="csY173" fmla="*/ 144888 h 358117"/>
                <a:gd name="csX174" fmla="*/ 6831 w 358158"/>
                <a:gd name="csY174" fmla="*/ 131906 h 358117"/>
                <a:gd name="csX175" fmla="*/ 11582 w 358158"/>
                <a:gd name="csY175" fmla="*/ 121312 h 358117"/>
                <a:gd name="csX176" fmla="*/ 16928 w 358158"/>
                <a:gd name="csY176" fmla="*/ 112807 h 358117"/>
                <a:gd name="csX177" fmla="*/ 22868 w 358158"/>
                <a:gd name="csY177" fmla="*/ 106241 h 358117"/>
                <a:gd name="csX178" fmla="*/ 29104 w 358158"/>
                <a:gd name="csY178" fmla="*/ 101317 h 358117"/>
                <a:gd name="csX179" fmla="*/ 35341 w 358158"/>
                <a:gd name="csY179" fmla="*/ 97736 h 358117"/>
                <a:gd name="csX180" fmla="*/ 41280 w 358158"/>
                <a:gd name="csY180" fmla="*/ 95349 h 358117"/>
                <a:gd name="csX181" fmla="*/ 46626 w 358158"/>
                <a:gd name="csY181" fmla="*/ 93856 h 358117"/>
                <a:gd name="csX182" fmla="*/ 51378 w 358158"/>
                <a:gd name="csY182" fmla="*/ 93110 h 358117"/>
                <a:gd name="csX183" fmla="*/ 54941 w 358158"/>
                <a:gd name="csY183" fmla="*/ 92961 h 358117"/>
                <a:gd name="csX184" fmla="*/ 57317 w 358158"/>
                <a:gd name="csY184" fmla="*/ 92961 h 358117"/>
                <a:gd name="csX185" fmla="*/ 58208 w 358158"/>
                <a:gd name="csY185" fmla="*/ 93110 h 358117"/>
                <a:gd name="csX186" fmla="*/ 179376 w 358158"/>
                <a:gd name="csY186" fmla="*/ 93110 h 358117"/>
                <a:gd name="csX187" fmla="*/ 179376 w 358158"/>
                <a:gd name="csY187" fmla="*/ 80726 h 358117"/>
                <a:gd name="csX188" fmla="*/ 92658 w 358158"/>
                <a:gd name="csY188" fmla="*/ 80726 h 358117"/>
                <a:gd name="csX189" fmla="*/ 92509 w 358158"/>
                <a:gd name="csY189" fmla="*/ 39691 h 358117"/>
                <a:gd name="csX190" fmla="*/ 92213 w 358158"/>
                <a:gd name="csY190" fmla="*/ 34170 h 358117"/>
                <a:gd name="csX191" fmla="*/ 92955 w 358158"/>
                <a:gd name="csY191" fmla="*/ 29097 h 358117"/>
                <a:gd name="csX192" fmla="*/ 94588 w 358158"/>
                <a:gd name="csY192" fmla="*/ 24471 h 358117"/>
                <a:gd name="csX193" fmla="*/ 97113 w 358158"/>
                <a:gd name="csY193" fmla="*/ 20293 h 358117"/>
                <a:gd name="csX194" fmla="*/ 100825 w 358158"/>
                <a:gd name="csY194" fmla="*/ 16414 h 358117"/>
                <a:gd name="csX195" fmla="*/ 105428 w 358158"/>
                <a:gd name="csY195" fmla="*/ 12982 h 358117"/>
                <a:gd name="csX196" fmla="*/ 111071 w 358158"/>
                <a:gd name="csY196" fmla="*/ 9997 h 358117"/>
                <a:gd name="csX197" fmla="*/ 117604 w 358158"/>
                <a:gd name="csY197" fmla="*/ 7312 h 358117"/>
                <a:gd name="csX198" fmla="*/ 125177 w 358158"/>
                <a:gd name="csY198" fmla="*/ 5073 h 358117"/>
                <a:gd name="csX199" fmla="*/ 133790 w 358158"/>
                <a:gd name="csY199" fmla="*/ 3283 h 358117"/>
                <a:gd name="csX200" fmla="*/ 143293 w 358158"/>
                <a:gd name="csY200" fmla="*/ 1791 h 358117"/>
                <a:gd name="csX201" fmla="*/ 153836 w 358158"/>
                <a:gd name="csY201" fmla="*/ 895 h 358117"/>
                <a:gd name="csX202" fmla="*/ 165270 w 358158"/>
                <a:gd name="csY202" fmla="*/ 298 h 358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58158" h="358117">
                  <a:moveTo>
                    <a:pt x="228229" y="299177"/>
                  </a:moveTo>
                  <a:lnTo>
                    <a:pt x="222141" y="300371"/>
                  </a:lnTo>
                  <a:lnTo>
                    <a:pt x="217241" y="303803"/>
                  </a:lnTo>
                  <a:lnTo>
                    <a:pt x="213826" y="308727"/>
                  </a:lnTo>
                  <a:lnTo>
                    <a:pt x="212638" y="314845"/>
                  </a:lnTo>
                  <a:lnTo>
                    <a:pt x="213826" y="320963"/>
                  </a:lnTo>
                  <a:lnTo>
                    <a:pt x="217241" y="325887"/>
                  </a:lnTo>
                  <a:lnTo>
                    <a:pt x="222141" y="329319"/>
                  </a:lnTo>
                  <a:lnTo>
                    <a:pt x="228229" y="330512"/>
                  </a:lnTo>
                  <a:lnTo>
                    <a:pt x="234317" y="329319"/>
                  </a:lnTo>
                  <a:lnTo>
                    <a:pt x="239217" y="325887"/>
                  </a:lnTo>
                  <a:lnTo>
                    <a:pt x="242633" y="320963"/>
                  </a:lnTo>
                  <a:lnTo>
                    <a:pt x="243821" y="314845"/>
                  </a:lnTo>
                  <a:lnTo>
                    <a:pt x="242633" y="308727"/>
                  </a:lnTo>
                  <a:lnTo>
                    <a:pt x="239217" y="303803"/>
                  </a:lnTo>
                  <a:lnTo>
                    <a:pt x="234317" y="300371"/>
                  </a:lnTo>
                  <a:close/>
                  <a:moveTo>
                    <a:pt x="277083" y="90574"/>
                  </a:moveTo>
                  <a:lnTo>
                    <a:pt x="308117" y="90574"/>
                  </a:lnTo>
                  <a:lnTo>
                    <a:pt x="310196" y="90723"/>
                  </a:lnTo>
                  <a:lnTo>
                    <a:pt x="313314" y="91171"/>
                  </a:lnTo>
                  <a:lnTo>
                    <a:pt x="317472" y="92066"/>
                  </a:lnTo>
                  <a:lnTo>
                    <a:pt x="322224" y="93857"/>
                  </a:lnTo>
                  <a:lnTo>
                    <a:pt x="327421" y="96543"/>
                  </a:lnTo>
                  <a:lnTo>
                    <a:pt x="332766" y="100571"/>
                  </a:lnTo>
                  <a:lnTo>
                    <a:pt x="338112" y="105794"/>
                  </a:lnTo>
                  <a:lnTo>
                    <a:pt x="343309" y="112807"/>
                  </a:lnTo>
                  <a:lnTo>
                    <a:pt x="348061" y="121611"/>
                  </a:lnTo>
                  <a:lnTo>
                    <a:pt x="352219" y="132504"/>
                  </a:lnTo>
                  <a:lnTo>
                    <a:pt x="355337" y="145634"/>
                  </a:lnTo>
                  <a:lnTo>
                    <a:pt x="357416" y="161153"/>
                  </a:lnTo>
                  <a:lnTo>
                    <a:pt x="358158" y="179506"/>
                  </a:lnTo>
                  <a:lnTo>
                    <a:pt x="357267" y="197860"/>
                  </a:lnTo>
                  <a:lnTo>
                    <a:pt x="354891" y="213378"/>
                  </a:lnTo>
                  <a:lnTo>
                    <a:pt x="351328" y="226211"/>
                  </a:lnTo>
                  <a:lnTo>
                    <a:pt x="346576" y="236805"/>
                  </a:lnTo>
                  <a:lnTo>
                    <a:pt x="341230" y="245310"/>
                  </a:lnTo>
                  <a:lnTo>
                    <a:pt x="335291" y="252025"/>
                  </a:lnTo>
                  <a:lnTo>
                    <a:pt x="329054" y="256949"/>
                  </a:lnTo>
                  <a:lnTo>
                    <a:pt x="322818" y="260530"/>
                  </a:lnTo>
                  <a:lnTo>
                    <a:pt x="316878" y="262918"/>
                  </a:lnTo>
                  <a:lnTo>
                    <a:pt x="311532" y="264261"/>
                  </a:lnTo>
                  <a:lnTo>
                    <a:pt x="306781" y="265007"/>
                  </a:lnTo>
                  <a:lnTo>
                    <a:pt x="303217" y="265305"/>
                  </a:lnTo>
                  <a:lnTo>
                    <a:pt x="300841" y="265156"/>
                  </a:lnTo>
                  <a:lnTo>
                    <a:pt x="178782" y="265156"/>
                  </a:lnTo>
                  <a:lnTo>
                    <a:pt x="178782" y="277392"/>
                  </a:lnTo>
                  <a:lnTo>
                    <a:pt x="265500" y="277392"/>
                  </a:lnTo>
                  <a:lnTo>
                    <a:pt x="265649" y="318575"/>
                  </a:lnTo>
                  <a:lnTo>
                    <a:pt x="265946" y="323947"/>
                  </a:lnTo>
                  <a:lnTo>
                    <a:pt x="265203" y="329020"/>
                  </a:lnTo>
                  <a:lnTo>
                    <a:pt x="263570" y="333646"/>
                  </a:lnTo>
                  <a:lnTo>
                    <a:pt x="261046" y="337973"/>
                  </a:lnTo>
                  <a:lnTo>
                    <a:pt x="257333" y="341704"/>
                  </a:lnTo>
                  <a:lnTo>
                    <a:pt x="252730" y="345285"/>
                  </a:lnTo>
                  <a:lnTo>
                    <a:pt x="247087" y="348269"/>
                  </a:lnTo>
                  <a:lnTo>
                    <a:pt x="240554" y="350806"/>
                  </a:lnTo>
                  <a:lnTo>
                    <a:pt x="232981" y="353044"/>
                  </a:lnTo>
                  <a:lnTo>
                    <a:pt x="224368" y="354984"/>
                  </a:lnTo>
                  <a:lnTo>
                    <a:pt x="214865" y="356327"/>
                  </a:lnTo>
                  <a:lnTo>
                    <a:pt x="204322" y="357371"/>
                  </a:lnTo>
                  <a:lnTo>
                    <a:pt x="192888" y="357968"/>
                  </a:lnTo>
                  <a:lnTo>
                    <a:pt x="180415" y="358117"/>
                  </a:lnTo>
                  <a:lnTo>
                    <a:pt x="161557" y="357520"/>
                  </a:lnTo>
                  <a:lnTo>
                    <a:pt x="145669" y="355431"/>
                  </a:lnTo>
                  <a:lnTo>
                    <a:pt x="132304" y="352447"/>
                  </a:lnTo>
                  <a:lnTo>
                    <a:pt x="121465" y="348717"/>
                  </a:lnTo>
                  <a:lnTo>
                    <a:pt x="112704" y="344240"/>
                  </a:lnTo>
                  <a:lnTo>
                    <a:pt x="106022" y="339316"/>
                  </a:lnTo>
                  <a:lnTo>
                    <a:pt x="100973" y="334243"/>
                  </a:lnTo>
                  <a:lnTo>
                    <a:pt x="97261" y="329169"/>
                  </a:lnTo>
                  <a:lnTo>
                    <a:pt x="94885" y="324245"/>
                  </a:lnTo>
                  <a:lnTo>
                    <a:pt x="93400" y="319769"/>
                  </a:lnTo>
                  <a:lnTo>
                    <a:pt x="92806" y="316039"/>
                  </a:lnTo>
                  <a:lnTo>
                    <a:pt x="92509" y="313054"/>
                  </a:lnTo>
                  <a:lnTo>
                    <a:pt x="92657" y="311114"/>
                  </a:lnTo>
                  <a:lnTo>
                    <a:pt x="92657" y="231433"/>
                  </a:lnTo>
                  <a:lnTo>
                    <a:pt x="93400" y="221884"/>
                  </a:lnTo>
                  <a:lnTo>
                    <a:pt x="95330" y="213826"/>
                  </a:lnTo>
                  <a:lnTo>
                    <a:pt x="98449" y="206962"/>
                  </a:lnTo>
                  <a:lnTo>
                    <a:pt x="102309" y="201292"/>
                  </a:lnTo>
                  <a:lnTo>
                    <a:pt x="106764" y="196517"/>
                  </a:lnTo>
                  <a:lnTo>
                    <a:pt x="111664" y="192936"/>
                  </a:lnTo>
                  <a:lnTo>
                    <a:pt x="116861" y="189951"/>
                  </a:lnTo>
                  <a:lnTo>
                    <a:pt x="122059" y="187862"/>
                  </a:lnTo>
                  <a:lnTo>
                    <a:pt x="126959" y="186370"/>
                  </a:lnTo>
                  <a:lnTo>
                    <a:pt x="131413" y="185475"/>
                  </a:lnTo>
                  <a:lnTo>
                    <a:pt x="135274" y="184878"/>
                  </a:lnTo>
                  <a:lnTo>
                    <a:pt x="138393" y="184580"/>
                  </a:lnTo>
                  <a:lnTo>
                    <a:pt x="140323" y="184430"/>
                  </a:lnTo>
                  <a:lnTo>
                    <a:pt x="227041" y="184430"/>
                  </a:lnTo>
                  <a:lnTo>
                    <a:pt x="237287" y="183684"/>
                  </a:lnTo>
                  <a:lnTo>
                    <a:pt x="246048" y="181595"/>
                  </a:lnTo>
                  <a:lnTo>
                    <a:pt x="253473" y="178462"/>
                  </a:lnTo>
                  <a:lnTo>
                    <a:pt x="259561" y="174284"/>
                  </a:lnTo>
                  <a:lnTo>
                    <a:pt x="264461" y="169509"/>
                  </a:lnTo>
                  <a:lnTo>
                    <a:pt x="268470" y="164286"/>
                  </a:lnTo>
                  <a:lnTo>
                    <a:pt x="271440" y="158915"/>
                  </a:lnTo>
                  <a:lnTo>
                    <a:pt x="273667" y="153543"/>
                  </a:lnTo>
                  <a:lnTo>
                    <a:pt x="275152" y="148320"/>
                  </a:lnTo>
                  <a:lnTo>
                    <a:pt x="276192" y="143545"/>
                  </a:lnTo>
                  <a:lnTo>
                    <a:pt x="276786" y="139367"/>
                  </a:lnTo>
                  <a:lnTo>
                    <a:pt x="277083" y="136234"/>
                  </a:lnTo>
                  <a:close/>
                  <a:moveTo>
                    <a:pt x="129929" y="27605"/>
                  </a:moveTo>
                  <a:lnTo>
                    <a:pt x="123841" y="28948"/>
                  </a:lnTo>
                  <a:lnTo>
                    <a:pt x="118941" y="32231"/>
                  </a:lnTo>
                  <a:lnTo>
                    <a:pt x="115526" y="37155"/>
                  </a:lnTo>
                  <a:lnTo>
                    <a:pt x="114338" y="43272"/>
                  </a:lnTo>
                  <a:lnTo>
                    <a:pt x="115526" y="49390"/>
                  </a:lnTo>
                  <a:lnTo>
                    <a:pt x="118941" y="54464"/>
                  </a:lnTo>
                  <a:lnTo>
                    <a:pt x="123841" y="57746"/>
                  </a:lnTo>
                  <a:lnTo>
                    <a:pt x="129929" y="59089"/>
                  </a:lnTo>
                  <a:lnTo>
                    <a:pt x="136017" y="57746"/>
                  </a:lnTo>
                  <a:lnTo>
                    <a:pt x="140917" y="54464"/>
                  </a:lnTo>
                  <a:lnTo>
                    <a:pt x="144333" y="49390"/>
                  </a:lnTo>
                  <a:lnTo>
                    <a:pt x="145521" y="43272"/>
                  </a:lnTo>
                  <a:lnTo>
                    <a:pt x="144333" y="37155"/>
                  </a:lnTo>
                  <a:lnTo>
                    <a:pt x="140917" y="32231"/>
                  </a:lnTo>
                  <a:lnTo>
                    <a:pt x="136017" y="28948"/>
                  </a:lnTo>
                  <a:close/>
                  <a:moveTo>
                    <a:pt x="177743" y="0"/>
                  </a:moveTo>
                  <a:lnTo>
                    <a:pt x="196601" y="746"/>
                  </a:lnTo>
                  <a:lnTo>
                    <a:pt x="212490" y="2686"/>
                  </a:lnTo>
                  <a:lnTo>
                    <a:pt x="225854" y="5670"/>
                  </a:lnTo>
                  <a:lnTo>
                    <a:pt x="236694" y="9550"/>
                  </a:lnTo>
                  <a:lnTo>
                    <a:pt x="245455" y="14026"/>
                  </a:lnTo>
                  <a:lnTo>
                    <a:pt x="252137" y="18801"/>
                  </a:lnTo>
                  <a:lnTo>
                    <a:pt x="257185" y="23874"/>
                  </a:lnTo>
                  <a:lnTo>
                    <a:pt x="260898" y="28948"/>
                  </a:lnTo>
                  <a:lnTo>
                    <a:pt x="263273" y="33872"/>
                  </a:lnTo>
                  <a:lnTo>
                    <a:pt x="264758" y="38348"/>
                  </a:lnTo>
                  <a:lnTo>
                    <a:pt x="265352" y="42228"/>
                  </a:lnTo>
                  <a:lnTo>
                    <a:pt x="265649" y="45212"/>
                  </a:lnTo>
                  <a:lnTo>
                    <a:pt x="265501" y="47152"/>
                  </a:lnTo>
                  <a:lnTo>
                    <a:pt x="265501" y="126833"/>
                  </a:lnTo>
                  <a:lnTo>
                    <a:pt x="264758" y="136234"/>
                  </a:lnTo>
                  <a:lnTo>
                    <a:pt x="262828" y="144441"/>
                  </a:lnTo>
                  <a:lnTo>
                    <a:pt x="259710" y="151304"/>
                  </a:lnTo>
                  <a:lnTo>
                    <a:pt x="255849" y="156975"/>
                  </a:lnTo>
                  <a:lnTo>
                    <a:pt x="251394" y="161600"/>
                  </a:lnTo>
                  <a:lnTo>
                    <a:pt x="246494" y="165331"/>
                  </a:lnTo>
                  <a:lnTo>
                    <a:pt x="241297" y="168166"/>
                  </a:lnTo>
                  <a:lnTo>
                    <a:pt x="236100" y="170255"/>
                  </a:lnTo>
                  <a:lnTo>
                    <a:pt x="231200" y="171747"/>
                  </a:lnTo>
                  <a:lnTo>
                    <a:pt x="226745" y="172791"/>
                  </a:lnTo>
                  <a:lnTo>
                    <a:pt x="222884" y="173388"/>
                  </a:lnTo>
                  <a:lnTo>
                    <a:pt x="219766" y="173687"/>
                  </a:lnTo>
                  <a:lnTo>
                    <a:pt x="131117" y="173687"/>
                  </a:lnTo>
                  <a:lnTo>
                    <a:pt x="120871" y="174433"/>
                  </a:lnTo>
                  <a:lnTo>
                    <a:pt x="112110" y="176522"/>
                  </a:lnTo>
                  <a:lnTo>
                    <a:pt x="104686" y="179805"/>
                  </a:lnTo>
                  <a:lnTo>
                    <a:pt x="98598" y="183833"/>
                  </a:lnTo>
                  <a:lnTo>
                    <a:pt x="93697" y="188608"/>
                  </a:lnTo>
                  <a:lnTo>
                    <a:pt x="89688" y="193831"/>
                  </a:lnTo>
                  <a:lnTo>
                    <a:pt x="86718" y="199203"/>
                  </a:lnTo>
                  <a:lnTo>
                    <a:pt x="84491" y="204724"/>
                  </a:lnTo>
                  <a:lnTo>
                    <a:pt x="83006" y="209946"/>
                  </a:lnTo>
                  <a:lnTo>
                    <a:pt x="81967" y="214721"/>
                  </a:lnTo>
                  <a:lnTo>
                    <a:pt x="81373" y="218750"/>
                  </a:lnTo>
                  <a:lnTo>
                    <a:pt x="81076" y="221883"/>
                  </a:lnTo>
                  <a:lnTo>
                    <a:pt x="81076" y="267543"/>
                  </a:lnTo>
                  <a:lnTo>
                    <a:pt x="47962" y="267543"/>
                  </a:lnTo>
                  <a:lnTo>
                    <a:pt x="44844" y="267096"/>
                  </a:lnTo>
                  <a:lnTo>
                    <a:pt x="40686" y="266051"/>
                  </a:lnTo>
                  <a:lnTo>
                    <a:pt x="35935" y="264261"/>
                  </a:lnTo>
                  <a:lnTo>
                    <a:pt x="30738" y="261575"/>
                  </a:lnTo>
                  <a:lnTo>
                    <a:pt x="25392" y="257695"/>
                  </a:lnTo>
                  <a:lnTo>
                    <a:pt x="20046" y="252323"/>
                  </a:lnTo>
                  <a:lnTo>
                    <a:pt x="14849" y="245459"/>
                  </a:lnTo>
                  <a:lnTo>
                    <a:pt x="10097" y="236656"/>
                  </a:lnTo>
                  <a:lnTo>
                    <a:pt x="5940" y="225763"/>
                  </a:lnTo>
                  <a:lnTo>
                    <a:pt x="2821" y="212632"/>
                  </a:lnTo>
                  <a:lnTo>
                    <a:pt x="742" y="196964"/>
                  </a:lnTo>
                  <a:lnTo>
                    <a:pt x="0" y="178611"/>
                  </a:lnTo>
                  <a:lnTo>
                    <a:pt x="891" y="160407"/>
                  </a:lnTo>
                  <a:lnTo>
                    <a:pt x="3267" y="144888"/>
                  </a:lnTo>
                  <a:lnTo>
                    <a:pt x="6831" y="131906"/>
                  </a:lnTo>
                  <a:lnTo>
                    <a:pt x="11582" y="121312"/>
                  </a:lnTo>
                  <a:lnTo>
                    <a:pt x="16928" y="112807"/>
                  </a:lnTo>
                  <a:lnTo>
                    <a:pt x="22868" y="106241"/>
                  </a:lnTo>
                  <a:lnTo>
                    <a:pt x="29104" y="101317"/>
                  </a:lnTo>
                  <a:lnTo>
                    <a:pt x="35341" y="97736"/>
                  </a:lnTo>
                  <a:lnTo>
                    <a:pt x="41280" y="95349"/>
                  </a:lnTo>
                  <a:lnTo>
                    <a:pt x="46626" y="93856"/>
                  </a:lnTo>
                  <a:lnTo>
                    <a:pt x="51378" y="93110"/>
                  </a:lnTo>
                  <a:lnTo>
                    <a:pt x="54941" y="92961"/>
                  </a:lnTo>
                  <a:lnTo>
                    <a:pt x="57317" y="92961"/>
                  </a:lnTo>
                  <a:lnTo>
                    <a:pt x="58208" y="93110"/>
                  </a:lnTo>
                  <a:lnTo>
                    <a:pt x="179376" y="93110"/>
                  </a:lnTo>
                  <a:lnTo>
                    <a:pt x="179376" y="80726"/>
                  </a:lnTo>
                  <a:lnTo>
                    <a:pt x="92658" y="80726"/>
                  </a:lnTo>
                  <a:lnTo>
                    <a:pt x="92509" y="39691"/>
                  </a:lnTo>
                  <a:lnTo>
                    <a:pt x="92213" y="34170"/>
                  </a:lnTo>
                  <a:lnTo>
                    <a:pt x="92955" y="29097"/>
                  </a:lnTo>
                  <a:lnTo>
                    <a:pt x="94588" y="24471"/>
                  </a:lnTo>
                  <a:lnTo>
                    <a:pt x="97113" y="20293"/>
                  </a:lnTo>
                  <a:lnTo>
                    <a:pt x="100825" y="16414"/>
                  </a:lnTo>
                  <a:lnTo>
                    <a:pt x="105428" y="12982"/>
                  </a:lnTo>
                  <a:lnTo>
                    <a:pt x="111071" y="9997"/>
                  </a:lnTo>
                  <a:lnTo>
                    <a:pt x="117604" y="7312"/>
                  </a:lnTo>
                  <a:lnTo>
                    <a:pt x="125177" y="5073"/>
                  </a:lnTo>
                  <a:lnTo>
                    <a:pt x="133790" y="3283"/>
                  </a:lnTo>
                  <a:lnTo>
                    <a:pt x="143293" y="1791"/>
                  </a:lnTo>
                  <a:lnTo>
                    <a:pt x="153836" y="895"/>
                  </a:lnTo>
                  <a:lnTo>
                    <a:pt x="165270" y="298"/>
                  </a:lnTo>
                  <a:close/>
                </a:path>
              </a:pathLst>
            </a:custGeom>
            <a:gradFill>
              <a:gsLst>
                <a:gs pos="26000">
                  <a:schemeClr val="accent4"/>
                </a:gs>
                <a:gs pos="0">
                  <a:schemeClr val="bg2"/>
                </a:gs>
                <a:gs pos="66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342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3" name="图片 12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332525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6003256" y="830452"/>
            <a:ext cx="677972" cy="677972"/>
            <a:chOff x="6287406" y="-777658"/>
            <a:chExt cx="637029" cy="637029"/>
          </a:xfrm>
        </p:grpSpPr>
        <p:sp>
          <p:nvSpPr>
            <p:cNvPr id="15" name="任意多边形: 形状 14"/>
            <p:cNvSpPr/>
            <p:nvPr/>
          </p:nvSpPr>
          <p:spPr>
            <a:xfrm>
              <a:off x="6426861" y="-729528"/>
              <a:ext cx="358117" cy="501665"/>
            </a:xfrm>
            <a:custGeom>
              <a:avLst/>
              <a:gdLst>
                <a:gd name="csX0" fmla="*/ 449375 w 450202"/>
                <a:gd name="csY0" fmla="*/ 572689 h 630661"/>
                <a:gd name="csX1" fmla="*/ 167171 w 450202"/>
                <a:gd name="csY1" fmla="*/ 628748 h 630661"/>
                <a:gd name="csX2" fmla="*/ 80535 w 450202"/>
                <a:gd name="csY2" fmla="*/ 611548 h 630661"/>
                <a:gd name="csX3" fmla="*/ 358280 w 450202"/>
                <a:gd name="csY3" fmla="*/ 607726 h 630661"/>
                <a:gd name="csX4" fmla="*/ 449375 w 450202"/>
                <a:gd name="csY4" fmla="*/ 572689 h 630661"/>
                <a:gd name="csX5" fmla="*/ 84228 w 450202"/>
                <a:gd name="csY5" fmla="*/ 537777 h 630661"/>
                <a:gd name="csX6" fmla="*/ 97736 w 450202"/>
                <a:gd name="csY6" fmla="*/ 541474 h 630661"/>
                <a:gd name="csX7" fmla="*/ 76077 w 450202"/>
                <a:gd name="csY7" fmla="*/ 543385 h 630661"/>
                <a:gd name="csX8" fmla="*/ 44225 w 450202"/>
                <a:gd name="csY8" fmla="*/ 568866 h 630661"/>
                <a:gd name="csX9" fmla="*/ 391406 w 450202"/>
                <a:gd name="csY9" fmla="*/ 567592 h 630661"/>
                <a:gd name="csX10" fmla="*/ 411154 w 450202"/>
                <a:gd name="csY10" fmla="*/ 542111 h 630661"/>
                <a:gd name="csX11" fmla="*/ 30848 w 450202"/>
                <a:gd name="csY11" fmla="*/ 588614 h 630661"/>
                <a:gd name="csX12" fmla="*/ 84228 w 450202"/>
                <a:gd name="csY12" fmla="*/ 537777 h 630661"/>
                <a:gd name="csX13" fmla="*/ 144875 w 450202"/>
                <a:gd name="csY13" fmla="*/ 492423 h 630661"/>
                <a:gd name="csX14" fmla="*/ 161438 w 450202"/>
                <a:gd name="csY14" fmla="*/ 510897 h 630661"/>
                <a:gd name="csX15" fmla="*/ 287570 w 450202"/>
                <a:gd name="csY15" fmla="*/ 505801 h 630661"/>
                <a:gd name="csX16" fmla="*/ 320695 w 450202"/>
                <a:gd name="csY16" fmla="*/ 522363 h 630661"/>
                <a:gd name="csX17" fmla="*/ 144875 w 450202"/>
                <a:gd name="csY17" fmla="*/ 492423 h 630661"/>
                <a:gd name="csX18" fmla="*/ 130224 w 450202"/>
                <a:gd name="csY18" fmla="*/ 426172 h 630661"/>
                <a:gd name="csX19" fmla="*/ 144875 w 450202"/>
                <a:gd name="csY19" fmla="*/ 449742 h 630661"/>
                <a:gd name="csX20" fmla="*/ 307318 w 450202"/>
                <a:gd name="csY20" fmla="*/ 441461 h 630661"/>
                <a:gd name="csX21" fmla="*/ 332799 w 450202"/>
                <a:gd name="csY21" fmla="*/ 456749 h 630661"/>
                <a:gd name="csX22" fmla="*/ 130224 w 450202"/>
                <a:gd name="csY22" fmla="*/ 426172 h 630661"/>
                <a:gd name="csX23" fmla="*/ 148279 w 450202"/>
                <a:gd name="csY23" fmla="*/ 356627 h 630661"/>
                <a:gd name="csX24" fmla="*/ 155705 w 450202"/>
                <a:gd name="csY24" fmla="*/ 356736 h 630661"/>
                <a:gd name="csX25" fmla="*/ 116209 w 450202"/>
                <a:gd name="csY25" fmla="*/ 391772 h 630661"/>
                <a:gd name="csX26" fmla="*/ 262726 w 450202"/>
                <a:gd name="csY26" fmla="*/ 389861 h 630661"/>
                <a:gd name="csX27" fmla="*/ 354458 w 450202"/>
                <a:gd name="csY27" fmla="*/ 377758 h 630661"/>
                <a:gd name="csX28" fmla="*/ 326429 w 450202"/>
                <a:gd name="csY28" fmla="*/ 393046 h 630661"/>
                <a:gd name="csX29" fmla="*/ 58877 w 450202"/>
                <a:gd name="csY29" fmla="*/ 378395 h 630661"/>
                <a:gd name="csX30" fmla="*/ 148279 w 450202"/>
                <a:gd name="csY30" fmla="*/ 356627 h 630661"/>
                <a:gd name="csX31" fmla="*/ 403045 w 450202"/>
                <a:gd name="csY31" fmla="*/ 351456 h 630661"/>
                <a:gd name="csX32" fmla="*/ 353184 w 450202"/>
                <a:gd name="csY32" fmla="*/ 471401 h 630661"/>
                <a:gd name="csX33" fmla="*/ 355095 w 450202"/>
                <a:gd name="csY33" fmla="*/ 468216 h 630661"/>
                <a:gd name="csX34" fmla="*/ 379939 w 450202"/>
                <a:gd name="csY34" fmla="*/ 359284 h 630661"/>
                <a:gd name="csX35" fmla="*/ 366561 w 450202"/>
                <a:gd name="csY35" fmla="*/ 362469 h 630661"/>
                <a:gd name="csX36" fmla="*/ 376754 w 450202"/>
                <a:gd name="csY36" fmla="*/ 355462 h 630661"/>
                <a:gd name="csX37" fmla="*/ 403045 w 450202"/>
                <a:gd name="csY37" fmla="*/ 351456 h 630661"/>
                <a:gd name="csX38" fmla="*/ 362739 w 450202"/>
                <a:gd name="csY38" fmla="*/ 123583 h 630661"/>
                <a:gd name="csX39" fmla="*/ 286295 w 450202"/>
                <a:gd name="csY39" fmla="*/ 268189 h 630661"/>
                <a:gd name="csX40" fmla="*/ 245525 w 450202"/>
                <a:gd name="csY40" fmla="*/ 354825 h 630661"/>
                <a:gd name="csX41" fmla="*/ 253807 w 450202"/>
                <a:gd name="csY41" fmla="*/ 290485 h 630661"/>
                <a:gd name="csX42" fmla="*/ 362739 w 450202"/>
                <a:gd name="csY42" fmla="*/ 123583 h 630661"/>
                <a:gd name="csX43" fmla="*/ 286296 w 450202"/>
                <a:gd name="csY43" fmla="*/ 0 h 630661"/>
                <a:gd name="csX44" fmla="*/ 226415 w 450202"/>
                <a:gd name="csY44" fmla="*/ 160531 h 630661"/>
                <a:gd name="csX45" fmla="*/ 226415 w 450202"/>
                <a:gd name="csY45" fmla="*/ 335077 h 630661"/>
                <a:gd name="csX46" fmla="*/ 155068 w 450202"/>
                <a:gd name="csY46" fmla="*/ 194294 h 630661"/>
                <a:gd name="csX47" fmla="*/ 286296 w 450202"/>
                <a:gd name="csY47" fmla="*/ 0 h 63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450202" h="630661">
                  <a:moveTo>
                    <a:pt x="449375" y="572689"/>
                  </a:moveTo>
                  <a:cubicBezTo>
                    <a:pt x="444916" y="624925"/>
                    <a:pt x="276740" y="635755"/>
                    <a:pt x="167171" y="628748"/>
                  </a:cubicBezTo>
                  <a:cubicBezTo>
                    <a:pt x="95824" y="624288"/>
                    <a:pt x="81809" y="612185"/>
                    <a:pt x="80535" y="611548"/>
                  </a:cubicBezTo>
                  <a:cubicBezTo>
                    <a:pt x="148697" y="623014"/>
                    <a:pt x="264636" y="624925"/>
                    <a:pt x="358280" y="607726"/>
                  </a:cubicBezTo>
                  <a:cubicBezTo>
                    <a:pt x="441093" y="592437"/>
                    <a:pt x="449375" y="572689"/>
                    <a:pt x="449375" y="572689"/>
                  </a:cubicBezTo>
                  <a:close/>
                  <a:moveTo>
                    <a:pt x="84228" y="537777"/>
                  </a:moveTo>
                  <a:cubicBezTo>
                    <a:pt x="89992" y="538080"/>
                    <a:pt x="94710" y="539244"/>
                    <a:pt x="97736" y="541474"/>
                  </a:cubicBezTo>
                  <a:cubicBezTo>
                    <a:pt x="97736" y="541474"/>
                    <a:pt x="89454" y="540200"/>
                    <a:pt x="76077" y="543385"/>
                  </a:cubicBezTo>
                  <a:cubicBezTo>
                    <a:pt x="63973" y="546570"/>
                    <a:pt x="22566" y="559311"/>
                    <a:pt x="44225" y="568866"/>
                  </a:cubicBezTo>
                  <a:cubicBezTo>
                    <a:pt x="104743" y="595622"/>
                    <a:pt x="321970" y="589251"/>
                    <a:pt x="391406" y="567592"/>
                  </a:cubicBezTo>
                  <a:cubicBezTo>
                    <a:pt x="428354" y="556763"/>
                    <a:pt x="411154" y="542111"/>
                    <a:pt x="411154" y="542111"/>
                  </a:cubicBezTo>
                  <a:cubicBezTo>
                    <a:pt x="474220" y="570777"/>
                    <a:pt x="273556" y="627473"/>
                    <a:pt x="30848" y="588614"/>
                  </a:cubicBezTo>
                  <a:cubicBezTo>
                    <a:pt x="-47746" y="575794"/>
                    <a:pt x="43877" y="535661"/>
                    <a:pt x="84228" y="537777"/>
                  </a:cubicBezTo>
                  <a:close/>
                  <a:moveTo>
                    <a:pt x="144875" y="492423"/>
                  </a:moveTo>
                  <a:cubicBezTo>
                    <a:pt x="144875" y="492423"/>
                    <a:pt x="121305" y="505801"/>
                    <a:pt x="161438" y="510897"/>
                  </a:cubicBezTo>
                  <a:cubicBezTo>
                    <a:pt x="209215" y="515993"/>
                    <a:pt x="234696" y="515993"/>
                    <a:pt x="287570" y="505801"/>
                  </a:cubicBezTo>
                  <a:cubicBezTo>
                    <a:pt x="287570" y="505801"/>
                    <a:pt x="302221" y="515356"/>
                    <a:pt x="320695" y="522363"/>
                  </a:cubicBezTo>
                  <a:cubicBezTo>
                    <a:pt x="201571" y="572689"/>
                    <a:pt x="51232" y="519178"/>
                    <a:pt x="144875" y="492423"/>
                  </a:cubicBezTo>
                  <a:close/>
                  <a:moveTo>
                    <a:pt x="130224" y="426172"/>
                  </a:moveTo>
                  <a:cubicBezTo>
                    <a:pt x="130224" y="426172"/>
                    <a:pt x="103468" y="445920"/>
                    <a:pt x="144875" y="449742"/>
                  </a:cubicBezTo>
                  <a:cubicBezTo>
                    <a:pt x="196475" y="454838"/>
                    <a:pt x="237881" y="456112"/>
                    <a:pt x="307318" y="441461"/>
                  </a:cubicBezTo>
                  <a:cubicBezTo>
                    <a:pt x="307318" y="441461"/>
                    <a:pt x="317510" y="451653"/>
                    <a:pt x="332799" y="456749"/>
                  </a:cubicBezTo>
                  <a:cubicBezTo>
                    <a:pt x="188830" y="499430"/>
                    <a:pt x="27662" y="459935"/>
                    <a:pt x="130224" y="426172"/>
                  </a:cubicBezTo>
                  <a:close/>
                  <a:moveTo>
                    <a:pt x="148279" y="356627"/>
                  </a:moveTo>
                  <a:cubicBezTo>
                    <a:pt x="153077" y="356537"/>
                    <a:pt x="155705" y="356736"/>
                    <a:pt x="155705" y="356736"/>
                  </a:cubicBezTo>
                  <a:cubicBezTo>
                    <a:pt x="155705" y="356736"/>
                    <a:pt x="44862" y="383491"/>
                    <a:pt x="116209" y="391772"/>
                  </a:cubicBezTo>
                  <a:cubicBezTo>
                    <a:pt x="146787" y="395594"/>
                    <a:pt x="207305" y="394957"/>
                    <a:pt x="262726" y="389861"/>
                  </a:cubicBezTo>
                  <a:cubicBezTo>
                    <a:pt x="308592" y="386039"/>
                    <a:pt x="354458" y="377758"/>
                    <a:pt x="354458" y="377758"/>
                  </a:cubicBezTo>
                  <a:cubicBezTo>
                    <a:pt x="354458" y="377758"/>
                    <a:pt x="337896" y="384765"/>
                    <a:pt x="326429" y="393046"/>
                  </a:cubicBezTo>
                  <a:cubicBezTo>
                    <a:pt x="213675" y="422987"/>
                    <a:pt x="-3552" y="409609"/>
                    <a:pt x="58877" y="378395"/>
                  </a:cubicBezTo>
                  <a:cubicBezTo>
                    <a:pt x="99965" y="359762"/>
                    <a:pt x="133887" y="356895"/>
                    <a:pt x="148279" y="356627"/>
                  </a:cubicBezTo>
                  <a:close/>
                  <a:moveTo>
                    <a:pt x="403045" y="351456"/>
                  </a:moveTo>
                  <a:cubicBezTo>
                    <a:pt x="460762" y="354208"/>
                    <a:pt x="486960" y="435727"/>
                    <a:pt x="353184" y="471401"/>
                  </a:cubicBezTo>
                  <a:cubicBezTo>
                    <a:pt x="352547" y="471401"/>
                    <a:pt x="354458" y="469490"/>
                    <a:pt x="355095" y="468216"/>
                  </a:cubicBezTo>
                  <a:cubicBezTo>
                    <a:pt x="469123" y="408972"/>
                    <a:pt x="416250" y="351003"/>
                    <a:pt x="379939" y="359284"/>
                  </a:cubicBezTo>
                  <a:cubicBezTo>
                    <a:pt x="370383" y="361195"/>
                    <a:pt x="366561" y="362469"/>
                    <a:pt x="366561" y="362469"/>
                  </a:cubicBezTo>
                  <a:cubicBezTo>
                    <a:pt x="366561" y="362469"/>
                    <a:pt x="369746" y="357373"/>
                    <a:pt x="376754" y="355462"/>
                  </a:cubicBezTo>
                  <a:cubicBezTo>
                    <a:pt x="385912" y="352277"/>
                    <a:pt x="394800" y="351063"/>
                    <a:pt x="403045" y="351456"/>
                  </a:cubicBezTo>
                  <a:close/>
                  <a:moveTo>
                    <a:pt x="362739" y="123583"/>
                  </a:moveTo>
                  <a:cubicBezTo>
                    <a:pt x="229600" y="201301"/>
                    <a:pt x="254444" y="223597"/>
                    <a:pt x="286295" y="268189"/>
                  </a:cubicBezTo>
                  <a:cubicBezTo>
                    <a:pt x="320058" y="316603"/>
                    <a:pt x="245525" y="354825"/>
                    <a:pt x="245525" y="354825"/>
                  </a:cubicBezTo>
                  <a:cubicBezTo>
                    <a:pt x="245525" y="354825"/>
                    <a:pt x="283747" y="323610"/>
                    <a:pt x="253807" y="290485"/>
                  </a:cubicBezTo>
                  <a:cubicBezTo>
                    <a:pt x="153793" y="177093"/>
                    <a:pt x="362739" y="124220"/>
                    <a:pt x="362739" y="123583"/>
                  </a:cubicBezTo>
                  <a:close/>
                  <a:moveTo>
                    <a:pt x="286296" y="0"/>
                  </a:moveTo>
                  <a:cubicBezTo>
                    <a:pt x="286296" y="0"/>
                    <a:pt x="349362" y="63066"/>
                    <a:pt x="226415" y="160531"/>
                  </a:cubicBezTo>
                  <a:cubicBezTo>
                    <a:pt x="128313" y="238886"/>
                    <a:pt x="204119" y="283478"/>
                    <a:pt x="226415" y="335077"/>
                  </a:cubicBezTo>
                  <a:cubicBezTo>
                    <a:pt x="168446" y="282841"/>
                    <a:pt x="127039" y="236975"/>
                    <a:pt x="155068" y="194294"/>
                  </a:cubicBezTo>
                  <a:cubicBezTo>
                    <a:pt x="195201" y="131228"/>
                    <a:pt x="311777" y="100651"/>
                    <a:pt x="286296" y="0"/>
                  </a:cubicBez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614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6" name="图片 15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6287406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5938530" y="3825682"/>
            <a:ext cx="5694061" cy="402459"/>
            <a:chOff x="623326" y="2794001"/>
            <a:chExt cx="10945350" cy="1414057"/>
          </a:xfrm>
        </p:grpSpPr>
        <p:sp>
          <p:nvSpPr>
            <p:cNvPr id="20" name="梯形 19"/>
            <p:cNvSpPr/>
            <p:nvPr/>
          </p:nvSpPr>
          <p:spPr>
            <a:xfrm>
              <a:off x="1393373" y="3283819"/>
              <a:ext cx="9405257" cy="924239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4"/>
                </a:gs>
                <a:gs pos="60000">
                  <a:schemeClr val="tx2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梯形 20"/>
            <p:cNvSpPr/>
            <p:nvPr/>
          </p:nvSpPr>
          <p:spPr>
            <a:xfrm>
              <a:off x="623326" y="2794001"/>
              <a:ext cx="10945350" cy="1075583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5"/>
                </a:gs>
                <a:gs pos="60000">
                  <a:schemeClr val="accent3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任意多边形: 形状 23"/>
          <p:cNvSpPr/>
          <p:nvPr/>
        </p:nvSpPr>
        <p:spPr>
          <a:xfrm>
            <a:off x="11152411" y="6423662"/>
            <a:ext cx="661478" cy="100283"/>
          </a:xfrm>
          <a:custGeom>
            <a:avLst/>
            <a:gdLst>
              <a:gd name="connsiteX0" fmla="*/ 0 w 323850"/>
              <a:gd name="connsiteY0" fmla="*/ 0 h 47625"/>
              <a:gd name="connsiteX1" fmla="*/ 80963 w 323850"/>
              <a:gd name="connsiteY1" fmla="*/ 0 h 47625"/>
              <a:gd name="connsiteX2" fmla="*/ 107918 w 323850"/>
              <a:gd name="connsiteY2" fmla="*/ 26956 h 47625"/>
              <a:gd name="connsiteX3" fmla="*/ 80963 w 323850"/>
              <a:gd name="connsiteY3" fmla="*/ 53912 h 47625"/>
              <a:gd name="connsiteX4" fmla="*/ 0 w 323850"/>
              <a:gd name="connsiteY4" fmla="*/ 53912 h 47625"/>
              <a:gd name="connsiteX5" fmla="*/ 26956 w 323850"/>
              <a:gd name="connsiteY5" fmla="*/ 26956 h 47625"/>
              <a:gd name="connsiteX6" fmla="*/ 0 w 323850"/>
              <a:gd name="connsiteY6" fmla="*/ 0 h 47625"/>
              <a:gd name="connsiteX7" fmla="*/ 134969 w 323850"/>
              <a:gd name="connsiteY7" fmla="*/ 26956 h 47625"/>
              <a:gd name="connsiteX8" fmla="*/ 108014 w 323850"/>
              <a:gd name="connsiteY8" fmla="*/ 53912 h 47625"/>
              <a:gd name="connsiteX9" fmla="*/ 189071 w 323850"/>
              <a:gd name="connsiteY9" fmla="*/ 53912 h 47625"/>
              <a:gd name="connsiteX10" fmla="*/ 216027 w 323850"/>
              <a:gd name="connsiteY10" fmla="*/ 26956 h 47625"/>
              <a:gd name="connsiteX11" fmla="*/ 189071 w 323850"/>
              <a:gd name="connsiteY11" fmla="*/ 0 h 47625"/>
              <a:gd name="connsiteX12" fmla="*/ 108014 w 323850"/>
              <a:gd name="connsiteY12" fmla="*/ 0 h 47625"/>
              <a:gd name="connsiteX13" fmla="*/ 134969 w 323850"/>
              <a:gd name="connsiteY13" fmla="*/ 26956 h 47625"/>
              <a:gd name="connsiteX14" fmla="*/ 243078 w 323850"/>
              <a:gd name="connsiteY14" fmla="*/ 26956 h 47625"/>
              <a:gd name="connsiteX15" fmla="*/ 216027 w 323850"/>
              <a:gd name="connsiteY15" fmla="*/ 53912 h 47625"/>
              <a:gd name="connsiteX16" fmla="*/ 296990 w 323850"/>
              <a:gd name="connsiteY16" fmla="*/ 53912 h 47625"/>
              <a:gd name="connsiteX17" fmla="*/ 324040 w 323850"/>
              <a:gd name="connsiteY17" fmla="*/ 26956 h 47625"/>
              <a:gd name="connsiteX18" fmla="*/ 296990 w 323850"/>
              <a:gd name="connsiteY18" fmla="*/ 0 h 47625"/>
              <a:gd name="connsiteX19" fmla="*/ 216027 w 323850"/>
              <a:gd name="connsiteY19" fmla="*/ 0 h 47625"/>
              <a:gd name="connsiteX20" fmla="*/ 243078 w 323850"/>
              <a:gd name="connsiteY20" fmla="*/ 26956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3850" h="47625">
                <a:moveTo>
                  <a:pt x="0" y="0"/>
                </a:moveTo>
                <a:lnTo>
                  <a:pt x="80963" y="0"/>
                </a:lnTo>
                <a:lnTo>
                  <a:pt x="107918" y="26956"/>
                </a:lnTo>
                <a:lnTo>
                  <a:pt x="80963" y="53912"/>
                </a:lnTo>
                <a:lnTo>
                  <a:pt x="0" y="53912"/>
                </a:lnTo>
                <a:lnTo>
                  <a:pt x="26956" y="26956"/>
                </a:lnTo>
                <a:lnTo>
                  <a:pt x="0" y="0"/>
                </a:lnTo>
                <a:close/>
                <a:moveTo>
                  <a:pt x="134969" y="26956"/>
                </a:moveTo>
                <a:lnTo>
                  <a:pt x="108014" y="53912"/>
                </a:lnTo>
                <a:lnTo>
                  <a:pt x="189071" y="53912"/>
                </a:lnTo>
                <a:lnTo>
                  <a:pt x="216027" y="26956"/>
                </a:lnTo>
                <a:lnTo>
                  <a:pt x="189071" y="0"/>
                </a:lnTo>
                <a:lnTo>
                  <a:pt x="108014" y="0"/>
                </a:lnTo>
                <a:lnTo>
                  <a:pt x="134969" y="26956"/>
                </a:lnTo>
                <a:close/>
                <a:moveTo>
                  <a:pt x="243078" y="26956"/>
                </a:moveTo>
                <a:lnTo>
                  <a:pt x="216027" y="53912"/>
                </a:lnTo>
                <a:lnTo>
                  <a:pt x="296990" y="53912"/>
                </a:lnTo>
                <a:lnTo>
                  <a:pt x="324040" y="26956"/>
                </a:lnTo>
                <a:lnTo>
                  <a:pt x="296990" y="0"/>
                </a:lnTo>
                <a:lnTo>
                  <a:pt x="216027" y="0"/>
                </a:lnTo>
                <a:lnTo>
                  <a:pt x="243078" y="26956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3"/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lIns="91440" tIns="45720" rIns="91440" bIns="45720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03886A7-B64E-00D7-C222-2223B5D7BD66}"/>
              </a:ext>
            </a:extLst>
          </p:cNvPr>
          <p:cNvSpPr txBox="1">
            <a:spLocks/>
          </p:cNvSpPr>
          <p:nvPr/>
        </p:nvSpPr>
        <p:spPr>
          <a:xfrm>
            <a:off x="5815550" y="4647518"/>
            <a:ext cx="5323467" cy="7544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</a:rPr>
              <a:t>——</a:t>
            </a:r>
            <a:r>
              <a:rPr lang="zh-CN" altLang="en-US" sz="3600" dirty="0">
                <a:solidFill>
                  <a:schemeClr val="bg1"/>
                </a:solidFill>
              </a:rPr>
              <a:t>循环语句应用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20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-26895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396165"/>
            <a:ext cx="5457293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14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16"/>
              </p:custDataLst>
            </p:nvPr>
          </p:nvSpPr>
          <p:spPr>
            <a:xfrm>
              <a:off x="5186825" y="1583376"/>
              <a:ext cx="3344780" cy="3517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改变循环状态语句</a:t>
              </a:r>
            </a:p>
          </p:txBody>
        </p:sp>
        <p:sp>
          <p:nvSpPr>
            <p:cNvPr id="30" name="梯形 29"/>
            <p:cNvSpPr/>
            <p:nvPr>
              <p:custDataLst>
                <p:tags r:id="rId17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18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16136" y="2811346"/>
            <a:ext cx="5457292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9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1"/>
              </p:custDataLst>
            </p:nvPr>
          </p:nvSpPr>
          <p:spPr>
            <a:xfrm>
              <a:off x="4801799" y="1610134"/>
              <a:ext cx="4114833" cy="3517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循环嵌套</a:t>
              </a:r>
            </a:p>
          </p:txBody>
        </p:sp>
        <p:sp>
          <p:nvSpPr>
            <p:cNvPr id="37" name="梯形 36"/>
            <p:cNvSpPr/>
            <p:nvPr>
              <p:custDataLst>
                <p:tags r:id="rId12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3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8" y="4268669"/>
            <a:ext cx="5457292" cy="701832"/>
            <a:chOff x="4316361" y="1433503"/>
            <a:chExt cx="5197419" cy="668411"/>
          </a:xfrm>
        </p:grpSpPr>
        <p:sp>
          <p:nvSpPr>
            <p:cNvPr id="40" name="任意多边形: 形状 39"/>
            <p:cNvSpPr/>
            <p:nvPr>
              <p:custDataLst>
                <p:tags r:id="rId4"/>
              </p:custDataLst>
            </p:nvPr>
          </p:nvSpPr>
          <p:spPr>
            <a:xfrm>
              <a:off x="4321820" y="1435961"/>
              <a:ext cx="5179880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6"/>
              </p:custDataLst>
            </p:nvPr>
          </p:nvSpPr>
          <p:spPr>
            <a:xfrm>
              <a:off x="6279528" y="1583346"/>
              <a:ext cx="1989554" cy="35174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循环应用示例</a:t>
              </a:r>
            </a:p>
          </p:txBody>
        </p:sp>
        <p:sp>
          <p:nvSpPr>
            <p:cNvPr id="43" name="梯形 42"/>
            <p:cNvSpPr/>
            <p:nvPr>
              <p:custDataLst>
                <p:tags r:id="rId7"/>
              </p:custDataLst>
            </p:nvPr>
          </p:nvSpPr>
          <p:spPr>
            <a:xfrm rot="5400000">
              <a:off x="9400882" y="1745235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8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D4C4F-D361-1625-83BB-C717A5D3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9C25EE9-A0A6-EA5C-8AEA-6A7392B8D7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220006"/>
            <a:ext cx="2979738" cy="403225"/>
          </a:xfrm>
        </p:spPr>
        <p:txBody>
          <a:bodyPr/>
          <a:lstStyle/>
          <a:p>
            <a:r>
              <a:rPr lang="zh-CN" altLang="en-US" sz="2000" dirty="0"/>
              <a:t>改变循环状态的语句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0D1346-E0DC-8489-C474-F26417BD345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壹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29C5427-74A3-3F6B-038F-951D86C1A281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break</a:t>
            </a:r>
            <a:r>
              <a:rPr lang="zh-CN" altLang="en-US" sz="2400" dirty="0"/>
              <a:t>语句和</a:t>
            </a:r>
            <a:r>
              <a:rPr lang="en-US" altLang="zh-CN" sz="2400" dirty="0"/>
              <a:t>continue</a:t>
            </a:r>
            <a:r>
              <a:rPr lang="zh-CN" altLang="en-US" sz="2400" dirty="0"/>
              <a:t>语句</a:t>
            </a: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8B340940-1740-3B1B-B48C-79CA33AFDC3E}"/>
              </a:ext>
            </a:extLst>
          </p:cNvPr>
          <p:cNvSpPr txBox="1">
            <a:spLocks/>
          </p:cNvSpPr>
          <p:nvPr/>
        </p:nvSpPr>
        <p:spPr>
          <a:xfrm>
            <a:off x="622408" y="1215811"/>
            <a:ext cx="3697221" cy="4006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/>
              <a:t>用</a:t>
            </a:r>
            <a:r>
              <a:rPr lang="en-US" altLang="zh-CN" sz="2400" b="1" dirty="0"/>
              <a:t>break</a:t>
            </a:r>
            <a:r>
              <a:rPr lang="zh-CN" altLang="en-US" sz="2400" b="1" dirty="0"/>
              <a:t>语句提前终止循环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E1705A-1812-DF83-D902-DD94365BB2A6}"/>
              </a:ext>
            </a:extLst>
          </p:cNvPr>
          <p:cNvSpPr/>
          <p:nvPr/>
        </p:nvSpPr>
        <p:spPr>
          <a:xfrm>
            <a:off x="622407" y="1894893"/>
            <a:ext cx="3697221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sz="2000" b="1"/>
              <a:t>break;</a:t>
            </a:r>
            <a:endParaRPr lang="zh-CN" altLang="en-US" sz="2000" b="1"/>
          </a:p>
        </p:txBody>
      </p:sp>
      <p:sp>
        <p:nvSpPr>
          <p:cNvPr id="18" name="MH_Desc_1">
            <a:extLst>
              <a:ext uri="{FF2B5EF4-FFF2-40B4-BE49-F238E27FC236}">
                <a16:creationId xmlns:a16="http://schemas.microsoft.com/office/drawing/2014/main" id="{300B6641-9039-509F-423E-D0DD97087B8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38977" y="2804832"/>
            <a:ext cx="3680651" cy="287879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作用：使流程跳到循环体之外，接着执行循环体下面的语句。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注意：</a:t>
            </a:r>
            <a:r>
              <a:rPr lang="en-US" altLang="zh-CN" sz="2000" dirty="0">
                <a:solidFill>
                  <a:schemeClr val="tx1"/>
                </a:solidFill>
              </a:rPr>
              <a:t>break</a:t>
            </a:r>
            <a:r>
              <a:rPr lang="zh-CN" altLang="en-US" sz="2000" dirty="0">
                <a:solidFill>
                  <a:schemeClr val="tx1"/>
                </a:solidFill>
              </a:rPr>
              <a:t>语句只能用于循环语句和</a:t>
            </a:r>
            <a:r>
              <a:rPr lang="en-US" altLang="zh-CN" sz="2000" dirty="0">
                <a:solidFill>
                  <a:schemeClr val="tx1"/>
                </a:solidFill>
              </a:rPr>
              <a:t>switch</a:t>
            </a:r>
            <a:r>
              <a:rPr lang="zh-CN" altLang="en-US" sz="2000" dirty="0">
                <a:solidFill>
                  <a:schemeClr val="tx1"/>
                </a:solidFill>
              </a:rPr>
              <a:t>语句之中，而不能单独使用。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E5FA39CF-D762-1DB2-6073-01181C7C4E01}"/>
              </a:ext>
            </a:extLst>
          </p:cNvPr>
          <p:cNvSpPr txBox="1">
            <a:spLocks/>
          </p:cNvSpPr>
          <p:nvPr/>
        </p:nvSpPr>
        <p:spPr>
          <a:xfrm>
            <a:off x="6564647" y="1217985"/>
            <a:ext cx="4695815" cy="4006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/>
              <a:t>用</a:t>
            </a:r>
            <a:r>
              <a:rPr lang="en-US" altLang="zh-CN" sz="2400" b="1" dirty="0"/>
              <a:t>continue</a:t>
            </a:r>
            <a:r>
              <a:rPr lang="zh-CN" altLang="en-US" sz="2400" b="1" dirty="0"/>
              <a:t>语句提前结束本次循环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CD0A8C8-4E6D-2162-CF9F-005D819C0A0D}"/>
              </a:ext>
            </a:extLst>
          </p:cNvPr>
          <p:cNvSpPr/>
          <p:nvPr/>
        </p:nvSpPr>
        <p:spPr>
          <a:xfrm>
            <a:off x="6683340" y="1894892"/>
            <a:ext cx="457712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sz="2000" b="1"/>
              <a:t>continue;</a:t>
            </a:r>
            <a:endParaRPr lang="zh-CN" altLang="en-US" sz="2000" b="1"/>
          </a:p>
        </p:txBody>
      </p:sp>
      <p:sp>
        <p:nvSpPr>
          <p:cNvPr id="22" name="MH_Desc_1">
            <a:extLst>
              <a:ext uri="{FF2B5EF4-FFF2-40B4-BE49-F238E27FC236}">
                <a16:creationId xmlns:a16="http://schemas.microsoft.com/office/drawing/2014/main" id="{BC5FF62B-943A-5F45-966C-D23C66FB46A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683340" y="2804832"/>
            <a:ext cx="4577122" cy="287879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作用：结束本次循环，即跳过循环体中下面尚未执行的语句，进入下一次的循环执行。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000" dirty="0">
                <a:solidFill>
                  <a:schemeClr val="tx1"/>
                </a:solidFill>
              </a:rPr>
              <a:t>注意：如果是</a:t>
            </a:r>
            <a:r>
              <a:rPr lang="en-US" altLang="zh-CN" sz="2000" dirty="0">
                <a:solidFill>
                  <a:schemeClr val="tx1"/>
                </a:solidFill>
              </a:rPr>
              <a:t>for</a:t>
            </a:r>
            <a:r>
              <a:rPr lang="zh-CN" altLang="en-US" sz="2000" dirty="0">
                <a:solidFill>
                  <a:schemeClr val="tx1"/>
                </a:solidFill>
              </a:rPr>
              <a:t>语句会继续执行“表达式</a:t>
            </a:r>
            <a:r>
              <a:rPr lang="en-US" altLang="zh-CN" sz="2000" dirty="0">
                <a:solidFill>
                  <a:schemeClr val="tx1"/>
                </a:solidFill>
              </a:rPr>
              <a:t>3”</a:t>
            </a:r>
            <a:r>
              <a:rPr lang="zh-CN" altLang="en-US" sz="2000" dirty="0">
                <a:solidFill>
                  <a:schemeClr val="tx1"/>
                </a:solidFill>
              </a:rPr>
              <a:t>，然后才进行下一次的循环判定。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DC3473-D4D3-C1EA-9E2A-5517729E4367}"/>
              </a:ext>
            </a:extLst>
          </p:cNvPr>
          <p:cNvSpPr/>
          <p:nvPr/>
        </p:nvSpPr>
        <p:spPr>
          <a:xfrm>
            <a:off x="4998782" y="3273477"/>
            <a:ext cx="100540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800" b="1" cap="none" spc="0" dirty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VS</a:t>
            </a:r>
            <a:endParaRPr lang="zh-CN" altLang="en-US" sz="4800" b="1" cap="none" spc="0" dirty="0">
              <a:ln w="0"/>
              <a:solidFill>
                <a:srgbClr val="00B0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324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06A7A-0C60-32F2-7ADA-894DB6EF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FBB00AD-8A9C-B499-54A0-B8718528D6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220006"/>
            <a:ext cx="2979738" cy="403225"/>
          </a:xfrm>
        </p:spPr>
        <p:txBody>
          <a:bodyPr/>
          <a:lstStyle/>
          <a:p>
            <a:r>
              <a:rPr lang="zh-CN" altLang="en-US" sz="2000" dirty="0"/>
              <a:t>改变循环状态的语句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FDA999-F410-AD86-7495-819E363EE80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壹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417C34A-F580-70A8-AE3F-2F084C1AB23E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break</a:t>
            </a:r>
            <a:r>
              <a:rPr lang="zh-CN" altLang="en-US" sz="2400" dirty="0"/>
              <a:t>语句与</a:t>
            </a:r>
            <a:r>
              <a:rPr lang="en-US" altLang="zh-CN" sz="2400" dirty="0"/>
              <a:t>continue</a:t>
            </a:r>
            <a:r>
              <a:rPr lang="zh-CN" altLang="en-US" sz="2400" dirty="0"/>
              <a:t>语句的对比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C7DBCB-F025-ED42-BC24-4BDE4832DB6C}"/>
              </a:ext>
            </a:extLst>
          </p:cNvPr>
          <p:cNvSpPr/>
          <p:nvPr/>
        </p:nvSpPr>
        <p:spPr>
          <a:xfrm>
            <a:off x="844959" y="1570383"/>
            <a:ext cx="1918253" cy="377687"/>
          </a:xfrm>
          <a:prstGeom prst="rect">
            <a:avLst/>
          </a:prstGeom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/>
              <a:t>break;</a:t>
            </a:r>
            <a:endParaRPr lang="zh-CN" altLang="en-US" b="1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60E6B1-497E-5D0B-BB90-DB0B5410E324}"/>
              </a:ext>
            </a:extLst>
          </p:cNvPr>
          <p:cNvSpPr/>
          <p:nvPr/>
        </p:nvSpPr>
        <p:spPr>
          <a:xfrm>
            <a:off x="6503365" y="1570381"/>
            <a:ext cx="1918253" cy="377687"/>
          </a:xfrm>
          <a:prstGeom prst="rect">
            <a:avLst/>
          </a:prstGeom>
          <a:ln>
            <a:tailEnd type="triangle" w="lg" len="lg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/>
              <a:t>continue;</a:t>
            </a:r>
            <a:endParaRPr lang="zh-CN" altLang="en-US" b="1"/>
          </a:p>
        </p:txBody>
      </p:sp>
      <p:sp>
        <p:nvSpPr>
          <p:cNvPr id="7" name="圆角矩形 5">
            <a:extLst>
              <a:ext uri="{FF2B5EF4-FFF2-40B4-BE49-F238E27FC236}">
                <a16:creationId xmlns:a16="http://schemas.microsoft.com/office/drawing/2014/main" id="{5BB99505-E64C-86ED-E365-766ACB93E131}"/>
              </a:ext>
            </a:extLst>
          </p:cNvPr>
          <p:cNvSpPr/>
          <p:nvPr/>
        </p:nvSpPr>
        <p:spPr>
          <a:xfrm>
            <a:off x="844959" y="1948070"/>
            <a:ext cx="2700000" cy="1716735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400"/>
              <a:t>while(</a:t>
            </a:r>
            <a:r>
              <a:rPr lang="zh-CN" altLang="en-US" sz="1400"/>
              <a:t>表达式</a:t>
            </a:r>
            <a:r>
              <a:rPr lang="en-US" altLang="zh-CN" sz="1400"/>
              <a:t>1)   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/>
              <a:t>语句</a:t>
            </a:r>
            <a:r>
              <a:rPr lang="en-US" altLang="zh-CN" sz="1400"/>
              <a:t>1</a:t>
            </a:r>
          </a:p>
          <a:p>
            <a:pPr lvl="1" defTabSz="363538">
              <a:lnSpc>
                <a:spcPct val="120000"/>
              </a:lnSpc>
            </a:pPr>
            <a:r>
              <a:rPr lang="pt-BR" altLang="zh-CN" sz="1400"/>
              <a:t>if(</a:t>
            </a:r>
            <a:r>
              <a:rPr lang="zh-CN" altLang="en-US" sz="1400"/>
              <a:t>表达式</a:t>
            </a:r>
            <a:r>
              <a:rPr lang="en-US" altLang="zh-CN" sz="1400"/>
              <a:t>2) </a:t>
            </a:r>
            <a:r>
              <a:rPr lang="pt-BR" altLang="zh-CN" sz="1400"/>
              <a:t>break;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/>
              <a:t>语句</a:t>
            </a:r>
            <a:r>
              <a:rPr lang="en-US" altLang="zh-CN" sz="1400"/>
              <a:t>2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</a:p>
        </p:txBody>
      </p:sp>
      <p:sp>
        <p:nvSpPr>
          <p:cNvPr id="8" name="圆角矩形 6">
            <a:extLst>
              <a:ext uri="{FF2B5EF4-FFF2-40B4-BE49-F238E27FC236}">
                <a16:creationId xmlns:a16="http://schemas.microsoft.com/office/drawing/2014/main" id="{76A64466-909F-F79D-AE68-67A51FE64095}"/>
              </a:ext>
            </a:extLst>
          </p:cNvPr>
          <p:cNvSpPr/>
          <p:nvPr/>
        </p:nvSpPr>
        <p:spPr>
          <a:xfrm>
            <a:off x="6503365" y="1958008"/>
            <a:ext cx="2700000" cy="1716735"/>
          </a:xfrm>
          <a:prstGeom prst="roundRect">
            <a:avLst>
              <a:gd name="adj" fmla="val 1628"/>
            </a:avLst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400"/>
              <a:t>while(</a:t>
            </a:r>
            <a:r>
              <a:rPr lang="zh-CN" altLang="en-US" sz="1400"/>
              <a:t>表达式</a:t>
            </a:r>
            <a:r>
              <a:rPr lang="en-US" altLang="zh-CN" sz="1400"/>
              <a:t>1)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/>
              <a:t>语句</a:t>
            </a:r>
            <a:r>
              <a:rPr lang="en-US" altLang="zh-CN" sz="1400"/>
              <a:t>1</a:t>
            </a:r>
          </a:p>
          <a:p>
            <a:pPr lvl="1" defTabSz="363538">
              <a:lnSpc>
                <a:spcPct val="120000"/>
              </a:lnSpc>
            </a:pPr>
            <a:r>
              <a:rPr lang="pt-BR" altLang="zh-CN" sz="1400"/>
              <a:t>if(</a:t>
            </a:r>
            <a:r>
              <a:rPr lang="zh-CN" altLang="en-US" sz="1400"/>
              <a:t>表达式</a:t>
            </a:r>
            <a:r>
              <a:rPr lang="en-US" altLang="zh-CN" sz="1400"/>
              <a:t>2) </a:t>
            </a:r>
            <a:r>
              <a:rPr lang="pt-BR" altLang="zh-CN" sz="1400"/>
              <a:t>continue;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/>
              <a:t>语句</a:t>
            </a:r>
            <a:r>
              <a:rPr lang="en-US" altLang="zh-CN" sz="1400"/>
              <a:t>2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A5CA44-EB2D-048B-CA2D-FBF952415FFF}"/>
              </a:ext>
            </a:extLst>
          </p:cNvPr>
          <p:cNvSpPr/>
          <p:nvPr/>
        </p:nvSpPr>
        <p:spPr>
          <a:xfrm>
            <a:off x="374374" y="6272163"/>
            <a:ext cx="1144325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lt1"/>
                </a:solidFill>
              </a:rPr>
              <a:t>continue语句只结束本次循环，而非终止整个循环。break语句结束整个循环，不再判断执行循环的条件是否成立。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6484603-69DD-0DDB-7B59-DDE11F3ADCC0}"/>
              </a:ext>
            </a:extLst>
          </p:cNvPr>
          <p:cNvCxnSpPr/>
          <p:nvPr/>
        </p:nvCxnSpPr>
        <p:spPr>
          <a:xfrm>
            <a:off x="6096000" y="1570381"/>
            <a:ext cx="0" cy="459188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chemeClr val="tx1">
                    <a:lumMod val="50000"/>
                    <a:lumOff val="50000"/>
                  </a:schemeClr>
                </a:gs>
                <a:gs pos="66000">
                  <a:schemeClr val="tx1">
                    <a:lumMod val="50000"/>
                    <a:lumOff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CF9DEEF-6929-0D04-2719-FB1235D002BC}"/>
              </a:ext>
            </a:extLst>
          </p:cNvPr>
          <p:cNvGrpSpPr/>
          <p:nvPr/>
        </p:nvGrpSpPr>
        <p:grpSpPr>
          <a:xfrm>
            <a:off x="3749714" y="1759226"/>
            <a:ext cx="2114373" cy="4227783"/>
            <a:chOff x="3749714" y="1759226"/>
            <a:chExt cx="2114373" cy="4227783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430CE95-6D44-F260-7EED-5EDC207F5D66}"/>
                </a:ext>
              </a:extLst>
            </p:cNvPr>
            <p:cNvSpPr txBox="1"/>
            <p:nvPr/>
          </p:nvSpPr>
          <p:spPr>
            <a:xfrm>
              <a:off x="5128592" y="3944763"/>
              <a:ext cx="7354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1"/>
                  </a:solidFill>
                </a:rPr>
                <a:t>break</a:t>
              </a:r>
              <a:endParaRPr lang="zh-CN" altLang="en-US" sz="1400">
                <a:solidFill>
                  <a:schemeClr val="accent1"/>
                </a:solidFill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2CC8B83-A97D-2726-7BE4-D238FDB9BF0C}"/>
                </a:ext>
              </a:extLst>
            </p:cNvPr>
            <p:cNvGrpSpPr/>
            <p:nvPr/>
          </p:nvGrpSpPr>
          <p:grpSpPr>
            <a:xfrm>
              <a:off x="3749714" y="1759226"/>
              <a:ext cx="1910621" cy="4227783"/>
              <a:chOff x="4072736" y="1958010"/>
              <a:chExt cx="1910621" cy="4227783"/>
            </a:xfrm>
          </p:grpSpPr>
          <p:sp>
            <p:nvSpPr>
              <p:cNvPr id="14" name="流程图: 决策 13">
                <a:extLst>
                  <a:ext uri="{FF2B5EF4-FFF2-40B4-BE49-F238E27FC236}">
                    <a16:creationId xmlns:a16="http://schemas.microsoft.com/office/drawing/2014/main" id="{B1CB0083-CAC6-D9B9-38B0-FA7E02D1D909}"/>
                  </a:ext>
                </a:extLst>
              </p:cNvPr>
              <p:cNvSpPr/>
              <p:nvPr/>
            </p:nvSpPr>
            <p:spPr>
              <a:xfrm>
                <a:off x="4303643" y="2345635"/>
                <a:ext cx="1391478" cy="526774"/>
              </a:xfrm>
              <a:prstGeom prst="flowChartDecision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/>
                  <a:t>表达式</a:t>
                </a:r>
                <a:r>
                  <a:rPr lang="en-US" altLang="zh-CN" sz="1400"/>
                  <a:t>1</a:t>
                </a:r>
                <a:endParaRPr lang="zh-CN" altLang="en-US" sz="1400"/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4AB558C9-F23A-0E27-494C-06DDA7D89775}"/>
                  </a:ext>
                </a:extLst>
              </p:cNvPr>
              <p:cNvCxnSpPr/>
              <p:nvPr/>
            </p:nvCxnSpPr>
            <p:spPr>
              <a:xfrm>
                <a:off x="4989443" y="1958010"/>
                <a:ext cx="0" cy="3876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2F67A274-D6A6-511C-4E7B-4AC99E82AD63}"/>
                  </a:ext>
                </a:extLst>
              </p:cNvPr>
              <p:cNvCxnSpPr/>
              <p:nvPr/>
            </p:nvCxnSpPr>
            <p:spPr>
              <a:xfrm>
                <a:off x="4989443" y="2872409"/>
                <a:ext cx="0" cy="268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A659C1C-2AF8-D0CD-8984-53B76D452BC4}"/>
                  </a:ext>
                </a:extLst>
              </p:cNvPr>
              <p:cNvSpPr/>
              <p:nvPr/>
            </p:nvSpPr>
            <p:spPr>
              <a:xfrm>
                <a:off x="4476707" y="3149519"/>
                <a:ext cx="1031655" cy="484567"/>
              </a:xfrm>
              <a:prstGeom prst="rect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/>
                  <a:t>语句</a:t>
                </a:r>
                <a:r>
                  <a:rPr lang="en-US" altLang="zh-CN" sz="1400"/>
                  <a:t>1</a:t>
                </a:r>
                <a:endParaRPr lang="zh-CN" altLang="en-US" sz="1400"/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DB19D80D-5046-1B8C-3604-2D11273A1170}"/>
                  </a:ext>
                </a:extLst>
              </p:cNvPr>
              <p:cNvCxnSpPr/>
              <p:nvPr/>
            </p:nvCxnSpPr>
            <p:spPr>
              <a:xfrm>
                <a:off x="4989443" y="3612978"/>
                <a:ext cx="0" cy="268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流程图: 决策 25">
                <a:extLst>
                  <a:ext uri="{FF2B5EF4-FFF2-40B4-BE49-F238E27FC236}">
                    <a16:creationId xmlns:a16="http://schemas.microsoft.com/office/drawing/2014/main" id="{44E82375-E93F-754C-D3EB-913703D6005A}"/>
                  </a:ext>
                </a:extLst>
              </p:cNvPr>
              <p:cNvSpPr/>
              <p:nvPr/>
            </p:nvSpPr>
            <p:spPr>
              <a:xfrm>
                <a:off x="4303643" y="3890088"/>
                <a:ext cx="1391478" cy="526774"/>
              </a:xfrm>
              <a:prstGeom prst="flowChartDecision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/>
                  <a:t>表达式</a:t>
                </a:r>
                <a:r>
                  <a:rPr lang="en-US" altLang="zh-CN" sz="1400"/>
                  <a:t>2</a:t>
                </a:r>
                <a:endParaRPr lang="zh-CN" altLang="en-US" sz="1400"/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E7619795-2648-74A2-34DA-4EE2BBC87E9F}"/>
                  </a:ext>
                </a:extLst>
              </p:cNvPr>
              <p:cNvCxnSpPr/>
              <p:nvPr/>
            </p:nvCxnSpPr>
            <p:spPr>
              <a:xfrm>
                <a:off x="4989443" y="4416862"/>
                <a:ext cx="0" cy="268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D793EB3-9BF3-1B23-2C32-BD766487B9F3}"/>
                  </a:ext>
                </a:extLst>
              </p:cNvPr>
              <p:cNvSpPr/>
              <p:nvPr/>
            </p:nvSpPr>
            <p:spPr>
              <a:xfrm>
                <a:off x="4473615" y="4685218"/>
                <a:ext cx="1031655" cy="486000"/>
              </a:xfrm>
              <a:prstGeom prst="rect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/>
                  <a:t>语句</a:t>
                </a:r>
                <a:r>
                  <a:rPr lang="en-US" altLang="zh-CN" sz="1400"/>
                  <a:t>2</a:t>
                </a:r>
                <a:endParaRPr lang="zh-CN" altLang="en-US" sz="1400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1FC9172-753C-789F-4315-C32E9BFB2CB5}"/>
                  </a:ext>
                </a:extLst>
              </p:cNvPr>
              <p:cNvSpPr/>
              <p:nvPr/>
            </p:nvSpPr>
            <p:spPr>
              <a:xfrm>
                <a:off x="4483554" y="5699793"/>
                <a:ext cx="1031655" cy="486000"/>
              </a:xfrm>
              <a:prstGeom prst="rect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/>
                  <a:t>while</a:t>
                </a:r>
                <a:r>
                  <a:rPr lang="zh-CN" altLang="en-US" sz="1400"/>
                  <a:t>循环的下一语句</a:t>
                </a:r>
              </a:p>
            </p:txBody>
          </p:sp>
          <p:sp>
            <p:nvSpPr>
              <p:cNvPr id="30" name="任意多边形 20">
                <a:extLst>
                  <a:ext uri="{FF2B5EF4-FFF2-40B4-BE49-F238E27FC236}">
                    <a16:creationId xmlns:a16="http://schemas.microsoft.com/office/drawing/2014/main" id="{A2DDAAB9-1F00-4A17-AAAA-0E91A555695D}"/>
                  </a:ext>
                </a:extLst>
              </p:cNvPr>
              <p:cNvSpPr/>
              <p:nvPr/>
            </p:nvSpPr>
            <p:spPr>
              <a:xfrm>
                <a:off x="4072736" y="2146852"/>
                <a:ext cx="916707" cy="3190461"/>
              </a:xfrm>
              <a:custGeom>
                <a:avLst/>
                <a:gdLst>
                  <a:gd name="connsiteX0" fmla="*/ 1123121 w 1123121"/>
                  <a:gd name="connsiteY0" fmla="*/ 3021496 h 3190461"/>
                  <a:gd name="connsiteX1" fmla="*/ 1123121 w 1123121"/>
                  <a:gd name="connsiteY1" fmla="*/ 3190461 h 3190461"/>
                  <a:gd name="connsiteX2" fmla="*/ 0 w 1123121"/>
                  <a:gd name="connsiteY2" fmla="*/ 3190461 h 3190461"/>
                  <a:gd name="connsiteX3" fmla="*/ 0 w 1123121"/>
                  <a:gd name="connsiteY3" fmla="*/ 0 h 3190461"/>
                  <a:gd name="connsiteX4" fmla="*/ 1113182 w 1123121"/>
                  <a:gd name="connsiteY4" fmla="*/ 0 h 3190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3121" h="3190461">
                    <a:moveTo>
                      <a:pt x="1123121" y="3021496"/>
                    </a:moveTo>
                    <a:lnTo>
                      <a:pt x="1123121" y="3190461"/>
                    </a:lnTo>
                    <a:lnTo>
                      <a:pt x="0" y="3190461"/>
                    </a:lnTo>
                    <a:lnTo>
                      <a:pt x="0" y="0"/>
                    </a:lnTo>
                    <a:lnTo>
                      <a:pt x="1113182" y="0"/>
                    </a:lnTo>
                  </a:path>
                </a:pathLst>
              </a:cu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任意多边形 21">
                <a:extLst>
                  <a:ext uri="{FF2B5EF4-FFF2-40B4-BE49-F238E27FC236}">
                    <a16:creationId xmlns:a16="http://schemas.microsoft.com/office/drawing/2014/main" id="{544B438A-3F92-2B48-5D56-9CD4ADE7D319}"/>
                  </a:ext>
                </a:extLst>
              </p:cNvPr>
              <p:cNvSpPr/>
              <p:nvPr/>
            </p:nvSpPr>
            <p:spPr>
              <a:xfrm>
                <a:off x="4999383" y="2604052"/>
                <a:ext cx="983974" cy="3093711"/>
              </a:xfrm>
              <a:custGeom>
                <a:avLst/>
                <a:gdLst>
                  <a:gd name="connsiteX0" fmla="*/ 695739 w 983974"/>
                  <a:gd name="connsiteY0" fmla="*/ 0 h 3140765"/>
                  <a:gd name="connsiteX1" fmla="*/ 983974 w 983974"/>
                  <a:gd name="connsiteY1" fmla="*/ 0 h 3140765"/>
                  <a:gd name="connsiteX2" fmla="*/ 983974 w 983974"/>
                  <a:gd name="connsiteY2" fmla="*/ 2842591 h 3140765"/>
                  <a:gd name="connsiteX3" fmla="*/ 0 w 983974"/>
                  <a:gd name="connsiteY3" fmla="*/ 2842591 h 3140765"/>
                  <a:gd name="connsiteX4" fmla="*/ 0 w 983974"/>
                  <a:gd name="connsiteY4" fmla="*/ 3140765 h 3140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3974" h="3140765">
                    <a:moveTo>
                      <a:pt x="695739" y="0"/>
                    </a:moveTo>
                    <a:lnTo>
                      <a:pt x="983974" y="0"/>
                    </a:lnTo>
                    <a:lnTo>
                      <a:pt x="983974" y="2842591"/>
                    </a:lnTo>
                    <a:lnTo>
                      <a:pt x="0" y="2842591"/>
                    </a:lnTo>
                    <a:lnTo>
                      <a:pt x="0" y="3140765"/>
                    </a:lnTo>
                  </a:path>
                </a:pathLst>
              </a:cu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5222A83-F369-1E2E-39AD-AD5577505B0D}"/>
                  </a:ext>
                </a:extLst>
              </p:cNvPr>
              <p:cNvSpPr txBox="1"/>
              <p:nvPr/>
            </p:nvSpPr>
            <p:spPr>
              <a:xfrm>
                <a:off x="5615605" y="2320955"/>
                <a:ext cx="2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假</a:t>
                </a: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787E2A04-8FD9-84FA-F91D-EE45A0595872}"/>
                  </a:ext>
                </a:extLst>
              </p:cNvPr>
              <p:cNvSpPr txBox="1"/>
              <p:nvPr/>
            </p:nvSpPr>
            <p:spPr>
              <a:xfrm>
                <a:off x="4932114" y="2856651"/>
                <a:ext cx="2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真</a:t>
                </a:r>
              </a:p>
            </p:txBody>
          </p: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02B02FCD-53CA-2CDD-5A19-6ED1C94BAD02}"/>
                  </a:ext>
                </a:extLst>
              </p:cNvPr>
              <p:cNvCxnSpPr>
                <a:stCxn id="26" idx="3"/>
              </p:cNvCxnSpPr>
              <p:nvPr/>
            </p:nvCxnSpPr>
            <p:spPr>
              <a:xfrm>
                <a:off x="5695121" y="4153475"/>
                <a:ext cx="2882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C0EBC9E-65F1-1A0E-1DB8-A17FD032C048}"/>
                  </a:ext>
                </a:extLst>
              </p:cNvPr>
              <p:cNvSpPr txBox="1"/>
              <p:nvPr/>
            </p:nvSpPr>
            <p:spPr>
              <a:xfrm>
                <a:off x="5637792" y="3890257"/>
                <a:ext cx="2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真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E5984AB2-A2FA-B5D2-2616-2CB500157755}"/>
                  </a:ext>
                </a:extLst>
              </p:cNvPr>
              <p:cNvSpPr txBox="1"/>
              <p:nvPr/>
            </p:nvSpPr>
            <p:spPr>
              <a:xfrm>
                <a:off x="4947023" y="4397152"/>
                <a:ext cx="2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假</a:t>
                </a:r>
              </a:p>
            </p:txBody>
          </p:sp>
        </p:grp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65F36E5-97C8-FDF0-C26B-7DE82630A2AC}"/>
              </a:ext>
            </a:extLst>
          </p:cNvPr>
          <p:cNvGrpSpPr/>
          <p:nvPr/>
        </p:nvGrpSpPr>
        <p:grpSpPr>
          <a:xfrm>
            <a:off x="9382861" y="1752429"/>
            <a:ext cx="2064538" cy="4227783"/>
            <a:chOff x="9382861" y="1752429"/>
            <a:chExt cx="2064538" cy="4227783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32FD9B48-A191-D0C3-A775-07EDF8EAB520}"/>
                </a:ext>
              </a:extLst>
            </p:cNvPr>
            <p:cNvSpPr txBox="1"/>
            <p:nvPr/>
          </p:nvSpPr>
          <p:spPr>
            <a:xfrm>
              <a:off x="10518139" y="3978606"/>
              <a:ext cx="8673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1"/>
                  </a:solidFill>
                </a:rPr>
                <a:t>continue</a:t>
              </a:r>
              <a:endParaRPr lang="zh-CN" altLang="en-US" sz="1400">
                <a:solidFill>
                  <a:schemeClr val="accent1"/>
                </a:solidFill>
              </a:endParaRPr>
            </a:p>
          </p:txBody>
        </p:sp>
        <p:sp>
          <p:nvSpPr>
            <p:cNvPr id="39" name="流程图: 决策 38">
              <a:extLst>
                <a:ext uri="{FF2B5EF4-FFF2-40B4-BE49-F238E27FC236}">
                  <a16:creationId xmlns:a16="http://schemas.microsoft.com/office/drawing/2014/main" id="{34B9FEFD-0809-6C50-E1F4-E641CF1E6D95}"/>
                </a:ext>
              </a:extLst>
            </p:cNvPr>
            <p:cNvSpPr/>
            <p:nvPr/>
          </p:nvSpPr>
          <p:spPr>
            <a:xfrm>
              <a:off x="9613768" y="2140054"/>
              <a:ext cx="1391478" cy="526774"/>
            </a:xfrm>
            <a:prstGeom prst="flowChartDecision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/>
                <a:t>表达式</a:t>
              </a:r>
              <a:r>
                <a:rPr lang="en-US" altLang="zh-CN" sz="1400"/>
                <a:t>1</a:t>
              </a:r>
              <a:endParaRPr lang="zh-CN" altLang="en-US" sz="1400"/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87541AD9-C6B6-5590-0546-0CC83FD69791}"/>
                </a:ext>
              </a:extLst>
            </p:cNvPr>
            <p:cNvCxnSpPr/>
            <p:nvPr/>
          </p:nvCxnSpPr>
          <p:spPr>
            <a:xfrm>
              <a:off x="10299568" y="1752429"/>
              <a:ext cx="0" cy="38762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7C80E542-FAFA-C803-3580-87E58E0CD29F}"/>
                </a:ext>
              </a:extLst>
            </p:cNvPr>
            <p:cNvCxnSpPr/>
            <p:nvPr/>
          </p:nvCxnSpPr>
          <p:spPr>
            <a:xfrm>
              <a:off x="10299568" y="2666828"/>
              <a:ext cx="0" cy="26835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3B808B6-2BBD-BFA5-11B1-4DBB18E320FF}"/>
                </a:ext>
              </a:extLst>
            </p:cNvPr>
            <p:cNvSpPr/>
            <p:nvPr/>
          </p:nvSpPr>
          <p:spPr>
            <a:xfrm>
              <a:off x="9786832" y="2943938"/>
              <a:ext cx="1031655" cy="484567"/>
            </a:xfrm>
            <a:prstGeom prst="rect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/>
                <a:t>语句</a:t>
              </a:r>
              <a:r>
                <a:rPr lang="en-US" altLang="zh-CN" sz="1400"/>
                <a:t>1</a:t>
              </a:r>
              <a:endParaRPr lang="zh-CN" altLang="en-US" sz="1400"/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82C5BC3F-82FA-8B89-E327-196D9B328D6E}"/>
                </a:ext>
              </a:extLst>
            </p:cNvPr>
            <p:cNvCxnSpPr/>
            <p:nvPr/>
          </p:nvCxnSpPr>
          <p:spPr>
            <a:xfrm>
              <a:off x="10299568" y="3407397"/>
              <a:ext cx="0" cy="26835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流程图: 决策 43">
              <a:extLst>
                <a:ext uri="{FF2B5EF4-FFF2-40B4-BE49-F238E27FC236}">
                  <a16:creationId xmlns:a16="http://schemas.microsoft.com/office/drawing/2014/main" id="{C9C862D2-2F92-9AFE-EA87-59A0A25225EC}"/>
                </a:ext>
              </a:extLst>
            </p:cNvPr>
            <p:cNvSpPr/>
            <p:nvPr/>
          </p:nvSpPr>
          <p:spPr>
            <a:xfrm>
              <a:off x="9613768" y="3684507"/>
              <a:ext cx="1391478" cy="526774"/>
            </a:xfrm>
            <a:prstGeom prst="flowChartDecision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/>
                <a:t>表达式</a:t>
              </a:r>
              <a:r>
                <a:rPr lang="en-US" altLang="zh-CN" sz="1400"/>
                <a:t>2</a:t>
              </a:r>
              <a:endParaRPr lang="zh-CN" altLang="en-US" sz="1400"/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D6719220-E983-C412-0AAC-08CEC8D899C0}"/>
                </a:ext>
              </a:extLst>
            </p:cNvPr>
            <p:cNvCxnSpPr/>
            <p:nvPr/>
          </p:nvCxnSpPr>
          <p:spPr>
            <a:xfrm>
              <a:off x="10299568" y="4211281"/>
              <a:ext cx="0" cy="26835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1DD89BD-0435-F6AF-0CD4-33AFBE9976B3}"/>
                </a:ext>
              </a:extLst>
            </p:cNvPr>
            <p:cNvSpPr/>
            <p:nvPr/>
          </p:nvSpPr>
          <p:spPr>
            <a:xfrm>
              <a:off x="9783740" y="4479637"/>
              <a:ext cx="1031655" cy="486000"/>
            </a:xfrm>
            <a:prstGeom prst="rect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/>
                <a:t>语句</a:t>
              </a:r>
              <a:r>
                <a:rPr lang="en-US" altLang="zh-CN" sz="1400"/>
                <a:t>2</a:t>
              </a:r>
              <a:endParaRPr lang="zh-CN" altLang="en-US" sz="140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CFB1A8AD-8381-6C49-5905-74E17754B849}"/>
                </a:ext>
              </a:extLst>
            </p:cNvPr>
            <p:cNvSpPr/>
            <p:nvPr/>
          </p:nvSpPr>
          <p:spPr>
            <a:xfrm>
              <a:off x="9793679" y="5494212"/>
              <a:ext cx="1031655" cy="486000"/>
            </a:xfrm>
            <a:prstGeom prst="rect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/>
                <a:t>while</a:t>
              </a:r>
              <a:r>
                <a:rPr lang="zh-CN" altLang="en-US" sz="1400"/>
                <a:t>循环的下一语句</a:t>
              </a:r>
            </a:p>
          </p:txBody>
        </p:sp>
        <p:sp>
          <p:nvSpPr>
            <p:cNvPr id="48" name="任意多边形 45">
              <a:extLst>
                <a:ext uri="{FF2B5EF4-FFF2-40B4-BE49-F238E27FC236}">
                  <a16:creationId xmlns:a16="http://schemas.microsoft.com/office/drawing/2014/main" id="{43100023-0DC7-647B-6DC0-47F88D1F61EF}"/>
                </a:ext>
              </a:extLst>
            </p:cNvPr>
            <p:cNvSpPr/>
            <p:nvPr/>
          </p:nvSpPr>
          <p:spPr>
            <a:xfrm>
              <a:off x="9382861" y="1941271"/>
              <a:ext cx="916707" cy="3190461"/>
            </a:xfrm>
            <a:custGeom>
              <a:avLst/>
              <a:gdLst>
                <a:gd name="connsiteX0" fmla="*/ 1123121 w 1123121"/>
                <a:gd name="connsiteY0" fmla="*/ 3021496 h 3190461"/>
                <a:gd name="connsiteX1" fmla="*/ 1123121 w 1123121"/>
                <a:gd name="connsiteY1" fmla="*/ 3190461 h 3190461"/>
                <a:gd name="connsiteX2" fmla="*/ 0 w 1123121"/>
                <a:gd name="connsiteY2" fmla="*/ 3190461 h 3190461"/>
                <a:gd name="connsiteX3" fmla="*/ 0 w 1123121"/>
                <a:gd name="connsiteY3" fmla="*/ 0 h 3190461"/>
                <a:gd name="connsiteX4" fmla="*/ 1113182 w 1123121"/>
                <a:gd name="connsiteY4" fmla="*/ 0 h 3190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3121" h="3190461">
                  <a:moveTo>
                    <a:pt x="1123121" y="3021496"/>
                  </a:moveTo>
                  <a:lnTo>
                    <a:pt x="1123121" y="3190461"/>
                  </a:lnTo>
                  <a:lnTo>
                    <a:pt x="0" y="3190461"/>
                  </a:lnTo>
                  <a:lnTo>
                    <a:pt x="0" y="0"/>
                  </a:lnTo>
                  <a:lnTo>
                    <a:pt x="1113182" y="0"/>
                  </a:lnTo>
                </a:path>
              </a:pathLst>
            </a:cu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40A10703-E891-385A-8CBA-45640607112C}"/>
                </a:ext>
              </a:extLst>
            </p:cNvPr>
            <p:cNvSpPr txBox="1"/>
            <p:nvPr/>
          </p:nvSpPr>
          <p:spPr>
            <a:xfrm>
              <a:off x="10925730" y="2115374"/>
              <a:ext cx="2882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假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ECD9EF9C-4384-B371-261B-D2C158DD60DB}"/>
                </a:ext>
              </a:extLst>
            </p:cNvPr>
            <p:cNvSpPr txBox="1"/>
            <p:nvPr/>
          </p:nvSpPr>
          <p:spPr>
            <a:xfrm>
              <a:off x="10242239" y="2651070"/>
              <a:ext cx="2882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真</a:t>
              </a:r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FF8794E8-B6DD-C6B2-31AF-131A28AF0317}"/>
                </a:ext>
              </a:extLst>
            </p:cNvPr>
            <p:cNvCxnSpPr>
              <a:stCxn id="44" idx="3"/>
            </p:cNvCxnSpPr>
            <p:nvPr/>
          </p:nvCxnSpPr>
          <p:spPr>
            <a:xfrm>
              <a:off x="11005246" y="3947894"/>
              <a:ext cx="288236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B58175E0-0161-31D0-663E-4F3F4931C07A}"/>
                </a:ext>
              </a:extLst>
            </p:cNvPr>
            <p:cNvSpPr txBox="1"/>
            <p:nvPr/>
          </p:nvSpPr>
          <p:spPr>
            <a:xfrm>
              <a:off x="10947917" y="3684676"/>
              <a:ext cx="2882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真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99FDF99-9AA7-D2DB-DAD3-A1AC5B3B5D25}"/>
                </a:ext>
              </a:extLst>
            </p:cNvPr>
            <p:cNvSpPr txBox="1"/>
            <p:nvPr/>
          </p:nvSpPr>
          <p:spPr>
            <a:xfrm>
              <a:off x="10257148" y="4191571"/>
              <a:ext cx="2882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假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98B6BDC7-6A97-E09A-864A-D0D14D4BECBC}"/>
                </a:ext>
              </a:extLst>
            </p:cNvPr>
            <p:cNvCxnSpPr/>
            <p:nvPr/>
          </p:nvCxnSpPr>
          <p:spPr>
            <a:xfrm>
              <a:off x="11283322" y="3954691"/>
              <a:ext cx="0" cy="117704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任意多边形 58">
              <a:extLst>
                <a:ext uri="{FF2B5EF4-FFF2-40B4-BE49-F238E27FC236}">
                  <a16:creationId xmlns:a16="http://schemas.microsoft.com/office/drawing/2014/main" id="{E0B4588C-4B42-854B-9D0F-3E4236C166EE}"/>
                </a:ext>
              </a:extLst>
            </p:cNvPr>
            <p:cNvSpPr/>
            <p:nvPr/>
          </p:nvSpPr>
          <p:spPr>
            <a:xfrm>
              <a:off x="10298049" y="2403441"/>
              <a:ext cx="1149350" cy="3073400"/>
            </a:xfrm>
            <a:custGeom>
              <a:avLst/>
              <a:gdLst>
                <a:gd name="connsiteX0" fmla="*/ 685800 w 1149350"/>
                <a:gd name="connsiteY0" fmla="*/ 0 h 3073400"/>
                <a:gd name="connsiteX1" fmla="*/ 1149350 w 1149350"/>
                <a:gd name="connsiteY1" fmla="*/ 0 h 3073400"/>
                <a:gd name="connsiteX2" fmla="*/ 1149350 w 1149350"/>
                <a:gd name="connsiteY2" fmla="*/ 2794000 h 3073400"/>
                <a:gd name="connsiteX3" fmla="*/ 0 w 1149350"/>
                <a:gd name="connsiteY3" fmla="*/ 2794000 h 3073400"/>
                <a:gd name="connsiteX4" fmla="*/ 0 w 1149350"/>
                <a:gd name="connsiteY4" fmla="*/ 3073400 h 30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9350" h="3073400">
                  <a:moveTo>
                    <a:pt x="685800" y="0"/>
                  </a:moveTo>
                  <a:lnTo>
                    <a:pt x="1149350" y="0"/>
                  </a:lnTo>
                  <a:lnTo>
                    <a:pt x="1149350" y="2794000"/>
                  </a:lnTo>
                  <a:lnTo>
                    <a:pt x="0" y="2794000"/>
                  </a:lnTo>
                  <a:lnTo>
                    <a:pt x="0" y="3073400"/>
                  </a:lnTo>
                </a:path>
              </a:pathLst>
            </a:cu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81775C7-B2B5-4AD6-365B-84E827CADA41}"/>
                </a:ext>
              </a:extLst>
            </p:cNvPr>
            <p:cNvCxnSpPr>
              <a:stCxn id="48" idx="1"/>
            </p:cNvCxnSpPr>
            <p:nvPr/>
          </p:nvCxnSpPr>
          <p:spPr>
            <a:xfrm>
              <a:off x="10299568" y="5131732"/>
              <a:ext cx="983754" cy="0"/>
            </a:xfrm>
            <a:prstGeom prst="line">
              <a:avLst/>
            </a:prstGeom>
            <a:ln>
              <a:solidFill>
                <a:schemeClr val="accent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1A858A50-D1AD-3F83-C25B-303A649D699D}"/>
                </a:ext>
              </a:extLst>
            </p:cNvPr>
            <p:cNvCxnSpPr>
              <a:stCxn id="46" idx="2"/>
              <a:endCxn id="48" idx="1"/>
            </p:cNvCxnSpPr>
            <p:nvPr/>
          </p:nvCxnSpPr>
          <p:spPr>
            <a:xfrm>
              <a:off x="10299568" y="4965637"/>
              <a:ext cx="0" cy="16609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092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BA73-005D-39AD-C744-D202733E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C990817-5D3D-EA65-E305-C3E6BF307E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921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循环嵌套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0B107F-179E-A4CB-2F60-9D12766AD6A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E548C6BD-68FE-42F0-9F76-193FFA58E4DC}"/>
              </a:ext>
            </a:extLst>
          </p:cNvPr>
          <p:cNvSpPr txBox="1">
            <a:spLocks/>
          </p:cNvSpPr>
          <p:nvPr/>
        </p:nvSpPr>
        <p:spPr>
          <a:xfrm>
            <a:off x="3966942" y="220006"/>
            <a:ext cx="6774950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循环的嵌套形式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96F682-F3EB-1672-101F-0E8683E35E64}"/>
              </a:ext>
            </a:extLst>
          </p:cNvPr>
          <p:cNvGrpSpPr/>
          <p:nvPr/>
        </p:nvGrpSpPr>
        <p:grpSpPr>
          <a:xfrm>
            <a:off x="622407" y="1064385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圆角矩形 17">
                  <a:extLst>
                    <a:ext uri="{FF2B5EF4-FFF2-40B4-BE49-F238E27FC236}">
                      <a16:creationId xmlns:a16="http://schemas.microsoft.com/office/drawing/2014/main" id="{97F2DD3F-592F-3A1B-409B-3C01B6241B40}"/>
                    </a:ext>
                  </a:extLst>
                </p:cNvPr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while()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while()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圆角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MH_Other_1">
              <a:extLst>
                <a:ext uri="{FF2B5EF4-FFF2-40B4-BE49-F238E27FC236}">
                  <a16:creationId xmlns:a16="http://schemas.microsoft.com/office/drawing/2014/main" id="{FB24F9C1-0495-890A-A005-8E586FEA202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01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26340D64-8CC5-4D8F-6900-1EE41BBB5764}"/>
                </a:ext>
              </a:extLst>
            </p:cNvPr>
            <p:cNvSpPr/>
            <p:nvPr/>
          </p:nvSpPr>
          <p:spPr>
            <a:xfrm>
              <a:off x="3558209" y="2773017"/>
              <a:ext cx="45719" cy="51683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3E5C26-B931-F4CF-08E1-F7E16E6739FC}"/>
                </a:ext>
              </a:extLst>
            </p:cNvPr>
            <p:cNvSpPr txBox="1"/>
            <p:nvPr/>
          </p:nvSpPr>
          <p:spPr>
            <a:xfrm>
              <a:off x="3603928" y="2773017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45B7221-DD62-40EF-A408-DE534E00920A}"/>
              </a:ext>
            </a:extLst>
          </p:cNvPr>
          <p:cNvGrpSpPr/>
          <p:nvPr/>
        </p:nvGrpSpPr>
        <p:grpSpPr>
          <a:xfrm>
            <a:off x="4438376" y="1064385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圆角矩形 21">
                  <a:extLst>
                    <a:ext uri="{FF2B5EF4-FFF2-40B4-BE49-F238E27FC236}">
                      <a16:creationId xmlns:a16="http://schemas.microsoft.com/office/drawing/2014/main" id="{A31B6794-99BD-10A3-5E8C-3203FA8843FD}"/>
                    </a:ext>
                  </a:extLst>
                </p:cNvPr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do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do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while();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}while();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圆角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MH_Other_1">
              <a:extLst>
                <a:ext uri="{FF2B5EF4-FFF2-40B4-BE49-F238E27FC236}">
                  <a16:creationId xmlns:a16="http://schemas.microsoft.com/office/drawing/2014/main" id="{62D8FC7A-04CE-01C2-6350-789EF046E7A6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02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13" name="右大括号 12">
              <a:extLst>
                <a:ext uri="{FF2B5EF4-FFF2-40B4-BE49-F238E27FC236}">
                  <a16:creationId xmlns:a16="http://schemas.microsoft.com/office/drawing/2014/main" id="{31D1F0F2-9EB7-BEF1-C84C-348B2C2BA6DD}"/>
                </a:ext>
              </a:extLst>
            </p:cNvPr>
            <p:cNvSpPr/>
            <p:nvPr/>
          </p:nvSpPr>
          <p:spPr>
            <a:xfrm>
              <a:off x="3595159" y="2516567"/>
              <a:ext cx="68404" cy="773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941E56F-7F85-257F-F558-A1E041DDBF1B}"/>
                </a:ext>
              </a:extLst>
            </p:cNvPr>
            <p:cNvSpPr txBox="1"/>
            <p:nvPr/>
          </p:nvSpPr>
          <p:spPr>
            <a:xfrm>
              <a:off x="3640702" y="2641599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2325A1F-1C43-134E-8139-A80118B432D3}"/>
              </a:ext>
            </a:extLst>
          </p:cNvPr>
          <p:cNvGrpSpPr/>
          <p:nvPr/>
        </p:nvGrpSpPr>
        <p:grpSpPr>
          <a:xfrm>
            <a:off x="8327140" y="1064385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圆角矩形 27">
                  <a:extLst>
                    <a:ext uri="{FF2B5EF4-FFF2-40B4-BE49-F238E27FC236}">
                      <a16:creationId xmlns:a16="http://schemas.microsoft.com/office/drawing/2014/main" id="{AAE92879-F730-E42D-6985-167FFD89BB0E}"/>
                    </a:ext>
                  </a:extLst>
                </p:cNvPr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for( ; ; )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for( ; ; )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圆角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MH_Other_1">
              <a:extLst>
                <a:ext uri="{FF2B5EF4-FFF2-40B4-BE49-F238E27FC236}">
                  <a16:creationId xmlns:a16="http://schemas.microsoft.com/office/drawing/2014/main" id="{21905144-E00A-9265-E77E-9BFF9047571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03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25" name="右大括号 24">
              <a:extLst>
                <a:ext uri="{FF2B5EF4-FFF2-40B4-BE49-F238E27FC236}">
                  <a16:creationId xmlns:a16="http://schemas.microsoft.com/office/drawing/2014/main" id="{0C7C2103-A87C-0946-9CFD-A635F2B68693}"/>
                </a:ext>
              </a:extLst>
            </p:cNvPr>
            <p:cNvSpPr/>
            <p:nvPr/>
          </p:nvSpPr>
          <p:spPr>
            <a:xfrm>
              <a:off x="3697355" y="2753139"/>
              <a:ext cx="45719" cy="51683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320B1EA-0143-7D47-3D29-99C7EDDC3883}"/>
                </a:ext>
              </a:extLst>
            </p:cNvPr>
            <p:cNvSpPr txBox="1"/>
            <p:nvPr/>
          </p:nvSpPr>
          <p:spPr>
            <a:xfrm>
              <a:off x="3743074" y="2753139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9CDE561-F806-ACCE-69E5-2A520380370D}"/>
              </a:ext>
            </a:extLst>
          </p:cNvPr>
          <p:cNvGrpSpPr/>
          <p:nvPr/>
        </p:nvGrpSpPr>
        <p:grpSpPr>
          <a:xfrm>
            <a:off x="622407" y="3685450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圆角矩形 33">
                  <a:extLst>
                    <a:ext uri="{FF2B5EF4-FFF2-40B4-BE49-F238E27FC236}">
                      <a16:creationId xmlns:a16="http://schemas.microsoft.com/office/drawing/2014/main" id="{2126FFA8-74C4-6553-FCD4-069ACBC05859}"/>
                    </a:ext>
                  </a:extLst>
                </p:cNvPr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while()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do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while();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圆角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2" cstate="print"/>
                  <a:stretch>
                    <a:fillRect b="-31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MH_Other_1">
              <a:extLst>
                <a:ext uri="{FF2B5EF4-FFF2-40B4-BE49-F238E27FC236}">
                  <a16:creationId xmlns:a16="http://schemas.microsoft.com/office/drawing/2014/main" id="{AECBB5F3-DC96-5CF3-B70D-8936EB19803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04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30" name="右大括号 29">
              <a:extLst>
                <a:ext uri="{FF2B5EF4-FFF2-40B4-BE49-F238E27FC236}">
                  <a16:creationId xmlns:a16="http://schemas.microsoft.com/office/drawing/2014/main" id="{B8037B14-CE08-9DEE-8304-392418D28345}"/>
                </a:ext>
              </a:extLst>
            </p:cNvPr>
            <p:cNvSpPr/>
            <p:nvPr/>
          </p:nvSpPr>
          <p:spPr>
            <a:xfrm>
              <a:off x="3689018" y="2454035"/>
              <a:ext cx="73936" cy="835817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993C392-DB9F-2FAA-9A74-965E5CF54AE9}"/>
                </a:ext>
              </a:extLst>
            </p:cNvPr>
            <p:cNvSpPr txBox="1"/>
            <p:nvPr/>
          </p:nvSpPr>
          <p:spPr>
            <a:xfrm>
              <a:off x="3762953" y="2610333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4243103-F272-265C-0377-90B1C1A40819}"/>
              </a:ext>
            </a:extLst>
          </p:cNvPr>
          <p:cNvGrpSpPr/>
          <p:nvPr/>
        </p:nvGrpSpPr>
        <p:grpSpPr>
          <a:xfrm>
            <a:off x="4438376" y="3685450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圆角矩形 39">
                  <a:extLst>
                    <a:ext uri="{FF2B5EF4-FFF2-40B4-BE49-F238E27FC236}">
                      <a16:creationId xmlns:a16="http://schemas.microsoft.com/office/drawing/2014/main" id="{0956B28C-36CA-2280-09E7-4CE6AE49B2EE}"/>
                    </a:ext>
                  </a:extLst>
                </p:cNvPr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for( ; ; )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while()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圆角矩形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3" cstate="print"/>
                  <a:stretch>
                    <a:fillRect b="-31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MH_Other_1">
              <a:extLst>
                <a:ext uri="{FF2B5EF4-FFF2-40B4-BE49-F238E27FC236}">
                  <a16:creationId xmlns:a16="http://schemas.microsoft.com/office/drawing/2014/main" id="{41DF911D-BC63-36E5-1EAF-70A3958ABB9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05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35" name="右大括号 34">
              <a:extLst>
                <a:ext uri="{FF2B5EF4-FFF2-40B4-BE49-F238E27FC236}">
                  <a16:creationId xmlns:a16="http://schemas.microsoft.com/office/drawing/2014/main" id="{FA27EAC8-EF94-BE55-BA8F-1E5F04607779}"/>
                </a:ext>
              </a:extLst>
            </p:cNvPr>
            <p:cNvSpPr/>
            <p:nvPr/>
          </p:nvSpPr>
          <p:spPr>
            <a:xfrm>
              <a:off x="3627782" y="2773017"/>
              <a:ext cx="45719" cy="51683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CDA8FBA-B590-46F0-5CF4-5F2379050CCA}"/>
                </a:ext>
              </a:extLst>
            </p:cNvPr>
            <p:cNvSpPr txBox="1"/>
            <p:nvPr/>
          </p:nvSpPr>
          <p:spPr>
            <a:xfrm>
              <a:off x="3673501" y="2773017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222DC0D-0256-BD04-F9EA-92546920B289}"/>
              </a:ext>
            </a:extLst>
          </p:cNvPr>
          <p:cNvGrpSpPr/>
          <p:nvPr/>
        </p:nvGrpSpPr>
        <p:grpSpPr>
          <a:xfrm>
            <a:off x="8327140" y="3685450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圆角矩形 44">
                  <a:extLst>
                    <a:ext uri="{FF2B5EF4-FFF2-40B4-BE49-F238E27FC236}">
                      <a16:creationId xmlns:a16="http://schemas.microsoft.com/office/drawing/2014/main" id="{9B0EA9D6-9D5A-C17A-B86D-5C566958B62E}"/>
                    </a:ext>
                  </a:extLst>
                </p:cNvPr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do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for( ; ; )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}while();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圆角矩形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MH_Other_1">
              <a:extLst>
                <a:ext uri="{FF2B5EF4-FFF2-40B4-BE49-F238E27FC236}">
                  <a16:creationId xmlns:a16="http://schemas.microsoft.com/office/drawing/2014/main" id="{082E086A-CB74-3A9A-0BA4-565B3BD3343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06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40" name="右大括号 39">
              <a:extLst>
                <a:ext uri="{FF2B5EF4-FFF2-40B4-BE49-F238E27FC236}">
                  <a16:creationId xmlns:a16="http://schemas.microsoft.com/office/drawing/2014/main" id="{60EB6085-A7EA-FF1B-7196-45D6F68D0A43}"/>
                </a:ext>
              </a:extLst>
            </p:cNvPr>
            <p:cNvSpPr/>
            <p:nvPr/>
          </p:nvSpPr>
          <p:spPr>
            <a:xfrm>
              <a:off x="3558209" y="2773017"/>
              <a:ext cx="45719" cy="51683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99C0578-F23D-0512-2D8C-776BCA214EDA}"/>
                </a:ext>
              </a:extLst>
            </p:cNvPr>
            <p:cNvSpPr txBox="1"/>
            <p:nvPr/>
          </p:nvSpPr>
          <p:spPr>
            <a:xfrm>
              <a:off x="3603928" y="2773017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976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04BD-3D74-1402-3537-A8DEB5F1A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025DA41-64B6-8EFE-E6BC-C4C13FAC4E0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740" y="175862"/>
            <a:ext cx="2979738" cy="403225"/>
          </a:xfrm>
        </p:spPr>
        <p:txBody>
          <a:bodyPr/>
          <a:lstStyle/>
          <a:p>
            <a:r>
              <a:rPr lang="zh-CN" altLang="en-US" sz="2400" dirty="0"/>
              <a:t>循环嵌套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FA156E-256C-FDDF-EA79-2EF9591283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D00D5E91-9FEB-BFB6-E871-8093D6DC6CC4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循环嵌套中的</a:t>
            </a:r>
            <a:r>
              <a:rPr lang="en-US" altLang="zh-CN" sz="2400" dirty="0"/>
              <a:t>break</a:t>
            </a:r>
            <a:r>
              <a:rPr lang="zh-CN" altLang="en-US" sz="2400" dirty="0"/>
              <a:t>和</a:t>
            </a:r>
            <a:r>
              <a:rPr lang="en-US" altLang="zh-CN" sz="2400" dirty="0"/>
              <a:t>continue</a:t>
            </a:r>
            <a:r>
              <a:rPr lang="zh-CN" altLang="en-US" sz="2400" dirty="0"/>
              <a:t>的区别</a:t>
            </a:r>
          </a:p>
        </p:txBody>
      </p:sp>
      <p:sp>
        <p:nvSpPr>
          <p:cNvPr id="3" name="圆角矩形 12">
            <a:extLst>
              <a:ext uri="{FF2B5EF4-FFF2-40B4-BE49-F238E27FC236}">
                <a16:creationId xmlns:a16="http://schemas.microsoft.com/office/drawing/2014/main" id="{32A0D735-F3AA-6B55-7622-AF1C8D1B7992}"/>
              </a:ext>
            </a:extLst>
          </p:cNvPr>
          <p:cNvSpPr/>
          <p:nvPr/>
        </p:nvSpPr>
        <p:spPr>
          <a:xfrm>
            <a:off x="690740" y="1810116"/>
            <a:ext cx="5776757" cy="3439105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int i,j,n=0;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</a:t>
            </a:r>
            <a:r>
              <a:rPr lang="pt-BR" altLang="zh-CN" sz="1400">
                <a:solidFill>
                  <a:schemeClr val="accent6"/>
                </a:solidFill>
              </a:rPr>
              <a:t>for(i=1;i&lt;=4;i++)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>
                <a:solidFill>
                  <a:schemeClr val="accent6"/>
                </a:solidFill>
              </a:rPr>
              <a:t>		for(j=1;j&lt;=5;j++,n++)</a:t>
            </a:r>
            <a:r>
              <a:rPr lang="pt-BR" altLang="zh-CN" sz="1400"/>
              <a:t>		</a:t>
            </a:r>
            <a:r>
              <a:rPr lang="pt-BR" altLang="zh-CN" sz="1400">
                <a:solidFill>
                  <a:srgbClr val="008000"/>
                </a:solidFill>
              </a:rPr>
              <a:t>//n</a:t>
            </a:r>
            <a:r>
              <a:rPr lang="zh-CN" altLang="en-US" sz="1400">
                <a:solidFill>
                  <a:srgbClr val="008000"/>
                </a:solidFill>
              </a:rPr>
              <a:t>用来累计输出数据的个数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	</a:t>
            </a:r>
            <a:r>
              <a:rPr lang="en-US" altLang="zh-CN" sz="1400"/>
              <a:t>{	</a:t>
            </a:r>
            <a:r>
              <a:rPr lang="pt-BR" altLang="zh-CN" sz="1400"/>
              <a:t>if(n%5==0) printf("\n");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控制在输出</a:t>
            </a:r>
            <a:r>
              <a:rPr lang="en-US" altLang="zh-CN" sz="1400">
                <a:solidFill>
                  <a:srgbClr val="008000"/>
                </a:solidFill>
              </a:rPr>
              <a:t>5</a:t>
            </a:r>
            <a:r>
              <a:rPr lang="zh-CN" altLang="en-US" sz="1400">
                <a:solidFill>
                  <a:srgbClr val="008000"/>
                </a:solidFill>
              </a:rPr>
              <a:t>个数据后换行</a:t>
            </a:r>
            <a:endParaRPr lang="en-US" altLang="zh-CN" sz="140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>
                <a:solidFill>
                  <a:srgbClr val="008000"/>
                </a:solidFill>
              </a:rPr>
              <a:t>			</a:t>
            </a:r>
            <a:endParaRPr lang="zh-CN" altLang="en-US" sz="140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		</a:t>
            </a:r>
            <a:r>
              <a:rPr lang="pt-BR" altLang="zh-CN" sz="1400"/>
              <a:t>printf("%d\t",i*j);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	}  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printf("\n");    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1AA0A4-0373-B7DA-CD00-6DD219B3FF93}"/>
              </a:ext>
            </a:extLst>
          </p:cNvPr>
          <p:cNvSpPr/>
          <p:nvPr/>
        </p:nvSpPr>
        <p:spPr>
          <a:xfrm>
            <a:off x="1880523" y="3701546"/>
            <a:ext cx="1800000" cy="228600"/>
          </a:xfrm>
          <a:prstGeom prst="rect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C244E1E-166D-54F8-35D2-D2066890955F}"/>
              </a:ext>
            </a:extLst>
          </p:cNvPr>
          <p:cNvSpPr txBox="1">
            <a:spLocks/>
          </p:cNvSpPr>
          <p:nvPr/>
        </p:nvSpPr>
        <p:spPr>
          <a:xfrm>
            <a:off x="565757" y="992396"/>
            <a:ext cx="10515600" cy="5577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【</a:t>
            </a:r>
            <a:r>
              <a:rPr lang="zh-CN" altLang="en-US" sz="2000" b="1" dirty="0">
                <a:solidFill>
                  <a:schemeClr val="accent1"/>
                </a:solidFill>
              </a:rPr>
              <a:t>例</a:t>
            </a:r>
            <a:r>
              <a:rPr lang="en-US" altLang="zh-CN" sz="2000" b="1" dirty="0">
                <a:solidFill>
                  <a:schemeClr val="accent1"/>
                </a:solidFill>
              </a:rPr>
              <a:t>5.6】</a:t>
            </a:r>
            <a:r>
              <a:rPr lang="zh-CN" altLang="en-US" sz="2000" b="1" dirty="0">
                <a:solidFill>
                  <a:schemeClr val="accent1"/>
                </a:solidFill>
              </a:rPr>
              <a:t>输出以下</a:t>
            </a:r>
            <a:r>
              <a:rPr lang="en-US" altLang="zh-CN" sz="2000" b="1" dirty="0">
                <a:solidFill>
                  <a:schemeClr val="accent1"/>
                </a:solidFill>
              </a:rPr>
              <a:t>4×5</a:t>
            </a:r>
            <a:r>
              <a:rPr lang="zh-CN" altLang="en-US" sz="2000" b="1" dirty="0">
                <a:solidFill>
                  <a:schemeClr val="accent1"/>
                </a:solidFill>
              </a:rPr>
              <a:t>的矩阵。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76617CD-C274-6C34-70B8-13382C1DF45A}"/>
              </a:ext>
            </a:extLst>
          </p:cNvPr>
          <p:cNvGrpSpPr/>
          <p:nvPr/>
        </p:nvGrpSpPr>
        <p:grpSpPr>
          <a:xfrm>
            <a:off x="3360393" y="3911049"/>
            <a:ext cx="3442777" cy="1403558"/>
            <a:chOff x="8050697" y="5019261"/>
            <a:chExt cx="3442777" cy="140355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剪去单角的矩形 52">
              <a:extLst>
                <a:ext uri="{FF2B5EF4-FFF2-40B4-BE49-F238E27FC236}">
                  <a16:creationId xmlns:a16="http://schemas.microsoft.com/office/drawing/2014/main" id="{922E9727-5C6E-5FD0-9B26-B6A09853F4E3}"/>
                </a:ext>
              </a:extLst>
            </p:cNvPr>
            <p:cNvSpPr/>
            <p:nvPr/>
          </p:nvSpPr>
          <p:spPr>
            <a:xfrm>
              <a:off x="8050697" y="5019261"/>
              <a:ext cx="3442777" cy="1403558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EB1B745-7981-C500-4125-93E4E0E7F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82A4B15-A95D-667E-FCF8-365EA9A662A9}"/>
                </a:ext>
              </a:extLst>
            </p:cNvPr>
            <p:cNvSpPr txBox="1"/>
            <p:nvPr/>
          </p:nvSpPr>
          <p:spPr>
            <a:xfrm>
              <a:off x="8388005" y="5054496"/>
              <a:ext cx="2929505" cy="136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本程序包括一个双重循环，是</a:t>
              </a:r>
              <a:r>
                <a:rPr lang="en-US" altLang="zh-CN" sz="1400">
                  <a:solidFill>
                    <a:schemeClr val="bg1"/>
                  </a:solidFill>
                </a:rPr>
                <a:t>for</a:t>
              </a:r>
              <a:r>
                <a:rPr lang="zh-CN" altLang="en-US" sz="1400">
                  <a:solidFill>
                    <a:schemeClr val="bg1"/>
                  </a:solidFill>
                </a:rPr>
                <a:t>循环的嵌套。外循环变量</a:t>
              </a:r>
              <a:r>
                <a:rPr lang="en-US" altLang="zh-CN" sz="1400">
                  <a:solidFill>
                    <a:schemeClr val="bg1"/>
                  </a:solidFill>
                </a:rPr>
                <a:t>i</a:t>
              </a:r>
              <a:r>
                <a:rPr lang="zh-CN" altLang="en-US" sz="1400">
                  <a:solidFill>
                    <a:schemeClr val="bg1"/>
                  </a:solidFill>
                </a:rPr>
                <a:t>由</a:t>
              </a:r>
              <a:r>
                <a:rPr lang="en-US" altLang="zh-CN" sz="1400">
                  <a:solidFill>
                    <a:schemeClr val="bg1"/>
                  </a:solidFill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</a:rPr>
                <a:t>变到</a:t>
              </a:r>
              <a:r>
                <a:rPr lang="en-US" altLang="zh-CN" sz="1400">
                  <a:solidFill>
                    <a:schemeClr val="bg1"/>
                  </a:solidFill>
                </a:rPr>
                <a:t>4</a:t>
              </a:r>
              <a:r>
                <a:rPr lang="zh-CN" altLang="en-US" sz="1400">
                  <a:solidFill>
                    <a:schemeClr val="bg1"/>
                  </a:solidFill>
                </a:rPr>
                <a:t>，用来控制输出</a:t>
              </a:r>
              <a:r>
                <a:rPr lang="en-US" altLang="zh-CN" sz="1400">
                  <a:solidFill>
                    <a:schemeClr val="bg1"/>
                  </a:solidFill>
                </a:rPr>
                <a:t>4</a:t>
              </a:r>
              <a:r>
                <a:rPr lang="zh-CN" altLang="en-US" sz="1400">
                  <a:solidFill>
                    <a:schemeClr val="bg1"/>
                  </a:solidFill>
                </a:rPr>
                <a:t>行数据</a:t>
              </a:r>
              <a:r>
                <a:rPr lang="en-US" altLang="zh-CN" sz="1400">
                  <a:solidFill>
                    <a:schemeClr val="bg1"/>
                  </a:solidFill>
                </a:rPr>
                <a:t>;</a:t>
              </a:r>
              <a:r>
                <a:rPr lang="zh-CN" altLang="en-US" sz="1400">
                  <a:solidFill>
                    <a:schemeClr val="bg1"/>
                  </a:solidFill>
                </a:rPr>
                <a:t>内循环变量</a:t>
              </a:r>
              <a:r>
                <a:rPr lang="en-US" altLang="zh-CN" sz="1400">
                  <a:solidFill>
                    <a:schemeClr val="bg1"/>
                  </a:solidFill>
                </a:rPr>
                <a:t>j</a:t>
              </a:r>
              <a:r>
                <a:rPr lang="zh-CN" altLang="en-US" sz="1400">
                  <a:solidFill>
                    <a:schemeClr val="bg1"/>
                  </a:solidFill>
                </a:rPr>
                <a:t>由</a:t>
              </a:r>
              <a:r>
                <a:rPr lang="en-US" altLang="zh-CN" sz="1400">
                  <a:solidFill>
                    <a:schemeClr val="bg1"/>
                  </a:solidFill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</a:rPr>
                <a:t>变到</a:t>
              </a:r>
              <a:r>
                <a:rPr lang="en-US" altLang="zh-CN" sz="1400">
                  <a:solidFill>
                    <a:schemeClr val="bg1"/>
                  </a:solidFill>
                </a:rPr>
                <a:t>5</a:t>
              </a:r>
              <a:r>
                <a:rPr lang="zh-CN" altLang="en-US" sz="1400">
                  <a:solidFill>
                    <a:schemeClr val="bg1"/>
                  </a:solidFill>
                </a:rPr>
                <a:t>，用来控制输出每行中的</a:t>
              </a:r>
              <a:r>
                <a:rPr lang="en-US" altLang="zh-CN" sz="1400">
                  <a:solidFill>
                    <a:schemeClr val="bg1"/>
                  </a:solidFill>
                </a:rPr>
                <a:t>5</a:t>
              </a:r>
              <a:r>
                <a:rPr lang="zh-CN" altLang="en-US" sz="1400">
                  <a:solidFill>
                    <a:schemeClr val="bg1"/>
                  </a:solidFill>
                </a:rPr>
                <a:t>个数据。</a:t>
              </a:r>
              <a:endParaRPr lang="en-US" altLang="zh-CN" sz="1400" b="1">
                <a:solidFill>
                  <a:srgbClr val="FFFF00"/>
                </a:solidFill>
              </a:endParaRPr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6BE23410-3780-3822-7ACC-464C0286E072}"/>
              </a:ext>
            </a:extLst>
          </p:cNvPr>
          <p:cNvSpPr/>
          <p:nvPr/>
        </p:nvSpPr>
        <p:spPr>
          <a:xfrm>
            <a:off x="4155636" y="1276504"/>
            <a:ext cx="2335695" cy="906740"/>
          </a:xfrm>
          <a:prstGeom prst="rect">
            <a:avLst/>
          </a:prstGeom>
          <a:solidFill>
            <a:schemeClr val="bg2"/>
          </a:solidFill>
          <a:ln>
            <a:noFill/>
            <a:tailEnd type="triangle" w="lg" len="lg"/>
          </a:ln>
          <a:effectLst>
            <a:outerShdw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88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357188"/>
            <a:r>
              <a:rPr lang="en-US" altLang="zh-CN" sz="1400"/>
              <a:t>1	2	3	4	5</a:t>
            </a:r>
          </a:p>
          <a:p>
            <a:pPr defTabSz="357188"/>
            <a:r>
              <a:rPr lang="en-US" altLang="zh-CN" sz="1400"/>
              <a:t>2	4	6	8	10</a:t>
            </a:r>
          </a:p>
          <a:p>
            <a:pPr defTabSz="357188"/>
            <a:r>
              <a:rPr lang="en-US" altLang="zh-CN" sz="1400"/>
              <a:t>3	6	9	12	15</a:t>
            </a:r>
          </a:p>
          <a:p>
            <a:pPr defTabSz="357188"/>
            <a:r>
              <a:rPr lang="en-US" altLang="zh-CN" sz="1400"/>
              <a:t>4	8	12	16	20</a:t>
            </a:r>
            <a:endParaRPr lang="zh-CN" altLang="en-US" sz="140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FDAEB11-F1C3-098B-61C2-4590B37632B0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0740" y="5324546"/>
            <a:ext cx="3524250" cy="1438275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186EE929-A90E-37EC-4652-1A32DF8B6B4D}"/>
              </a:ext>
            </a:extLst>
          </p:cNvPr>
          <p:cNvGrpSpPr/>
          <p:nvPr/>
        </p:nvGrpSpPr>
        <p:grpSpPr>
          <a:xfrm>
            <a:off x="3718199" y="824985"/>
            <a:ext cx="7446502" cy="5007027"/>
            <a:chOff x="4036680" y="800895"/>
            <a:chExt cx="7446502" cy="5007027"/>
          </a:xfrm>
        </p:grpSpPr>
        <p:sp>
          <p:nvSpPr>
            <p:cNvPr id="21" name="MH_Other_1">
              <a:extLst>
                <a:ext uri="{FF2B5EF4-FFF2-40B4-BE49-F238E27FC236}">
                  <a16:creationId xmlns:a16="http://schemas.microsoft.com/office/drawing/2014/main" id="{A5C06F70-0BCB-EE10-A358-52F5025F9D14}"/>
                </a:ext>
              </a:extLst>
            </p:cNvPr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 flipV="1">
              <a:off x="4036680" y="1152939"/>
              <a:ext cx="3812714" cy="2643118"/>
            </a:xfrm>
            <a:prstGeom prst="line">
              <a:avLst/>
            </a:prstGeom>
            <a:noFill/>
            <a:ln w="38100" cap="rnd">
              <a:solidFill>
                <a:schemeClr val="accent1">
                  <a:lumMod val="40000"/>
                  <a:lumOff val="60000"/>
                </a:schemeClr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normAutofit fontScale="25000" lnSpcReduction="20000"/>
            </a:bodyPr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4" name="MH_Other_2">
              <a:extLst>
                <a:ext uri="{FF2B5EF4-FFF2-40B4-BE49-F238E27FC236}">
                  <a16:creationId xmlns:a16="http://schemas.microsoft.com/office/drawing/2014/main" id="{04057525-612A-3DBA-9CC4-2C92C529D51A}"/>
                </a:ext>
              </a:extLst>
            </p:cNvPr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 flipV="1">
              <a:off x="4036680" y="3828635"/>
              <a:ext cx="3812714" cy="0"/>
            </a:xfrm>
            <a:prstGeom prst="line">
              <a:avLst/>
            </a:prstGeom>
            <a:noFill/>
            <a:ln w="38100" cap="rnd">
              <a:solidFill>
                <a:schemeClr val="accent1">
                  <a:lumMod val="40000"/>
                  <a:lumOff val="60000"/>
                </a:schemeClr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normAutofit fontScale="25000" lnSpcReduction="20000"/>
            </a:bodyPr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5" name="MH_SubTitle_1">
              <a:extLst>
                <a:ext uri="{FF2B5EF4-FFF2-40B4-BE49-F238E27FC236}">
                  <a16:creationId xmlns:a16="http://schemas.microsoft.com/office/drawing/2014/main" id="{FF823EA9-6E47-1C4F-E560-531DEEB92609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>
              <a:off x="7849394" y="800895"/>
              <a:ext cx="3633788" cy="64611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lIns="0" tIns="0" rIns="0" bIns="0" anchor="ctr" anchorCtr="1">
              <a:normAutofit/>
            </a:bodyPr>
            <a:lstStyle/>
            <a:p>
              <a:r>
                <a:rPr kumimoji="1" lang="en-US" altLang="zh-CN">
                  <a:solidFill>
                    <a:srgbClr val="FFFFFF"/>
                  </a:solidFill>
                </a:rPr>
                <a:t>if (i==3 &amp;&amp; j==1) break;</a:t>
              </a:r>
              <a:endParaRPr kumimoji="1" lang="zh-TW" altLang="en-US">
                <a:solidFill>
                  <a:srgbClr val="FFFFFF"/>
                </a:solidFill>
              </a:endParaRPr>
            </a:p>
          </p:txBody>
        </p:sp>
        <p:sp>
          <p:nvSpPr>
            <p:cNvPr id="26" name="MH_SubTitle_2">
              <a:extLst>
                <a:ext uri="{FF2B5EF4-FFF2-40B4-BE49-F238E27FC236}">
                  <a16:creationId xmlns:a16="http://schemas.microsoft.com/office/drawing/2014/main" id="{394A3517-DB02-C6A6-68DA-2C011205CFF6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gray">
            <a:xfrm>
              <a:off x="7849394" y="3505579"/>
              <a:ext cx="3633788" cy="64611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lIns="0" tIns="0" rIns="0" bIns="0" anchor="ctr" anchorCtr="1">
              <a:normAutofit/>
            </a:bodyPr>
            <a:lstStyle/>
            <a:p>
              <a:r>
                <a:rPr kumimoji="1" lang="en-US" altLang="zh-CN">
                  <a:solidFill>
                    <a:srgbClr val="FFFFFF"/>
                  </a:solidFill>
                </a:rPr>
                <a:t>if (i==3 &amp;&amp; j==1) continue;</a:t>
              </a:r>
              <a:endParaRPr kumimoji="1" lang="zh-TW" altLang="en-US">
                <a:solidFill>
                  <a:srgbClr val="FFFFFF"/>
                </a:solidFill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3A753283-4E56-5112-DC67-99BE70A47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32738" y="1630835"/>
              <a:ext cx="3467100" cy="144780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9A5BB563-E6EA-7095-9496-112A1548E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13688" y="4379172"/>
              <a:ext cx="3505200" cy="1428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746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55B8-B02F-277D-FDEC-01C33B62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34A89F4-C99F-1FDA-88DA-4344780A9B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循环应用示例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DCEB7D-B3C8-5D1B-E499-97222D280AB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2DBCB1F-35F9-F10D-1E6C-7A82C26248F5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循环程序示例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904CAD-391B-790B-12F1-A25BD512BA98}"/>
              </a:ext>
            </a:extLst>
          </p:cNvPr>
          <p:cNvSpPr txBox="1">
            <a:spLocks/>
          </p:cNvSpPr>
          <p:nvPr/>
        </p:nvSpPr>
        <p:spPr>
          <a:xfrm>
            <a:off x="622407" y="863100"/>
            <a:ext cx="9882428" cy="4080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accent1"/>
                </a:solidFill>
              </a:rPr>
              <a:t>【</a:t>
            </a:r>
            <a:r>
              <a:rPr lang="zh-CN" altLang="en-US" sz="1800" b="1" dirty="0">
                <a:solidFill>
                  <a:schemeClr val="accent1"/>
                </a:solidFill>
              </a:rPr>
              <a:t>例</a:t>
            </a:r>
            <a:r>
              <a:rPr lang="en-US" altLang="zh-CN" sz="1800" b="1" dirty="0">
                <a:solidFill>
                  <a:schemeClr val="accent1"/>
                </a:solidFill>
              </a:rPr>
              <a:t>5.9】</a:t>
            </a:r>
            <a:r>
              <a:rPr lang="zh-CN" altLang="en-US" sz="1800" b="1" dirty="0">
                <a:solidFill>
                  <a:schemeClr val="accent1"/>
                </a:solidFill>
              </a:rPr>
              <a:t>输入一个大于</a:t>
            </a:r>
            <a:r>
              <a:rPr lang="en-US" altLang="zh-CN" sz="1800" b="1" dirty="0">
                <a:solidFill>
                  <a:schemeClr val="accent1"/>
                </a:solidFill>
              </a:rPr>
              <a:t>3</a:t>
            </a:r>
            <a:r>
              <a:rPr lang="zh-CN" altLang="en-US" sz="1800" b="1" dirty="0">
                <a:solidFill>
                  <a:schemeClr val="accent1"/>
                </a:solidFill>
              </a:rPr>
              <a:t>的整数</a:t>
            </a:r>
            <a:r>
              <a:rPr lang="en-US" altLang="zh-CN" sz="1800" b="1" dirty="0">
                <a:solidFill>
                  <a:schemeClr val="accent1"/>
                </a:solidFill>
              </a:rPr>
              <a:t>n</a:t>
            </a:r>
            <a:r>
              <a:rPr lang="zh-CN" altLang="en-US" sz="1800" b="1" dirty="0">
                <a:solidFill>
                  <a:schemeClr val="accent1"/>
                </a:solidFill>
              </a:rPr>
              <a:t>，判定它是否为素数</a:t>
            </a:r>
            <a:r>
              <a:rPr lang="en-US" altLang="zh-CN" sz="1800" b="1" dirty="0">
                <a:solidFill>
                  <a:schemeClr val="accent1"/>
                </a:solidFill>
              </a:rPr>
              <a:t>(prime</a:t>
            </a:r>
            <a:r>
              <a:rPr lang="zh-CN" altLang="en-US" sz="1800" b="1" dirty="0">
                <a:solidFill>
                  <a:schemeClr val="accent1"/>
                </a:solidFill>
              </a:rPr>
              <a:t>，又称质数</a:t>
            </a:r>
            <a:r>
              <a:rPr lang="en-US" altLang="zh-CN" sz="1800" b="1" dirty="0">
                <a:solidFill>
                  <a:schemeClr val="accent1"/>
                </a:solidFill>
              </a:rPr>
              <a:t>)</a:t>
            </a:r>
            <a:r>
              <a:rPr lang="zh-CN" altLang="en-US" sz="1800" b="1" dirty="0">
                <a:solidFill>
                  <a:schemeClr val="accent1"/>
                </a:solidFill>
              </a:rPr>
              <a:t>。</a:t>
            </a:r>
            <a:endParaRPr lang="en-US" altLang="zh-CN" sz="1800" b="1" dirty="0">
              <a:solidFill>
                <a:schemeClr val="accent1"/>
              </a:solidFill>
            </a:endParaRPr>
          </a:p>
        </p:txBody>
      </p:sp>
      <p:sp>
        <p:nvSpPr>
          <p:cNvPr id="4" name="圆角矩形 9">
            <a:extLst>
              <a:ext uri="{FF2B5EF4-FFF2-40B4-BE49-F238E27FC236}">
                <a16:creationId xmlns:a16="http://schemas.microsoft.com/office/drawing/2014/main" id="{2CE9BB57-869B-478A-3A12-A5B904C414F4}"/>
              </a:ext>
            </a:extLst>
          </p:cNvPr>
          <p:cNvSpPr/>
          <p:nvPr/>
        </p:nvSpPr>
        <p:spPr>
          <a:xfrm>
            <a:off x="799345" y="1487407"/>
            <a:ext cx="4432852" cy="3550758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50000"/>
              </a:lnSpc>
            </a:pPr>
            <a:r>
              <a:rPr lang="pt-BR" altLang="zh-CN" sz="1400" dirty="0"/>
              <a:t>#include &lt;stdio.h&gt;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int main()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{	int n,i;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printf("please enter a integer number,n=?");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scanf("%d",&amp;n);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for (i=2;i&lt;n;i++)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	if(n%i==0) </a:t>
            </a:r>
            <a:r>
              <a:rPr lang="pt-BR" altLang="zh-CN" sz="1400" dirty="0">
                <a:solidFill>
                  <a:schemeClr val="accent6"/>
                </a:solidFill>
              </a:rPr>
              <a:t>break;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</a:t>
            </a:r>
            <a:r>
              <a:rPr lang="pt-BR" altLang="zh-CN" sz="1400" dirty="0">
                <a:solidFill>
                  <a:schemeClr val="accent6"/>
                </a:solidFill>
              </a:rPr>
              <a:t>if(i&lt;n) </a:t>
            </a:r>
            <a:r>
              <a:rPr lang="pt-BR" altLang="zh-CN" sz="1400" dirty="0"/>
              <a:t>printf("%d is not a prime number.\n",n);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else printf("%d is a prime number.\n",n);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return 0;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75EB726-A09A-288F-0DAF-B38F87A202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01713" y="2831188"/>
            <a:ext cx="3457575" cy="904875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A51768A8-729E-F2B1-015C-5E8AC15B89B9}"/>
              </a:ext>
            </a:extLst>
          </p:cNvPr>
          <p:cNvGrpSpPr/>
          <p:nvPr/>
        </p:nvGrpSpPr>
        <p:grpSpPr>
          <a:xfrm>
            <a:off x="799346" y="5254382"/>
            <a:ext cx="10254134" cy="1427754"/>
            <a:chOff x="8050697" y="5019261"/>
            <a:chExt cx="10444942" cy="1358293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6" name="剪去单角的矩形 17">
              <a:extLst>
                <a:ext uri="{FF2B5EF4-FFF2-40B4-BE49-F238E27FC236}">
                  <a16:creationId xmlns:a16="http://schemas.microsoft.com/office/drawing/2014/main" id="{D3AC059A-EDE8-CC06-BA30-6993B580630D}"/>
                </a:ext>
              </a:extLst>
            </p:cNvPr>
            <p:cNvSpPr/>
            <p:nvPr/>
          </p:nvSpPr>
          <p:spPr>
            <a:xfrm>
              <a:off x="8050697" y="5019261"/>
              <a:ext cx="10444942" cy="1358293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AD55C52-CD34-941C-797E-1F0EE519C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5184F2A-858D-FCEB-E6EB-52A261019E17}"/>
                </a:ext>
              </a:extLst>
            </p:cNvPr>
            <p:cNvSpPr txBox="1"/>
            <p:nvPr/>
          </p:nvSpPr>
          <p:spPr>
            <a:xfrm>
              <a:off x="8388005" y="5054496"/>
              <a:ext cx="10001235" cy="1258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1400" dirty="0">
                  <a:solidFill>
                    <a:schemeClr val="bg1"/>
                  </a:solidFill>
                </a:rPr>
                <a:t>若</a:t>
              </a:r>
              <a:r>
                <a:rPr lang="en-US" altLang="zh-CN" sz="1400" dirty="0">
                  <a:solidFill>
                    <a:schemeClr val="bg1"/>
                  </a:solidFill>
                </a:rPr>
                <a:t>n</a:t>
              </a:r>
              <a:r>
                <a:rPr lang="zh-CN" altLang="en-US" sz="1400" dirty="0">
                  <a:solidFill>
                    <a:schemeClr val="bg1"/>
                  </a:solidFill>
                </a:rPr>
                <a:t>能被</a:t>
              </a:r>
              <a:r>
                <a:rPr lang="en-US" altLang="zh-CN" sz="1400" dirty="0">
                  <a:solidFill>
                    <a:schemeClr val="bg1"/>
                  </a:solidFill>
                </a:rPr>
                <a:t>2</a:t>
              </a:r>
              <a:r>
                <a:rPr lang="zh-CN" altLang="en-US" sz="1400" dirty="0">
                  <a:solidFill>
                    <a:schemeClr val="bg1"/>
                  </a:solidFill>
                </a:rPr>
                <a:t>～</a:t>
              </a:r>
              <a:r>
                <a:rPr lang="en-US" altLang="zh-CN" sz="1400" dirty="0">
                  <a:solidFill>
                    <a:schemeClr val="bg1"/>
                  </a:solidFill>
                </a:rPr>
                <a:t>(n-1)</a:t>
              </a:r>
              <a:r>
                <a:rPr lang="zh-CN" altLang="en-US" sz="1400" dirty="0">
                  <a:solidFill>
                    <a:schemeClr val="bg1"/>
                  </a:solidFill>
                </a:rPr>
                <a:t>之间的一个整数整除，则执行</a:t>
              </a:r>
              <a:r>
                <a:rPr lang="en-US" altLang="zh-CN" sz="1400" dirty="0">
                  <a:solidFill>
                    <a:schemeClr val="bg1"/>
                  </a:solidFill>
                </a:rPr>
                <a:t>break</a:t>
              </a:r>
              <a:r>
                <a:rPr lang="zh-CN" altLang="en-US" sz="1400" dirty="0">
                  <a:solidFill>
                    <a:schemeClr val="bg1"/>
                  </a:solidFill>
                </a:rPr>
                <a:t>语句，提前结束循环，此时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i</a:t>
              </a:r>
              <a:r>
                <a:rPr lang="en-US" altLang="zh-CN" sz="1400" dirty="0">
                  <a:solidFill>
                    <a:schemeClr val="bg1"/>
                  </a:solidFill>
                </a:rPr>
                <a:t>&lt;n</a:t>
              </a:r>
              <a:r>
                <a:rPr lang="zh-CN" altLang="en-US" sz="1400" dirty="0">
                  <a:solidFill>
                    <a:schemeClr val="bg1"/>
                  </a:solidFill>
                </a:rPr>
                <a:t>；如果</a:t>
              </a:r>
              <a:r>
                <a:rPr lang="en-US" altLang="zh-CN" sz="1400" dirty="0">
                  <a:solidFill>
                    <a:schemeClr val="bg1"/>
                  </a:solidFill>
                </a:rPr>
                <a:t>n</a:t>
              </a:r>
              <a:r>
                <a:rPr lang="zh-CN" altLang="en-US" sz="1400" dirty="0">
                  <a:solidFill>
                    <a:schemeClr val="bg1"/>
                  </a:solidFill>
                </a:rPr>
                <a:t>不能被</a:t>
              </a:r>
              <a:r>
                <a:rPr lang="en-US" altLang="zh-CN" sz="1400" dirty="0">
                  <a:solidFill>
                    <a:schemeClr val="bg1"/>
                  </a:solidFill>
                </a:rPr>
                <a:t>2</a:t>
              </a:r>
              <a:r>
                <a:rPr lang="zh-CN" altLang="en-US" sz="1400" dirty="0">
                  <a:solidFill>
                    <a:schemeClr val="bg1"/>
                  </a:solidFill>
                </a:rPr>
                <a:t>～</a:t>
              </a:r>
              <a:r>
                <a:rPr lang="en-US" altLang="zh-CN" sz="1400" dirty="0">
                  <a:solidFill>
                    <a:schemeClr val="bg1"/>
                  </a:solidFill>
                </a:rPr>
                <a:t>(n-1)</a:t>
              </a:r>
              <a:r>
                <a:rPr lang="zh-CN" altLang="en-US" sz="1400" dirty="0">
                  <a:solidFill>
                    <a:schemeClr val="bg1"/>
                  </a:solidFill>
                </a:rPr>
                <a:t>之间任何的一个整数整除，则不会执行</a:t>
              </a:r>
              <a:r>
                <a:rPr lang="en-US" altLang="zh-CN" sz="1400" dirty="0">
                  <a:solidFill>
                    <a:schemeClr val="bg1"/>
                  </a:solidFill>
                </a:rPr>
                <a:t>break</a:t>
              </a:r>
              <a:r>
                <a:rPr lang="zh-CN" altLang="en-US" sz="1400" dirty="0">
                  <a:solidFill>
                    <a:schemeClr val="bg1"/>
                  </a:solidFill>
                </a:rPr>
                <a:t>语句，循环变量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i</a:t>
              </a:r>
              <a:r>
                <a:rPr lang="zh-CN" altLang="en-US" sz="1400" dirty="0">
                  <a:solidFill>
                    <a:schemeClr val="bg1"/>
                  </a:solidFill>
                </a:rPr>
                <a:t>一直变化到等于</a:t>
              </a:r>
              <a:r>
                <a:rPr lang="en-US" altLang="zh-CN" sz="1400" dirty="0">
                  <a:solidFill>
                    <a:schemeClr val="bg1"/>
                  </a:solidFill>
                </a:rPr>
                <a:t>n</a:t>
              </a:r>
              <a:r>
                <a:rPr lang="zh-CN" altLang="en-US" sz="1400" dirty="0">
                  <a:solidFill>
                    <a:schemeClr val="bg1"/>
                  </a:solidFill>
                </a:rPr>
                <a:t>，循环条件“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i</a:t>
              </a:r>
              <a:r>
                <a:rPr lang="en-US" altLang="zh-CN" sz="1400" dirty="0">
                  <a:solidFill>
                    <a:schemeClr val="bg1"/>
                  </a:solidFill>
                </a:rPr>
                <a:t>&lt;n”</a:t>
              </a:r>
              <a:r>
                <a:rPr lang="zh-CN" altLang="en-US" sz="1400" dirty="0">
                  <a:solidFill>
                    <a:schemeClr val="bg1"/>
                  </a:solidFill>
                </a:rPr>
                <a:t>不成立，从而结束循环。</a:t>
              </a:r>
              <a:endParaRPr lang="en-US" altLang="zh-CN" sz="1400" dirty="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1400" dirty="0">
                  <a:solidFill>
                    <a:schemeClr val="bg1"/>
                  </a:solidFill>
                </a:rPr>
                <a:t>这种正常结束的循环，其循环变量的值必然大于事先指定的循环变量终值</a:t>
              </a:r>
              <a:r>
                <a:rPr lang="en-US" altLang="zh-CN" sz="1400" dirty="0">
                  <a:solidFill>
                    <a:schemeClr val="bg1"/>
                  </a:solidFill>
                </a:rPr>
                <a:t>(</a:t>
              </a:r>
              <a:r>
                <a:rPr lang="zh-CN" altLang="en-US" sz="1400" dirty="0">
                  <a:solidFill>
                    <a:schemeClr val="bg1"/>
                  </a:solidFill>
                </a:rPr>
                <a:t>本例中循环变量终值为</a:t>
              </a:r>
              <a:r>
                <a:rPr lang="en-US" altLang="zh-CN" sz="1400" dirty="0">
                  <a:solidFill>
                    <a:schemeClr val="bg1"/>
                  </a:solidFill>
                </a:rPr>
                <a:t>n-1)</a:t>
              </a:r>
              <a:r>
                <a:rPr lang="zh-CN" altLang="en-US" sz="1400" dirty="0">
                  <a:solidFill>
                    <a:schemeClr val="bg1"/>
                  </a:solidFill>
                </a:rPr>
                <a:t>。因此，只要在循环结束后检查循环变量</a:t>
              </a:r>
              <a:r>
                <a:rPr lang="en-US" altLang="zh-CN" sz="1400" dirty="0" err="1">
                  <a:solidFill>
                    <a:schemeClr val="bg1"/>
                  </a:solidFill>
                </a:rPr>
                <a:t>i</a:t>
              </a:r>
              <a:r>
                <a:rPr lang="zh-CN" altLang="en-US" sz="1400" dirty="0">
                  <a:solidFill>
                    <a:schemeClr val="bg1"/>
                  </a:solidFill>
                </a:rPr>
                <a:t>的值，就能判定循环是提前结束还是正常结束的。从而判定</a:t>
              </a:r>
              <a:r>
                <a:rPr lang="en-US" altLang="zh-CN" sz="1400" dirty="0">
                  <a:solidFill>
                    <a:schemeClr val="bg1"/>
                  </a:solidFill>
                </a:rPr>
                <a:t>n</a:t>
              </a:r>
              <a:r>
                <a:rPr lang="zh-CN" altLang="en-US" sz="1400" dirty="0">
                  <a:solidFill>
                    <a:schemeClr val="bg1"/>
                  </a:solidFill>
                </a:rPr>
                <a:t>是否为素数。</a:t>
              </a:r>
            </a:p>
          </p:txBody>
        </p:sp>
      </p:grp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6E4AAD48-EC84-F4F7-BA62-C269CDAF2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135381"/>
              </p:ext>
            </p:extLst>
          </p:nvPr>
        </p:nvGraphicFramePr>
        <p:xfrm>
          <a:off x="7747083" y="1657253"/>
          <a:ext cx="3306397" cy="32110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60">
                  <a:extLst>
                    <a:ext uri="{9D8B030D-6E8A-4147-A177-3AD203B41FA5}">
                      <a16:colId xmlns:a16="http://schemas.microsoft.com/office/drawing/2014/main" val="2158079421"/>
                    </a:ext>
                  </a:extLst>
                </a:gridCol>
                <a:gridCol w="1375938">
                  <a:extLst>
                    <a:ext uri="{9D8B030D-6E8A-4147-A177-3AD203B41FA5}">
                      <a16:colId xmlns:a16="http://schemas.microsoft.com/office/drawing/2014/main" val="2870359383"/>
                    </a:ext>
                  </a:extLst>
                </a:gridCol>
                <a:gridCol w="641815">
                  <a:extLst>
                    <a:ext uri="{9D8B030D-6E8A-4147-A177-3AD203B41FA5}">
                      <a16:colId xmlns:a16="http://schemas.microsoft.com/office/drawing/2014/main" val="2785956316"/>
                    </a:ext>
                  </a:extLst>
                </a:gridCol>
                <a:gridCol w="1011384">
                  <a:extLst>
                    <a:ext uri="{9D8B030D-6E8A-4147-A177-3AD203B41FA5}">
                      <a16:colId xmlns:a16="http://schemas.microsoft.com/office/drawing/2014/main" val="733796989"/>
                    </a:ext>
                  </a:extLst>
                </a:gridCol>
              </a:tblGrid>
              <a:tr h="369088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/>
                        <a:t>输入</a:t>
                      </a:r>
                      <a:r>
                        <a:rPr lang="en-US" altLang="zh-CN" sz="1400"/>
                        <a:t>n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599509"/>
                  </a:ext>
                </a:extLst>
              </a:tr>
              <a:tr h="369088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/>
                        <a:t>i=2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068225"/>
                  </a:ext>
                </a:extLst>
              </a:tr>
              <a:tr h="369088">
                <a:tc rowSpan="4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/>
                        <a:t>for i=2 to n-1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639325"/>
                  </a:ext>
                </a:extLst>
              </a:tr>
              <a:tr h="369088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 dirty="0"/>
                        <a:t>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6857970"/>
                  </a:ext>
                </a:extLst>
              </a:tr>
              <a:tr h="627449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执行</a:t>
                      </a:r>
                      <a:r>
                        <a:rPr lang="en-US" altLang="zh-CN" sz="1400"/>
                        <a:t>break</a:t>
                      </a:r>
                      <a:r>
                        <a:rPr lang="zh-CN" altLang="en-US" sz="1400"/>
                        <a:t>结束循环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010895"/>
                  </a:ext>
                </a:extLst>
              </a:tr>
              <a:tr h="369088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i</a:t>
                      </a:r>
                      <a:r>
                        <a:rPr lang="en-US" altLang="zh-CN" sz="1400" dirty="0"/>
                        <a:t>=i+1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877009"/>
                  </a:ext>
                </a:extLst>
              </a:tr>
              <a:tr h="369088"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172017"/>
                  </a:ext>
                </a:extLst>
              </a:tr>
              <a:tr h="36908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n</a:t>
                      </a:r>
                      <a:r>
                        <a:rPr lang="zh-CN" altLang="en-US" sz="1400"/>
                        <a:t>不是素数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输出</a:t>
                      </a:r>
                      <a:r>
                        <a:rPr lang="en-US" altLang="zh-CN" sz="1400" dirty="0"/>
                        <a:t>n</a:t>
                      </a:r>
                      <a:r>
                        <a:rPr lang="zh-CN" altLang="en-US" sz="1400" dirty="0"/>
                        <a:t>是素数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140870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717C721F-96C6-9D7A-0F4F-2EC0C6236CEC}"/>
              </a:ext>
            </a:extLst>
          </p:cNvPr>
          <p:cNvSpPr/>
          <p:nvPr/>
        </p:nvSpPr>
        <p:spPr>
          <a:xfrm>
            <a:off x="9542805" y="2755111"/>
            <a:ext cx="8627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n</a:t>
            </a:r>
            <a:r>
              <a:rPr lang="zh-CN" altLang="en-US" sz="1400" dirty="0"/>
              <a:t>被</a:t>
            </a:r>
            <a:r>
              <a:rPr lang="en-US" altLang="zh-CN" sz="1400" dirty="0" err="1"/>
              <a:t>i</a:t>
            </a:r>
            <a:r>
              <a:rPr lang="zh-CN" altLang="en-US" sz="1400" dirty="0"/>
              <a:t>整除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83A670-98DA-7674-A18B-A5DE5098DFAE}"/>
              </a:ext>
            </a:extLst>
          </p:cNvPr>
          <p:cNvSpPr/>
          <p:nvPr/>
        </p:nvSpPr>
        <p:spPr>
          <a:xfrm>
            <a:off x="9178105" y="4167736"/>
            <a:ext cx="4443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/>
              <a:t>i</a:t>
            </a:r>
            <a:r>
              <a:rPr lang="en-US" altLang="zh-CN" sz="1400" dirty="0"/>
              <a:t>&lt;n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1991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6EE26-FBAC-AAE2-6012-283038B2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4D3EEE-FBC2-C890-0649-F840E02A31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循环应用示例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CC80F5-B6F4-D7E4-4D05-74B6FEDFB2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2FB0476-0D4E-9A92-22D7-3518B228A443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循环程序示例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467A3D-A694-A920-E269-4CE52232F15D}"/>
              </a:ext>
            </a:extLst>
          </p:cNvPr>
          <p:cNvSpPr txBox="1">
            <a:spLocks/>
          </p:cNvSpPr>
          <p:nvPr/>
        </p:nvSpPr>
        <p:spPr>
          <a:xfrm>
            <a:off x="622407" y="814572"/>
            <a:ext cx="9882428" cy="4080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accent1"/>
                </a:solidFill>
              </a:rPr>
              <a:t>【</a:t>
            </a:r>
            <a:r>
              <a:rPr lang="zh-CN" altLang="en-US" sz="1800" b="1" dirty="0">
                <a:solidFill>
                  <a:schemeClr val="accent1"/>
                </a:solidFill>
              </a:rPr>
              <a:t>例</a:t>
            </a:r>
            <a:r>
              <a:rPr lang="en-US" altLang="zh-CN" sz="1800" b="1" dirty="0">
                <a:solidFill>
                  <a:schemeClr val="accent1"/>
                </a:solidFill>
              </a:rPr>
              <a:t>5.9】</a:t>
            </a:r>
            <a:r>
              <a:rPr lang="zh-CN" altLang="en-US" sz="1800" b="1" dirty="0">
                <a:solidFill>
                  <a:schemeClr val="accent1"/>
                </a:solidFill>
              </a:rPr>
              <a:t>输入一个大于</a:t>
            </a:r>
            <a:r>
              <a:rPr lang="en-US" altLang="zh-CN" sz="1800" b="1" dirty="0">
                <a:solidFill>
                  <a:schemeClr val="accent1"/>
                </a:solidFill>
              </a:rPr>
              <a:t>3</a:t>
            </a:r>
            <a:r>
              <a:rPr lang="zh-CN" altLang="en-US" sz="1800" b="1" dirty="0">
                <a:solidFill>
                  <a:schemeClr val="accent1"/>
                </a:solidFill>
              </a:rPr>
              <a:t>的整数</a:t>
            </a:r>
            <a:r>
              <a:rPr lang="en-US" altLang="zh-CN" sz="1800" b="1" dirty="0">
                <a:solidFill>
                  <a:schemeClr val="accent1"/>
                </a:solidFill>
              </a:rPr>
              <a:t>n</a:t>
            </a:r>
            <a:r>
              <a:rPr lang="zh-CN" altLang="en-US" sz="1800" b="1" dirty="0">
                <a:solidFill>
                  <a:schemeClr val="accent1"/>
                </a:solidFill>
              </a:rPr>
              <a:t>，判定它是否为素数</a:t>
            </a:r>
            <a:r>
              <a:rPr lang="en-US" altLang="zh-CN" sz="1800" b="1" dirty="0">
                <a:solidFill>
                  <a:schemeClr val="accent1"/>
                </a:solidFill>
              </a:rPr>
              <a:t>(prime</a:t>
            </a:r>
            <a:r>
              <a:rPr lang="zh-CN" altLang="en-US" sz="1800" b="1" dirty="0">
                <a:solidFill>
                  <a:schemeClr val="accent1"/>
                </a:solidFill>
              </a:rPr>
              <a:t>，又称质数</a:t>
            </a:r>
            <a:r>
              <a:rPr lang="en-US" altLang="zh-CN" sz="1800" b="1" dirty="0">
                <a:solidFill>
                  <a:schemeClr val="accent1"/>
                </a:solidFill>
              </a:rPr>
              <a:t>)</a:t>
            </a:r>
            <a:r>
              <a:rPr lang="zh-CN" altLang="en-US" sz="1800" b="1" dirty="0">
                <a:solidFill>
                  <a:schemeClr val="accent1"/>
                </a:solidFill>
              </a:rPr>
              <a:t>。</a:t>
            </a:r>
            <a:endParaRPr lang="en-US" altLang="zh-CN" sz="1800" b="1" dirty="0">
              <a:solidFill>
                <a:schemeClr val="accent1"/>
              </a:solidFill>
            </a:endParaRPr>
          </a:p>
        </p:txBody>
      </p:sp>
      <p:sp>
        <p:nvSpPr>
          <p:cNvPr id="7" name="KSO_Shape">
            <a:extLst>
              <a:ext uri="{FF2B5EF4-FFF2-40B4-BE49-F238E27FC236}">
                <a16:creationId xmlns:a16="http://schemas.microsoft.com/office/drawing/2014/main" id="{996F1642-8953-571E-38A8-7D528734B1D6}"/>
              </a:ext>
            </a:extLst>
          </p:cNvPr>
          <p:cNvSpPr/>
          <p:nvPr/>
        </p:nvSpPr>
        <p:spPr>
          <a:xfrm rot="5400000">
            <a:off x="9007342" y="1672893"/>
            <a:ext cx="781216" cy="1018739"/>
          </a:xfrm>
          <a:prstGeom prst="ben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圆角矩形 9">
            <a:extLst>
              <a:ext uri="{FF2B5EF4-FFF2-40B4-BE49-F238E27FC236}">
                <a16:creationId xmlns:a16="http://schemas.microsoft.com/office/drawing/2014/main" id="{9F7A6E62-EBB0-00E4-B89A-EDC56126859B}"/>
              </a:ext>
            </a:extLst>
          </p:cNvPr>
          <p:cNvSpPr/>
          <p:nvPr/>
        </p:nvSpPr>
        <p:spPr>
          <a:xfrm>
            <a:off x="726603" y="1396565"/>
            <a:ext cx="4432852" cy="3640474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50000"/>
              </a:lnSpc>
            </a:pPr>
            <a:r>
              <a:rPr lang="pt-BR" altLang="zh-CN" sz="1400" dirty="0"/>
              <a:t>#include &lt;stdio.h&gt;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int main()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{	int n,i;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printf("please enter a integer number,n=?");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scanf("%d",&amp;n);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for (i=2;i&lt;n;i++)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	if(n%i==0) break;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if(i&lt;n) printf("%d is not a prime number.\n",n);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else printf("%d is a prime number.\n",n);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return 0;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CC58130-D434-C3B7-4EE2-3F5376749FDD}"/>
              </a:ext>
            </a:extLst>
          </p:cNvPr>
          <p:cNvGrpSpPr/>
          <p:nvPr/>
        </p:nvGrpSpPr>
        <p:grpSpPr>
          <a:xfrm>
            <a:off x="5257877" y="1406058"/>
            <a:ext cx="3630704" cy="1065345"/>
            <a:chOff x="8050697" y="5019261"/>
            <a:chExt cx="3178346" cy="151992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0" name="剪去单角的矩形 17">
              <a:extLst>
                <a:ext uri="{FF2B5EF4-FFF2-40B4-BE49-F238E27FC236}">
                  <a16:creationId xmlns:a16="http://schemas.microsoft.com/office/drawing/2014/main" id="{5AF383FD-2F11-796B-938D-66283BD893FA}"/>
                </a:ext>
              </a:extLst>
            </p:cNvPr>
            <p:cNvSpPr/>
            <p:nvPr/>
          </p:nvSpPr>
          <p:spPr>
            <a:xfrm>
              <a:off x="8050697" y="5019261"/>
              <a:ext cx="3178346" cy="1519928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A07F6A3-C43B-4371-BB07-7A814A792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0697" y="5069046"/>
              <a:ext cx="191482" cy="3272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4DDFFC6-F721-954D-5367-E075685A58AD}"/>
                    </a:ext>
                  </a:extLst>
                </p:cNvPr>
                <p:cNvSpPr txBox="1"/>
                <p:nvPr/>
              </p:nvSpPr>
              <p:spPr>
                <a:xfrm>
                  <a:off x="8242179" y="5069046"/>
                  <a:ext cx="2924574" cy="1189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b="1" dirty="0">
                      <a:solidFill>
                        <a:srgbClr val="FFFF00"/>
                      </a:solidFill>
                    </a:rPr>
                    <a:t>程序改进：</a:t>
                  </a:r>
                  <a:endParaRPr lang="en-US" altLang="zh-CN" sz="1200" b="1" dirty="0">
                    <a:solidFill>
                      <a:srgbClr val="FFFF00"/>
                    </a:solidFill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solidFill>
                        <a:schemeClr val="bg1"/>
                      </a:solidFill>
                    </a:rPr>
                    <a:t>其实</a:t>
                  </a:r>
                  <a:r>
                    <a:rPr lang="en-US" altLang="zh-CN" sz="1200" dirty="0">
                      <a:solidFill>
                        <a:schemeClr val="bg1"/>
                      </a:solidFill>
                    </a:rPr>
                    <a:t>n</a:t>
                  </a:r>
                  <a:r>
                    <a:rPr lang="zh-CN" altLang="en-US" sz="1200" dirty="0">
                      <a:solidFill>
                        <a:schemeClr val="bg1"/>
                      </a:solidFill>
                    </a:rPr>
                    <a:t>不必被</a:t>
                  </a:r>
                  <a:r>
                    <a:rPr lang="en-US" altLang="zh-CN" sz="1200" dirty="0">
                      <a:solidFill>
                        <a:schemeClr val="bg1"/>
                      </a:solidFill>
                    </a:rPr>
                    <a:t>2</a:t>
                  </a:r>
                  <a:r>
                    <a:rPr lang="zh-CN" altLang="en-US" sz="1200" dirty="0">
                      <a:solidFill>
                        <a:schemeClr val="bg1"/>
                      </a:solidFill>
                    </a:rPr>
                    <a:t>～</a:t>
                  </a:r>
                  <a:r>
                    <a:rPr lang="en-US" altLang="zh-CN" sz="1200" dirty="0">
                      <a:solidFill>
                        <a:schemeClr val="bg1"/>
                      </a:solidFill>
                    </a:rPr>
                    <a:t>(n-1)</a:t>
                  </a:r>
                  <a:r>
                    <a:rPr lang="zh-CN" altLang="en-US" sz="1200" dirty="0">
                      <a:solidFill>
                        <a:schemeClr val="bg1"/>
                      </a:solidFill>
                    </a:rPr>
                    <a:t>范围内的各整数去除，只须将</a:t>
                  </a:r>
                  <a:r>
                    <a:rPr lang="en-US" altLang="zh-CN" sz="1200" dirty="0">
                      <a:solidFill>
                        <a:schemeClr val="bg1"/>
                      </a:solidFill>
                    </a:rPr>
                    <a:t>n</a:t>
                  </a:r>
                  <a:r>
                    <a:rPr lang="zh-CN" altLang="en-US" sz="1200" dirty="0">
                      <a:solidFill>
                        <a:schemeClr val="bg1"/>
                      </a:solidFill>
                    </a:rPr>
                    <a:t>被</a:t>
                  </a:r>
                  <a:r>
                    <a:rPr lang="en-US" altLang="zh-CN" sz="1200" dirty="0">
                      <a:solidFill>
                        <a:schemeClr val="bg1"/>
                      </a:solidFill>
                    </a:rPr>
                    <a:t>2</a:t>
                  </a:r>
                  <a:r>
                    <a:rPr lang="zh-CN" altLang="en-US" sz="1200" dirty="0">
                      <a:solidFill>
                        <a:schemeClr val="bg1"/>
                      </a:solidFill>
                    </a:rPr>
                    <a:t>～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12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altLang="zh-CN" sz="12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</m:oMath>
                  </a14:m>
                  <a:r>
                    <a:rPr lang="zh-CN" altLang="en-US" sz="1200" dirty="0">
                      <a:solidFill>
                        <a:schemeClr val="bg1"/>
                      </a:solidFill>
                    </a:rPr>
                    <a:t>之间的整数除即可。因为</a:t>
                  </a:r>
                  <a:r>
                    <a:rPr lang="en-US" altLang="zh-CN" sz="1200" dirty="0">
                      <a:solidFill>
                        <a:schemeClr val="bg1"/>
                      </a:solidFill>
                    </a:rPr>
                    <a:t>n</a:t>
                  </a:r>
                  <a:r>
                    <a:rPr lang="zh-CN" altLang="en-US" sz="1200" dirty="0">
                      <a:solidFill>
                        <a:schemeClr val="bg1"/>
                      </a:solidFill>
                    </a:rPr>
                    <a:t>的每一对因子，必然有一个小于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12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altLang="zh-CN" sz="12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</m:oMath>
                  </a14:m>
                  <a:r>
                    <a:rPr lang="en-US" altLang="zh-CN" sz="1200" dirty="0">
                      <a:solidFill>
                        <a:schemeClr val="bg1"/>
                      </a:solidFill>
                    </a:rPr>
                    <a:t>,</a:t>
                  </a:r>
                  <a:r>
                    <a:rPr lang="zh-CN" altLang="en-US" sz="1200" dirty="0">
                      <a:solidFill>
                        <a:schemeClr val="bg1"/>
                      </a:solidFill>
                    </a:rPr>
                    <a:t>另一个大于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12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altLang="zh-CN" sz="12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  <m:r>
                        <a:rPr lang="en-US" altLang="zh-CN" sz="1200" b="1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1200" dirty="0">
                      <a:solidFill>
                        <a:schemeClr val="bg1"/>
                      </a:solidFill>
                    </a:rPr>
                    <a:t>。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4DDFFC6-F721-954D-5367-E075685A5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179" y="5069046"/>
                  <a:ext cx="2924574" cy="1189750"/>
                </a:xfrm>
                <a:prstGeom prst="rect">
                  <a:avLst/>
                </a:prstGeom>
                <a:blipFill>
                  <a:blip r:embed="rId3"/>
                  <a:stretch>
                    <a:fillRect r="-4745" b="-204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圆角矩形 13">
            <a:extLst>
              <a:ext uri="{FF2B5EF4-FFF2-40B4-BE49-F238E27FC236}">
                <a16:creationId xmlns:a16="http://schemas.microsoft.com/office/drawing/2014/main" id="{9D0E5A3C-E642-A222-D753-513ED651E466}"/>
              </a:ext>
            </a:extLst>
          </p:cNvPr>
          <p:cNvSpPr/>
          <p:nvPr/>
        </p:nvSpPr>
        <p:spPr>
          <a:xfrm>
            <a:off x="6672154" y="2572871"/>
            <a:ext cx="4432852" cy="4285130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50000"/>
              </a:lnSpc>
            </a:pPr>
            <a:r>
              <a:rPr lang="pt-BR" altLang="zh-CN" sz="1400" dirty="0"/>
              <a:t>#include &lt;stdio.h&gt;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>
                <a:solidFill>
                  <a:schemeClr val="accent6"/>
                </a:solidFill>
              </a:rPr>
              <a:t>#include &lt;math.h&gt;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int main()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{	int n,i,k;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printf("please enter a integer number,n=?");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scanf("%d",&amp;n);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</a:t>
            </a:r>
            <a:r>
              <a:rPr lang="pt-BR" altLang="zh-CN" sz="1400" dirty="0">
                <a:solidFill>
                  <a:schemeClr val="accent6"/>
                </a:solidFill>
              </a:rPr>
              <a:t>k=sqrt(n);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for (i=2;</a:t>
            </a:r>
            <a:r>
              <a:rPr lang="pt-BR" altLang="zh-CN" sz="1400" dirty="0">
                <a:solidFill>
                  <a:schemeClr val="accent6"/>
                </a:solidFill>
              </a:rPr>
              <a:t>i&lt;=k</a:t>
            </a:r>
            <a:r>
              <a:rPr lang="pt-BR" altLang="zh-CN" sz="1400" dirty="0"/>
              <a:t>;i++)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	if(n%i==0) break;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if(</a:t>
            </a:r>
            <a:r>
              <a:rPr lang="pt-BR" altLang="zh-CN" sz="1400" dirty="0">
                <a:solidFill>
                  <a:schemeClr val="accent6"/>
                </a:solidFill>
              </a:rPr>
              <a:t>i&lt;=k</a:t>
            </a:r>
            <a:r>
              <a:rPr lang="pt-BR" altLang="zh-CN" sz="1400" dirty="0"/>
              <a:t>) printf("%d is not a prime number.\n",n);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else printf("%d is a prime number.\n",n);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	return 0;</a:t>
            </a:r>
          </a:p>
          <a:p>
            <a:pPr defTabSz="363538">
              <a:lnSpc>
                <a:spcPct val="150000"/>
              </a:lnSpc>
            </a:pPr>
            <a:r>
              <a:rPr lang="pt-BR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28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B300F-4CEF-6F8D-8B62-9EBF78CE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6C064EB-6EAE-03AB-C983-4D6B6CDA4B2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循环应用示例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A2B410-B9D5-410F-A7F7-81162D301B0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E7A4579-F775-7503-F688-04D746DA3C3E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循环程序示例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ABF8DC-3B4E-FCC5-8EDA-E78647F0304B}"/>
              </a:ext>
            </a:extLst>
          </p:cNvPr>
          <p:cNvSpPr txBox="1">
            <a:spLocks/>
          </p:cNvSpPr>
          <p:nvPr/>
        </p:nvSpPr>
        <p:spPr>
          <a:xfrm>
            <a:off x="622407" y="955992"/>
            <a:ext cx="9882428" cy="4080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accent1"/>
                </a:solidFill>
              </a:rPr>
              <a:t>【</a:t>
            </a:r>
            <a:r>
              <a:rPr lang="zh-CN" altLang="en-US" sz="1800" b="1" dirty="0">
                <a:solidFill>
                  <a:schemeClr val="accent1"/>
                </a:solidFill>
              </a:rPr>
              <a:t>例</a:t>
            </a:r>
            <a:r>
              <a:rPr lang="en-US" altLang="zh-CN" sz="1800" b="1" dirty="0">
                <a:solidFill>
                  <a:schemeClr val="accent1"/>
                </a:solidFill>
              </a:rPr>
              <a:t>5.9】</a:t>
            </a:r>
            <a:r>
              <a:rPr lang="zh-CN" altLang="en-US" sz="1800" b="1" dirty="0">
                <a:solidFill>
                  <a:schemeClr val="accent1"/>
                </a:solidFill>
              </a:rPr>
              <a:t>输入一个大于</a:t>
            </a:r>
            <a:r>
              <a:rPr lang="en-US" altLang="zh-CN" sz="1800" b="1" dirty="0">
                <a:solidFill>
                  <a:schemeClr val="accent1"/>
                </a:solidFill>
              </a:rPr>
              <a:t>3</a:t>
            </a:r>
            <a:r>
              <a:rPr lang="zh-CN" altLang="en-US" sz="1800" b="1" dirty="0">
                <a:solidFill>
                  <a:schemeClr val="accent1"/>
                </a:solidFill>
              </a:rPr>
              <a:t>的整数</a:t>
            </a:r>
            <a:r>
              <a:rPr lang="en-US" altLang="zh-CN" sz="1800" b="1" dirty="0">
                <a:solidFill>
                  <a:schemeClr val="accent1"/>
                </a:solidFill>
              </a:rPr>
              <a:t>n</a:t>
            </a:r>
            <a:r>
              <a:rPr lang="zh-CN" altLang="en-US" sz="1800" b="1" dirty="0">
                <a:solidFill>
                  <a:schemeClr val="accent1"/>
                </a:solidFill>
              </a:rPr>
              <a:t>，判定它是否为素数</a:t>
            </a:r>
            <a:r>
              <a:rPr lang="en-US" altLang="zh-CN" sz="1800" b="1" dirty="0">
                <a:solidFill>
                  <a:schemeClr val="accent1"/>
                </a:solidFill>
              </a:rPr>
              <a:t>(prime</a:t>
            </a:r>
            <a:r>
              <a:rPr lang="zh-CN" altLang="en-US" sz="1800" b="1" dirty="0">
                <a:solidFill>
                  <a:schemeClr val="accent1"/>
                </a:solidFill>
              </a:rPr>
              <a:t>，又称质数</a:t>
            </a:r>
            <a:r>
              <a:rPr lang="en-US" altLang="zh-CN" sz="1800" b="1" dirty="0">
                <a:solidFill>
                  <a:schemeClr val="accent1"/>
                </a:solidFill>
              </a:rPr>
              <a:t>)</a:t>
            </a:r>
            <a:r>
              <a:rPr lang="zh-CN" altLang="en-US" sz="1800" b="1" dirty="0">
                <a:solidFill>
                  <a:schemeClr val="accent1"/>
                </a:solidFill>
              </a:rPr>
              <a:t>。</a:t>
            </a:r>
            <a:endParaRPr lang="en-US" altLang="zh-CN" sz="1800" b="1" dirty="0">
              <a:solidFill>
                <a:schemeClr val="accent1"/>
              </a:solidFill>
            </a:endParaRPr>
          </a:p>
        </p:txBody>
      </p:sp>
      <p:sp>
        <p:nvSpPr>
          <p:cNvPr id="4" name="圆角矩形 9">
            <a:extLst>
              <a:ext uri="{FF2B5EF4-FFF2-40B4-BE49-F238E27FC236}">
                <a16:creationId xmlns:a16="http://schemas.microsoft.com/office/drawing/2014/main" id="{BA6787D0-0B14-EE83-63AC-1FBB040F1439}"/>
              </a:ext>
            </a:extLst>
          </p:cNvPr>
          <p:cNvSpPr/>
          <p:nvPr/>
        </p:nvSpPr>
        <p:spPr>
          <a:xfrm>
            <a:off x="812077" y="2225367"/>
            <a:ext cx="5429698" cy="1273207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for(</a:t>
            </a:r>
            <a:r>
              <a:rPr lang="pt-BR" altLang="zh-CN" sz="1400">
                <a:solidFill>
                  <a:schemeClr val="accent6"/>
                </a:solidFill>
              </a:rPr>
              <a:t>t=1</a:t>
            </a:r>
            <a:r>
              <a:rPr lang="pt-BR" altLang="zh-CN" sz="1400"/>
              <a:t>,i=2; i</a:t>
            </a:r>
            <a:r>
              <a:rPr lang="en-US" altLang="zh-CN" sz="1400"/>
              <a:t>&lt;</a:t>
            </a:r>
            <a:r>
              <a:rPr lang="pt-BR" altLang="zh-CN" sz="1400"/>
              <a:t>=(int)sqrt(n); i++)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先定义</a:t>
            </a:r>
            <a:r>
              <a:rPr lang="pt-BR" altLang="zh-CN" sz="1400">
                <a:solidFill>
                  <a:srgbClr val="008000"/>
                </a:solidFill>
              </a:rPr>
              <a:t>t</a:t>
            </a:r>
            <a:r>
              <a:rPr lang="zh-CN" altLang="en-US" sz="1400">
                <a:solidFill>
                  <a:srgbClr val="008000"/>
                </a:solidFill>
              </a:rPr>
              <a:t>为</a:t>
            </a:r>
            <a:r>
              <a:rPr lang="pt-BR" altLang="zh-CN" sz="1400">
                <a:solidFill>
                  <a:srgbClr val="008000"/>
                </a:solidFill>
              </a:rPr>
              <a:t>int</a:t>
            </a:r>
            <a:r>
              <a:rPr lang="zh-CN" altLang="en-US" sz="1400">
                <a:solidFill>
                  <a:srgbClr val="008000"/>
                </a:solidFill>
              </a:rPr>
              <a:t>型，</a:t>
            </a:r>
            <a:r>
              <a:rPr lang="pt-BR" altLang="zh-CN" sz="1400">
                <a:solidFill>
                  <a:srgbClr val="008000"/>
                </a:solidFill>
              </a:rPr>
              <a:t>t</a:t>
            </a:r>
            <a:r>
              <a:rPr lang="zh-CN" altLang="en-US" sz="1400">
                <a:solidFill>
                  <a:srgbClr val="008000"/>
                </a:solidFill>
              </a:rPr>
              <a:t>作为标志变量</a:t>
            </a:r>
          </a:p>
          <a:p>
            <a:pPr defTabSz="363538"/>
            <a:r>
              <a:rPr lang="zh-CN" altLang="en-US" sz="1400"/>
              <a:t>	</a:t>
            </a:r>
            <a:r>
              <a:rPr lang="pt-BR" altLang="zh-CN" sz="1400"/>
              <a:t>if(n%i==0) </a:t>
            </a:r>
          </a:p>
          <a:p>
            <a:pPr defTabSz="363538"/>
            <a:r>
              <a:rPr lang="pt-BR" altLang="zh-CN" sz="1400"/>
              <a:t>		</a:t>
            </a:r>
            <a:r>
              <a:rPr lang="pt-BR" altLang="zh-CN" sz="1400">
                <a:solidFill>
                  <a:schemeClr val="accent6"/>
                </a:solidFill>
              </a:rPr>
              <a:t>t=0;</a:t>
            </a:r>
            <a:r>
              <a:rPr lang="pt-BR" altLang="zh-CN" sz="1400"/>
              <a:t>					</a:t>
            </a:r>
            <a:r>
              <a:rPr lang="pt-BR" altLang="zh-CN" sz="1400">
                <a:solidFill>
                  <a:srgbClr val="008000"/>
                </a:solidFill>
              </a:rPr>
              <a:t>//t=0</a:t>
            </a:r>
            <a:r>
              <a:rPr lang="zh-CN" altLang="en-US" sz="1400">
                <a:solidFill>
                  <a:srgbClr val="008000"/>
                </a:solidFill>
              </a:rPr>
              <a:t>表示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能被</a:t>
            </a:r>
            <a:r>
              <a:rPr lang="pt-BR" altLang="zh-CN" sz="1400">
                <a:solidFill>
                  <a:srgbClr val="008000"/>
                </a:solidFill>
              </a:rPr>
              <a:t>i</a:t>
            </a:r>
            <a:r>
              <a:rPr lang="zh-CN" altLang="en-US" sz="1400">
                <a:solidFill>
                  <a:srgbClr val="008000"/>
                </a:solidFill>
              </a:rPr>
              <a:t>整除，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不是素数</a:t>
            </a:r>
          </a:p>
          <a:p>
            <a:pPr defTabSz="363538"/>
            <a:r>
              <a:rPr lang="pt-BR" altLang="zh-CN" sz="1400"/>
              <a:t>if(t)			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如果</a:t>
            </a:r>
            <a:r>
              <a:rPr lang="pt-BR" altLang="zh-CN" sz="1400">
                <a:solidFill>
                  <a:srgbClr val="008000"/>
                </a:solidFill>
              </a:rPr>
              <a:t>t=1</a:t>
            </a:r>
            <a:r>
              <a:rPr lang="zh-CN" altLang="en-US" sz="1400">
                <a:solidFill>
                  <a:srgbClr val="008000"/>
                </a:solidFill>
              </a:rPr>
              <a:t>表示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是素数</a:t>
            </a:r>
          </a:p>
          <a:p>
            <a:pPr defTabSz="363538"/>
            <a:r>
              <a:rPr lang="pt-BR" altLang="zh-CN" sz="1400"/>
              <a:t>	printf("%d is prime.\n",n);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C953B1-99D7-E25A-75D9-916C5C8A9CEB}"/>
              </a:ext>
            </a:extLst>
          </p:cNvPr>
          <p:cNvSpPr/>
          <p:nvPr/>
        </p:nvSpPr>
        <p:spPr>
          <a:xfrm>
            <a:off x="812077" y="1653279"/>
            <a:ext cx="1801914" cy="388170"/>
          </a:xfrm>
          <a:prstGeom prst="rect">
            <a:avLst/>
          </a:prstGeom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/>
              <a:t>其他求素数方法</a:t>
            </a:r>
          </a:p>
        </p:txBody>
      </p:sp>
      <p:sp>
        <p:nvSpPr>
          <p:cNvPr id="15" name="KSO_Shape">
            <a:extLst>
              <a:ext uri="{FF2B5EF4-FFF2-40B4-BE49-F238E27FC236}">
                <a16:creationId xmlns:a16="http://schemas.microsoft.com/office/drawing/2014/main" id="{AAA4CC6E-267D-A994-A949-8590731547F0}"/>
              </a:ext>
            </a:extLst>
          </p:cNvPr>
          <p:cNvSpPr>
            <a:spLocks/>
          </p:cNvSpPr>
          <p:nvPr/>
        </p:nvSpPr>
        <p:spPr bwMode="auto">
          <a:xfrm>
            <a:off x="6393160" y="2565899"/>
            <a:ext cx="463686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6" name="圆角矩形 12">
            <a:extLst>
              <a:ext uri="{FF2B5EF4-FFF2-40B4-BE49-F238E27FC236}">
                <a16:creationId xmlns:a16="http://schemas.microsoft.com/office/drawing/2014/main" id="{3DE6D407-3464-62F8-F094-5E28276E12D1}"/>
              </a:ext>
            </a:extLst>
          </p:cNvPr>
          <p:cNvSpPr/>
          <p:nvPr/>
        </p:nvSpPr>
        <p:spPr>
          <a:xfrm>
            <a:off x="7008231" y="2034034"/>
            <a:ext cx="2994610" cy="1655866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for(t=1,i=2; i&lt;=(int)sqrt(n); i++)</a:t>
            </a:r>
          </a:p>
          <a:p>
            <a:pPr defTabSz="363538"/>
            <a:r>
              <a:rPr lang="zh-CN" altLang="en-US" sz="1400"/>
              <a:t>	</a:t>
            </a:r>
            <a:r>
              <a:rPr lang="pt-BR" altLang="zh-CN" sz="1400"/>
              <a:t>if(n%i==0){</a:t>
            </a:r>
          </a:p>
          <a:p>
            <a:pPr defTabSz="363538"/>
            <a:r>
              <a:rPr lang="pt-BR" altLang="zh-CN" sz="1400"/>
              <a:t>		t=0;	</a:t>
            </a:r>
            <a:endParaRPr lang="zh-CN" altLang="en-US" sz="1400"/>
          </a:p>
          <a:p>
            <a:pPr defTabSz="363538"/>
            <a:r>
              <a:rPr lang="zh-CN" altLang="en-US" sz="1400"/>
              <a:t>		</a:t>
            </a:r>
            <a:r>
              <a:rPr lang="pt-BR" altLang="zh-CN" sz="1400">
                <a:solidFill>
                  <a:schemeClr val="accent6"/>
                </a:solidFill>
              </a:rPr>
              <a:t>break;</a:t>
            </a:r>
          </a:p>
          <a:p>
            <a:pPr defTabSz="363538"/>
            <a:r>
              <a:rPr lang="pt-BR" altLang="zh-CN" sz="1400"/>
              <a:t>	} 	</a:t>
            </a:r>
          </a:p>
          <a:p>
            <a:pPr defTabSz="363538"/>
            <a:r>
              <a:rPr lang="pt-BR" altLang="zh-CN" sz="1400"/>
              <a:t>if(t)</a:t>
            </a:r>
            <a:endParaRPr lang="en-US" altLang="zh-CN" sz="1400"/>
          </a:p>
          <a:p>
            <a:pPr defTabSz="363538"/>
            <a:r>
              <a:rPr lang="en-US" altLang="zh-CN" sz="1400"/>
              <a:t>	</a:t>
            </a:r>
            <a:r>
              <a:rPr lang="pt-BR" altLang="zh-CN" sz="1400"/>
              <a:t>printf("%d is prime.\n",n);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17" name="圆角矩形 15">
            <a:extLst>
              <a:ext uri="{FF2B5EF4-FFF2-40B4-BE49-F238E27FC236}">
                <a16:creationId xmlns:a16="http://schemas.microsoft.com/office/drawing/2014/main" id="{34D316DE-A6E7-76EE-E847-A5DCECA4E283}"/>
              </a:ext>
            </a:extLst>
          </p:cNvPr>
          <p:cNvSpPr/>
          <p:nvPr/>
        </p:nvSpPr>
        <p:spPr>
          <a:xfrm>
            <a:off x="7008231" y="4474892"/>
            <a:ext cx="2994610" cy="1210291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en-US" altLang="zh-CN" sz="1400"/>
              <a:t>for(t=1,i=2; i&lt;=sqrt(n) </a:t>
            </a:r>
            <a:r>
              <a:rPr lang="en-US" altLang="zh-CN" sz="1400">
                <a:solidFill>
                  <a:schemeClr val="accent6"/>
                </a:solidFill>
              </a:rPr>
              <a:t>&amp;&amp; t</a:t>
            </a:r>
            <a:r>
              <a:rPr lang="en-US" altLang="zh-CN" sz="1400"/>
              <a:t>; i++)</a:t>
            </a:r>
          </a:p>
          <a:p>
            <a:pPr defTabSz="363538"/>
            <a:r>
              <a:rPr lang="en-US" altLang="zh-CN" sz="1400"/>
              <a:t>	if(n%i==0)</a:t>
            </a:r>
          </a:p>
          <a:p>
            <a:pPr defTabSz="363538"/>
            <a:r>
              <a:rPr lang="en-US" altLang="zh-CN" sz="1400"/>
              <a:t>		t=0;</a:t>
            </a:r>
          </a:p>
          <a:p>
            <a:pPr defTabSz="363538"/>
            <a:r>
              <a:rPr lang="en-US" altLang="zh-CN" sz="1400"/>
              <a:t>if(t) </a:t>
            </a:r>
          </a:p>
          <a:p>
            <a:pPr defTabSz="363538"/>
            <a:r>
              <a:rPr lang="en-US" altLang="zh-CN" sz="1400"/>
              <a:t>	printf("%d is prime.\n",n);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18" name="KSO_Shape">
            <a:extLst>
              <a:ext uri="{FF2B5EF4-FFF2-40B4-BE49-F238E27FC236}">
                <a16:creationId xmlns:a16="http://schemas.microsoft.com/office/drawing/2014/main" id="{2A10A7A1-DE0A-9968-8465-13D205DF0866}"/>
              </a:ext>
            </a:extLst>
          </p:cNvPr>
          <p:cNvSpPr>
            <a:spLocks/>
          </p:cNvSpPr>
          <p:nvPr/>
        </p:nvSpPr>
        <p:spPr bwMode="auto">
          <a:xfrm rot="5400000">
            <a:off x="8273692" y="3811574"/>
            <a:ext cx="463686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465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E4E4-6A38-1706-B388-82CA70B68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5C12210-B02D-08D0-B581-4359EE9D73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zh-CN" altLang="en-US" sz="2400" dirty="0"/>
              <a:t>循环应用示例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068CC6-83FB-141C-7C62-D3C375B08CF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7A2863F-3F05-AEFA-B7BA-9080624F1DD1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循环程序示例</a:t>
            </a:r>
          </a:p>
        </p:txBody>
      </p: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08179AFE-3013-5D39-CD33-DA5F1607910C}"/>
              </a:ext>
            </a:extLst>
          </p:cNvPr>
          <p:cNvSpPr txBox="1">
            <a:spLocks/>
          </p:cNvSpPr>
          <p:nvPr/>
        </p:nvSpPr>
        <p:spPr>
          <a:xfrm>
            <a:off x="410197" y="792834"/>
            <a:ext cx="11112810" cy="115406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solidFill>
                  <a:schemeClr val="accent1"/>
                </a:solidFill>
              </a:rPr>
              <a:t>【</a:t>
            </a:r>
            <a:r>
              <a:rPr lang="zh-CN" altLang="en-US" sz="1800" b="1" dirty="0">
                <a:solidFill>
                  <a:schemeClr val="accent1"/>
                </a:solidFill>
              </a:rPr>
              <a:t>例</a:t>
            </a:r>
            <a:r>
              <a:rPr lang="en-US" altLang="zh-CN" sz="1800" b="1" dirty="0">
                <a:solidFill>
                  <a:schemeClr val="accent1"/>
                </a:solidFill>
              </a:rPr>
              <a:t>5.11】</a:t>
            </a:r>
            <a:r>
              <a:rPr lang="zh-CN" altLang="en-US" sz="1800" b="1" dirty="0">
                <a:solidFill>
                  <a:schemeClr val="accent1"/>
                </a:solidFill>
              </a:rPr>
              <a:t>译密码。为使电文保密，往往按一定规律将其转换成密码，收报人再按约定的规律将其译回原文。例如，可以按以下规律将电文变成密码</a:t>
            </a:r>
            <a:r>
              <a:rPr lang="en-US" altLang="zh-CN" sz="1800" b="1" dirty="0">
                <a:solidFill>
                  <a:schemeClr val="accent1"/>
                </a:solidFill>
              </a:rPr>
              <a:t>:</a:t>
            </a:r>
            <a:r>
              <a:rPr lang="zh-CN" altLang="en-US" sz="1800" b="1" dirty="0">
                <a:solidFill>
                  <a:schemeClr val="accent1"/>
                </a:solidFill>
              </a:rPr>
              <a:t>将字母</a:t>
            </a:r>
            <a:r>
              <a:rPr lang="en-US" altLang="zh-CN" sz="1800" b="1" dirty="0">
                <a:solidFill>
                  <a:schemeClr val="accent1"/>
                </a:solidFill>
              </a:rPr>
              <a:t>A</a:t>
            </a:r>
            <a:r>
              <a:rPr lang="zh-CN" altLang="en-US" sz="1800" b="1" dirty="0">
                <a:solidFill>
                  <a:schemeClr val="accent1"/>
                </a:solidFill>
              </a:rPr>
              <a:t>变成字母</a:t>
            </a:r>
            <a:r>
              <a:rPr lang="en-US" altLang="zh-CN" sz="1800" b="1" dirty="0">
                <a:solidFill>
                  <a:schemeClr val="accent1"/>
                </a:solidFill>
              </a:rPr>
              <a:t>E</a:t>
            </a:r>
            <a:r>
              <a:rPr lang="zh-CN" altLang="en-US" sz="1800" b="1" dirty="0">
                <a:solidFill>
                  <a:schemeClr val="accent1"/>
                </a:solidFill>
              </a:rPr>
              <a:t>，</a:t>
            </a:r>
            <a:r>
              <a:rPr lang="en-US" altLang="zh-CN" sz="1800" b="1" dirty="0">
                <a:solidFill>
                  <a:schemeClr val="accent1"/>
                </a:solidFill>
              </a:rPr>
              <a:t>a</a:t>
            </a:r>
            <a:r>
              <a:rPr lang="zh-CN" altLang="en-US" sz="1800" b="1" dirty="0">
                <a:solidFill>
                  <a:schemeClr val="accent1"/>
                </a:solidFill>
              </a:rPr>
              <a:t>变成</a:t>
            </a:r>
            <a:r>
              <a:rPr lang="en-US" altLang="zh-CN" sz="1800" b="1" dirty="0">
                <a:solidFill>
                  <a:schemeClr val="accent1"/>
                </a:solidFill>
              </a:rPr>
              <a:t>e</a:t>
            </a:r>
            <a:r>
              <a:rPr lang="zh-CN" altLang="en-US" sz="1800" b="1" dirty="0">
                <a:solidFill>
                  <a:schemeClr val="accent1"/>
                </a:solidFill>
              </a:rPr>
              <a:t>，即变成其后的第</a:t>
            </a:r>
            <a:r>
              <a:rPr lang="en-US" altLang="zh-CN" sz="1800" b="1" dirty="0">
                <a:solidFill>
                  <a:schemeClr val="accent1"/>
                </a:solidFill>
              </a:rPr>
              <a:t>4</a:t>
            </a:r>
            <a:r>
              <a:rPr lang="zh-CN" altLang="en-US" sz="1800" b="1" dirty="0">
                <a:solidFill>
                  <a:schemeClr val="accent1"/>
                </a:solidFill>
              </a:rPr>
              <a:t>个字母，</a:t>
            </a:r>
            <a:r>
              <a:rPr lang="en-US" altLang="zh-CN" sz="1800" b="1" dirty="0">
                <a:solidFill>
                  <a:schemeClr val="accent1"/>
                </a:solidFill>
              </a:rPr>
              <a:t>W</a:t>
            </a:r>
            <a:r>
              <a:rPr lang="zh-CN" altLang="en-US" sz="1800" b="1" dirty="0">
                <a:solidFill>
                  <a:schemeClr val="accent1"/>
                </a:solidFill>
              </a:rPr>
              <a:t>变成</a:t>
            </a:r>
            <a:r>
              <a:rPr lang="en-US" altLang="zh-CN" sz="1800" b="1" dirty="0">
                <a:solidFill>
                  <a:schemeClr val="accent1"/>
                </a:solidFill>
              </a:rPr>
              <a:t>A</a:t>
            </a:r>
            <a:r>
              <a:rPr lang="zh-CN" altLang="en-US" sz="1800" b="1" dirty="0">
                <a:solidFill>
                  <a:schemeClr val="accent1"/>
                </a:solidFill>
              </a:rPr>
              <a:t>，</a:t>
            </a:r>
            <a:r>
              <a:rPr lang="en-US" altLang="zh-CN" sz="1800" b="1" dirty="0">
                <a:solidFill>
                  <a:schemeClr val="accent1"/>
                </a:solidFill>
              </a:rPr>
              <a:t>X</a:t>
            </a:r>
            <a:r>
              <a:rPr lang="zh-CN" altLang="en-US" sz="1800" b="1" dirty="0">
                <a:solidFill>
                  <a:schemeClr val="accent1"/>
                </a:solidFill>
              </a:rPr>
              <a:t>变成</a:t>
            </a:r>
            <a:r>
              <a:rPr lang="en-US" altLang="zh-CN" sz="1800" b="1" dirty="0">
                <a:solidFill>
                  <a:schemeClr val="accent1"/>
                </a:solidFill>
              </a:rPr>
              <a:t>B</a:t>
            </a:r>
            <a:r>
              <a:rPr lang="zh-CN" altLang="en-US" sz="1800" b="1" dirty="0">
                <a:solidFill>
                  <a:schemeClr val="accent1"/>
                </a:solidFill>
              </a:rPr>
              <a:t>，</a:t>
            </a:r>
            <a:r>
              <a:rPr lang="en-US" altLang="zh-CN" sz="1800" b="1" dirty="0">
                <a:solidFill>
                  <a:schemeClr val="accent1"/>
                </a:solidFill>
              </a:rPr>
              <a:t>Y</a:t>
            </a:r>
            <a:r>
              <a:rPr lang="zh-CN" altLang="en-US" sz="1800" b="1" dirty="0">
                <a:solidFill>
                  <a:schemeClr val="accent1"/>
                </a:solidFill>
              </a:rPr>
              <a:t>变成</a:t>
            </a:r>
            <a:r>
              <a:rPr lang="en-US" altLang="zh-CN" sz="1800" b="1" dirty="0">
                <a:solidFill>
                  <a:schemeClr val="accent1"/>
                </a:solidFill>
              </a:rPr>
              <a:t>C</a:t>
            </a:r>
            <a:r>
              <a:rPr lang="zh-CN" altLang="en-US" sz="1800" b="1" dirty="0">
                <a:solidFill>
                  <a:schemeClr val="accent1"/>
                </a:solidFill>
              </a:rPr>
              <a:t>，</a:t>
            </a:r>
            <a:r>
              <a:rPr lang="en-US" altLang="zh-CN" sz="1800" b="1" dirty="0">
                <a:solidFill>
                  <a:schemeClr val="accent1"/>
                </a:solidFill>
              </a:rPr>
              <a:t>Z</a:t>
            </a:r>
            <a:r>
              <a:rPr lang="zh-CN" altLang="en-US" sz="1800" b="1" dirty="0">
                <a:solidFill>
                  <a:schemeClr val="accent1"/>
                </a:solidFill>
              </a:rPr>
              <a:t>变成</a:t>
            </a:r>
            <a:r>
              <a:rPr lang="en-US" altLang="zh-CN" sz="1800" b="1" dirty="0">
                <a:solidFill>
                  <a:schemeClr val="accent1"/>
                </a:solidFill>
              </a:rPr>
              <a:t>D</a:t>
            </a:r>
            <a:r>
              <a:rPr lang="zh-CN" altLang="en-US" sz="1800" b="1" dirty="0">
                <a:solidFill>
                  <a:schemeClr val="accent1"/>
                </a:solidFill>
              </a:rPr>
              <a:t>。</a:t>
            </a:r>
            <a:endParaRPr lang="en-US" altLang="zh-CN" sz="1800" b="1" dirty="0">
              <a:solidFill>
                <a:schemeClr val="accent1"/>
              </a:solidFill>
            </a:endParaRPr>
          </a:p>
        </p:txBody>
      </p:sp>
      <p:sp>
        <p:nvSpPr>
          <p:cNvPr id="35" name="圆角矩形 9">
            <a:extLst>
              <a:ext uri="{FF2B5EF4-FFF2-40B4-BE49-F238E27FC236}">
                <a16:creationId xmlns:a16="http://schemas.microsoft.com/office/drawing/2014/main" id="{E25B9948-BBDD-A066-E6A1-3D45FC4A1CF0}"/>
              </a:ext>
            </a:extLst>
          </p:cNvPr>
          <p:cNvSpPr/>
          <p:nvPr/>
        </p:nvSpPr>
        <p:spPr>
          <a:xfrm>
            <a:off x="529466" y="3113346"/>
            <a:ext cx="7755453" cy="3595507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 dirty="0"/>
              <a:t>#include &lt;stdio.h&gt;</a:t>
            </a:r>
          </a:p>
          <a:p>
            <a:pPr defTabSz="363538"/>
            <a:r>
              <a:rPr lang="pt-BR" altLang="zh-CN" sz="1400" dirty="0"/>
              <a:t>int main()</a:t>
            </a:r>
          </a:p>
          <a:p>
            <a:pPr defTabSz="363538"/>
            <a:r>
              <a:rPr lang="pt-BR" altLang="zh-CN" sz="1400" dirty="0"/>
              <a:t>{	char c;</a:t>
            </a:r>
          </a:p>
          <a:p>
            <a:pPr defTabSz="363538"/>
            <a:r>
              <a:rPr lang="pt-BR" altLang="zh-CN" sz="1400" dirty="0"/>
              <a:t>	c=getchar();				</a:t>
            </a:r>
            <a:r>
              <a:rPr lang="pt-BR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输入一个字符给字符变量</a:t>
            </a:r>
            <a:r>
              <a:rPr lang="pt-BR" altLang="zh-CN" sz="1400" dirty="0">
                <a:solidFill>
                  <a:srgbClr val="008000"/>
                </a:solidFill>
              </a:rPr>
              <a:t>c</a:t>
            </a:r>
          </a:p>
          <a:p>
            <a:pPr defTabSz="363538"/>
            <a:r>
              <a:rPr lang="pt-BR" altLang="zh-CN" sz="1400" dirty="0"/>
              <a:t>	while(c!='\n')				</a:t>
            </a:r>
            <a:r>
              <a:rPr lang="pt-BR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检查</a:t>
            </a:r>
            <a:r>
              <a:rPr lang="pt-BR" altLang="zh-CN" sz="1400" dirty="0">
                <a:solidFill>
                  <a:srgbClr val="008000"/>
                </a:solidFill>
              </a:rPr>
              <a:t>c</a:t>
            </a:r>
            <a:r>
              <a:rPr lang="zh-CN" altLang="en-US" sz="1400" dirty="0">
                <a:solidFill>
                  <a:srgbClr val="008000"/>
                </a:solidFill>
              </a:rPr>
              <a:t>的值是否为换行符</a:t>
            </a:r>
            <a:r>
              <a:rPr lang="en-US" altLang="zh-CN" sz="1400" dirty="0">
                <a:solidFill>
                  <a:srgbClr val="008000"/>
                </a:solidFill>
              </a:rPr>
              <a:t>'\</a:t>
            </a:r>
            <a:r>
              <a:rPr lang="pt-BR" altLang="zh-CN" sz="1400" dirty="0">
                <a:solidFill>
                  <a:srgbClr val="008000"/>
                </a:solidFill>
              </a:rPr>
              <a:t>n'  </a:t>
            </a:r>
          </a:p>
          <a:p>
            <a:pPr defTabSz="363538"/>
            <a:r>
              <a:rPr lang="pt-BR" altLang="zh-CN" sz="1400" dirty="0"/>
              <a:t>	{	if((c&gt;='a' &amp;&amp; c&lt;='z') || (c&gt;='A' &amp;&amp; c&lt;='Z'))	</a:t>
            </a:r>
            <a:r>
              <a:rPr lang="pt-BR" altLang="zh-CN" sz="1400" dirty="0">
                <a:solidFill>
                  <a:srgbClr val="008000"/>
                </a:solidFill>
              </a:rPr>
              <a:t>//c</a:t>
            </a:r>
            <a:r>
              <a:rPr lang="zh-CN" altLang="en-US" sz="1400" dirty="0">
                <a:solidFill>
                  <a:srgbClr val="008000"/>
                </a:solidFill>
              </a:rPr>
              <a:t>如果是字母</a:t>
            </a:r>
          </a:p>
          <a:p>
            <a:pPr defTabSz="363538"/>
            <a:r>
              <a:rPr lang="zh-CN" altLang="en-US" sz="1400" dirty="0"/>
              <a:t>		</a:t>
            </a:r>
            <a:r>
              <a:rPr lang="en-US" altLang="zh-CN" sz="1400" dirty="0"/>
              <a:t>{	</a:t>
            </a:r>
            <a:r>
              <a:rPr lang="pt-BR" altLang="zh-CN" sz="1400" dirty="0"/>
              <a:t>if(c&gt;='W' &amp;&amp; c&lt;='Z' || c&gt;='w' &amp;&amp; c&lt;='z') c=c-22;</a:t>
            </a:r>
          </a:p>
          <a:p>
            <a:pPr defTabSz="363538"/>
            <a:r>
              <a:rPr lang="pt-BR" altLang="zh-CN" sz="1400" dirty="0"/>
              <a:t>			</a:t>
            </a:r>
            <a:r>
              <a:rPr lang="pt-BR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如果是</a:t>
            </a:r>
            <a:r>
              <a:rPr lang="en-US" altLang="zh-CN" sz="1400" dirty="0">
                <a:solidFill>
                  <a:srgbClr val="008000"/>
                </a:solidFill>
              </a:rPr>
              <a:t>26</a:t>
            </a:r>
            <a:r>
              <a:rPr lang="zh-CN" altLang="en-US" sz="1400" dirty="0">
                <a:solidFill>
                  <a:srgbClr val="008000"/>
                </a:solidFill>
              </a:rPr>
              <a:t>个字母中最后</a:t>
            </a:r>
            <a:r>
              <a:rPr lang="en-US" altLang="zh-CN" sz="1400" dirty="0">
                <a:solidFill>
                  <a:srgbClr val="008000"/>
                </a:solidFill>
              </a:rPr>
              <a:t>4</a:t>
            </a:r>
            <a:r>
              <a:rPr lang="zh-CN" altLang="en-US" sz="1400" dirty="0">
                <a:solidFill>
                  <a:srgbClr val="008000"/>
                </a:solidFill>
              </a:rPr>
              <a:t>个字母之一就使</a:t>
            </a:r>
            <a:r>
              <a:rPr lang="pt-BR" altLang="zh-CN" sz="1400" dirty="0">
                <a:solidFill>
                  <a:srgbClr val="008000"/>
                </a:solidFill>
              </a:rPr>
              <a:t>c-22</a:t>
            </a:r>
          </a:p>
          <a:p>
            <a:pPr defTabSz="363538"/>
            <a:r>
              <a:rPr lang="pt-BR" altLang="zh-CN" sz="1400" dirty="0"/>
              <a:t>			else c=c+4;		</a:t>
            </a:r>
            <a:r>
              <a:rPr lang="pt-BR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如果是前面</a:t>
            </a:r>
            <a:r>
              <a:rPr lang="en-US" altLang="zh-CN" sz="1400" dirty="0">
                <a:solidFill>
                  <a:srgbClr val="008000"/>
                </a:solidFill>
              </a:rPr>
              <a:t>22</a:t>
            </a:r>
            <a:r>
              <a:rPr lang="zh-CN" altLang="en-US" sz="1400" dirty="0">
                <a:solidFill>
                  <a:srgbClr val="008000"/>
                </a:solidFill>
              </a:rPr>
              <a:t>个字母之一，就使</a:t>
            </a:r>
            <a:r>
              <a:rPr lang="pt-BR" altLang="zh-CN" sz="1400" dirty="0">
                <a:solidFill>
                  <a:srgbClr val="008000"/>
                </a:solidFill>
              </a:rPr>
              <a:t>c</a:t>
            </a:r>
            <a:r>
              <a:rPr lang="zh-CN" altLang="en-US" sz="1400" dirty="0">
                <a:solidFill>
                  <a:srgbClr val="008000"/>
                </a:solidFill>
              </a:rPr>
              <a:t>加</a:t>
            </a:r>
            <a:r>
              <a:rPr lang="en-US" altLang="zh-CN" sz="1400" dirty="0">
                <a:solidFill>
                  <a:srgbClr val="008000"/>
                </a:solidFill>
              </a:rPr>
              <a:t>4</a:t>
            </a:r>
            <a:r>
              <a:rPr lang="zh-CN" altLang="en-US" sz="1400" dirty="0">
                <a:solidFill>
                  <a:srgbClr val="008000"/>
                </a:solidFill>
              </a:rPr>
              <a:t>，即变成其后第</a:t>
            </a:r>
            <a:r>
              <a:rPr lang="en-US" altLang="zh-CN" sz="1400" dirty="0">
                <a:solidFill>
                  <a:srgbClr val="008000"/>
                </a:solidFill>
              </a:rPr>
              <a:t>4</a:t>
            </a:r>
            <a:r>
              <a:rPr lang="zh-CN" altLang="en-US" sz="1400" dirty="0">
                <a:solidFill>
                  <a:srgbClr val="008000"/>
                </a:solidFill>
              </a:rPr>
              <a:t>个字母</a:t>
            </a:r>
          </a:p>
          <a:p>
            <a:pPr defTabSz="363538"/>
            <a:r>
              <a:rPr lang="zh-CN" altLang="en-US" sz="1400" dirty="0"/>
              <a:t>		</a:t>
            </a:r>
            <a:r>
              <a:rPr lang="en-US" altLang="zh-CN" sz="1400" dirty="0"/>
              <a:t>}</a:t>
            </a:r>
          </a:p>
          <a:p>
            <a:pPr defTabSz="363538"/>
            <a:r>
              <a:rPr lang="en-US" altLang="zh-CN" sz="1400" dirty="0"/>
              <a:t>		</a:t>
            </a:r>
            <a:r>
              <a:rPr lang="pt-BR" altLang="zh-CN" sz="1400" dirty="0"/>
              <a:t>printf("%c",c);			</a:t>
            </a:r>
            <a:r>
              <a:rPr lang="pt-BR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输出已改变的字符</a:t>
            </a:r>
          </a:p>
          <a:p>
            <a:pPr defTabSz="363538"/>
            <a:r>
              <a:rPr lang="zh-CN" altLang="en-US" sz="1400" dirty="0"/>
              <a:t>		</a:t>
            </a:r>
            <a:r>
              <a:rPr lang="pt-BR" altLang="zh-CN" sz="1400" dirty="0"/>
              <a:t>c=getchar(); 			</a:t>
            </a:r>
            <a:r>
              <a:rPr lang="pt-BR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再输入下一个字符给字符变量</a:t>
            </a:r>
            <a:r>
              <a:rPr lang="pt-BR" altLang="zh-CN" sz="1400" dirty="0">
                <a:solidFill>
                  <a:srgbClr val="008000"/>
                </a:solidFill>
              </a:rPr>
              <a:t>c</a:t>
            </a:r>
          </a:p>
          <a:p>
            <a:pPr defTabSz="363538"/>
            <a:r>
              <a:rPr lang="pt-BR" altLang="zh-CN" sz="1400" dirty="0"/>
              <a:t>	}</a:t>
            </a:r>
          </a:p>
          <a:p>
            <a:pPr defTabSz="363538"/>
            <a:r>
              <a:rPr lang="pt-BR" altLang="zh-CN" sz="1400" dirty="0"/>
              <a:t>	printf("\n");</a:t>
            </a:r>
          </a:p>
          <a:p>
            <a:pPr defTabSz="363538"/>
            <a:r>
              <a:rPr lang="pt-BR" altLang="zh-CN" sz="1400" dirty="0"/>
              <a:t>	return 0;</a:t>
            </a:r>
          </a:p>
          <a:p>
            <a:pPr defTabSz="363538"/>
            <a:r>
              <a:rPr lang="pt-BR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257FEB4-9A47-B4D9-7EF8-4F0954B19041}"/>
              </a:ext>
            </a:extLst>
          </p:cNvPr>
          <p:cNvSpPr/>
          <p:nvPr/>
        </p:nvSpPr>
        <p:spPr>
          <a:xfrm>
            <a:off x="529466" y="1834646"/>
            <a:ext cx="10515600" cy="115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解题思路</a:t>
            </a:r>
            <a:r>
              <a:rPr lang="en-US" altLang="zh-CN" sz="1600" b="1" dirty="0"/>
              <a:t>: 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(1) </a:t>
            </a:r>
            <a:r>
              <a:rPr lang="zh-CN" altLang="en-US" sz="1600" dirty="0"/>
              <a:t>判断哪些字符不需要改变，哪些字符需要改变。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(2)</a:t>
            </a:r>
            <a:r>
              <a:rPr lang="zh-CN" altLang="en-US" sz="1600" dirty="0"/>
              <a:t>通过改变字符</a:t>
            </a:r>
            <a:r>
              <a:rPr lang="en-US" altLang="zh-CN" sz="1600" dirty="0"/>
              <a:t>c</a:t>
            </a:r>
            <a:r>
              <a:rPr lang="zh-CN" altLang="en-US" sz="1600" dirty="0"/>
              <a:t>的</a:t>
            </a:r>
            <a:r>
              <a:rPr lang="en-US" altLang="zh-CN" sz="1600" dirty="0"/>
              <a:t>ASCII</a:t>
            </a:r>
            <a:r>
              <a:rPr lang="zh-CN" altLang="en-US" sz="1600" dirty="0"/>
              <a:t>值的方式将其变为指定的字母。</a:t>
            </a:r>
            <a:r>
              <a:rPr lang="en-US" altLang="zh-CN" sz="1600" dirty="0"/>
              <a:t>'A'~'V'</a:t>
            </a:r>
            <a:r>
              <a:rPr lang="zh-CN" altLang="en-US" sz="1600" dirty="0"/>
              <a:t>或</a:t>
            </a:r>
            <a:r>
              <a:rPr lang="en-US" altLang="zh-CN" sz="1600" dirty="0"/>
              <a:t>'</a:t>
            </a:r>
            <a:r>
              <a:rPr lang="en-US" altLang="zh-CN" sz="1600" dirty="0" err="1"/>
              <a:t>a'~'v</a:t>
            </a:r>
            <a:r>
              <a:rPr lang="en-US" altLang="zh-CN" sz="1600" dirty="0"/>
              <a:t>' </a:t>
            </a:r>
            <a:r>
              <a:rPr lang="zh-CN" altLang="en-US" sz="1600" dirty="0"/>
              <a:t>：</a:t>
            </a:r>
            <a:r>
              <a:rPr lang="en-US" altLang="zh-CN" sz="1600" dirty="0"/>
              <a:t>c=c+4</a:t>
            </a:r>
            <a:r>
              <a:rPr lang="zh-CN" altLang="en-US" sz="1600" dirty="0"/>
              <a:t>；</a:t>
            </a:r>
            <a:r>
              <a:rPr lang="en-US" altLang="zh-CN" sz="1600" dirty="0"/>
              <a:t>'W'~'Z'</a:t>
            </a:r>
            <a:r>
              <a:rPr lang="zh-CN" altLang="en-US" sz="1600" dirty="0"/>
              <a:t>或</a:t>
            </a:r>
            <a:r>
              <a:rPr lang="en-US" altLang="zh-CN" sz="1600" dirty="0"/>
              <a:t>'</a:t>
            </a:r>
            <a:r>
              <a:rPr lang="en-US" altLang="zh-CN" sz="1600" dirty="0" err="1"/>
              <a:t>w'~'z</a:t>
            </a:r>
            <a:r>
              <a:rPr lang="en-US" altLang="zh-CN" sz="1600" dirty="0"/>
              <a:t>' </a:t>
            </a:r>
            <a:r>
              <a:rPr lang="zh-CN" altLang="en-US" sz="1600" dirty="0"/>
              <a:t>：</a:t>
            </a:r>
            <a:r>
              <a:rPr lang="en-US" altLang="zh-CN" sz="1600" dirty="0"/>
              <a:t>c=c-22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  <p:graphicFrame>
        <p:nvGraphicFramePr>
          <p:cNvPr id="37" name="表格 36">
            <a:extLst>
              <a:ext uri="{FF2B5EF4-FFF2-40B4-BE49-F238E27FC236}">
                <a16:creationId xmlns:a16="http://schemas.microsoft.com/office/drawing/2014/main" id="{03C1230E-0E79-BFBC-A958-0A79017E2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773305"/>
              </p:ext>
            </p:extLst>
          </p:nvPr>
        </p:nvGraphicFramePr>
        <p:xfrm>
          <a:off x="8131557" y="3113346"/>
          <a:ext cx="339145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7486">
                  <a:extLst>
                    <a:ext uri="{9D8B030D-6E8A-4147-A177-3AD203B41FA5}">
                      <a16:colId xmlns:a16="http://schemas.microsoft.com/office/drawing/2014/main" val="2048455033"/>
                    </a:ext>
                  </a:extLst>
                </a:gridCol>
                <a:gridCol w="993565">
                  <a:extLst>
                    <a:ext uri="{9D8B030D-6E8A-4147-A177-3AD203B41FA5}">
                      <a16:colId xmlns:a16="http://schemas.microsoft.com/office/drawing/2014/main" val="1571958481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963874156"/>
                    </a:ext>
                  </a:extLst>
                </a:gridCol>
                <a:gridCol w="1095512">
                  <a:extLst>
                    <a:ext uri="{9D8B030D-6E8A-4147-A177-3AD203B41FA5}">
                      <a16:colId xmlns:a16="http://schemas.microsoft.com/office/drawing/2014/main" val="1647028171"/>
                    </a:ext>
                  </a:extLst>
                </a:gridCol>
              </a:tblGrid>
              <a:tr h="139394">
                <a:tc gridSpan="4">
                  <a:txBody>
                    <a:bodyPr/>
                    <a:lstStyle/>
                    <a:p>
                      <a:r>
                        <a:rPr lang="zh-CN" altLang="en-US" sz="1400"/>
                        <a:t>输入一个字符给</a:t>
                      </a:r>
                      <a:r>
                        <a:rPr lang="en-US" altLang="zh-CN" sz="1400"/>
                        <a:t>c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23"/>
                  </a:ext>
                </a:extLst>
              </a:tr>
              <a:tr h="139394">
                <a:tc gridSpan="4">
                  <a:txBody>
                    <a:bodyPr/>
                    <a:lstStyle/>
                    <a:p>
                      <a:r>
                        <a:rPr lang="zh-CN" altLang="en-US" sz="1400"/>
                        <a:t>当</a:t>
                      </a:r>
                      <a:r>
                        <a:rPr lang="en-US" altLang="zh-CN" sz="1400"/>
                        <a:t>c</a:t>
                      </a:r>
                      <a:r>
                        <a:rPr lang="zh-CN" altLang="en-US" sz="1400"/>
                        <a:t>不是换行符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259095"/>
                  </a:ext>
                </a:extLst>
              </a:tr>
              <a:tr h="139394">
                <a:tc rowSpan="5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8521542"/>
                  </a:ext>
                </a:extLst>
              </a:tr>
              <a:tr h="139394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zh-CN" sz="1400"/>
                    </a:p>
                    <a:p>
                      <a:r>
                        <a:rPr lang="zh-CN" altLang="en-US" sz="140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altLang="zh-CN" sz="1400"/>
                    </a:p>
                    <a:p>
                      <a:pPr algn="r"/>
                      <a:r>
                        <a:rPr lang="zh-CN" altLang="en-US" sz="1400"/>
                        <a:t>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239619"/>
                  </a:ext>
                </a:extLst>
              </a:tr>
              <a:tr h="139394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c=c-22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c=c+4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906089"/>
                  </a:ext>
                </a:extLst>
              </a:tr>
              <a:tr h="139394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c</a:t>
                      </a:r>
                      <a:r>
                        <a:rPr lang="zh-CN" altLang="en-US" sz="1400"/>
                        <a:t>的字符值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969569"/>
                  </a:ext>
                </a:extLst>
              </a:tr>
              <a:tr h="139394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/>
                        <a:t>输入一个字符给</a:t>
                      </a:r>
                      <a:r>
                        <a:rPr lang="en-US" altLang="zh-CN" sz="1400"/>
                        <a:t>c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021586"/>
                  </a:ext>
                </a:extLst>
              </a:tr>
            </a:tbl>
          </a:graphicData>
        </a:graphic>
      </p:graphicFrame>
      <p:sp>
        <p:nvSpPr>
          <p:cNvPr id="38" name="文本框 37">
            <a:extLst>
              <a:ext uri="{FF2B5EF4-FFF2-40B4-BE49-F238E27FC236}">
                <a16:creationId xmlns:a16="http://schemas.microsoft.com/office/drawing/2014/main" id="{275C34A7-699B-43DF-0EF1-5A318C1AFAB7}"/>
              </a:ext>
            </a:extLst>
          </p:cNvPr>
          <p:cNvSpPr txBox="1"/>
          <p:nvPr/>
        </p:nvSpPr>
        <p:spPr>
          <a:xfrm>
            <a:off x="9818376" y="3698775"/>
            <a:ext cx="1063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c</a:t>
            </a:r>
            <a:r>
              <a:rPr lang="zh-CN" altLang="en-US" sz="1400" dirty="0"/>
              <a:t>是字母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AC284F9-C298-E160-05E8-DD21696EA844}"/>
              </a:ext>
            </a:extLst>
          </p:cNvPr>
          <p:cNvSpPr txBox="1"/>
          <p:nvPr/>
        </p:nvSpPr>
        <p:spPr>
          <a:xfrm>
            <a:off x="8871349" y="4055058"/>
            <a:ext cx="139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zh-CN" sz="1400" dirty="0"/>
              <a:t>c</a:t>
            </a:r>
            <a:r>
              <a:rPr lang="zh-CN" altLang="en-US" sz="1400" dirty="0"/>
              <a:t>在</a:t>
            </a:r>
            <a:r>
              <a:rPr lang="en-US" altLang="zh-CN" sz="1400" dirty="0"/>
              <a:t>'W'~'Z'</a:t>
            </a:r>
            <a:r>
              <a:rPr lang="zh-CN" altLang="en-US" sz="1400" dirty="0"/>
              <a:t>或</a:t>
            </a:r>
            <a:r>
              <a:rPr lang="en-US" altLang="zh-CN" sz="1400" dirty="0"/>
              <a:t>'</a:t>
            </a:r>
            <a:r>
              <a:rPr lang="en-US" altLang="zh-CN" sz="1400" dirty="0" err="1"/>
              <a:t>w'~'z</a:t>
            </a:r>
            <a:r>
              <a:rPr lang="en-US" altLang="zh-CN" sz="1400" dirty="0"/>
              <a:t>'</a:t>
            </a:r>
            <a:r>
              <a:rPr lang="zh-CN" altLang="en-US" sz="1400" dirty="0"/>
              <a:t>间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72A4E1D0-DF4D-FAC9-9C05-516116D0DA5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88969" y="5700735"/>
            <a:ext cx="3476625" cy="885825"/>
          </a:xfrm>
          <a:prstGeom prst="rect">
            <a:avLst/>
          </a:prstGeom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1F7C5A8D-F9AA-7064-6BCB-6A2C36E3B90A}"/>
              </a:ext>
            </a:extLst>
          </p:cNvPr>
          <p:cNvSpPr/>
          <p:nvPr/>
        </p:nvSpPr>
        <p:spPr>
          <a:xfrm>
            <a:off x="1641821" y="4454340"/>
            <a:ext cx="6447148" cy="7229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/>
          <a:lstStyle/>
          <a:p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c=c+4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只要是字母，都先加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</a:p>
          <a:p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如果是</a:t>
            </a:r>
            <a:r>
              <a:rPr lang="en-US" altLang="zh-CN" sz="1400">
                <a:solidFill>
                  <a:srgbClr val="008000"/>
                </a:solidFill>
              </a:rPr>
              <a:t>26</a:t>
            </a:r>
            <a:r>
              <a:rPr lang="zh-CN" altLang="en-US" sz="1400">
                <a:solidFill>
                  <a:srgbClr val="008000"/>
                </a:solidFill>
              </a:rPr>
              <a:t>个字母中最后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  <a:r>
              <a:rPr lang="zh-CN" altLang="en-US" sz="1400">
                <a:solidFill>
                  <a:srgbClr val="008000"/>
                </a:solidFill>
              </a:rPr>
              <a:t>个字母之一， </a:t>
            </a:r>
            <a:r>
              <a:rPr lang="en-US" altLang="zh-CN" sz="1400">
                <a:solidFill>
                  <a:srgbClr val="008000"/>
                </a:solidFill>
              </a:rPr>
              <a:t>c</a:t>
            </a:r>
            <a:r>
              <a:rPr lang="zh-CN" altLang="en-US" sz="1400">
                <a:solidFill>
                  <a:srgbClr val="008000"/>
                </a:solidFill>
              </a:rPr>
              <a:t>值变为对应的最前面的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  <a:r>
              <a:rPr lang="zh-CN" altLang="en-US" sz="1400">
                <a:solidFill>
                  <a:srgbClr val="008000"/>
                </a:solidFill>
              </a:rPr>
              <a:t>个字母</a:t>
            </a:r>
            <a:endParaRPr lang="en-US" altLang="zh-CN" sz="1400">
              <a:solidFill>
                <a:srgbClr val="008000"/>
              </a:solidFill>
            </a:endParaRPr>
          </a:p>
          <a:p>
            <a:r>
              <a:rPr lang="pt-BR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if(c&gt;'Z' &amp;&amp; c&lt;='Z'+4 || c&gt;'z' &amp;&amp; c&lt;='z'+4)  c=c-26;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zh-CN" sz="1400" dirty="0" err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065AF3B-8CBC-296B-1F68-E3B13A95065B}"/>
              </a:ext>
            </a:extLst>
          </p:cNvPr>
          <p:cNvGrpSpPr/>
          <p:nvPr/>
        </p:nvGrpSpPr>
        <p:grpSpPr>
          <a:xfrm>
            <a:off x="939496" y="3821058"/>
            <a:ext cx="1998172" cy="1992840"/>
            <a:chOff x="1142593" y="3821118"/>
            <a:chExt cx="1998172" cy="1992840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A89003A7-132F-DB29-4928-2AF61CFA5648}"/>
                </a:ext>
              </a:extLst>
            </p:cNvPr>
            <p:cNvSpPr/>
            <p:nvPr/>
          </p:nvSpPr>
          <p:spPr>
            <a:xfrm>
              <a:off x="1142593" y="3821118"/>
              <a:ext cx="1998172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while((c=getchar()!='\n')</a:t>
              </a:r>
              <a:endPara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97455749-F03E-9563-3252-A00C09665C3B}"/>
                </a:ext>
              </a:extLst>
            </p:cNvPr>
            <p:cNvSpPr/>
            <p:nvPr/>
          </p:nvSpPr>
          <p:spPr>
            <a:xfrm>
              <a:off x="1381133" y="5525958"/>
              <a:ext cx="1282554" cy="2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754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113224"/>
  <p:tag name="MH_LIBRARY" val="GRAPHIC"/>
  <p:tag name="MH_TYPE" val="Other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113224"/>
  <p:tag name="MH_LIBRARY" val="GRAPHIC"/>
  <p:tag name="MH_TYPE" val="Other"/>
  <p:tag name="MH_ORDER" val="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113224"/>
  <p:tag name="MH_LIBRARY" val="GRAPHIC"/>
  <p:tag name="MH_TYPE" val="SubTitle"/>
  <p:tag name="MH_ORDER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113224"/>
  <p:tag name="MH_LIBRARY" val="GRAPHIC"/>
  <p:tag name="MH_TYPE" val="SubTitle"/>
  <p:tag name="MH_ORDER" val="2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1096</TotalTime>
  <Words>1968</Words>
  <Application>Microsoft Office PowerPoint</Application>
  <PresentationFormat>宽屏</PresentationFormat>
  <Paragraphs>262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OPPOSans R</vt:lpstr>
      <vt:lpstr>百度综艺简体</vt:lpstr>
      <vt:lpstr>等线</vt:lpstr>
      <vt:lpstr>思源黑体 CN Regular</vt:lpstr>
      <vt:lpstr>微软雅黑</vt:lpstr>
      <vt:lpstr>优设标题黑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晓刚 张</cp:lastModifiedBy>
  <cp:revision>109</cp:revision>
  <dcterms:created xsi:type="dcterms:W3CDTF">2026-05-06T02:15:00Z</dcterms:created>
  <dcterms:modified xsi:type="dcterms:W3CDTF">2026-05-27T12:04:31Z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