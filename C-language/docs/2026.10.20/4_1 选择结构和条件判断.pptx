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5" r:id="rId6"/>
    <p:sldId id="268" r:id="rId7"/>
    <p:sldId id="269" r:id="rId8"/>
    <p:sldId id="272" r:id="rId9"/>
    <p:sldId id="275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6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E2424-4A80-4946-884C-E6F1F6D82D4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912DB-F6CB-4352-B3B9-7A907E506F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5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microsoft.com/office/2007/relationships/hdphoto" Target="../media/hdphoto4.wdp"/><Relationship Id="rId17" Type="http://schemas.openxmlformats.org/officeDocument/2006/relationships/image" Target="../media/image17.png"/><Relationship Id="rId2" Type="http://schemas.openxmlformats.org/officeDocument/2006/relationships/image" Target="../media/image6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1.wdp"/><Relationship Id="rId15" Type="http://schemas.openxmlformats.org/officeDocument/2006/relationships/image" Target="../media/image15.png"/><Relationship Id="rId10" Type="http://schemas.microsoft.com/office/2007/relationships/hdphoto" Target="../media/hdphoto3.wdp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4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20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2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microsoft.com/office/2007/relationships/hdphoto" Target="../media/hdphoto5.wd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microsoft.com/office/2007/relationships/hdphoto" Target="../media/hdphoto6.wdp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image" Target="../media/image25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8.wdp"/><Relationship Id="rId3" Type="http://schemas.openxmlformats.org/officeDocument/2006/relationships/image" Target="../media/image13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microsoft.com/office/2007/relationships/hdphoto" Target="../media/hdphoto7.wdp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14.GIF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10" name="图片 4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20825" y="1861287"/>
            <a:ext cx="7553960" cy="1137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8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高级语言程序设计</a:t>
            </a:r>
            <a:r>
              <a:rPr lang="zh-CN" altLang="en-US" sz="680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73704" y="3398818"/>
            <a:ext cx="7189788" cy="561827"/>
            <a:chOff x="500449" y="3247070"/>
            <a:chExt cx="6295770" cy="583554"/>
          </a:xfrm>
        </p:grpSpPr>
        <p:sp>
          <p:nvSpPr>
            <p:cNvPr id="13" name="矩形: 圆角 12"/>
            <p:cNvSpPr/>
            <p:nvPr/>
          </p:nvSpPr>
          <p:spPr>
            <a:xfrm>
              <a:off x="554831" y="3247070"/>
              <a:ext cx="6241388" cy="583554"/>
            </a:xfrm>
            <a:prstGeom prst="roundRect">
              <a:avLst>
                <a:gd name="adj" fmla="val 0"/>
              </a:avLst>
            </a:prstGeom>
            <a:gradFill>
              <a:gsLst>
                <a:gs pos="5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500449" y="3247070"/>
              <a:ext cx="111210" cy="583554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00710" y="3449320"/>
            <a:ext cx="7840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High-Level Language Programming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73704" y="4668316"/>
            <a:ext cx="3488696" cy="561827"/>
            <a:chOff x="473704" y="5042998"/>
            <a:chExt cx="3488696" cy="561827"/>
          </a:xfrm>
        </p:grpSpPr>
        <p:sp>
          <p:nvSpPr>
            <p:cNvPr id="16" name="八边形 15"/>
            <p:cNvSpPr/>
            <p:nvPr/>
          </p:nvSpPr>
          <p:spPr>
            <a:xfrm>
              <a:off x="473704" y="5042998"/>
              <a:ext cx="3488696" cy="561827"/>
            </a:xfrm>
            <a:prstGeom prst="octagon">
              <a:avLst>
                <a:gd name="adj" fmla="val 18292"/>
              </a:avLst>
            </a:prstGeom>
            <a:gradFill>
              <a:gsLst>
                <a:gs pos="5000">
                  <a:schemeClr val="accent2"/>
                </a:gs>
                <a:gs pos="100000">
                  <a:schemeClr val="accent1">
                    <a:alpha val="76000"/>
                  </a:schemeClr>
                </a:gs>
              </a:gsLst>
              <a:lin ang="0" scaled="1"/>
            </a:gra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八边形 16"/>
            <p:cNvSpPr/>
            <p:nvPr/>
          </p:nvSpPr>
          <p:spPr>
            <a:xfrm>
              <a:off x="473704" y="5042998"/>
              <a:ext cx="2048516" cy="561827"/>
            </a:xfrm>
            <a:prstGeom prst="octagon">
              <a:avLst>
                <a:gd name="adj" fmla="val 18292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tx2"/>
                </a:gs>
              </a:gsLst>
              <a:lin ang="0" scaled="1"/>
            </a:gra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2400" b="1" kern="100">
                  <a:solidFill>
                    <a:schemeClr val="bg1"/>
                  </a:solidFill>
                  <a:latin typeface="+mj-ea"/>
                  <a:ea typeface="+mj-ea"/>
                  <a:cs typeface="Times New Roman" panose="02020603050405020304" pitchFamily="18" charset="0"/>
                  <a:sym typeface="+mj-ea"/>
                </a:rPr>
                <a:t>主讲教师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722937" y="5146865"/>
              <a:ext cx="103874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bg1"/>
                  </a:solidFill>
                  <a:latin typeface="+mj-ea"/>
                  <a:ea typeface="+mj-ea"/>
                </a:rPr>
                <a:t>韩旭明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473704" y="582191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04815" y="582191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735925" y="582191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9" name="平行四边形 28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692" y="3364213"/>
            <a:ext cx="3609145" cy="104711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50072" y="3905285"/>
            <a:ext cx="3609145" cy="1047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alphaModFix amt="49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512" y="5964089"/>
            <a:ext cx="960763" cy="8609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 cstate="print">
            <a:alphaModFix amt="36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341" y="5516197"/>
            <a:ext cx="2310007" cy="170175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 cstate="print">
            <a:alphaModFix amt="73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275" y="5959166"/>
            <a:ext cx="2004537" cy="86095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6623646" y="471858"/>
            <a:ext cx="471142" cy="471142"/>
            <a:chOff x="5800489" y="913200"/>
            <a:chExt cx="591022" cy="591022"/>
          </a:xfrm>
        </p:grpSpPr>
        <p:sp>
          <p:nvSpPr>
            <p:cNvPr id="42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9" name="图片 3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65" name="组合 64"/>
          <p:cNvGrpSpPr/>
          <p:nvPr/>
        </p:nvGrpSpPr>
        <p:grpSpPr>
          <a:xfrm>
            <a:off x="5458971" y="1153616"/>
            <a:ext cx="637029" cy="637029"/>
            <a:chOff x="5332525" y="-777658"/>
            <a:chExt cx="637029" cy="637029"/>
          </a:xfrm>
        </p:grpSpPr>
        <p:sp>
          <p:nvSpPr>
            <p:cNvPr id="64" name="任意多边形: 形状 63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55" name="图片 54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5668065" y="4234303"/>
            <a:ext cx="677972" cy="677972"/>
            <a:chOff x="6287406" y="-777658"/>
            <a:chExt cx="637029" cy="637029"/>
          </a:xfrm>
        </p:grpSpPr>
        <p:sp>
          <p:nvSpPr>
            <p:cNvPr id="56" name="任意多边形: 形状 55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57" name="图片 56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289305" y="2833469"/>
            <a:ext cx="772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选择结构程序设计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90795" y="1268356"/>
            <a:ext cx="2342308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7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4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3886A7-B64E-00D7-C222-2223B5D7BD66}"/>
              </a:ext>
            </a:extLst>
          </p:cNvPr>
          <p:cNvSpPr txBox="1">
            <a:spLocks/>
          </p:cNvSpPr>
          <p:nvPr/>
        </p:nvSpPr>
        <p:spPr>
          <a:xfrm>
            <a:off x="5815550" y="4647518"/>
            <a:ext cx="5323467" cy="754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dirty="0">
                <a:solidFill>
                  <a:schemeClr val="bg1"/>
                </a:solidFill>
              </a:rPr>
              <a:t>——</a:t>
            </a:r>
            <a:r>
              <a:rPr lang="zh-CN" altLang="en-US" sz="3600" dirty="0">
                <a:solidFill>
                  <a:schemeClr val="bg1"/>
                </a:solidFill>
              </a:rPr>
              <a:t>选择结构与条件判断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6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6" y="1179703"/>
            <a:ext cx="5457293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186825" y="1531228"/>
              <a:ext cx="3344780" cy="4689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现实生活中的选择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29306" y="2381171"/>
            <a:ext cx="5457293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282439" y="1548285"/>
              <a:ext cx="3153553" cy="468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C</a:t>
              </a:r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语言的选择语句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8" y="3588332"/>
            <a:ext cx="5457292" cy="701832"/>
            <a:chOff x="4316361" y="1433503"/>
            <a:chExt cx="5197419" cy="668411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4321820" y="1435961"/>
              <a:ext cx="5179880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6196392" y="1555241"/>
              <a:ext cx="2146496" cy="468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关系表达式</a:t>
              </a:r>
            </a:p>
          </p:txBody>
        </p:sp>
        <p:sp>
          <p:nvSpPr>
            <p:cNvPr id="43" name="梯形 42"/>
            <p:cNvSpPr/>
            <p:nvPr>
              <p:custDataLst>
                <p:tags r:id="rId13"/>
              </p:custDataLst>
            </p:nvPr>
          </p:nvSpPr>
          <p:spPr>
            <a:xfrm rot="5400000">
              <a:off x="9400882" y="1745235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4"/>
            </p:custDataLst>
          </p:nvPr>
        </p:nvGrpSpPr>
        <p:grpSpPr>
          <a:xfrm>
            <a:off x="5829307" y="4790890"/>
            <a:ext cx="5457293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6028582" y="1556296"/>
              <a:ext cx="1956015" cy="468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逻辑表达式</a:t>
              </a:r>
            </a:p>
          </p:txBody>
        </p:sp>
        <p:sp>
          <p:nvSpPr>
            <p:cNvPr id="49" name="梯形 48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现实生活中的选择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FC3E382-BABB-7887-ED3B-FF307E63B69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51751" y="900899"/>
            <a:ext cx="10688497" cy="14247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现实生活中，我们经常要面临选择，下面是在高速公路上驾车的两个选择场景示例：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是否进入服务区的选择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北京还是上海的方向选择</a:t>
            </a:r>
          </a:p>
        </p:txBody>
      </p:sp>
      <p:pic>
        <p:nvPicPr>
          <p:cNvPr id="10" name="内容占位符 4">
            <a:extLst>
              <a:ext uri="{FF2B5EF4-FFF2-40B4-BE49-F238E27FC236}">
                <a16:creationId xmlns:a16="http://schemas.microsoft.com/office/drawing/2014/main" id="{B1EB9F6B-3988-2E96-1579-5946E418C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5" y="2366105"/>
            <a:ext cx="4341917" cy="24766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168804-89C2-E504-B651-1254F89E5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829" y="2325635"/>
            <a:ext cx="4341916" cy="247669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E2E8BAE3-DE4B-0015-F104-143D43450144}"/>
              </a:ext>
            </a:extLst>
          </p:cNvPr>
          <p:cNvGrpSpPr/>
          <p:nvPr/>
        </p:nvGrpSpPr>
        <p:grpSpPr>
          <a:xfrm>
            <a:off x="7203444" y="4920608"/>
            <a:ext cx="3452685" cy="1838287"/>
            <a:chOff x="6027121" y="1690688"/>
            <a:chExt cx="5014895" cy="3909816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D8542F5-C7A5-28AF-1E15-4EB46133817D}"/>
                </a:ext>
              </a:extLst>
            </p:cNvPr>
            <p:cNvCxnSpPr/>
            <p:nvPr/>
          </p:nvCxnSpPr>
          <p:spPr>
            <a:xfrm>
              <a:off x="8649325" y="1690688"/>
              <a:ext cx="0" cy="7142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流程图: 决策 13">
              <a:extLst>
                <a:ext uri="{FF2B5EF4-FFF2-40B4-BE49-F238E27FC236}">
                  <a16:creationId xmlns:a16="http://schemas.microsoft.com/office/drawing/2014/main" id="{BB3209C4-308C-AC2F-D388-7090C29FD72A}"/>
                </a:ext>
              </a:extLst>
            </p:cNvPr>
            <p:cNvSpPr/>
            <p:nvPr/>
          </p:nvSpPr>
          <p:spPr>
            <a:xfrm>
              <a:off x="7689954" y="2404985"/>
              <a:ext cx="1918742" cy="106617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选择条件</a:t>
              </a:r>
            </a:p>
          </p:txBody>
        </p:sp>
        <p:sp>
          <p:nvSpPr>
            <p:cNvPr id="15" name="任意多边形 9">
              <a:extLst>
                <a:ext uri="{FF2B5EF4-FFF2-40B4-BE49-F238E27FC236}">
                  <a16:creationId xmlns:a16="http://schemas.microsoft.com/office/drawing/2014/main" id="{E34D35AA-BC5B-1605-8336-E92F2EEFD8E3}"/>
                </a:ext>
              </a:extLst>
            </p:cNvPr>
            <p:cNvSpPr/>
            <p:nvPr/>
          </p:nvSpPr>
          <p:spPr>
            <a:xfrm>
              <a:off x="6760564" y="2953062"/>
              <a:ext cx="929390" cy="869429"/>
            </a:xfrm>
            <a:custGeom>
              <a:avLst/>
              <a:gdLst>
                <a:gd name="connsiteX0" fmla="*/ 929390 w 929390"/>
                <a:gd name="connsiteY0" fmla="*/ 0 h 869429"/>
                <a:gd name="connsiteX1" fmla="*/ 0 w 929390"/>
                <a:gd name="connsiteY1" fmla="*/ 0 h 869429"/>
                <a:gd name="connsiteX2" fmla="*/ 0 w 929390"/>
                <a:gd name="connsiteY2" fmla="*/ 869429 h 86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9390" h="869429">
                  <a:moveTo>
                    <a:pt x="929390" y="0"/>
                  </a:moveTo>
                  <a:lnTo>
                    <a:pt x="0" y="0"/>
                  </a:lnTo>
                  <a:lnTo>
                    <a:pt x="0" y="869429"/>
                  </a:ln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3">
              <a:extLst>
                <a:ext uri="{FF2B5EF4-FFF2-40B4-BE49-F238E27FC236}">
                  <a16:creationId xmlns:a16="http://schemas.microsoft.com/office/drawing/2014/main" id="{2D4AAB23-6049-BA04-1242-5A82BAC5AE94}"/>
                </a:ext>
              </a:extLst>
            </p:cNvPr>
            <p:cNvSpPr/>
            <p:nvPr/>
          </p:nvSpPr>
          <p:spPr>
            <a:xfrm flipH="1">
              <a:off x="9608696" y="2944337"/>
              <a:ext cx="1010700" cy="869429"/>
            </a:xfrm>
            <a:custGeom>
              <a:avLst/>
              <a:gdLst>
                <a:gd name="connsiteX0" fmla="*/ 929390 w 929390"/>
                <a:gd name="connsiteY0" fmla="*/ 0 h 869429"/>
                <a:gd name="connsiteX1" fmla="*/ 0 w 929390"/>
                <a:gd name="connsiteY1" fmla="*/ 0 h 869429"/>
                <a:gd name="connsiteX2" fmla="*/ 0 w 929390"/>
                <a:gd name="connsiteY2" fmla="*/ 869429 h 86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9390" h="869429">
                  <a:moveTo>
                    <a:pt x="929390" y="0"/>
                  </a:moveTo>
                  <a:lnTo>
                    <a:pt x="0" y="0"/>
                  </a:lnTo>
                  <a:lnTo>
                    <a:pt x="0" y="869429"/>
                  </a:ln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F1221A-D895-4DE6-D8E5-46B72FE16DD1}"/>
                </a:ext>
              </a:extLst>
            </p:cNvPr>
            <p:cNvSpPr/>
            <p:nvPr/>
          </p:nvSpPr>
          <p:spPr>
            <a:xfrm>
              <a:off x="9741462" y="3822492"/>
              <a:ext cx="1300554" cy="539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上海方向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D82B840-B257-2F05-4327-0940FBEE3576}"/>
                </a:ext>
              </a:extLst>
            </p:cNvPr>
            <p:cNvSpPr/>
            <p:nvPr/>
          </p:nvSpPr>
          <p:spPr>
            <a:xfrm>
              <a:off x="6027121" y="3840464"/>
              <a:ext cx="1466886" cy="539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北京方向</a:t>
              </a:r>
            </a:p>
          </p:txBody>
        </p:sp>
        <p:sp>
          <p:nvSpPr>
            <p:cNvPr id="19" name="任意多边形 12">
              <a:extLst>
                <a:ext uri="{FF2B5EF4-FFF2-40B4-BE49-F238E27FC236}">
                  <a16:creationId xmlns:a16="http://schemas.microsoft.com/office/drawing/2014/main" id="{AC07E16E-62CD-8AF0-F724-3F85F10C9F73}"/>
                </a:ext>
              </a:extLst>
            </p:cNvPr>
            <p:cNvSpPr/>
            <p:nvPr/>
          </p:nvSpPr>
          <p:spPr>
            <a:xfrm>
              <a:off x="6760565" y="4363278"/>
              <a:ext cx="3858832" cy="522929"/>
            </a:xfrm>
            <a:custGeom>
              <a:avLst/>
              <a:gdLst>
                <a:gd name="connsiteX0" fmla="*/ 0 w 3925956"/>
                <a:gd name="connsiteY0" fmla="*/ 0 h 397565"/>
                <a:gd name="connsiteX1" fmla="*/ 0 w 3925956"/>
                <a:gd name="connsiteY1" fmla="*/ 397565 h 397565"/>
                <a:gd name="connsiteX2" fmla="*/ 3925956 w 3925956"/>
                <a:gd name="connsiteY2" fmla="*/ 397565 h 397565"/>
                <a:gd name="connsiteX3" fmla="*/ 3925956 w 3925956"/>
                <a:gd name="connsiteY3" fmla="*/ 9939 h 39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5956" h="397565">
                  <a:moveTo>
                    <a:pt x="0" y="0"/>
                  </a:moveTo>
                  <a:lnTo>
                    <a:pt x="0" y="397565"/>
                  </a:lnTo>
                  <a:lnTo>
                    <a:pt x="3925956" y="397565"/>
                  </a:lnTo>
                  <a:lnTo>
                    <a:pt x="3925956" y="993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06378D0C-0771-9AB8-61A5-E8F8BA1DF5EC}"/>
                </a:ext>
              </a:extLst>
            </p:cNvPr>
            <p:cNvCxnSpPr/>
            <p:nvPr/>
          </p:nvCxnSpPr>
          <p:spPr>
            <a:xfrm>
              <a:off x="8649325" y="4886207"/>
              <a:ext cx="0" cy="7142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B51D663-51A5-4FAA-A78D-E55551064B9C}"/>
              </a:ext>
            </a:extLst>
          </p:cNvPr>
          <p:cNvGrpSpPr/>
          <p:nvPr/>
        </p:nvGrpSpPr>
        <p:grpSpPr>
          <a:xfrm>
            <a:off x="1404475" y="5019950"/>
            <a:ext cx="3191436" cy="1662186"/>
            <a:chOff x="1524743" y="4632442"/>
            <a:chExt cx="2572127" cy="1626395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AE8BC00-E864-B2DC-92D1-9B99BE4B80D2}"/>
                </a:ext>
              </a:extLst>
            </p:cNvPr>
            <p:cNvGrpSpPr/>
            <p:nvPr/>
          </p:nvGrpSpPr>
          <p:grpSpPr>
            <a:xfrm>
              <a:off x="1524743" y="4632442"/>
              <a:ext cx="2572127" cy="1626395"/>
              <a:chOff x="7721354" y="1690688"/>
              <a:chExt cx="3320661" cy="3609986"/>
            </a:xfrm>
          </p:grpSpPr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171C3DBF-0463-D907-560E-EB4A21FCA342}"/>
                  </a:ext>
                </a:extLst>
              </p:cNvPr>
              <p:cNvCxnSpPr/>
              <p:nvPr/>
            </p:nvCxnSpPr>
            <p:spPr>
              <a:xfrm>
                <a:off x="8649325" y="1690688"/>
                <a:ext cx="0" cy="71429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流程图: 决策 24">
                <a:extLst>
                  <a:ext uri="{FF2B5EF4-FFF2-40B4-BE49-F238E27FC236}">
                    <a16:creationId xmlns:a16="http://schemas.microsoft.com/office/drawing/2014/main" id="{804EAE52-4CEF-44E5-8CAD-6A513DD8694F}"/>
                  </a:ext>
                </a:extLst>
              </p:cNvPr>
              <p:cNvSpPr/>
              <p:nvPr/>
            </p:nvSpPr>
            <p:spPr>
              <a:xfrm>
                <a:off x="7721354" y="2404986"/>
                <a:ext cx="1887342" cy="1066173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/>
                  <a:t>选择</a:t>
                </a:r>
                <a:endParaRPr lang="en-US" altLang="zh-CN" sz="1400" dirty="0"/>
              </a:p>
              <a:p>
                <a:pPr algn="ctr"/>
                <a:r>
                  <a:rPr lang="zh-CN" altLang="en-US" sz="1400" dirty="0"/>
                  <a:t>条件</a:t>
                </a:r>
              </a:p>
            </p:txBody>
          </p:sp>
          <p:sp>
            <p:nvSpPr>
              <p:cNvPr id="26" name="任意多边形 13">
                <a:extLst>
                  <a:ext uri="{FF2B5EF4-FFF2-40B4-BE49-F238E27FC236}">
                    <a16:creationId xmlns:a16="http://schemas.microsoft.com/office/drawing/2014/main" id="{7675C660-1600-B633-BB09-0BD4D317BF98}"/>
                  </a:ext>
                </a:extLst>
              </p:cNvPr>
              <p:cNvSpPr/>
              <p:nvPr/>
            </p:nvSpPr>
            <p:spPr>
              <a:xfrm flipH="1">
                <a:off x="9608696" y="2917064"/>
                <a:ext cx="865160" cy="668280"/>
              </a:xfrm>
              <a:custGeom>
                <a:avLst/>
                <a:gdLst>
                  <a:gd name="connsiteX0" fmla="*/ 929390 w 929390"/>
                  <a:gd name="connsiteY0" fmla="*/ 0 h 869429"/>
                  <a:gd name="connsiteX1" fmla="*/ 0 w 929390"/>
                  <a:gd name="connsiteY1" fmla="*/ 0 h 869429"/>
                  <a:gd name="connsiteX2" fmla="*/ 0 w 929390"/>
                  <a:gd name="connsiteY2" fmla="*/ 869429 h 86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9390" h="869429">
                    <a:moveTo>
                      <a:pt x="929390" y="0"/>
                    </a:moveTo>
                    <a:lnTo>
                      <a:pt x="0" y="0"/>
                    </a:lnTo>
                    <a:lnTo>
                      <a:pt x="0" y="869429"/>
                    </a:lnTo>
                  </a:path>
                </a:pathLst>
              </a:custGeom>
              <a:noFill/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D5A7E14E-E102-CA03-5B31-CE0ED4E8BC87}"/>
                  </a:ext>
                </a:extLst>
              </p:cNvPr>
              <p:cNvSpPr/>
              <p:nvPr/>
            </p:nvSpPr>
            <p:spPr>
              <a:xfrm>
                <a:off x="9886021" y="3584176"/>
                <a:ext cx="1155994" cy="53935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/>
                  <a:t>服务区</a:t>
                </a: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FD97334F-5F44-7B8B-C867-0EB2E01BA9F0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 flipH="1">
                <a:off x="8649324" y="3471159"/>
                <a:ext cx="15701" cy="182951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4981ABF9-3DA7-E987-5F49-E2907F37242E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rot="5400000">
              <a:off x="2856548" y="5127650"/>
              <a:ext cx="191764" cy="1393469"/>
            </a:xfrm>
            <a:prstGeom prst="bentConnector2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89EC-244D-7DC8-7418-33ED4050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04D893E-6C4F-7615-961A-6E80EE1971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语言的选择语句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1CB3D3-9FDB-61D1-16A2-615FCE65C9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A92D967-EE0A-4339-33DF-25EE8B902B4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407" y="1001779"/>
            <a:ext cx="10879311" cy="4854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在</a:t>
            </a:r>
            <a:r>
              <a:rPr lang="en-US" altLang="zh-CN" sz="2400" dirty="0"/>
              <a:t>C</a:t>
            </a:r>
            <a:r>
              <a:rPr lang="zh-CN" altLang="en-US" sz="2400" dirty="0"/>
              <a:t>语言中，用来实现分支处理的选择语句：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/>
              <a:t>if</a:t>
            </a:r>
            <a:r>
              <a:rPr lang="zh-CN" altLang="en-US" sz="2000" b="1" dirty="0"/>
              <a:t>语句：</a:t>
            </a:r>
            <a:r>
              <a:rPr lang="zh-CN" altLang="en-US" sz="2000" dirty="0"/>
              <a:t>用来实现两分支的选择结构，也可以通过嵌套来实现多分支的选择结构。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/>
              <a:t>switch</a:t>
            </a:r>
            <a:r>
              <a:rPr lang="zh-CN" altLang="en-US" sz="2000" b="1" dirty="0"/>
              <a:t>语句：</a:t>
            </a:r>
            <a:r>
              <a:rPr lang="zh-CN" altLang="en-US" sz="2000" dirty="0"/>
              <a:t>用来实现多分支的选择结构。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if</a:t>
            </a:r>
            <a:r>
              <a:rPr lang="zh-CN" altLang="en-US" sz="2400" dirty="0"/>
              <a:t>语句和</a:t>
            </a:r>
            <a:r>
              <a:rPr lang="en-US" altLang="zh-CN" sz="2400" dirty="0"/>
              <a:t>switch</a:t>
            </a:r>
            <a:r>
              <a:rPr lang="zh-CN" altLang="en-US" sz="2400" dirty="0"/>
              <a:t>语句都需要进行条件判断的，但是两者的判断逻辑是完全不同的：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/>
              <a:t>If</a:t>
            </a:r>
            <a:r>
              <a:rPr lang="zh-CN" altLang="en-US" sz="2000" b="1" dirty="0"/>
              <a:t>语句：</a:t>
            </a:r>
            <a:r>
              <a:rPr lang="zh-CN" altLang="en-US" sz="2000" dirty="0"/>
              <a:t>具有真假逻辑值的逻辑表达式、关系表达式或可充当逻辑值的其他类型表达式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/>
              <a:t>Switch</a:t>
            </a:r>
            <a:r>
              <a:rPr lang="zh-CN" altLang="en-US" sz="2000" b="1" dirty="0"/>
              <a:t>语句：</a:t>
            </a:r>
            <a:r>
              <a:rPr lang="zh-CN" altLang="en-US" sz="2000" dirty="0"/>
              <a:t>具有可枚举的多值表达式（字符型、整型、枚举类型等）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选择语句中最常见的条件判断：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/>
              <a:t>关系</a:t>
            </a:r>
            <a:r>
              <a:rPr lang="zh-CN" altLang="en-US" sz="1600" b="1" dirty="0">
                <a:solidFill>
                  <a:schemeClr val="tx1"/>
                </a:solidFill>
              </a:rPr>
              <a:t>表达式（关系运算符）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</a:rPr>
              <a:t>逻辑表达式（逻辑运算符）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40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9375-2030-5E42-5F74-BD08C72C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96428366-FB90-3F6F-0B7A-208AB7BC8F0F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encilSketch/>
                    </a14:imgEffect>
                  </a14:imgLayer>
                </a14:imgProps>
              </a:ext>
            </a:extLst>
          </a:blip>
          <a:srcRect t="50106"/>
          <a:stretch/>
        </p:blipFill>
        <p:spPr>
          <a:xfrm flipV="1">
            <a:off x="945243" y="4028742"/>
            <a:ext cx="1231499" cy="1105592"/>
          </a:xfrm>
          <a:prstGeom prst="rect">
            <a:avLst/>
          </a:prstGeom>
          <a:effectLst>
            <a:glow rad="127000">
              <a:schemeClr val="accent2">
                <a:alpha val="95000"/>
              </a:schemeClr>
            </a:glow>
            <a:outerShdw blurRad="50800" dist="50800" dir="600000" algn="ctr" rotWithShape="0">
              <a:schemeClr val="bg1">
                <a:alpha val="43000"/>
              </a:schemeClr>
            </a:outerShdw>
          </a:effectLst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E113392-E506-0EE2-BFE8-C7C1EC901A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160" y="184594"/>
            <a:ext cx="2739358" cy="403225"/>
          </a:xfrm>
        </p:spPr>
        <p:txBody>
          <a:bodyPr/>
          <a:lstStyle/>
          <a:p>
            <a:r>
              <a:rPr lang="zh-CN" altLang="en-US" sz="2400" dirty="0"/>
              <a:t>关系表达式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ABF31A-2B5F-177F-1E86-A295350044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D3417-CE28-B82A-FD92-E58E78EA3E4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66941" y="220006"/>
            <a:ext cx="7694083" cy="332399"/>
          </a:xfrm>
        </p:spPr>
        <p:txBody>
          <a:bodyPr/>
          <a:lstStyle/>
          <a:p>
            <a:r>
              <a:rPr lang="zh-CN" altLang="en-US" sz="2400" dirty="0"/>
              <a:t>关系运算符及其优先次序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B02E40BB-1535-1EE9-F85E-6B9E3C22FB4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62363" y="2594161"/>
            <a:ext cx="226060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＜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（小于）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MH_Other_1">
            <a:extLst>
              <a:ext uri="{FF2B5EF4-FFF2-40B4-BE49-F238E27FC236}">
                <a16:creationId xmlns:a16="http://schemas.microsoft.com/office/drawing/2014/main" id="{787A9D76-C83C-0DE0-77EF-56CDCAB7DCC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991763" y="3251229"/>
            <a:ext cx="3251390" cy="1937492"/>
          </a:xfrm>
          <a:custGeom>
            <a:avLst/>
            <a:gdLst>
              <a:gd name="connsiteX0" fmla="*/ 1030079 w 2883578"/>
              <a:gd name="connsiteY0" fmla="*/ 0 h 2418446"/>
              <a:gd name="connsiteX1" fmla="*/ 1053716 w 2883578"/>
              <a:gd name="connsiteY1" fmla="*/ 43547 h 2418446"/>
              <a:gd name="connsiteX2" fmla="*/ 1441789 w 2883578"/>
              <a:gd name="connsiteY2" fmla="*/ 249884 h 2418446"/>
              <a:gd name="connsiteX3" fmla="*/ 1829862 w 2883578"/>
              <a:gd name="connsiteY3" fmla="*/ 43547 h 2418446"/>
              <a:gd name="connsiteX4" fmla="*/ 1853499 w 2883578"/>
              <a:gd name="connsiteY4" fmla="*/ 0 h 2418446"/>
              <a:gd name="connsiteX5" fmla="*/ 2883578 w 2883578"/>
              <a:gd name="connsiteY5" fmla="*/ 2418446 h 2418446"/>
              <a:gd name="connsiteX6" fmla="*/ 0 w 2883578"/>
              <a:gd name="connsiteY6" fmla="*/ 2418446 h 241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3578" h="2418446">
                <a:moveTo>
                  <a:pt x="1030079" y="0"/>
                </a:moveTo>
                <a:lnTo>
                  <a:pt x="1053716" y="43547"/>
                </a:lnTo>
                <a:cubicBezTo>
                  <a:pt x="1137819" y="168036"/>
                  <a:pt x="1280246" y="249884"/>
                  <a:pt x="1441789" y="249884"/>
                </a:cubicBezTo>
                <a:cubicBezTo>
                  <a:pt x="1603332" y="249884"/>
                  <a:pt x="1745759" y="168036"/>
                  <a:pt x="1829862" y="43547"/>
                </a:cubicBezTo>
                <a:lnTo>
                  <a:pt x="1853499" y="0"/>
                </a:lnTo>
                <a:lnTo>
                  <a:pt x="2883578" y="2418446"/>
                </a:lnTo>
                <a:lnTo>
                  <a:pt x="0" y="2418446"/>
                </a:lnTo>
                <a:close/>
              </a:path>
            </a:pathLst>
          </a:custGeom>
          <a:gradFill flip="none" rotWithShape="1">
            <a:gsLst>
              <a:gs pos="1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  <a:alpha val="84000"/>
                </a:schemeClr>
              </a:gs>
              <a:gs pos="100000">
                <a:srgbClr val="F9F9F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rIns="79200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MH_Title_1">
            <a:extLst>
              <a:ext uri="{FF2B5EF4-FFF2-40B4-BE49-F238E27FC236}">
                <a16:creationId xmlns:a16="http://schemas.microsoft.com/office/drawing/2014/main" id="{5795E14E-ECF0-04DC-0AC1-77DA8E975E9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38200" y="3487923"/>
            <a:ext cx="1460500" cy="1462088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关系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运算符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MH_Other_2">
            <a:extLst>
              <a:ext uri="{FF2B5EF4-FFF2-40B4-BE49-F238E27FC236}">
                <a16:creationId xmlns:a16="http://schemas.microsoft.com/office/drawing/2014/main" id="{028E154A-934C-48EE-A5C9-C81292F9DAF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73438" y="2576699"/>
            <a:ext cx="360362" cy="360363"/>
          </a:xfrm>
          <a:prstGeom prst="ellipse">
            <a:avLst/>
          </a:prstGeom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MH_SubTitle_2">
            <a:extLst>
              <a:ext uri="{FF2B5EF4-FFF2-40B4-BE49-F238E27FC236}">
                <a16:creationId xmlns:a16="http://schemas.microsoft.com/office/drawing/2014/main" id="{6B01DE3F-546E-3033-5241-B3FBF6B5A99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62363" y="3179948"/>
            <a:ext cx="226060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&lt;=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（小于等于）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MH_Other_3">
            <a:extLst>
              <a:ext uri="{FF2B5EF4-FFF2-40B4-BE49-F238E27FC236}">
                <a16:creationId xmlns:a16="http://schemas.microsoft.com/office/drawing/2014/main" id="{9A9D9FF7-A1BB-8A5F-410C-B6E09AF73D8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373438" y="3162487"/>
            <a:ext cx="360362" cy="358775"/>
          </a:xfrm>
          <a:prstGeom prst="ellipse">
            <a:avLst/>
          </a:prstGeom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MH_SubTitle_3">
            <a:extLst>
              <a:ext uri="{FF2B5EF4-FFF2-40B4-BE49-F238E27FC236}">
                <a16:creationId xmlns:a16="http://schemas.microsoft.com/office/drawing/2014/main" id="{A0C60988-BAD2-240C-4D00-57B1D672D40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662363" y="3765736"/>
            <a:ext cx="2260600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&gt;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（大于）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MH_Other_4">
            <a:extLst>
              <a:ext uri="{FF2B5EF4-FFF2-40B4-BE49-F238E27FC236}">
                <a16:creationId xmlns:a16="http://schemas.microsoft.com/office/drawing/2014/main" id="{702DB7EA-3C6F-C000-549F-227045F472C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73438" y="3746686"/>
            <a:ext cx="360362" cy="360362"/>
          </a:xfrm>
          <a:prstGeom prst="ellipse">
            <a:avLst/>
          </a:prstGeom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MH_SubTitle_4">
            <a:extLst>
              <a:ext uri="{FF2B5EF4-FFF2-40B4-BE49-F238E27FC236}">
                <a16:creationId xmlns:a16="http://schemas.microsoft.com/office/drawing/2014/main" id="{F2478C6F-73BA-CAC4-EA6B-D9181989D44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62363" y="4349937"/>
            <a:ext cx="2260600" cy="325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&gt;=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（大于等于）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MH_Other_5">
            <a:extLst>
              <a:ext uri="{FF2B5EF4-FFF2-40B4-BE49-F238E27FC236}">
                <a16:creationId xmlns:a16="http://schemas.microsoft.com/office/drawing/2014/main" id="{913CA3F3-5713-61E9-86F0-30FA59479C7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373438" y="4332474"/>
            <a:ext cx="360362" cy="360363"/>
          </a:xfrm>
          <a:prstGeom prst="ellipse">
            <a:avLst/>
          </a:prstGeom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MH_SubTitle_5">
            <a:extLst>
              <a:ext uri="{FF2B5EF4-FFF2-40B4-BE49-F238E27FC236}">
                <a16:creationId xmlns:a16="http://schemas.microsoft.com/office/drawing/2014/main" id="{6F87EE15-9B87-E58C-39BD-5AF87AA046A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662363" y="4935723"/>
            <a:ext cx="226060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==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（等于）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MH_Other_6">
            <a:extLst>
              <a:ext uri="{FF2B5EF4-FFF2-40B4-BE49-F238E27FC236}">
                <a16:creationId xmlns:a16="http://schemas.microsoft.com/office/drawing/2014/main" id="{76570EA8-31F5-2AE2-3F5D-2B83BE5C816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373438" y="4918261"/>
            <a:ext cx="360362" cy="360362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MH_SubTitle_6">
            <a:extLst>
              <a:ext uri="{FF2B5EF4-FFF2-40B4-BE49-F238E27FC236}">
                <a16:creationId xmlns:a16="http://schemas.microsoft.com/office/drawing/2014/main" id="{0E69610E-0CA2-67CC-F637-7D76E687A4E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662363" y="5521511"/>
            <a:ext cx="226060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!=	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84C22">
                    <a:lumMod val="75000"/>
                  </a:srgb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（不等于）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E84C22">
                  <a:lumMod val="75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MH_Other_7">
            <a:extLst>
              <a:ext uri="{FF2B5EF4-FFF2-40B4-BE49-F238E27FC236}">
                <a16:creationId xmlns:a16="http://schemas.microsoft.com/office/drawing/2014/main" id="{0558F4AD-E836-7479-C638-15A1F0E36FF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373438" y="5504049"/>
            <a:ext cx="360362" cy="360363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MH_Desc_1">
            <a:extLst>
              <a:ext uri="{FF2B5EF4-FFF2-40B4-BE49-F238E27FC236}">
                <a16:creationId xmlns:a16="http://schemas.microsoft.com/office/drawing/2014/main" id="{5188AE5C-6CAB-6AE1-8771-8AF9971FB1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201549" y="2274019"/>
            <a:ext cx="5562805" cy="187093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前４种关系运算符的优先级别相同，后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种也相同。前４种高于后２种。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关系运算符的优先级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低于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算术运算符。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关系运算符的优先级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高于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赋值运算符。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MH_Title_1">
            <a:extLst>
              <a:ext uri="{FF2B5EF4-FFF2-40B4-BE49-F238E27FC236}">
                <a16:creationId xmlns:a16="http://schemas.microsoft.com/office/drawing/2014/main" id="{62CD246D-A83D-A0FF-2122-9D22FDA39BA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45243" y="2099245"/>
            <a:ext cx="1209557" cy="1210872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算术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运算符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MH_Title_1">
            <a:extLst>
              <a:ext uri="{FF2B5EF4-FFF2-40B4-BE49-F238E27FC236}">
                <a16:creationId xmlns:a16="http://schemas.microsoft.com/office/drawing/2014/main" id="{7C9FF107-AF7C-AE26-FE1B-95BA13D0C2D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45243" y="5137545"/>
            <a:ext cx="1209557" cy="1210872"/>
          </a:xfrm>
          <a:prstGeom prst="ellipse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赋值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9F9F9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运算符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下箭头 24">
            <a:extLst>
              <a:ext uri="{FF2B5EF4-FFF2-40B4-BE49-F238E27FC236}">
                <a16:creationId xmlns:a16="http://schemas.microsoft.com/office/drawing/2014/main" id="{F2E3E2EA-B7C2-1A08-4BDA-765C094A1BAA}"/>
              </a:ext>
            </a:extLst>
          </p:cNvPr>
          <p:cNvSpPr/>
          <p:nvPr/>
        </p:nvSpPr>
        <p:spPr>
          <a:xfrm>
            <a:off x="271647" y="2099245"/>
            <a:ext cx="429638" cy="4249172"/>
          </a:xfrm>
          <a:prstGeom prst="down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优先级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</a:t>
            </a:r>
          </a:p>
        </p:txBody>
      </p:sp>
      <p:sp>
        <p:nvSpPr>
          <p:cNvPr id="25" name="圆角矩形 25">
            <a:extLst>
              <a:ext uri="{FF2B5EF4-FFF2-40B4-BE49-F238E27FC236}">
                <a16:creationId xmlns:a16="http://schemas.microsoft.com/office/drawing/2014/main" id="{D7B07912-0FBB-7471-BCD8-E79BAA30849A}"/>
              </a:ext>
            </a:extLst>
          </p:cNvPr>
          <p:cNvSpPr/>
          <p:nvPr/>
        </p:nvSpPr>
        <p:spPr>
          <a:xfrm>
            <a:off x="6201549" y="4512655"/>
            <a:ext cx="5562805" cy="2125339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c&gt;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a+b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等效于：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c&gt;(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a+b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a&gt;b==c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等效于：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(a&gt;b)==c</a:t>
            </a: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a==b&lt;c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等效于：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a==(b&lt;c)</a:t>
            </a: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363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a=b&gt;c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等效于：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a=(b&gt;c)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97DE7F7-F002-63BC-DBBD-311B1C6B8730}"/>
              </a:ext>
            </a:extLst>
          </p:cNvPr>
          <p:cNvSpPr txBox="1">
            <a:spLocks/>
          </p:cNvSpPr>
          <p:nvPr/>
        </p:nvSpPr>
        <p:spPr>
          <a:xfrm>
            <a:off x="410197" y="859008"/>
            <a:ext cx="11250827" cy="968189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语言中，比较运算符也称为关系运算符。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所谓“关系运算”就是“比较运算”，将两个数值进行比较，判断其比较的结果是否符合给定的条件。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238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06D3-A4C3-4013-B3C8-FF3302DD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A0461B5-ACBF-BB37-EEAC-58E527F08B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160" y="184594"/>
            <a:ext cx="2739358" cy="403225"/>
          </a:xfrm>
        </p:spPr>
        <p:txBody>
          <a:bodyPr/>
          <a:lstStyle/>
          <a:p>
            <a:r>
              <a:rPr lang="zh-CN" altLang="en-US" sz="2400" dirty="0"/>
              <a:t>关系表达式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4AAB99-4481-2D09-4F6E-504C4043CE7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D24B8-CCFC-4A33-7BC6-591C478209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66941" y="220006"/>
            <a:ext cx="7694083" cy="332399"/>
          </a:xfrm>
        </p:spPr>
        <p:txBody>
          <a:bodyPr/>
          <a:lstStyle/>
          <a:p>
            <a:r>
              <a:rPr lang="zh-CN" altLang="en-US" sz="2400" dirty="0"/>
              <a:t>关系表达式</a:t>
            </a:r>
          </a:p>
        </p:txBody>
      </p:sp>
      <p:sp>
        <p:nvSpPr>
          <p:cNvPr id="2" name="MH_Desc_1">
            <a:extLst>
              <a:ext uri="{FF2B5EF4-FFF2-40B4-BE49-F238E27FC236}">
                <a16:creationId xmlns:a16="http://schemas.microsoft.com/office/drawing/2014/main" id="{3ECE11AC-FED2-8061-B2D2-644A1E4D8B6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69164" y="1540063"/>
            <a:ext cx="8169966" cy="160070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</a:rPr>
              <a:t>用关系运算符将两个数值或数值表达式连接起来的式子，称为关系表达式。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</a:rPr>
              <a:t>关系表达式的值是一个逻辑值，即“真”或“假”。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的逻辑运算中，以“</a:t>
            </a:r>
            <a:r>
              <a:rPr lang="en-US" altLang="zh-CN" dirty="0">
                <a:solidFill>
                  <a:schemeClr val="tx1"/>
                </a:solidFill>
              </a:rPr>
              <a:t>1”</a:t>
            </a:r>
            <a:r>
              <a:rPr lang="zh-CN" altLang="en-US" dirty="0">
                <a:solidFill>
                  <a:schemeClr val="tx1"/>
                </a:solidFill>
              </a:rPr>
              <a:t>代表“真”，以“</a:t>
            </a:r>
            <a:r>
              <a:rPr lang="en-US" altLang="zh-CN" dirty="0">
                <a:solidFill>
                  <a:schemeClr val="tx1"/>
                </a:solidFill>
              </a:rPr>
              <a:t>0”</a:t>
            </a:r>
            <a:r>
              <a:rPr lang="zh-CN" altLang="en-US" dirty="0">
                <a:solidFill>
                  <a:schemeClr val="tx1"/>
                </a:solidFill>
              </a:rPr>
              <a:t>代表“假”。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圆角矩形 25">
            <a:extLst>
              <a:ext uri="{FF2B5EF4-FFF2-40B4-BE49-F238E27FC236}">
                <a16:creationId xmlns:a16="http://schemas.microsoft.com/office/drawing/2014/main" id="{35BF1B56-A91A-87FA-60A3-230926998299}"/>
              </a:ext>
            </a:extLst>
          </p:cNvPr>
          <p:cNvSpPr/>
          <p:nvPr/>
        </p:nvSpPr>
        <p:spPr>
          <a:xfrm>
            <a:off x="1769164" y="3682550"/>
            <a:ext cx="8169966" cy="1947285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/>
              <a:t>若</a:t>
            </a:r>
            <a:r>
              <a:rPr lang="en-US" altLang="zh-CN" sz="1600" b="1" dirty="0"/>
              <a:t>a=3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b=2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c=1</a:t>
            </a:r>
            <a:r>
              <a:rPr lang="zh-CN" altLang="en-US" sz="1600" b="1" dirty="0"/>
              <a:t>，</a:t>
            </a:r>
            <a:r>
              <a:rPr lang="zh-CN" altLang="en-US" sz="1600" dirty="0"/>
              <a:t>则：</a:t>
            </a:r>
            <a:endParaRPr lang="en-US" altLang="zh-CN" sz="1600" dirty="0"/>
          </a:p>
          <a:p>
            <a:pPr defTabSz="363538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</a:t>
            </a:r>
            <a:r>
              <a:rPr lang="en-US" altLang="zh-CN" sz="1600" b="1" dirty="0"/>
              <a:t>d=a&gt;b</a:t>
            </a:r>
            <a:r>
              <a:rPr lang="zh-CN" altLang="en-US" sz="1600" b="1" dirty="0"/>
              <a:t>  </a:t>
            </a:r>
            <a:r>
              <a:rPr lang="zh-CN" altLang="en-US" sz="1600" dirty="0"/>
              <a:t>由于</a:t>
            </a:r>
            <a:r>
              <a:rPr lang="en-US" altLang="zh-CN" sz="1600" dirty="0"/>
              <a:t>a&gt;b</a:t>
            </a:r>
            <a:r>
              <a:rPr lang="zh-CN" altLang="en-US" sz="1600" dirty="0"/>
              <a:t>为真，因此关系表达式</a:t>
            </a:r>
            <a:r>
              <a:rPr lang="en-US" altLang="zh-CN" sz="1600" dirty="0"/>
              <a:t>a&gt;b</a:t>
            </a:r>
            <a:r>
              <a:rPr lang="zh-CN" altLang="en-US" sz="1600" dirty="0"/>
              <a:t>的值为</a:t>
            </a:r>
            <a:r>
              <a:rPr lang="en-US" altLang="zh-CN" sz="1600" dirty="0"/>
              <a:t>1</a:t>
            </a:r>
            <a:r>
              <a:rPr lang="zh-CN" altLang="en-US" sz="1600" dirty="0"/>
              <a:t>，所以赋值后</a:t>
            </a:r>
            <a:r>
              <a:rPr lang="en-US" altLang="zh-CN" sz="1600" dirty="0"/>
              <a:t>d</a:t>
            </a:r>
            <a:r>
              <a:rPr lang="zh-CN" altLang="en-US" sz="1600" dirty="0"/>
              <a:t>的值为</a:t>
            </a:r>
            <a:r>
              <a:rPr lang="en-US" altLang="zh-CN" sz="1600" dirty="0"/>
              <a:t>1</a:t>
            </a:r>
            <a:r>
              <a:rPr lang="zh-CN" altLang="en-US" sz="1600" dirty="0"/>
              <a:t>。</a:t>
            </a:r>
          </a:p>
          <a:p>
            <a:pPr defTabSz="363538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</a:t>
            </a:r>
            <a:r>
              <a:rPr lang="en-US" altLang="zh-CN" sz="1600" b="1" dirty="0"/>
              <a:t>f=a&gt;b&gt;c  </a:t>
            </a:r>
            <a:r>
              <a:rPr lang="zh-CN" altLang="en-US" sz="1600" dirty="0"/>
              <a:t>因为“</a:t>
            </a:r>
            <a:r>
              <a:rPr lang="en-US" altLang="zh-CN" sz="1600" dirty="0"/>
              <a:t>&gt;</a:t>
            </a:r>
            <a:r>
              <a:rPr lang="zh-CN" altLang="en-US" sz="1600" dirty="0"/>
              <a:t>”运算符是自左至右的结合方向，先执行“</a:t>
            </a:r>
            <a:r>
              <a:rPr lang="en-US" altLang="zh-CN" sz="1600" dirty="0"/>
              <a:t>a&gt;b</a:t>
            </a:r>
            <a:r>
              <a:rPr lang="zh-CN" altLang="en-US" sz="1600" dirty="0"/>
              <a:t>”得值为</a:t>
            </a:r>
            <a:r>
              <a:rPr lang="en-US" altLang="zh-CN" sz="1600" dirty="0"/>
              <a:t>1</a:t>
            </a:r>
            <a:r>
              <a:rPr lang="zh-CN" altLang="en-US" sz="1600" dirty="0"/>
              <a:t>， 再执行关系运算“</a:t>
            </a:r>
            <a:r>
              <a:rPr lang="en-US" altLang="zh-CN" sz="1600" dirty="0"/>
              <a:t>1&gt;c</a:t>
            </a:r>
            <a:r>
              <a:rPr lang="zh-CN" altLang="en-US" sz="1600" dirty="0"/>
              <a:t>”，得值</a:t>
            </a:r>
            <a:r>
              <a:rPr lang="en-US" altLang="zh-CN" sz="1600" dirty="0"/>
              <a:t>0</a:t>
            </a:r>
            <a:r>
              <a:rPr lang="zh-CN" altLang="en-US" sz="1600" dirty="0"/>
              <a:t>然后赋值给</a:t>
            </a:r>
            <a:r>
              <a:rPr lang="en-US" altLang="zh-CN" sz="1600" dirty="0"/>
              <a:t>f</a:t>
            </a:r>
            <a:r>
              <a:rPr lang="zh-CN" altLang="en-US" sz="1600" dirty="0"/>
              <a:t>，所以</a:t>
            </a:r>
            <a:r>
              <a:rPr lang="en-US" altLang="zh-CN" sz="1600" dirty="0"/>
              <a:t>f</a:t>
            </a:r>
            <a:r>
              <a:rPr lang="zh-CN" altLang="en-US" sz="1600" dirty="0"/>
              <a:t>的值为</a:t>
            </a:r>
            <a:r>
              <a:rPr lang="en-US" altLang="zh-CN" sz="1600" dirty="0"/>
              <a:t>0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05927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DCB9E-810D-9834-EEB5-3388C2CF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1722176-F80D-09B5-C801-7F1BC1CEB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160" y="184594"/>
            <a:ext cx="2739358" cy="403225"/>
          </a:xfrm>
        </p:spPr>
        <p:txBody>
          <a:bodyPr/>
          <a:lstStyle/>
          <a:p>
            <a:r>
              <a:rPr lang="zh-CN" altLang="en-US" sz="2400" dirty="0"/>
              <a:t>逻辑表达式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330E69-6EDD-CD30-4E6E-99385BE0A3F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1AEED-1DE9-9DED-91E3-A2F8DC3508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66941" y="220006"/>
            <a:ext cx="7694083" cy="332399"/>
          </a:xfrm>
        </p:spPr>
        <p:txBody>
          <a:bodyPr/>
          <a:lstStyle/>
          <a:p>
            <a:r>
              <a:rPr lang="zh-CN" altLang="en-US" sz="2400" dirty="0"/>
              <a:t>逻辑运算符及其优先次序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AB4848-D2F8-7E12-5BFC-EDDD9E89B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283532"/>
              </p:ext>
            </p:extLst>
          </p:nvPr>
        </p:nvGraphicFramePr>
        <p:xfrm>
          <a:off x="893286" y="1368361"/>
          <a:ext cx="10405431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393">
                  <a:extLst>
                    <a:ext uri="{9D8B030D-6E8A-4147-A177-3AD203B41FA5}">
                      <a16:colId xmlns:a16="http://schemas.microsoft.com/office/drawing/2014/main" val="3890676953"/>
                    </a:ext>
                  </a:extLst>
                </a:gridCol>
                <a:gridCol w="1617354">
                  <a:extLst>
                    <a:ext uri="{9D8B030D-6E8A-4147-A177-3AD203B41FA5}">
                      <a16:colId xmlns:a16="http://schemas.microsoft.com/office/drawing/2014/main" val="3235808983"/>
                    </a:ext>
                  </a:extLst>
                </a:gridCol>
                <a:gridCol w="930918">
                  <a:extLst>
                    <a:ext uri="{9D8B030D-6E8A-4147-A177-3AD203B41FA5}">
                      <a16:colId xmlns:a16="http://schemas.microsoft.com/office/drawing/2014/main" val="2685979042"/>
                    </a:ext>
                  </a:extLst>
                </a:gridCol>
                <a:gridCol w="6920766">
                  <a:extLst>
                    <a:ext uri="{9D8B030D-6E8A-4147-A177-3AD203B41FA5}">
                      <a16:colId xmlns:a16="http://schemas.microsoft.com/office/drawing/2014/main" val="152727034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运算符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含义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举例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</a:rPr>
                        <a:t>说明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07474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!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>
                          <a:effectLst/>
                        </a:rPr>
                        <a:t>逻辑非</a:t>
                      </a:r>
                      <a:r>
                        <a:rPr lang="en-US" altLang="zh-CN" sz="1600" kern="100">
                          <a:effectLst/>
                        </a:rPr>
                        <a:t>(NOT)</a:t>
                      </a:r>
                      <a:endParaRPr lang="zh-CN" alt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>
                          <a:effectLst/>
                        </a:rPr>
                        <a:t>!a</a:t>
                      </a:r>
                      <a:endParaRPr lang="zh-CN" alt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>
                          <a:effectLst/>
                        </a:rPr>
                        <a:t>如果</a:t>
                      </a:r>
                      <a:r>
                        <a:rPr lang="en-US" altLang="zh-CN" sz="1600" kern="100" dirty="0">
                          <a:effectLst/>
                        </a:rPr>
                        <a:t>a</a:t>
                      </a:r>
                      <a:r>
                        <a:rPr lang="zh-CN" altLang="en-US" sz="1600" kern="100" dirty="0">
                          <a:effectLst/>
                        </a:rPr>
                        <a:t>为假，则</a:t>
                      </a:r>
                      <a:r>
                        <a:rPr lang="en-US" altLang="zh-CN" sz="1600" kern="100" dirty="0">
                          <a:effectLst/>
                        </a:rPr>
                        <a:t>!a</a:t>
                      </a:r>
                      <a:r>
                        <a:rPr lang="zh-CN" altLang="en-US" sz="1600" kern="100" dirty="0">
                          <a:effectLst/>
                        </a:rPr>
                        <a:t>为真</a:t>
                      </a:r>
                      <a:r>
                        <a:rPr lang="en-US" altLang="zh-CN" sz="1600" kern="100" dirty="0">
                          <a:effectLst/>
                        </a:rPr>
                        <a:t>; </a:t>
                      </a:r>
                      <a:r>
                        <a:rPr lang="zh-CN" altLang="en-US" sz="1600" kern="100" dirty="0">
                          <a:effectLst/>
                        </a:rPr>
                        <a:t>如果</a:t>
                      </a:r>
                      <a:r>
                        <a:rPr lang="en-US" altLang="zh-CN" sz="1600" kern="100" dirty="0">
                          <a:effectLst/>
                        </a:rPr>
                        <a:t>a</a:t>
                      </a:r>
                      <a:r>
                        <a:rPr lang="zh-CN" altLang="en-US" sz="1600" kern="100" dirty="0">
                          <a:effectLst/>
                        </a:rPr>
                        <a:t>为真，则</a:t>
                      </a:r>
                      <a:r>
                        <a:rPr lang="en-US" altLang="zh-CN" sz="1600" kern="100" dirty="0">
                          <a:effectLst/>
                        </a:rPr>
                        <a:t>!a</a:t>
                      </a:r>
                      <a:r>
                        <a:rPr lang="zh-CN" altLang="en-US" sz="1600" kern="100" dirty="0">
                          <a:effectLst/>
                        </a:rPr>
                        <a:t>为假</a:t>
                      </a:r>
                      <a:endParaRPr lang="zh-CN" alt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979042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&amp;&amp;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逻辑与</a:t>
                      </a:r>
                      <a:r>
                        <a:rPr lang="en-US" altLang="zh-CN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(AND)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 &amp;&amp; b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lang="en-US" altLang="zh-CN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都为真，则结果为真，否则为假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72554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||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逻辑或</a:t>
                      </a:r>
                      <a:r>
                        <a:rPr lang="en-US" altLang="zh-CN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(OR)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 || b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lang="en-US" altLang="zh-CN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6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有一个以上为真，则结果为真，二者都为假时，结果为假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189197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80E0F5-2B9D-A298-824E-3AC6B2FA6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49687"/>
              </p:ext>
            </p:extLst>
          </p:nvPr>
        </p:nvGraphicFramePr>
        <p:xfrm>
          <a:off x="6566169" y="3206049"/>
          <a:ext cx="4732548" cy="2995948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788758">
                  <a:extLst>
                    <a:ext uri="{9D8B030D-6E8A-4147-A177-3AD203B41FA5}">
                      <a16:colId xmlns:a16="http://schemas.microsoft.com/office/drawing/2014/main" val="3340877376"/>
                    </a:ext>
                  </a:extLst>
                </a:gridCol>
                <a:gridCol w="788758">
                  <a:extLst>
                    <a:ext uri="{9D8B030D-6E8A-4147-A177-3AD203B41FA5}">
                      <a16:colId xmlns:a16="http://schemas.microsoft.com/office/drawing/2014/main" val="1994263569"/>
                    </a:ext>
                  </a:extLst>
                </a:gridCol>
                <a:gridCol w="788758">
                  <a:extLst>
                    <a:ext uri="{9D8B030D-6E8A-4147-A177-3AD203B41FA5}">
                      <a16:colId xmlns:a16="http://schemas.microsoft.com/office/drawing/2014/main" val="3815812150"/>
                    </a:ext>
                  </a:extLst>
                </a:gridCol>
                <a:gridCol w="788758">
                  <a:extLst>
                    <a:ext uri="{9D8B030D-6E8A-4147-A177-3AD203B41FA5}">
                      <a16:colId xmlns:a16="http://schemas.microsoft.com/office/drawing/2014/main" val="69866498"/>
                    </a:ext>
                  </a:extLst>
                </a:gridCol>
                <a:gridCol w="788758">
                  <a:extLst>
                    <a:ext uri="{9D8B030D-6E8A-4147-A177-3AD203B41FA5}">
                      <a16:colId xmlns:a16="http://schemas.microsoft.com/office/drawing/2014/main" val="895864238"/>
                    </a:ext>
                  </a:extLst>
                </a:gridCol>
                <a:gridCol w="788758">
                  <a:extLst>
                    <a:ext uri="{9D8B030D-6E8A-4147-A177-3AD203B41FA5}">
                      <a16:colId xmlns:a16="http://schemas.microsoft.com/office/drawing/2014/main" val="1339348998"/>
                    </a:ext>
                  </a:extLst>
                </a:gridCol>
              </a:tblGrid>
              <a:tr h="6794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b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!a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!b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 &amp;&amp; b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 || b</a:t>
                      </a:r>
                      <a:endParaRPr lang="zh-CN" altLang="en-US" sz="1600"/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81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（非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（非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假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0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35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/>
                        <a:t>（非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（非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35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真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假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（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假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0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058509"/>
                  </a:ext>
                </a:extLst>
              </a:tr>
            </a:tbl>
          </a:graphicData>
        </a:graphic>
      </p:graphicFrame>
      <p:sp>
        <p:nvSpPr>
          <p:cNvPr id="8" name="MH_Desc_1">
            <a:extLst>
              <a:ext uri="{FF2B5EF4-FFF2-40B4-BE49-F238E27FC236}">
                <a16:creationId xmlns:a16="http://schemas.microsoft.com/office/drawing/2014/main" id="{9B83BDEB-4957-D519-327E-22EF095319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93283" y="3216672"/>
            <a:ext cx="5585338" cy="299594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/>
                </a:solidFill>
              </a:rPr>
              <a:t>“</a:t>
            </a:r>
            <a:r>
              <a:rPr lang="en-US" altLang="zh-CN" sz="1600" dirty="0">
                <a:solidFill>
                  <a:schemeClr val="tx1"/>
                </a:solidFill>
              </a:rPr>
              <a:t>&amp;&amp;</a:t>
            </a:r>
            <a:r>
              <a:rPr lang="zh-CN" altLang="en-US" sz="1600" dirty="0">
                <a:solidFill>
                  <a:schemeClr val="tx1"/>
                </a:solidFill>
              </a:rPr>
              <a:t>”和“</a:t>
            </a:r>
            <a:r>
              <a:rPr lang="en-US" altLang="zh-CN" sz="1600" dirty="0">
                <a:solidFill>
                  <a:schemeClr val="tx1"/>
                </a:solidFill>
              </a:rPr>
              <a:t>‖</a:t>
            </a:r>
            <a:r>
              <a:rPr lang="zh-CN" altLang="en-US" sz="1600" dirty="0">
                <a:solidFill>
                  <a:schemeClr val="tx1"/>
                </a:solidFill>
              </a:rPr>
              <a:t>”是双目运算符，要求有两个运算对象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操作数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； “！”是单目运算符，只要有一个运算对象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/>
                </a:solidFill>
              </a:rPr>
              <a:t>优先次序：</a:t>
            </a:r>
            <a:r>
              <a:rPr lang="en-US" altLang="zh-CN" sz="1600" dirty="0">
                <a:solidFill>
                  <a:schemeClr val="tx1"/>
                </a:solidFill>
              </a:rPr>
              <a:t>!(</a:t>
            </a:r>
            <a:r>
              <a:rPr lang="zh-CN" altLang="en-US" sz="1600" dirty="0">
                <a:solidFill>
                  <a:schemeClr val="tx1"/>
                </a:solidFill>
              </a:rPr>
              <a:t>非</a:t>
            </a:r>
            <a:r>
              <a:rPr lang="en-US" altLang="zh-CN" sz="1600" dirty="0">
                <a:solidFill>
                  <a:schemeClr val="tx1"/>
                </a:solidFill>
              </a:rPr>
              <a:t>)→</a:t>
            </a:r>
            <a:r>
              <a:rPr lang="zh-CN" altLang="en-US" sz="1600" dirty="0">
                <a:solidFill>
                  <a:schemeClr val="tx1"/>
                </a:solidFill>
              </a:rPr>
              <a:t>＆＆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</a:rPr>
              <a:t>)→‖(</a:t>
            </a:r>
            <a:r>
              <a:rPr lang="zh-CN" altLang="en-US" sz="1600" dirty="0">
                <a:solidFill>
                  <a:schemeClr val="tx1"/>
                </a:solidFill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， 即“！”为三者中最高的； 逻辑运算符中的“＆＆”和“</a:t>
            </a:r>
            <a:r>
              <a:rPr lang="en-US" altLang="zh-CN" sz="1600" dirty="0">
                <a:solidFill>
                  <a:schemeClr val="tx1"/>
                </a:solidFill>
              </a:rPr>
              <a:t>‖</a:t>
            </a:r>
            <a:r>
              <a:rPr lang="zh-CN" altLang="en-US" sz="1600" dirty="0">
                <a:solidFill>
                  <a:schemeClr val="tx1"/>
                </a:solidFill>
              </a:rPr>
              <a:t>”低于关系运算符，“！”高于算术运算符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/>
                </a:solidFill>
              </a:rPr>
              <a:t>逻辑运算结果不是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就是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，不可能是其他数值。而在逻辑表达式中作为参加逻辑运算的运算对象可以是</a:t>
            </a:r>
            <a:r>
              <a:rPr lang="en-US" altLang="zh-CN" sz="1600" dirty="0">
                <a:solidFill>
                  <a:schemeClr val="tx1"/>
                </a:solidFill>
              </a:rPr>
              <a:t>0(</a:t>
            </a:r>
            <a:r>
              <a:rPr lang="zh-CN" altLang="en-US" sz="1600" dirty="0">
                <a:solidFill>
                  <a:schemeClr val="tx1"/>
                </a:solidFill>
              </a:rPr>
              <a:t>“假”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或任何非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的数值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按“真”对待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87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56C9-B617-5156-952F-EC5027FA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C890B64-0243-5F36-E57C-6987278D59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160" y="184594"/>
            <a:ext cx="2739358" cy="403225"/>
          </a:xfrm>
        </p:spPr>
        <p:txBody>
          <a:bodyPr/>
          <a:lstStyle/>
          <a:p>
            <a:r>
              <a:rPr lang="zh-CN" altLang="en-US" sz="2400" dirty="0"/>
              <a:t>逻辑表达式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33BD2-96A2-C999-CC9C-1F05F8508A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86778-62A7-5010-515D-97C4DA5E5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66941" y="220006"/>
            <a:ext cx="7694083" cy="332399"/>
          </a:xfrm>
        </p:spPr>
        <p:txBody>
          <a:bodyPr/>
          <a:lstStyle/>
          <a:p>
            <a:r>
              <a:rPr lang="zh-CN" altLang="en-US" sz="2400" dirty="0"/>
              <a:t>逻辑表达式及其运算</a:t>
            </a:r>
          </a:p>
        </p:txBody>
      </p:sp>
      <p:sp>
        <p:nvSpPr>
          <p:cNvPr id="4" name="MH_PageTitle">
            <a:extLst>
              <a:ext uri="{FF2B5EF4-FFF2-40B4-BE49-F238E27FC236}">
                <a16:creationId xmlns:a16="http://schemas.microsoft.com/office/drawing/2014/main" id="{F0CBEC0C-2466-6158-44B8-A91BF4F6CDA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20299" y="796320"/>
            <a:ext cx="10897240" cy="13751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b="1" dirty="0">
                <a:latin typeface="+mn-ea"/>
                <a:ea typeface="+mn-ea"/>
                <a:cs typeface="+mn-cs"/>
              </a:rPr>
              <a:t>逻辑表达式：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rPr>
              <a:t>用逻辑运算符将关系表达式或其他逻辑量连接起来的式子。</a:t>
            </a:r>
            <a:b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</a:br>
            <a:r>
              <a:rPr lang="zh-CN" altLang="en-US" sz="1800" b="1" dirty="0">
                <a:latin typeface="+mn-ea"/>
              </a:rPr>
              <a:t>逻辑表达式运算：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rPr>
              <a:t>在逻辑表达式的求解中，并不是所有的逻辑运算符都被执行，只是在必须执行下一个逻辑运算符才能求出表达式的解时，才执行该运算符。</a:t>
            </a:r>
          </a:p>
        </p:txBody>
      </p:sp>
      <p:sp>
        <p:nvSpPr>
          <p:cNvPr id="8" name="MH_SubTitle_1">
            <a:extLst>
              <a:ext uri="{FF2B5EF4-FFF2-40B4-BE49-F238E27FC236}">
                <a16:creationId xmlns:a16="http://schemas.microsoft.com/office/drawing/2014/main" id="{A5EDC1C2-3A8C-4EA8-C6FC-462CAB3B666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69602" y="2239237"/>
            <a:ext cx="4352373" cy="4434169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solidFill>
              <a:srgbClr val="C2C2C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648000" bIns="90000" anchor="t">
            <a:normAutofit/>
          </a:bodyPr>
          <a:lstStyle/>
          <a:p>
            <a:pPr marL="342900" indent="-342900" algn="just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600">
                <a:solidFill>
                  <a:srgbClr val="333333"/>
                </a:solidFill>
              </a:rPr>
              <a:t>a &amp;&amp; b &amp;&amp; c</a:t>
            </a:r>
            <a:r>
              <a:rPr lang="zh-CN" altLang="en-US" sz="1600">
                <a:solidFill>
                  <a:srgbClr val="333333"/>
                </a:solidFill>
              </a:rPr>
              <a:t>。只有</a:t>
            </a:r>
            <a:r>
              <a:rPr lang="en-US" altLang="zh-CN" sz="1600">
                <a:solidFill>
                  <a:srgbClr val="333333"/>
                </a:solidFill>
              </a:rPr>
              <a:t>a</a:t>
            </a:r>
            <a:r>
              <a:rPr lang="zh-CN" altLang="en-US" sz="1600">
                <a:solidFill>
                  <a:srgbClr val="333333"/>
                </a:solidFill>
              </a:rPr>
              <a:t>为真</a:t>
            </a:r>
            <a:r>
              <a:rPr lang="en-US" altLang="zh-CN" sz="1600">
                <a:solidFill>
                  <a:srgbClr val="333333"/>
                </a:solidFill>
              </a:rPr>
              <a:t>(</a:t>
            </a:r>
            <a:r>
              <a:rPr lang="zh-CN" altLang="en-US" sz="1600">
                <a:solidFill>
                  <a:srgbClr val="333333"/>
                </a:solidFill>
              </a:rPr>
              <a:t>非</a:t>
            </a:r>
            <a:r>
              <a:rPr lang="en-US" altLang="zh-CN" sz="1600">
                <a:solidFill>
                  <a:srgbClr val="333333"/>
                </a:solidFill>
              </a:rPr>
              <a:t>0)</a:t>
            </a:r>
            <a:r>
              <a:rPr lang="zh-CN" altLang="en-US" sz="1600">
                <a:solidFill>
                  <a:srgbClr val="333333"/>
                </a:solidFill>
              </a:rPr>
              <a:t>时，才需要判别</a:t>
            </a:r>
            <a:r>
              <a:rPr lang="en-US" altLang="zh-CN" sz="1600">
                <a:solidFill>
                  <a:srgbClr val="333333"/>
                </a:solidFill>
              </a:rPr>
              <a:t>b</a:t>
            </a:r>
            <a:r>
              <a:rPr lang="zh-CN" altLang="en-US" sz="1600">
                <a:solidFill>
                  <a:srgbClr val="333333"/>
                </a:solidFill>
              </a:rPr>
              <a:t>的值。只有当</a:t>
            </a:r>
            <a:r>
              <a:rPr lang="en-US" altLang="zh-CN" sz="1600">
                <a:solidFill>
                  <a:srgbClr val="333333"/>
                </a:solidFill>
              </a:rPr>
              <a:t>a</a:t>
            </a:r>
            <a:r>
              <a:rPr lang="zh-CN" altLang="en-US" sz="1600">
                <a:solidFill>
                  <a:srgbClr val="333333"/>
                </a:solidFill>
              </a:rPr>
              <a:t>和</a:t>
            </a:r>
            <a:r>
              <a:rPr lang="en-US" altLang="zh-CN" sz="1600">
                <a:solidFill>
                  <a:srgbClr val="333333"/>
                </a:solidFill>
              </a:rPr>
              <a:t>b</a:t>
            </a:r>
            <a:r>
              <a:rPr lang="zh-CN" altLang="en-US" sz="1600">
                <a:solidFill>
                  <a:srgbClr val="333333"/>
                </a:solidFill>
              </a:rPr>
              <a:t>都为真时才需要判别</a:t>
            </a:r>
            <a:r>
              <a:rPr lang="en-US" altLang="zh-CN" sz="1600">
                <a:solidFill>
                  <a:srgbClr val="333333"/>
                </a:solidFill>
              </a:rPr>
              <a:t>c</a:t>
            </a:r>
            <a:r>
              <a:rPr lang="zh-CN" altLang="en-US" sz="1600">
                <a:solidFill>
                  <a:srgbClr val="333333"/>
                </a:solidFill>
              </a:rPr>
              <a:t>的值。</a:t>
            </a:r>
            <a:endParaRPr lang="zh-CN" altLang="en-US" sz="1600" dirty="0">
              <a:solidFill>
                <a:srgbClr val="333333"/>
              </a:solidFill>
            </a:endParaRPr>
          </a:p>
        </p:txBody>
      </p:sp>
      <p:sp>
        <p:nvSpPr>
          <p:cNvPr id="9" name="MH_SubTitle_2">
            <a:extLst>
              <a:ext uri="{FF2B5EF4-FFF2-40B4-BE49-F238E27FC236}">
                <a16:creationId xmlns:a16="http://schemas.microsoft.com/office/drawing/2014/main" id="{5199D188-FF92-07BC-045B-DAA434F0BE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51365" y="2239237"/>
            <a:ext cx="4305989" cy="4434169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solidFill>
              <a:srgbClr val="C2C2C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648000" bIns="90000" anchor="t">
            <a:normAutofit/>
          </a:bodyPr>
          <a:lstStyle/>
          <a:p>
            <a:pPr marL="342900" indent="-342900" algn="just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</a:rPr>
              <a:t>a ‖ b ‖ c</a:t>
            </a:r>
            <a:r>
              <a:rPr lang="zh-CN" altLang="en-US" sz="1600" dirty="0">
                <a:solidFill>
                  <a:srgbClr val="333333"/>
                </a:solidFill>
              </a:rPr>
              <a:t>。只要</a:t>
            </a:r>
            <a:r>
              <a:rPr lang="en-US" altLang="zh-CN" sz="1600" dirty="0">
                <a:solidFill>
                  <a:srgbClr val="333333"/>
                </a:solidFill>
              </a:rPr>
              <a:t>a</a:t>
            </a:r>
            <a:r>
              <a:rPr lang="zh-CN" altLang="en-US" sz="1600" dirty="0">
                <a:solidFill>
                  <a:srgbClr val="333333"/>
                </a:solidFill>
              </a:rPr>
              <a:t>为真</a:t>
            </a:r>
            <a:r>
              <a:rPr lang="en-US" altLang="zh-CN" sz="1600" dirty="0">
                <a:solidFill>
                  <a:srgbClr val="333333"/>
                </a:solidFill>
              </a:rPr>
              <a:t>(</a:t>
            </a:r>
            <a:r>
              <a:rPr lang="zh-CN" altLang="en-US" sz="1600" dirty="0">
                <a:solidFill>
                  <a:srgbClr val="333333"/>
                </a:solidFill>
              </a:rPr>
              <a:t>非</a:t>
            </a:r>
            <a:r>
              <a:rPr lang="en-US" altLang="zh-CN" sz="1600" dirty="0">
                <a:solidFill>
                  <a:srgbClr val="333333"/>
                </a:solidFill>
              </a:rPr>
              <a:t>0)</a:t>
            </a:r>
            <a:r>
              <a:rPr lang="zh-CN" altLang="en-US" sz="1600" dirty="0">
                <a:solidFill>
                  <a:srgbClr val="333333"/>
                </a:solidFill>
              </a:rPr>
              <a:t>，就不必判断</a:t>
            </a:r>
            <a:r>
              <a:rPr lang="en-US" altLang="zh-CN" sz="1600" dirty="0">
                <a:solidFill>
                  <a:srgbClr val="333333"/>
                </a:solidFill>
              </a:rPr>
              <a:t>b</a:t>
            </a:r>
            <a:r>
              <a:rPr lang="zh-CN" altLang="en-US" sz="1600" dirty="0">
                <a:solidFill>
                  <a:srgbClr val="333333"/>
                </a:solidFill>
              </a:rPr>
              <a:t>和</a:t>
            </a:r>
            <a:r>
              <a:rPr lang="en-US" altLang="zh-CN" sz="1600" dirty="0">
                <a:solidFill>
                  <a:srgbClr val="333333"/>
                </a:solidFill>
              </a:rPr>
              <a:t>c</a:t>
            </a:r>
            <a:r>
              <a:rPr lang="zh-CN" altLang="en-US" sz="1600" dirty="0">
                <a:solidFill>
                  <a:srgbClr val="333333"/>
                </a:solidFill>
              </a:rPr>
              <a:t>。只有</a:t>
            </a:r>
            <a:r>
              <a:rPr lang="en-US" altLang="zh-CN" sz="1600" dirty="0">
                <a:solidFill>
                  <a:srgbClr val="333333"/>
                </a:solidFill>
              </a:rPr>
              <a:t>a</a:t>
            </a:r>
            <a:r>
              <a:rPr lang="zh-CN" altLang="en-US" sz="1600" dirty="0">
                <a:solidFill>
                  <a:srgbClr val="333333"/>
                </a:solidFill>
              </a:rPr>
              <a:t>为假，才判别</a:t>
            </a:r>
            <a:r>
              <a:rPr lang="en-US" altLang="zh-CN" sz="1600" dirty="0">
                <a:solidFill>
                  <a:srgbClr val="333333"/>
                </a:solidFill>
              </a:rPr>
              <a:t>b</a:t>
            </a:r>
            <a:r>
              <a:rPr lang="zh-CN" altLang="en-US" sz="1600" dirty="0">
                <a:solidFill>
                  <a:srgbClr val="333333"/>
                </a:solidFill>
              </a:rPr>
              <a:t>。</a:t>
            </a:r>
            <a:r>
              <a:rPr lang="en-US" altLang="zh-CN" sz="1600" dirty="0">
                <a:solidFill>
                  <a:srgbClr val="333333"/>
                </a:solidFill>
              </a:rPr>
              <a:t>a</a:t>
            </a:r>
            <a:r>
              <a:rPr lang="zh-CN" altLang="en-US" sz="1600" dirty="0">
                <a:solidFill>
                  <a:srgbClr val="333333"/>
                </a:solidFill>
              </a:rPr>
              <a:t>和</a:t>
            </a:r>
            <a:r>
              <a:rPr lang="en-US" altLang="zh-CN" sz="1600" dirty="0">
                <a:solidFill>
                  <a:srgbClr val="333333"/>
                </a:solidFill>
              </a:rPr>
              <a:t>b</a:t>
            </a:r>
            <a:r>
              <a:rPr lang="zh-CN" altLang="en-US" sz="1600" dirty="0">
                <a:solidFill>
                  <a:srgbClr val="333333"/>
                </a:solidFill>
              </a:rPr>
              <a:t>都为假才判别</a:t>
            </a:r>
            <a:r>
              <a:rPr lang="en-US" altLang="zh-CN" sz="1600" dirty="0">
                <a:solidFill>
                  <a:srgbClr val="333333"/>
                </a:solidFill>
              </a:rPr>
              <a:t>c</a:t>
            </a:r>
            <a:r>
              <a:rPr lang="zh-CN" altLang="en-US" sz="1600" dirty="0">
                <a:solidFill>
                  <a:srgbClr val="333333"/>
                </a:solidFill>
              </a:rPr>
              <a:t>。</a:t>
            </a:r>
            <a:endParaRPr lang="en-US" altLang="zh-CN" sz="1600" dirty="0">
              <a:solidFill>
                <a:srgbClr val="333333"/>
              </a:solidFill>
            </a:endParaRPr>
          </a:p>
        </p:txBody>
      </p:sp>
      <p:sp>
        <p:nvSpPr>
          <p:cNvPr id="10" name="MH_Other_1">
            <a:extLst>
              <a:ext uri="{FF2B5EF4-FFF2-40B4-BE49-F238E27FC236}">
                <a16:creationId xmlns:a16="http://schemas.microsoft.com/office/drawing/2014/main" id="{34BF8B2F-F487-EF6F-4F43-3230156C8E9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430653" y="3610560"/>
            <a:ext cx="1133475" cy="1133475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MH_Title_1">
            <a:extLst>
              <a:ext uri="{FF2B5EF4-FFF2-40B4-BE49-F238E27FC236}">
                <a16:creationId xmlns:a16="http://schemas.microsoft.com/office/drawing/2014/main" id="{2BDFC68C-FBDD-DD77-DC6F-901CFD7A26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544953" y="3724860"/>
            <a:ext cx="904875" cy="9048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</a:rPr>
              <a:t>逻辑</a:t>
            </a:r>
            <a:endParaRPr lang="en-US" altLang="zh-CN" sz="1600" b="1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</a:rPr>
              <a:t>表达式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MH_Other_2">
            <a:extLst>
              <a:ext uri="{FF2B5EF4-FFF2-40B4-BE49-F238E27FC236}">
                <a16:creationId xmlns:a16="http://schemas.microsoft.com/office/drawing/2014/main" id="{9A047CEE-5037-D941-A357-BAD280E15A1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081001" y="2513070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3" name="MH_Other_3">
            <a:extLst>
              <a:ext uri="{FF2B5EF4-FFF2-40B4-BE49-F238E27FC236}">
                <a16:creationId xmlns:a16="http://schemas.microsoft.com/office/drawing/2014/main" id="{FBBFCDE0-28AE-0CD4-CD51-BD3E62ACF40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27422" y="2517071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4" name="MH_Other_4">
            <a:extLst>
              <a:ext uri="{FF2B5EF4-FFF2-40B4-BE49-F238E27FC236}">
                <a16:creationId xmlns:a16="http://schemas.microsoft.com/office/drawing/2014/main" id="{58914DAC-63A3-3067-D342-F2402B966AB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862453" y="2526987"/>
            <a:ext cx="269875" cy="53975"/>
          </a:xfrm>
          <a:prstGeom prst="rect">
            <a:avLst/>
          </a:prstGeom>
          <a:gradFill flip="none" rotWithShape="1">
            <a:gsLst>
              <a:gs pos="57000">
                <a:srgbClr val="D2D2D2"/>
              </a:gs>
              <a:gs pos="9000">
                <a:srgbClr val="808080"/>
              </a:gs>
              <a:gs pos="98000">
                <a:srgbClr val="AEAEA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5" name="MH_Other_5">
            <a:extLst>
              <a:ext uri="{FF2B5EF4-FFF2-40B4-BE49-F238E27FC236}">
                <a16:creationId xmlns:a16="http://schemas.microsoft.com/office/drawing/2014/main" id="{679A19CB-854A-874B-E244-8944A13AB27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81001" y="2688449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6" name="MH_Other_6">
            <a:extLst>
              <a:ext uri="{FF2B5EF4-FFF2-40B4-BE49-F238E27FC236}">
                <a16:creationId xmlns:a16="http://schemas.microsoft.com/office/drawing/2014/main" id="{0ED4B103-31C7-1012-CBC9-204120944B6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827422" y="2692450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7" name="MH_Other_7">
            <a:extLst>
              <a:ext uri="{FF2B5EF4-FFF2-40B4-BE49-F238E27FC236}">
                <a16:creationId xmlns:a16="http://schemas.microsoft.com/office/drawing/2014/main" id="{52C0EB2B-1808-AAA7-D7FA-CE1AD363D80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862453" y="2701612"/>
            <a:ext cx="269875" cy="53975"/>
          </a:xfrm>
          <a:prstGeom prst="rect">
            <a:avLst/>
          </a:prstGeom>
          <a:gradFill flip="none" rotWithShape="1">
            <a:gsLst>
              <a:gs pos="57000">
                <a:srgbClr val="D2D2D2"/>
              </a:gs>
              <a:gs pos="9000">
                <a:srgbClr val="808080"/>
              </a:gs>
              <a:gs pos="98000">
                <a:srgbClr val="AEAEA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8" name="MH_Other_8">
            <a:extLst>
              <a:ext uri="{FF2B5EF4-FFF2-40B4-BE49-F238E27FC236}">
                <a16:creationId xmlns:a16="http://schemas.microsoft.com/office/drawing/2014/main" id="{613F837B-FB72-24A5-F5A0-84A3109FADE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081001" y="6021152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9" name="MH_Other_9">
            <a:extLst>
              <a:ext uri="{FF2B5EF4-FFF2-40B4-BE49-F238E27FC236}">
                <a16:creationId xmlns:a16="http://schemas.microsoft.com/office/drawing/2014/main" id="{006B98B6-40F0-2E93-5368-6BD838B9894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827422" y="6025153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20" name="MH_Other_10">
            <a:extLst>
              <a:ext uri="{FF2B5EF4-FFF2-40B4-BE49-F238E27FC236}">
                <a16:creationId xmlns:a16="http://schemas.microsoft.com/office/drawing/2014/main" id="{5B637C0A-F030-764F-2A04-1B6549562CD3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862453" y="6034880"/>
            <a:ext cx="269875" cy="53975"/>
          </a:xfrm>
          <a:prstGeom prst="rect">
            <a:avLst/>
          </a:prstGeom>
          <a:gradFill flip="none" rotWithShape="1">
            <a:gsLst>
              <a:gs pos="57000">
                <a:srgbClr val="D2D2D2"/>
              </a:gs>
              <a:gs pos="9000">
                <a:srgbClr val="808080"/>
              </a:gs>
              <a:gs pos="98000">
                <a:srgbClr val="AEAEA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21" name="MH_Other_11">
            <a:extLst>
              <a:ext uri="{FF2B5EF4-FFF2-40B4-BE49-F238E27FC236}">
                <a16:creationId xmlns:a16="http://schemas.microsoft.com/office/drawing/2014/main" id="{385B8624-C497-E7DF-B2A7-7572C676FF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081001" y="6196530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22" name="MH_Other_12">
            <a:extLst>
              <a:ext uri="{FF2B5EF4-FFF2-40B4-BE49-F238E27FC236}">
                <a16:creationId xmlns:a16="http://schemas.microsoft.com/office/drawing/2014/main" id="{9ED5CD04-2BEE-8055-A66B-2597007CC0B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827422" y="6200531"/>
            <a:ext cx="71917" cy="80727"/>
          </a:xfrm>
          <a:prstGeom prst="ellipse">
            <a:avLst/>
          </a:prstGeom>
          <a:gradFill flip="none" rotWithShape="1">
            <a:gsLst>
              <a:gs pos="51000">
                <a:srgbClr val="525252"/>
              </a:gs>
              <a:gs pos="20000">
                <a:srgbClr val="808080"/>
              </a:gs>
              <a:gs pos="86000">
                <a:srgbClr val="A5A5A5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rgbClr val="A9A9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23" name="MH_Other_13">
            <a:extLst>
              <a:ext uri="{FF2B5EF4-FFF2-40B4-BE49-F238E27FC236}">
                <a16:creationId xmlns:a16="http://schemas.microsoft.com/office/drawing/2014/main" id="{DD76C300-BF3B-C1DF-51C9-E3F3DA07122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62453" y="6209505"/>
            <a:ext cx="269875" cy="53975"/>
          </a:xfrm>
          <a:prstGeom prst="rect">
            <a:avLst/>
          </a:prstGeom>
          <a:gradFill flip="none" rotWithShape="1">
            <a:gsLst>
              <a:gs pos="57000">
                <a:srgbClr val="D2D2D2"/>
              </a:gs>
              <a:gs pos="9000">
                <a:srgbClr val="808080"/>
              </a:gs>
              <a:gs pos="98000">
                <a:srgbClr val="AEAEA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35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C2E6F0B-2198-864E-E2B1-7976C68F6681}"/>
              </a:ext>
            </a:extLst>
          </p:cNvPr>
          <p:cNvGrpSpPr/>
          <p:nvPr/>
        </p:nvGrpSpPr>
        <p:grpSpPr>
          <a:xfrm>
            <a:off x="2747705" y="3429004"/>
            <a:ext cx="1923054" cy="3006963"/>
            <a:chOff x="2489920" y="3339548"/>
            <a:chExt cx="1923054" cy="3006963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28BD3C03-D945-6756-156C-EE15A7AFCA27}"/>
                </a:ext>
              </a:extLst>
            </p:cNvPr>
            <p:cNvCxnSpPr/>
            <p:nvPr/>
          </p:nvCxnSpPr>
          <p:spPr>
            <a:xfrm>
              <a:off x="2802835" y="33395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流程图: 决策 25">
              <a:extLst>
                <a:ext uri="{FF2B5EF4-FFF2-40B4-BE49-F238E27FC236}">
                  <a16:creationId xmlns:a16="http://schemas.microsoft.com/office/drawing/2014/main" id="{712E6652-6520-6F71-B583-030F574D83A0}"/>
                </a:ext>
              </a:extLst>
            </p:cNvPr>
            <p:cNvSpPr/>
            <p:nvPr/>
          </p:nvSpPr>
          <p:spPr>
            <a:xfrm>
              <a:off x="2489920" y="36950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</a:t>
              </a:r>
              <a:endParaRPr lang="zh-CN" altLang="en-US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9C681EAE-2A25-077F-D80D-F8453B376FAB}"/>
                </a:ext>
              </a:extLst>
            </p:cNvPr>
            <p:cNvCxnSpPr/>
            <p:nvPr/>
          </p:nvCxnSpPr>
          <p:spPr>
            <a:xfrm>
              <a:off x="2802835" y="41270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图: 决策 27">
              <a:extLst>
                <a:ext uri="{FF2B5EF4-FFF2-40B4-BE49-F238E27FC236}">
                  <a16:creationId xmlns:a16="http://schemas.microsoft.com/office/drawing/2014/main" id="{55415CCF-D73B-F595-528D-6AE3B6CB82CC}"/>
                </a:ext>
              </a:extLst>
            </p:cNvPr>
            <p:cNvSpPr/>
            <p:nvPr/>
          </p:nvSpPr>
          <p:spPr>
            <a:xfrm>
              <a:off x="2489920" y="44825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</a:t>
              </a:r>
              <a:endParaRPr lang="zh-CN" altLang="en-US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BFCA4FC-D13C-B0A3-2F42-2BACBA2B7694}"/>
                </a:ext>
              </a:extLst>
            </p:cNvPr>
            <p:cNvCxnSpPr/>
            <p:nvPr/>
          </p:nvCxnSpPr>
          <p:spPr>
            <a:xfrm>
              <a:off x="2802835" y="49145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图: 决策 29">
              <a:extLst>
                <a:ext uri="{FF2B5EF4-FFF2-40B4-BE49-F238E27FC236}">
                  <a16:creationId xmlns:a16="http://schemas.microsoft.com/office/drawing/2014/main" id="{2CEB4D4F-0406-D82B-1273-31D9F82D447A}"/>
                </a:ext>
              </a:extLst>
            </p:cNvPr>
            <p:cNvSpPr/>
            <p:nvPr/>
          </p:nvSpPr>
          <p:spPr>
            <a:xfrm>
              <a:off x="2489920" y="52700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</a:t>
              </a:r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60AFD803-78C8-5924-E324-02B36CDF4228}"/>
                </a:ext>
              </a:extLst>
            </p:cNvPr>
            <p:cNvCxnSpPr/>
            <p:nvPr/>
          </p:nvCxnSpPr>
          <p:spPr>
            <a:xfrm>
              <a:off x="2802835" y="57020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任意多边形 9">
              <a:extLst>
                <a:ext uri="{FF2B5EF4-FFF2-40B4-BE49-F238E27FC236}">
                  <a16:creationId xmlns:a16="http://schemas.microsoft.com/office/drawing/2014/main" id="{0527A34B-9CB4-DE4C-D446-62A9C0F135AE}"/>
                </a:ext>
              </a:extLst>
            </p:cNvPr>
            <p:cNvSpPr/>
            <p:nvPr/>
          </p:nvSpPr>
          <p:spPr>
            <a:xfrm>
              <a:off x="3120887" y="3916017"/>
              <a:ext cx="904461" cy="2097157"/>
            </a:xfrm>
            <a:custGeom>
              <a:avLst/>
              <a:gdLst>
                <a:gd name="connsiteX0" fmla="*/ 0 w 904461"/>
                <a:gd name="connsiteY0" fmla="*/ 0 h 2097157"/>
                <a:gd name="connsiteX1" fmla="*/ 904461 w 904461"/>
                <a:gd name="connsiteY1" fmla="*/ 0 h 2097157"/>
                <a:gd name="connsiteX2" fmla="*/ 904461 w 904461"/>
                <a:gd name="connsiteY2" fmla="*/ 2097157 h 209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461" h="2097157">
                  <a:moveTo>
                    <a:pt x="0" y="0"/>
                  </a:moveTo>
                  <a:lnTo>
                    <a:pt x="904461" y="0"/>
                  </a:lnTo>
                  <a:lnTo>
                    <a:pt x="904461" y="2097157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93C9A7A-75E6-18F0-B197-653B67D2E6FD}"/>
                </a:ext>
              </a:extLst>
            </p:cNvPr>
            <p:cNvCxnSpPr/>
            <p:nvPr/>
          </p:nvCxnSpPr>
          <p:spPr>
            <a:xfrm>
              <a:off x="3115750" y="5478811"/>
              <a:ext cx="909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53FD0BC-336B-90D8-C27D-989231F116E8}"/>
                </a:ext>
              </a:extLst>
            </p:cNvPr>
            <p:cNvCxnSpPr/>
            <p:nvPr/>
          </p:nvCxnSpPr>
          <p:spPr>
            <a:xfrm>
              <a:off x="3115750" y="4693620"/>
              <a:ext cx="909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15215C-F5B2-8FB7-B211-BDC349CB1CED}"/>
                </a:ext>
              </a:extLst>
            </p:cNvPr>
            <p:cNvSpPr txBox="1"/>
            <p:nvPr/>
          </p:nvSpPr>
          <p:spPr>
            <a:xfrm>
              <a:off x="2608013" y="3539589"/>
              <a:ext cx="1804961" cy="2806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1(</a:t>
              </a:r>
              <a:r>
                <a:rPr lang="zh-CN" altLang="en-US" sz="1400"/>
                <a:t>真</a:t>
              </a:r>
              <a:r>
                <a:rPr lang="en-US" altLang="zh-CN" sz="1400"/>
                <a:t>)			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F6A4738-82E8-B510-B1BE-CEFDA20B40E7}"/>
              </a:ext>
            </a:extLst>
          </p:cNvPr>
          <p:cNvGrpSpPr/>
          <p:nvPr/>
        </p:nvGrpSpPr>
        <p:grpSpPr>
          <a:xfrm>
            <a:off x="7499214" y="3429004"/>
            <a:ext cx="1923054" cy="3006963"/>
            <a:chOff x="2489920" y="3339548"/>
            <a:chExt cx="1923054" cy="3006963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5FDAFC01-8521-3587-8A7A-9E47A94EBCAD}"/>
                </a:ext>
              </a:extLst>
            </p:cNvPr>
            <p:cNvCxnSpPr/>
            <p:nvPr/>
          </p:nvCxnSpPr>
          <p:spPr>
            <a:xfrm>
              <a:off x="2802835" y="33395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图: 决策 37">
              <a:extLst>
                <a:ext uri="{FF2B5EF4-FFF2-40B4-BE49-F238E27FC236}">
                  <a16:creationId xmlns:a16="http://schemas.microsoft.com/office/drawing/2014/main" id="{97DBF4B4-BE56-2B2B-44A4-F6F17F9AC75B}"/>
                </a:ext>
              </a:extLst>
            </p:cNvPr>
            <p:cNvSpPr/>
            <p:nvPr/>
          </p:nvSpPr>
          <p:spPr>
            <a:xfrm>
              <a:off x="2489920" y="36950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</a:t>
              </a:r>
              <a:endParaRPr lang="zh-CN" altLang="en-US"/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D878912A-8149-D548-3A72-D81FD3A5EE86}"/>
                </a:ext>
              </a:extLst>
            </p:cNvPr>
            <p:cNvCxnSpPr/>
            <p:nvPr/>
          </p:nvCxnSpPr>
          <p:spPr>
            <a:xfrm>
              <a:off x="2802835" y="41270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流程图: 决策 39">
              <a:extLst>
                <a:ext uri="{FF2B5EF4-FFF2-40B4-BE49-F238E27FC236}">
                  <a16:creationId xmlns:a16="http://schemas.microsoft.com/office/drawing/2014/main" id="{097C8921-7AE0-32AB-6B6E-CCD16330E978}"/>
                </a:ext>
              </a:extLst>
            </p:cNvPr>
            <p:cNvSpPr/>
            <p:nvPr/>
          </p:nvSpPr>
          <p:spPr>
            <a:xfrm>
              <a:off x="2489920" y="44825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</a:t>
              </a:r>
              <a:endParaRPr lang="zh-CN" altLang="en-US"/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6A1408C-FE2A-BAD3-382D-EE02FD36582B}"/>
                </a:ext>
              </a:extLst>
            </p:cNvPr>
            <p:cNvCxnSpPr/>
            <p:nvPr/>
          </p:nvCxnSpPr>
          <p:spPr>
            <a:xfrm>
              <a:off x="2802835" y="49145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流程图: 决策 41">
              <a:extLst>
                <a:ext uri="{FF2B5EF4-FFF2-40B4-BE49-F238E27FC236}">
                  <a16:creationId xmlns:a16="http://schemas.microsoft.com/office/drawing/2014/main" id="{D5963949-D498-70B3-D183-C2C49F2B5ECC}"/>
                </a:ext>
              </a:extLst>
            </p:cNvPr>
            <p:cNvSpPr/>
            <p:nvPr/>
          </p:nvSpPr>
          <p:spPr>
            <a:xfrm>
              <a:off x="2489920" y="5270048"/>
              <a:ext cx="62583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</a:t>
              </a:r>
              <a:endParaRPr lang="zh-CN" altLang="en-US"/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0090274-2A0B-F87A-3BB8-5B670083C3B7}"/>
                </a:ext>
              </a:extLst>
            </p:cNvPr>
            <p:cNvCxnSpPr/>
            <p:nvPr/>
          </p:nvCxnSpPr>
          <p:spPr>
            <a:xfrm>
              <a:off x="2802835" y="57020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任意多边形 44">
              <a:extLst>
                <a:ext uri="{FF2B5EF4-FFF2-40B4-BE49-F238E27FC236}">
                  <a16:creationId xmlns:a16="http://schemas.microsoft.com/office/drawing/2014/main" id="{55218091-988D-E3E4-D580-C4B787B94C6E}"/>
                </a:ext>
              </a:extLst>
            </p:cNvPr>
            <p:cNvSpPr/>
            <p:nvPr/>
          </p:nvSpPr>
          <p:spPr>
            <a:xfrm>
              <a:off x="3120887" y="3916017"/>
              <a:ext cx="904461" cy="2097157"/>
            </a:xfrm>
            <a:custGeom>
              <a:avLst/>
              <a:gdLst>
                <a:gd name="connsiteX0" fmla="*/ 0 w 904461"/>
                <a:gd name="connsiteY0" fmla="*/ 0 h 2097157"/>
                <a:gd name="connsiteX1" fmla="*/ 904461 w 904461"/>
                <a:gd name="connsiteY1" fmla="*/ 0 h 2097157"/>
                <a:gd name="connsiteX2" fmla="*/ 904461 w 904461"/>
                <a:gd name="connsiteY2" fmla="*/ 2097157 h 209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461" h="2097157">
                  <a:moveTo>
                    <a:pt x="0" y="0"/>
                  </a:moveTo>
                  <a:lnTo>
                    <a:pt x="904461" y="0"/>
                  </a:lnTo>
                  <a:lnTo>
                    <a:pt x="904461" y="2097157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6E030D63-3DA7-6A7F-9486-F0E4C0CCD61D}"/>
                </a:ext>
              </a:extLst>
            </p:cNvPr>
            <p:cNvCxnSpPr/>
            <p:nvPr/>
          </p:nvCxnSpPr>
          <p:spPr>
            <a:xfrm>
              <a:off x="3115750" y="5478811"/>
              <a:ext cx="909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279D1558-5704-EA7C-D801-2C364B505E1D}"/>
                </a:ext>
              </a:extLst>
            </p:cNvPr>
            <p:cNvCxnSpPr/>
            <p:nvPr/>
          </p:nvCxnSpPr>
          <p:spPr>
            <a:xfrm>
              <a:off x="3115750" y="4693620"/>
              <a:ext cx="909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0B88916-0D9D-4E5E-61DB-09B267B3C46B}"/>
                </a:ext>
              </a:extLst>
            </p:cNvPr>
            <p:cNvSpPr txBox="1"/>
            <p:nvPr/>
          </p:nvSpPr>
          <p:spPr>
            <a:xfrm>
              <a:off x="2608013" y="3539589"/>
              <a:ext cx="1804961" cy="2806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	</a:t>
              </a:r>
              <a:r>
                <a:rPr lang="zh-CN" altLang="en-US" sz="1400"/>
                <a:t>非</a:t>
              </a:r>
              <a:r>
                <a:rPr lang="en-US" altLang="zh-CN" sz="1400"/>
                <a:t>0(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	0(</a:t>
              </a:r>
              <a:r>
                <a:rPr lang="zh-CN" altLang="en-US" sz="1400"/>
                <a:t>假</a:t>
              </a:r>
              <a:r>
                <a:rPr lang="en-US" altLang="zh-CN" sz="1400"/>
                <a:t>)</a:t>
              </a:r>
            </a:p>
            <a:p>
              <a:pPr defTabSz="179388">
                <a:lnSpc>
                  <a:spcPct val="180000"/>
                </a:lnSpc>
              </a:pPr>
              <a:r>
                <a:rPr lang="en-US" altLang="zh-CN" sz="1400"/>
                <a:t>0(</a:t>
              </a:r>
              <a:r>
                <a:rPr lang="zh-CN" altLang="en-US" sz="1400"/>
                <a:t>假</a:t>
              </a:r>
              <a:r>
                <a:rPr lang="en-US" altLang="zh-CN" sz="1400"/>
                <a:t>)				1(</a:t>
              </a:r>
              <a:r>
                <a:rPr lang="zh-CN" altLang="en-US" sz="1400"/>
                <a:t>真</a:t>
              </a:r>
              <a:r>
                <a:rPr lang="en-US" altLang="zh-CN" sz="140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889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SubTitle"/>
  <p:tag name="MH_ORDER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Other"/>
  <p:tag name="MH_ORDER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Title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34043"/>
  <p:tag name="MH_LIBRARY" val="GRAPHIC"/>
  <p:tag name="MH_TYPE" val="Title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PageTitle"/>
  <p:tag name="MH_ORDER" val="Page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SubTitle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SubTitle"/>
  <p:tag name="MH_ORDER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3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1145</Words>
  <Application>Microsoft Office PowerPoint</Application>
  <PresentationFormat>宽屏</PresentationFormat>
  <Paragraphs>199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OPPOSans R</vt:lpstr>
      <vt:lpstr>百度综艺简体</vt:lpstr>
      <vt:lpstr>等线</vt:lpstr>
      <vt:lpstr>思源黑体 CN Regular</vt:lpstr>
      <vt:lpstr>微软雅黑</vt:lpstr>
      <vt:lpstr>优设标题黑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晓刚 张</cp:lastModifiedBy>
  <cp:revision>34</cp:revision>
  <dcterms:created xsi:type="dcterms:W3CDTF">2026-05-06T02:15:00Z</dcterms:created>
  <dcterms:modified xsi:type="dcterms:W3CDTF">2026-05-27T12:01:14Z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