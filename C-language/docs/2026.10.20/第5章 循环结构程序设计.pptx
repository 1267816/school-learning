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handoutMasterIdLst>
    <p:handoutMasterId r:id="rId84"/>
  </p:handoutMasterIdLst>
  <p:sldIdLst>
    <p:sldId id="418" r:id="rId3"/>
    <p:sldId id="311" r:id="rId4"/>
    <p:sldId id="312" r:id="rId5"/>
    <p:sldId id="338" r:id="rId6"/>
    <p:sldId id="340" r:id="rId7"/>
    <p:sldId id="341" r:id="rId8"/>
    <p:sldId id="343" r:id="rId9"/>
    <p:sldId id="337" r:id="rId10"/>
    <p:sldId id="344" r:id="rId11"/>
    <p:sldId id="345" r:id="rId12"/>
    <p:sldId id="346" r:id="rId13"/>
    <p:sldId id="348" r:id="rId14"/>
    <p:sldId id="347" r:id="rId15"/>
    <p:sldId id="350" r:id="rId16"/>
    <p:sldId id="351" r:id="rId17"/>
    <p:sldId id="352" r:id="rId18"/>
    <p:sldId id="353" r:id="rId19"/>
    <p:sldId id="354" r:id="rId20"/>
    <p:sldId id="355" r:id="rId21"/>
    <p:sldId id="356" r:id="rId22"/>
    <p:sldId id="357" r:id="rId23"/>
    <p:sldId id="358" r:id="rId24"/>
    <p:sldId id="359" r:id="rId25"/>
    <p:sldId id="360" r:id="rId26"/>
    <p:sldId id="361" r:id="rId27"/>
    <p:sldId id="362" r:id="rId28"/>
    <p:sldId id="363" r:id="rId29"/>
    <p:sldId id="364" r:id="rId30"/>
    <p:sldId id="365" r:id="rId31"/>
    <p:sldId id="366"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80" r:id="rId46"/>
    <p:sldId id="381" r:id="rId47"/>
    <p:sldId id="382" r:id="rId48"/>
    <p:sldId id="383" r:id="rId49"/>
    <p:sldId id="384" r:id="rId50"/>
    <p:sldId id="385" r:id="rId51"/>
    <p:sldId id="386" r:id="rId52"/>
    <p:sldId id="387" r:id="rId53"/>
    <p:sldId id="388" r:id="rId54"/>
    <p:sldId id="389" r:id="rId55"/>
    <p:sldId id="390" r:id="rId56"/>
    <p:sldId id="391" r:id="rId57"/>
    <p:sldId id="392" r:id="rId58"/>
    <p:sldId id="393" r:id="rId59"/>
    <p:sldId id="395" r:id="rId60"/>
    <p:sldId id="394" r:id="rId61"/>
    <p:sldId id="396" r:id="rId62"/>
    <p:sldId id="397" r:id="rId63"/>
    <p:sldId id="398" r:id="rId64"/>
    <p:sldId id="399" r:id="rId65"/>
    <p:sldId id="400" r:id="rId66"/>
    <p:sldId id="401" r:id="rId67"/>
    <p:sldId id="402" r:id="rId68"/>
    <p:sldId id="403" r:id="rId69"/>
    <p:sldId id="404" r:id="rId70"/>
    <p:sldId id="405" r:id="rId71"/>
    <p:sldId id="406" r:id="rId72"/>
    <p:sldId id="407" r:id="rId73"/>
    <p:sldId id="408" r:id="rId74"/>
    <p:sldId id="409" r:id="rId75"/>
    <p:sldId id="410" r:id="rId76"/>
    <p:sldId id="411" r:id="rId77"/>
    <p:sldId id="413" r:id="rId78"/>
    <p:sldId id="414" r:id="rId79"/>
    <p:sldId id="412" r:id="rId80"/>
    <p:sldId id="415" r:id="rId81"/>
    <p:sldId id="416" r:id="rId82"/>
  </p:sldIdLst>
  <p:sldSz cx="9144000" cy="6858000" type="screen4x3"/>
  <p:notesSz cx="6858000" cy="9144000"/>
  <p:custDataLst>
    <p:tags r:id="rId88"/>
  </p:custDataLst>
  <p:defaultTextStyle>
    <a:defPPr>
      <a:defRPr lang="zh-CN"/>
    </a:defPPr>
    <a:lvl1pPr marL="0" lvl="0"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50" userDrawn="1">
          <p15:clr>
            <a:srgbClr val="A4A3A4"/>
          </p15:clr>
        </p15:guide>
        <p15:guide id="2" pos="27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235A67"/>
    <a:srgbClr val="C00000"/>
    <a:srgbClr val="2727CF"/>
    <a:srgbClr val="507B85"/>
    <a:srgbClr val="4545AB"/>
    <a:srgbClr val="0000CC"/>
    <a:srgbClr val="FFCCFF"/>
    <a:srgbClr val="9D138D"/>
    <a:srgbClr val="FFFFCC"/>
    <a:srgbClr val="E1F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p:restoredTop sz="86411"/>
  </p:normalViewPr>
  <p:slideViewPr>
    <p:cSldViewPr showGuides="1">
      <p:cViewPr varScale="1">
        <p:scale>
          <a:sx n="80" d="100"/>
          <a:sy n="80" d="100"/>
        </p:scale>
        <p:origin x="653" y="58"/>
      </p:cViewPr>
      <p:guideLst>
        <p:guide orient="horz" pos="2050"/>
        <p:guide pos="2789"/>
      </p:guideLst>
    </p:cSldViewPr>
  </p:slideViewPr>
  <p:outlineViewPr>
    <p:cViewPr>
      <p:scale>
        <a:sx n="33" d="100"/>
        <a:sy n="33" d="100"/>
      </p:scale>
      <p:origin x="0" y="-55958"/>
    </p:cViewPr>
  </p:outlineViewPr>
  <p:notesTextViewPr>
    <p:cViewPr>
      <p:scale>
        <a:sx n="100" d="100"/>
        <a:sy n="100" d="100"/>
      </p:scale>
      <p:origin x="0" y="0"/>
    </p:cViewPr>
  </p:notesTextViewPr>
  <p:sorterViewPr showFormatting="0">
    <p:cViewPr>
      <p:scale>
        <a:sx n="66" d="100"/>
        <a:sy n="66" d="100"/>
      </p:scale>
      <p:origin x="0" y="379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8" Type="http://schemas.openxmlformats.org/officeDocument/2006/relationships/tags" Target="tags/tag77.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notesMaster" Target="notesMasters/notesMaster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09FF7A1-99EE-48EC-9FA6-3A2C8F0E5077}" type="datetimeFigureOut">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B362B55-187D-48E7-8BD6-AAA600686E70}" type="slidenum">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878840"/>
            <a:ext cx="8162925" cy="645160"/>
          </a:xfrm>
        </p:spPr>
        <p:txBody>
          <a:bodyPr/>
          <a:lstStyle>
            <a:lvl1pPr algn="l">
              <a:defRPr sz="3600" u="none" strike="noStrike" kern="0" cap="none" spc="0" normalizeH="0">
                <a:solidFill>
                  <a:srgbClr val="235A67"/>
                </a:solidFill>
                <a:uFillTx/>
                <a:latin typeface="Times New Roman" panose="02020603050405020304" pitchFamily="18" charset="0"/>
                <a:ea typeface="黑体" panose="02010609060101010101" pitchFamily="2"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buClrTx/>
              <a:buFont typeface="Wingdings" panose="05000000000000000000" pitchFamily="2" charset="2"/>
              <a:buChar char="Ø"/>
              <a:defRPr sz="2800" u="none" strike="noStrike" kern="0" cap="none" spc="0" normalizeH="0">
                <a:solidFill>
                  <a:schemeClr val="tx1"/>
                </a:solidFill>
                <a:uFillTx/>
                <a:latin typeface="Times New Roman" panose="02020603050405020304" pitchFamily="18" charset="0"/>
                <a:ea typeface="微软雅黑" panose="020B0503020204020204" pitchFamily="34" charset="-122"/>
              </a:defRPr>
            </a:lvl1pPr>
            <a:lvl2pPr>
              <a:buClrTx/>
              <a:buFont typeface="Wingdings" panose="05000000000000000000" pitchFamily="2" charset="2"/>
              <a:buChar char="u"/>
              <a:defRPr sz="2800" u="none" strike="noStrike" kern="0" cap="none" spc="0" normalizeH="0">
                <a:solidFill>
                  <a:schemeClr val="tx1"/>
                </a:solidFill>
                <a:uFillTx/>
                <a:latin typeface="Times New Roman" panose="02020603050405020304" pitchFamily="18" charset="0"/>
                <a:ea typeface="微软雅黑" panose="020B0503020204020204" pitchFamily="34" charset="-122"/>
              </a:defRPr>
            </a:lvl2pPr>
            <a:lvl3pPr>
              <a:buClrTx/>
              <a:buFont typeface="Wingdings" panose="05000000000000000000" pitchFamily="2" charset="2"/>
              <a:buChar char="l"/>
              <a:defRPr sz="2800" u="none" strike="noStrike" kern="0" cap="none" spc="0" normalizeH="0">
                <a:solidFill>
                  <a:schemeClr val="tx1"/>
                </a:solidFill>
                <a:uFillTx/>
                <a:latin typeface="Times New Roman" panose="02020603050405020304" pitchFamily="18" charset="0"/>
                <a:ea typeface="微软雅黑" panose="020B0503020204020204" pitchFamily="34" charset="-122"/>
              </a:defRPr>
            </a:lvl3pPr>
            <a:lvl4pPr>
              <a:defRPr sz="2800" u="none" strike="noStrike" kern="0" cap="none" spc="0" normalizeH="0">
                <a:solidFill>
                  <a:schemeClr val="tx1"/>
                </a:solidFill>
                <a:uFillTx/>
                <a:latin typeface="Times New Roman" panose="02020603050405020304" pitchFamily="18" charset="0"/>
                <a:ea typeface="微软雅黑" panose="020B0503020204020204" pitchFamily="34" charset="-122"/>
              </a:defRPr>
            </a:lvl4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zh-CN" altLang="en-US"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PhAnim="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Rectangle 66"/>
          <p:cNvSpPr/>
          <p:nvPr/>
        </p:nvSpPr>
        <p:spPr>
          <a:xfrm>
            <a:off x="3505200" y="2590800"/>
            <a:ext cx="4892675" cy="76200"/>
          </a:xfrm>
          <a:prstGeom prst="rect">
            <a:avLst/>
          </a:prstGeom>
          <a:solidFill>
            <a:schemeClr val="hlink">
              <a:alpha val="50195"/>
            </a:schemeClr>
          </a:solidFill>
          <a:ln w="9525">
            <a:noFill/>
          </a:ln>
        </p:spPr>
        <p:txBody>
          <a:bodyPr wrap="none" anchor="ctr" anchorCtr="0"/>
          <a:p>
            <a:pPr lvl="0" algn="ctr" eaLnBrk="1" hangingPunct="1">
              <a:buNone/>
            </a:pPr>
            <a:endParaRPr lang="zh-CN" altLang="zh-CN" sz="2400" dirty="0">
              <a:latin typeface="Verdana" panose="020B0604030504040204" pitchFamily="34" charset="0"/>
            </a:endParaRPr>
          </a:p>
        </p:txBody>
      </p:sp>
      <p:sp>
        <p:nvSpPr>
          <p:cNvPr id="4163" name="Rectangle 67"/>
          <p:cNvSpPr>
            <a:spLocks noGrp="1" noChangeArrowheads="1"/>
          </p:cNvSpPr>
          <p:nvPr>
            <p:ph type="ctrTitle" sz="quarter"/>
          </p:nvPr>
        </p:nvSpPr>
        <p:spPr>
          <a:xfrm>
            <a:off x="779463" y="1766888"/>
            <a:ext cx="7678737" cy="762000"/>
          </a:xfrm>
          <a:effectLst/>
        </p:spPr>
        <p:txBody>
          <a:bodyPr/>
          <a:lstStyle>
            <a:lvl1pPr algn="r">
              <a:defRPr/>
            </a:lvl1pPr>
          </a:lstStyle>
          <a:p>
            <a:r>
              <a:rPr lang="zh-CN" altLang="en-US"/>
              <a:t>单击此处编辑母版标题样式</a:t>
            </a:r>
            <a:endParaRPr lang="zh-CN" altLang="en-US"/>
          </a:p>
        </p:txBody>
      </p:sp>
      <p:sp>
        <p:nvSpPr>
          <p:cNvPr id="4164" name="Rectangle 68"/>
          <p:cNvSpPr>
            <a:spLocks noGrp="1" noChangeArrowheads="1"/>
          </p:cNvSpPr>
          <p:nvPr>
            <p:ph type="subTitle" sz="quarter" idx="1"/>
          </p:nvPr>
        </p:nvSpPr>
        <p:spPr>
          <a:xfrm>
            <a:off x="4021138" y="2860675"/>
            <a:ext cx="4437062" cy="3114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8"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25DD04E-99D4-453D-8FF6-4982260B539D}"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9750" y="1628775"/>
            <a:ext cx="40005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92650" y="1628775"/>
            <a:ext cx="40005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6388" y="762000"/>
            <a:ext cx="2039937" cy="5362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33400" y="762000"/>
            <a:ext cx="5970588" cy="5362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0"/>
            <a:ext cx="8162925" cy="762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9750" y="1628775"/>
            <a:ext cx="40005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92650" y="1628775"/>
            <a:ext cx="4000500" cy="217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92650" y="3952875"/>
            <a:ext cx="4000500" cy="217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0"/>
            <a:ext cx="8162925" cy="762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9750" y="1628775"/>
            <a:ext cx="40005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92650" y="1628775"/>
            <a:ext cx="40005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0"/>
            <a:ext cx="8162925" cy="762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39750" y="1628775"/>
            <a:ext cx="81534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Rectangle 65"/>
          <p:cNvSpPr>
            <a:spLocks noGrp="1"/>
          </p:cNvSpPr>
          <p:nvPr>
            <p:ph type="title"/>
          </p:nvPr>
        </p:nvSpPr>
        <p:spPr>
          <a:xfrm>
            <a:off x="533400" y="878840"/>
            <a:ext cx="8162925" cy="645160"/>
          </a:xfrm>
          <a:prstGeom prst="rect">
            <a:avLst/>
          </a:prstGeom>
          <a:noFill/>
          <a:ln w="9525">
            <a:noFill/>
          </a:ln>
          <a:effectLst>
            <a:outerShdw dist="45791" dir="3378595" algn="ctr" rotWithShape="0">
              <a:schemeClr val="accent2"/>
            </a:outerShdw>
          </a:effectLst>
        </p:spPr>
        <p:txBody>
          <a:bodyPr anchor="b" anchorCtr="0">
            <a:spAutoFit/>
          </a:bodyPr>
          <a:p>
            <a:pPr lvl="0"/>
            <a:r>
              <a:rPr lang="zh-CN" altLang="en-US" dirty="0"/>
              <a:t>单击此处编辑母版标题样式</a:t>
            </a:r>
            <a:endParaRPr lang="zh-CN" altLang="en-US" dirty="0"/>
          </a:p>
        </p:txBody>
      </p:sp>
      <p:sp>
        <p:nvSpPr>
          <p:cNvPr id="1027" name="Rectangle 66"/>
          <p:cNvSpPr>
            <a:spLocks noGrp="1"/>
          </p:cNvSpPr>
          <p:nvPr>
            <p:ph type="body" idx="1"/>
          </p:nvPr>
        </p:nvSpPr>
        <p:spPr>
          <a:xfrm>
            <a:off x="539750" y="1628775"/>
            <a:ext cx="8153400" cy="4495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3139" name="Rectangle 67"/>
          <p:cNvSpPr>
            <a:spLocks noGrp="1" noChangeArrowheads="1"/>
          </p:cNvSpPr>
          <p:nvPr>
            <p:ph type="dt" sz="half" idx="2"/>
          </p:nvPr>
        </p:nvSpPr>
        <p:spPr bwMode="auto">
          <a:xfrm>
            <a:off x="1152525" y="6286500"/>
            <a:ext cx="1905000" cy="457200"/>
          </a:xfrm>
          <a:prstGeom prst="rect">
            <a:avLst/>
          </a:prstGeom>
          <a:noFill/>
          <a:ln w="9525">
            <a:noFill/>
            <a:miter lim="800000"/>
          </a:ln>
          <a:effectLst/>
        </p:spPr>
        <p:txBody>
          <a:bodyPr vert="horz" wrap="square" lIns="91440" tIns="45720" rIns="91440" bIns="45720" numCol="1" anchor="b" anchorCtr="0" compatLnSpc="1"/>
          <a:lstStyle>
            <a:lvl1pPr>
              <a:defRPr kumimoji="0"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140" name="Rectangle 68"/>
          <p:cNvSpPr>
            <a:spLocks noGrp="1" noChangeArrowheads="1"/>
          </p:cNvSpPr>
          <p:nvPr>
            <p:ph type="ftr" sz="quarter" idx="3"/>
          </p:nvPr>
        </p:nvSpPr>
        <p:spPr bwMode="auto">
          <a:xfrm>
            <a:off x="3590925" y="62865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141" name="Rectangle 69"/>
          <p:cNvSpPr>
            <a:spLocks noGrp="1" noChangeArrowheads="1"/>
          </p:cNvSpPr>
          <p:nvPr>
            <p:ph type="sldNum" sz="quarter" idx="4"/>
          </p:nvPr>
        </p:nvSpPr>
        <p:spPr bwMode="auto">
          <a:xfrm>
            <a:off x="7019925" y="62865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a:latin typeface="Verdan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1969C41-680A-42B0-8C70-ADB62A2DF532}" type="slidenum">
              <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timing>
    <p:tnLst>
      <p:par>
        <p:cTn id="1" dur="indefinite" restart="never" nodeType="tmRoot"/>
      </p:par>
    </p:tnLst>
  </p:timing>
  <p:hf sldNum="0" hdr="0" ftr="0" dt="0"/>
  <p:txStyles>
    <p:title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2800" b="0" u="none" strike="noStrike" kern="0" cap="none" spc="0" normalizeH="0">
          <a:solidFill>
            <a:schemeClr val="tx1"/>
          </a:solidFill>
          <a:uFillTx/>
          <a:latin typeface="Times New Roman" panose="02020603050405020304" pitchFamily="18" charset="0"/>
          <a:ea typeface="微软雅黑" panose="020B0503020204020204" pitchFamily="34" charset="-122"/>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u="none" strike="noStrike" kern="0" cap="none" spc="0" normalizeH="0">
          <a:solidFill>
            <a:schemeClr val="tx1"/>
          </a:solidFill>
          <a:uFillTx/>
          <a:latin typeface="Times New Roman" panose="02020603050405020304" pitchFamily="18" charset="0"/>
          <a:ea typeface="微软雅黑" panose="020B0503020204020204" pitchFamily="34" charset="-122"/>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u="none" strike="noStrike" kern="0" cap="none" spc="0" normalizeH="0">
          <a:solidFill>
            <a:schemeClr val="tx1"/>
          </a:solidFill>
          <a:uFillTx/>
          <a:latin typeface="Times New Roman" panose="02020603050405020304" pitchFamily="18" charset="0"/>
          <a:ea typeface="微软雅黑" panose="020B0503020204020204" pitchFamily="34" charset="-122"/>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vl6pPr marL="25146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6pPr>
      <a:lvl7pPr marL="29718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7pPr>
      <a:lvl8pPr marL="34290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8pPr>
      <a:lvl9pPr marL="38862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slide" Target="slide54.xml"/><Relationship Id="rId7" Type="http://schemas.openxmlformats.org/officeDocument/2006/relationships/slide" Target="slide29.xml"/><Relationship Id="rId6" Type="http://schemas.openxmlformats.org/officeDocument/2006/relationships/slide" Target="slide28.xml"/><Relationship Id="rId5" Type="http://schemas.openxmlformats.org/officeDocument/2006/relationships/slide" Target="slide27.xml"/><Relationship Id="rId4" Type="http://schemas.openxmlformats.org/officeDocument/2006/relationships/slide" Target="slide16.xml"/><Relationship Id="rId3" Type="http://schemas.openxmlformats.org/officeDocument/2006/relationships/slide" Target="slide12.xml"/><Relationship Id="rId2" Type="http://schemas.openxmlformats.org/officeDocument/2006/relationships/slide" Target="slide6.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image" Target="../media/image4.png"/><Relationship Id="rId10" Type="http://schemas.openxmlformats.org/officeDocument/2006/relationships/slideLayout" Target="../slideLayouts/slideLayout1.xml"/><Relationship Id="rId1"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6.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8" Type="http://schemas.openxmlformats.org/officeDocument/2006/relationships/slideLayout" Target="../slideLayouts/slideLayout1.xml"/><Relationship Id="rId27" Type="http://schemas.openxmlformats.org/officeDocument/2006/relationships/tags" Target="../tags/tag35.xml"/><Relationship Id="rId26" Type="http://schemas.openxmlformats.org/officeDocument/2006/relationships/tags" Target="../tags/tag34.xml"/><Relationship Id="rId25" Type="http://schemas.openxmlformats.org/officeDocument/2006/relationships/tags" Target="../tags/tag33.xml"/><Relationship Id="rId24" Type="http://schemas.openxmlformats.org/officeDocument/2006/relationships/tags" Target="../tags/tag32.xml"/><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image" Target="../media/image4.png"/><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slide" Target="slide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6.xml"/><Relationship Id="rId2" Type="http://schemas.openxmlformats.org/officeDocument/2006/relationships/image" Target="../media/image4.png"/><Relationship Id="rId1" Type="http://schemas.openxmlformats.org/officeDocument/2006/relationships/slide" Target="slide2.xml"/></Relationships>
</file>

<file path=ppt/slides/_rels/slide13.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image" Target="../media/image4.png"/><Relationship Id="rId3" Type="http://schemas.openxmlformats.org/officeDocument/2006/relationships/slide" Target="slide2.xml"/><Relationship Id="rId21" Type="http://schemas.openxmlformats.org/officeDocument/2006/relationships/vmlDrawing" Target="../drawings/vmlDrawing2.vml"/><Relationship Id="rId20" Type="http://schemas.openxmlformats.org/officeDocument/2006/relationships/slideLayout" Target="../slideLayouts/slideLayout1.xml"/><Relationship Id="rId2" Type="http://schemas.openxmlformats.org/officeDocument/2006/relationships/image" Target="../media/image7.wmf"/><Relationship Id="rId19" Type="http://schemas.openxmlformats.org/officeDocument/2006/relationships/tags" Target="../tags/tag51.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slide" Target="slide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2.xml"/><Relationship Id="rId2" Type="http://schemas.openxmlformats.org/officeDocument/2006/relationships/image" Target="../media/image4.png"/><Relationship Id="rId1" Type="http://schemas.openxmlformats.org/officeDocument/2006/relationships/slide" Target="slide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3.xml"/><Relationship Id="rId2" Type="http://schemas.openxmlformats.org/officeDocument/2006/relationships/image" Target="../media/image4.png"/><Relationship Id="rId1" Type="http://schemas.openxmlformats.org/officeDocument/2006/relationships/slide" Target="slide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4.xml"/><Relationship Id="rId2" Type="http://schemas.openxmlformats.org/officeDocument/2006/relationships/image" Target="../media/image4.png"/><Relationship Id="rId1" Type="http://schemas.openxmlformats.org/officeDocument/2006/relationships/slide" Target="slide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5.xml"/><Relationship Id="rId2" Type="http://schemas.openxmlformats.org/officeDocument/2006/relationships/image" Target="../media/image4.png"/><Relationship Id="rId1" Type="http://schemas.openxmlformats.org/officeDocument/2006/relationships/slide" Target="slide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6.xml"/><Relationship Id="rId2" Type="http://schemas.openxmlformats.org/officeDocument/2006/relationships/image" Target="../media/image4.png"/><Relationship Id="rId1" Type="http://schemas.openxmlformats.org/officeDocument/2006/relationships/slide" Target="slide2.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7.xml"/><Relationship Id="rId2" Type="http://schemas.openxmlformats.org/officeDocument/2006/relationships/image" Target="../media/image4.png"/><Relationship Id="rId1" Type="http://schemas.openxmlformats.org/officeDocument/2006/relationships/slide" Target="slide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8.xml"/><Relationship Id="rId2" Type="http://schemas.openxmlformats.org/officeDocument/2006/relationships/image" Target="../media/image4.png"/><Relationship Id="rId1" Type="http://schemas.openxmlformats.org/officeDocument/2006/relationships/slide" Target="slide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9.xml"/><Relationship Id="rId2" Type="http://schemas.openxmlformats.org/officeDocument/2006/relationships/image" Target="../media/image4.png"/><Relationship Id="rId1" Type="http://schemas.openxmlformats.org/officeDocument/2006/relationships/slide" Target="slide2.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0.xml"/><Relationship Id="rId2" Type="http://schemas.openxmlformats.org/officeDocument/2006/relationships/image" Target="../media/image4.png"/><Relationship Id="rId1" Type="http://schemas.openxmlformats.org/officeDocument/2006/relationships/slide" Target="slide2.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1.xml"/><Relationship Id="rId2" Type="http://schemas.openxmlformats.org/officeDocument/2006/relationships/image" Target="../media/image4.png"/><Relationship Id="rId1" Type="http://schemas.openxmlformats.org/officeDocument/2006/relationships/slide" Target="slide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2.xml"/><Relationship Id="rId2" Type="http://schemas.openxmlformats.org/officeDocument/2006/relationships/image" Target="../media/image4.png"/><Relationship Id="rId1" Type="http://schemas.openxmlformats.org/officeDocument/2006/relationships/slide" Target="slide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3.xml"/><Relationship Id="rId2" Type="http://schemas.openxmlformats.org/officeDocument/2006/relationships/image" Target="../media/image4.png"/><Relationship Id="rId1" Type="http://schemas.openxmlformats.org/officeDocument/2006/relationships/slide" Target="slide2.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4.png"/><Relationship Id="rId1" Type="http://schemas.openxmlformats.org/officeDocument/2006/relationships/slide" Target="slide2.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5.xml"/><Relationship Id="rId5" Type="http://schemas.openxmlformats.org/officeDocument/2006/relationships/image" Target="../media/image4.png"/><Relationship Id="rId4" Type="http://schemas.openxmlformats.org/officeDocument/2006/relationships/slide" Target="slide2.xml"/><Relationship Id="rId3" Type="http://schemas.openxmlformats.org/officeDocument/2006/relationships/slide" Target="slide42.xml"/><Relationship Id="rId2" Type="http://schemas.openxmlformats.org/officeDocument/2006/relationships/slide" Target="slide39.xml"/><Relationship Id="rId1" Type="http://schemas.openxmlformats.org/officeDocument/2006/relationships/slide" Target="slide30.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6.xml"/><Relationship Id="rId2" Type="http://schemas.openxmlformats.org/officeDocument/2006/relationships/image" Target="../media/image13.png"/><Relationship Id="rId1" Type="http://schemas.openxmlformats.org/officeDocument/2006/relationships/slide" Target="slide29.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7.xml"/><Relationship Id="rId2" Type="http://schemas.openxmlformats.org/officeDocument/2006/relationships/image" Target="../media/image13.png"/><Relationship Id="rId1" Type="http://schemas.openxmlformats.org/officeDocument/2006/relationships/slide" Target="slide29.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8.xml"/><Relationship Id="rId2" Type="http://schemas.openxmlformats.org/officeDocument/2006/relationships/image" Target="../media/image13.png"/><Relationship Id="rId1" Type="http://schemas.openxmlformats.org/officeDocument/2006/relationships/slide" Target="slide29.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9.xml"/><Relationship Id="rId2" Type="http://schemas.openxmlformats.org/officeDocument/2006/relationships/image" Target="../media/image13.png"/><Relationship Id="rId1" Type="http://schemas.openxmlformats.org/officeDocument/2006/relationships/slide" Target="slide29.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slide" Target="slide29.xml"/><Relationship Id="rId1"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0.xml"/><Relationship Id="rId2" Type="http://schemas.openxmlformats.org/officeDocument/2006/relationships/image" Target="../media/image13.png"/><Relationship Id="rId1" Type="http://schemas.openxmlformats.org/officeDocument/2006/relationships/slide" Target="slide29.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1.xml"/><Relationship Id="rId2" Type="http://schemas.openxmlformats.org/officeDocument/2006/relationships/image" Target="../media/image13.png"/><Relationship Id="rId1" Type="http://schemas.openxmlformats.org/officeDocument/2006/relationships/slide" Target="slide29.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slide" Target="slide29.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2.xml"/><Relationship Id="rId2" Type="http://schemas.openxmlformats.org/officeDocument/2006/relationships/image" Target="../media/image13.png"/><Relationship Id="rId1" Type="http://schemas.openxmlformats.org/officeDocument/2006/relationships/slide" Target="slide29.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slide" Target="slide29.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slide" Target="slide29.xml"/><Relationship Id="rId1" Type="http://schemas.openxmlformats.org/officeDocument/2006/relationships/image" Target="../media/image16.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slide" Target="slide29.xml"/><Relationship Id="rId1" Type="http://schemas.openxmlformats.org/officeDocument/2006/relationships/image" Target="../media/image17.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slide" Target="slide29.xml"/><Relationship Id="rId1" Type="http://schemas.openxmlformats.org/officeDocument/2006/relationships/image" Target="../media/image18.png"/></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xml"/><Relationship Id="rId7" Type="http://schemas.openxmlformats.org/officeDocument/2006/relationships/tags" Target="../tags/tag73.xml"/><Relationship Id="rId6" Type="http://schemas.openxmlformats.org/officeDocument/2006/relationships/image" Target="../media/image4.png"/><Relationship Id="rId5" Type="http://schemas.openxmlformats.org/officeDocument/2006/relationships/slide" Target="slide2.xml"/><Relationship Id="rId4" Type="http://schemas.openxmlformats.org/officeDocument/2006/relationships/image" Target="../media/image20.wmf"/><Relationship Id="rId3" Type="http://schemas.openxmlformats.org/officeDocument/2006/relationships/oleObject" Target="../embeddings/oleObject4.bin"/><Relationship Id="rId2" Type="http://schemas.openxmlformats.org/officeDocument/2006/relationships/image" Target="../media/image19.wmf"/><Relationship Id="rId1" Type="http://schemas.openxmlformats.org/officeDocument/2006/relationships/oleObject" Target="../embeddings/oleObject3.bin"/></Relationships>
</file>

<file path=ppt/slides/_rels/slide55.xml.rels><?xml version="1.0" encoding="UTF-8" standalone="yes"?>
<Relationships xmlns="http://schemas.openxmlformats.org/package/2006/relationships"><Relationship Id="rId9" Type="http://schemas.openxmlformats.org/officeDocument/2006/relationships/slide" Target="slide2.xml"/><Relationship Id="rId8" Type="http://schemas.openxmlformats.org/officeDocument/2006/relationships/image" Target="../media/image24.wmf"/><Relationship Id="rId7" Type="http://schemas.openxmlformats.org/officeDocument/2006/relationships/oleObject" Target="../embeddings/oleObject8.bin"/><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22.wmf"/><Relationship Id="rId3" Type="http://schemas.openxmlformats.org/officeDocument/2006/relationships/oleObject" Target="../embeddings/oleObject6.bin"/><Relationship Id="rId2" Type="http://schemas.openxmlformats.org/officeDocument/2006/relationships/image" Target="../media/image21.wmf"/><Relationship Id="rId13" Type="http://schemas.openxmlformats.org/officeDocument/2006/relationships/vmlDrawing" Target="../drawings/vmlDrawing4.vml"/><Relationship Id="rId12" Type="http://schemas.openxmlformats.org/officeDocument/2006/relationships/slideLayout" Target="../slideLayouts/slideLayout1.xml"/><Relationship Id="rId11" Type="http://schemas.openxmlformats.org/officeDocument/2006/relationships/tags" Target="../tags/tag74.xml"/><Relationship Id="rId10" Type="http://schemas.openxmlformats.org/officeDocument/2006/relationships/image" Target="../media/image4.png"/><Relationship Id="rId1" Type="http://schemas.openxmlformats.org/officeDocument/2006/relationships/oleObject" Target="../embeddings/oleObject5.bin"/></Relationships>
</file>

<file path=ppt/slides/_rels/slide56.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image" Target="../media/image4.png"/><Relationship Id="rId7" Type="http://schemas.openxmlformats.org/officeDocument/2006/relationships/slide" Target="slide2.x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25.wmf"/><Relationship Id="rId3" Type="http://schemas.openxmlformats.org/officeDocument/2006/relationships/oleObject" Target="../embeddings/oleObject10.bin"/><Relationship Id="rId2" Type="http://schemas.openxmlformats.org/officeDocument/2006/relationships/image" Target="../media/image20.wmf"/><Relationship Id="rId11" Type="http://schemas.openxmlformats.org/officeDocument/2006/relationships/vmlDrawing" Target="../drawings/vmlDrawing5.vml"/><Relationship Id="rId10" Type="http://schemas.openxmlformats.org/officeDocument/2006/relationships/slideLayout" Target="../slideLayouts/slideLayout1.xml"/><Relationship Id="rId1" Type="http://schemas.openxmlformats.org/officeDocument/2006/relationships/oleObject" Target="../embeddings/oleObject9.bin"/></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6.xml"/><Relationship Id="rId2" Type="http://schemas.openxmlformats.org/officeDocument/2006/relationships/image" Target="../media/image4.png"/><Relationship Id="rId1" Type="http://schemas.openxmlformats.org/officeDocument/2006/relationships/slide" Target="slide2.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image" Target="../media/image27.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slide" Target="slide2.xml"/><Relationship Id="rId2" Type="http://schemas.openxmlformats.org/officeDocument/2006/relationships/image" Target="../media/image27.png"/><Relationship Id="rId1" Type="http://schemas.openxmlformats.org/officeDocument/2006/relationships/image" Target="../media/image28.png"/></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slide" Target="slide2.xml"/><Relationship Id="rId2" Type="http://schemas.openxmlformats.org/officeDocument/2006/relationships/image" Target="../media/image29.wmf"/><Relationship Id="rId1" Type="http://schemas.openxmlformats.org/officeDocument/2006/relationships/oleObject" Target="../embeddings/oleObject12.bin"/></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image" Target="../media/image30.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image" Target="../media/image3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slide" Target="slide2.xml"/><Relationship Id="rId2" Type="http://schemas.openxmlformats.org/officeDocument/2006/relationships/image" Target="../media/image33.png"/><Relationship Id="rId1" Type="http://schemas.openxmlformats.org/officeDocument/2006/relationships/image" Target="../media/image32.png"/></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slide" Target="slide2.xml"/><Relationship Id="rId2" Type="http://schemas.openxmlformats.org/officeDocument/2006/relationships/image" Target="../media/image34.wmf"/><Relationship Id="rId1" Type="http://schemas.openxmlformats.org/officeDocument/2006/relationships/oleObject" Target="../embeddings/oleObject13.bin"/></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image" Target="../media/image35.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a:xfrm>
            <a:off x="1595438" y="2556352"/>
            <a:ext cx="6016625" cy="645160"/>
          </a:xfrm>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zh-CN" dirty="0">
                <a:sym typeface="+mn-ea"/>
              </a:rPr>
              <a:t>第5章 循环结构程序设计</a:t>
            </a:r>
            <a:endPar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j-cs"/>
            </a:endParaRPr>
          </a:p>
        </p:txBody>
      </p:sp>
      <p:sp>
        <p:nvSpPr>
          <p:cNvPr id="3" name="标题 1"/>
          <p:cNvSpPr txBox="1">
            <a:spLocks noChangeArrowheads="1"/>
          </p:cNvSpPr>
          <p:nvPr/>
        </p:nvSpPr>
        <p:spPr bwMode="auto">
          <a:xfrm>
            <a:off x="1835150" y="623888"/>
            <a:ext cx="6813550" cy="461963"/>
          </a:xfrm>
          <a:prstGeom prst="rect">
            <a:avLst/>
          </a:prstGeom>
          <a:noFill/>
          <a:ln>
            <a:noFill/>
          </a:ln>
          <a:effectLst>
            <a:outerShdw dist="45791" dir="3378596" algn="ctr" rotWithShape="0">
              <a:schemeClr val="accent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rPr>
              <a:t>“十二五”普通高等教育本科国家级规划教材</a:t>
            </a:r>
            <a:endParaRPr kumimoji="0" lang="zh-CN" altLang="en-US"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endParaRPr>
          </a:p>
        </p:txBody>
      </p:sp>
      <p:sp>
        <p:nvSpPr>
          <p:cNvPr id="4" name="内容占位符 2"/>
          <p:cNvSpPr>
            <a:spLocks noGrp="1" noChangeArrowheads="1"/>
          </p:cNvSpPr>
          <p:nvPr>
            <p:ph idx="1"/>
          </p:nvPr>
        </p:nvSpPr>
        <p:spPr>
          <a:xfrm>
            <a:off x="3768725" y="4622800"/>
            <a:ext cx="1616075" cy="431800"/>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0" lang="zh-CN" altLang="en-US"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rPr>
              <a:t>谭浩强 著</a:t>
            </a:r>
            <a:endParaRPr kumimoji="0" lang="en-US" altLang="zh-CN"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0" lang="en-US" altLang="zh-CN"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endParaRPr>
          </a:p>
        </p:txBody>
      </p:sp>
      <p:pic>
        <p:nvPicPr>
          <p:cNvPr id="3077" name="图片 4"/>
          <p:cNvPicPr>
            <a:picLocks noChangeAspect="1"/>
          </p:cNvPicPr>
          <p:nvPr>
            <p:custDataLst>
              <p:tags r:id="rId1"/>
            </p:custDataLst>
          </p:nvPr>
        </p:nvPicPr>
        <p:blipFill>
          <a:blip r:embed="rId2"/>
          <a:stretch>
            <a:fillRect/>
          </a:stretch>
        </p:blipFill>
        <p:spPr>
          <a:xfrm>
            <a:off x="395288" y="333375"/>
            <a:ext cx="1179512" cy="1387475"/>
          </a:xfrm>
          <a:prstGeom prst="rect">
            <a:avLst/>
          </a:prstGeom>
          <a:noFill/>
          <a:ln w="9525">
            <a:noFill/>
          </a:ln>
        </p:spPr>
      </p:pic>
      <p:sp>
        <p:nvSpPr>
          <p:cNvPr id="6" name="内容占位符 2"/>
          <p:cNvSpPr txBox="1">
            <a:spLocks noChangeArrowheads="1"/>
          </p:cNvSpPr>
          <p:nvPr/>
        </p:nvSpPr>
        <p:spPr bwMode="auto">
          <a:xfrm>
            <a:off x="3663950" y="5084763"/>
            <a:ext cx="1824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20000"/>
              </a:lnSpc>
              <a:spcBef>
                <a:spcPct val="20000"/>
              </a:spcBef>
              <a:spcAft>
                <a:spcPct val="0"/>
              </a:spcAft>
              <a:buClrTx/>
              <a:buFont typeface="Wingdings" panose="05000000000000000000" pitchFamily="2" charset="2"/>
              <a:buChar char="Ø"/>
              <a:defRPr kumimoji="1"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Tx/>
              <a:buFont typeface="Wingdings" panose="05000000000000000000" pitchFamily="2" charset="2"/>
              <a:buChar char="u"/>
              <a:defRPr kumimoji="1"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Tx/>
              <a:buFont typeface="Wingdings" panose="05000000000000000000" pitchFamily="2" charset="2"/>
              <a:buChar char="l"/>
              <a:defRPr kumimoji="1"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vl6pPr marL="25146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6pPr>
            <a:lvl7pPr marL="29718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7pPr>
            <a:lvl8pPr marL="34290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8pPr>
            <a:lvl9pPr marL="38862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en-US" sz="2400" b="1" i="0" u="none" strike="noStrike" kern="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rPr>
              <a:t>韩旭明讲授</a:t>
            </a:r>
            <a:endParaRPr kumimoji="1" lang="zh-CN" altLang="en-US" sz="2400" b="1" i="0" u="none" strike="noStrike" kern="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dirty="0">
              <a:ln>
                <a:noFill/>
              </a:ln>
              <a:solidFill>
                <a:srgbClr val="235A67"/>
              </a:solidFill>
              <a:effectLst/>
              <a:uLnTx/>
              <a:uFillTx/>
              <a:latin typeface="黑体" panose="02010609060101010101" pitchFamily="2" charset="-122"/>
              <a:ea typeface="黑体" panose="02010609060101010101" pitchFamily="2" charset="-122"/>
              <a:cs typeface="+mn-cs"/>
            </a:endParaRPr>
          </a:p>
        </p:txBody>
      </p:sp>
      <p:pic>
        <p:nvPicPr>
          <p:cNvPr id="3079" name="Picture 3"/>
          <p:cNvPicPr>
            <a:picLocks noChangeAspect="1"/>
          </p:cNvPicPr>
          <p:nvPr>
            <p:custDataLst>
              <p:tags r:id="rId3"/>
            </p:custDataLst>
          </p:nvPr>
        </p:nvPicPr>
        <p:blipFill>
          <a:blip r:embed="rId4"/>
          <a:stretch>
            <a:fillRect/>
          </a:stretch>
        </p:blipFill>
        <p:spPr>
          <a:xfrm>
            <a:off x="7612063" y="4672013"/>
            <a:ext cx="1395412" cy="1322387"/>
          </a:xfrm>
          <a:prstGeom prst="rect">
            <a:avLst/>
          </a:prstGeom>
          <a:noFill/>
          <a:ln w="9525">
            <a:noFill/>
          </a:ln>
        </p:spPr>
      </p:pic>
      <p:sp>
        <p:nvSpPr>
          <p:cNvPr id="8" name="矩形 7"/>
          <p:cNvSpPr/>
          <p:nvPr>
            <p:custDataLst>
              <p:tags r:id="rId5"/>
            </p:custDataLst>
          </p:nvPr>
        </p:nvSpPr>
        <p:spPr>
          <a:xfrm>
            <a:off x="6200773" y="4643460"/>
            <a:ext cx="1396375" cy="1377828"/>
          </a:xfrm>
          <a:prstGeom prst="rect">
            <a:avLst/>
          </a:prstGeom>
          <a:gradFill flip="none" rotWithShape="1">
            <a:gsLst>
              <a:gs pos="0">
                <a:srgbClr val="5E9EFF"/>
              </a:gs>
              <a:gs pos="39999">
                <a:srgbClr val="85C2FF"/>
              </a:gs>
              <a:gs pos="70000">
                <a:srgbClr val="C4D6EB"/>
              </a:gs>
              <a:gs pos="100000">
                <a:srgbClr val="FFEBFA"/>
              </a:gs>
            </a:gsLst>
            <a:path path="shape">
              <a:fillToRect l="50000" t="50000" r="50000" b="50000"/>
            </a:path>
            <a:tileRect/>
          </a:gradFill>
          <a:ln w="31750">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lgDash"/>
          </a:ln>
        </p:spPr>
        <p:txBody>
          <a:bodyPr vert="eaVert" lIns="126000" tIns="126000" rIns="126000" bIns="12600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忠信笃敬</a:t>
            </a:r>
            <a:endParaRPr kumimoji="1" lang="en-US" altLang="zh-CN"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知行合一</a:t>
            </a:r>
            <a:endParaRPr kumimoji="1" lang="en-US" altLang="zh-CN"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自强不息</a:t>
            </a:r>
            <a:endParaRPr kumimoji="1" lang="en-US" altLang="zh-CN"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和而不同</a:t>
            </a:r>
            <a:endPar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p:txBody>
      </p:sp>
    </p:spTree>
  </p:cSld>
  <p:clrMapOvr>
    <a:masterClrMapping/>
  </p:clrMapOvr>
  <p:transition spd="med">
    <p:blinds/>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a:xfrm>
            <a:off x="571500" y="548799"/>
            <a:ext cx="8001000" cy="645160"/>
          </a:xfrm>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b="1" i="0" u="none" strike="noStrike" kern="0" cap="none" spc="0" normalizeH="0" baseline="0" dirty="0">
                <a:solidFill>
                  <a:srgbClr val="235A67"/>
                </a:solidFill>
                <a:uFillTx/>
                <a:cs typeface="+mj-cs"/>
              </a:rPr>
              <a:t>第</a:t>
            </a:r>
            <a:r>
              <a:rPr kumimoji="1" lang="zh-CN" altLang="zh-CN" b="1" i="0" u="none" strike="noStrike" kern="0" cap="none" spc="0" normalizeH="0" baseline="0" dirty="0">
                <a:solidFill>
                  <a:srgbClr val="235A67"/>
                </a:solidFill>
                <a:uFillTx/>
              </a:rPr>
              <a:t>5</a:t>
            </a:r>
            <a:r>
              <a:rPr kumimoji="1" lang="zh-CN" altLang="zh-CN" b="1" i="0" u="none" strike="noStrike" kern="0" cap="none" spc="0" normalizeH="0" baseline="0" dirty="0">
                <a:solidFill>
                  <a:srgbClr val="235A67"/>
                </a:solidFill>
                <a:uFillTx/>
                <a:cs typeface="+mj-cs"/>
              </a:rPr>
              <a:t>章 循环结构程序设计</a:t>
            </a:r>
            <a:endParaRPr kumimoji="1" lang="zh-CN" altLang="en-US" b="1" i="0" u="none" strike="noStrike" kern="0" cap="none" spc="0" normalizeH="0" baseline="0" noProof="0" dirty="0" smtClean="0">
              <a:ln>
                <a:noFill/>
              </a:ln>
              <a:solidFill>
                <a:srgbClr val="235A67"/>
              </a:solidFill>
              <a:effectLst>
                <a:outerShdw blurRad="38100" dist="38100" dir="2700000" algn="tl">
                  <a:srgbClr val="000000"/>
                </a:outerShdw>
              </a:effectLst>
              <a:uLnTx/>
              <a:uFillTx/>
              <a:cs typeface="+mj-cs"/>
            </a:endParaRPr>
          </a:p>
        </p:txBody>
      </p:sp>
      <p:sp>
        <p:nvSpPr>
          <p:cNvPr id="10243" name="Rectangle 3"/>
          <p:cNvSpPr>
            <a:spLocks noGrp="1" noChangeArrowheads="1"/>
          </p:cNvSpPr>
          <p:nvPr>
            <p:ph idx="1"/>
          </p:nvPr>
        </p:nvSpPr>
        <p:spPr>
          <a:xfrm>
            <a:off x="571500" y="1196975"/>
            <a:ext cx="5313045" cy="4786630"/>
          </a:xfrm>
        </p:spPr>
        <p:txBody>
          <a:bodyPr vert="horz" wrap="square" lIns="91440" tIns="45720" rIns="91440" bIns="45720" numCol="1" anchor="t" anchorCtr="0" compatLnSpc="1"/>
          <a:lstStyle/>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1" action="ppaction://hlinksldjump"/>
              </a:rPr>
              <a:t>5.1 </a:t>
            </a:r>
            <a:r>
              <a:rPr kumimoji="1" lang="zh-CN" altLang="zh-CN" sz="2600" i="0" spc="200" baseline="0" noProof="0" dirty="0" smtClean="0">
                <a:ln>
                  <a:noFill/>
                </a:ln>
                <a:solidFill>
                  <a:schemeClr val="tx1"/>
                </a:solidFill>
                <a:effectLst/>
                <a:uLnTx/>
                <a:uFillTx/>
                <a:cs typeface="+mn-cs"/>
                <a:hlinkClick r:id="rId1" action="ppaction://hlinksldjump"/>
              </a:rPr>
              <a:t>为什么需要循环控制</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2" action="ppaction://hlinksldjump"/>
              </a:rPr>
              <a:t>5.2 </a:t>
            </a:r>
            <a:r>
              <a:rPr kumimoji="1" lang="zh-CN" altLang="zh-CN" sz="2600" i="0" spc="200" baseline="0" noProof="0" dirty="0" smtClean="0">
                <a:ln>
                  <a:noFill/>
                </a:ln>
                <a:solidFill>
                  <a:schemeClr val="tx1"/>
                </a:solidFill>
                <a:effectLst/>
                <a:uLnTx/>
                <a:uFillTx/>
                <a:cs typeface="+mn-cs"/>
                <a:hlinkClick r:id="rId2" action="ppaction://hlinksldjump"/>
              </a:rPr>
              <a:t>用</a:t>
            </a:r>
            <a:r>
              <a:rPr kumimoji="1" lang="en-US" altLang="zh-CN" sz="2600" i="0" spc="200" baseline="0" noProof="0" dirty="0" smtClean="0">
                <a:ln>
                  <a:noFill/>
                </a:ln>
                <a:solidFill>
                  <a:schemeClr val="tx1"/>
                </a:solidFill>
                <a:effectLst/>
                <a:uLnTx/>
                <a:uFillTx/>
                <a:cs typeface="+mn-cs"/>
                <a:hlinkClick r:id="rId2" action="ppaction://hlinksldjump"/>
              </a:rPr>
              <a:t>while</a:t>
            </a:r>
            <a:r>
              <a:rPr kumimoji="1" lang="zh-CN" altLang="zh-CN" sz="2600" i="0" spc="200" baseline="0" noProof="0" dirty="0" smtClean="0">
                <a:ln>
                  <a:noFill/>
                </a:ln>
                <a:solidFill>
                  <a:schemeClr val="tx1"/>
                </a:solidFill>
                <a:effectLst/>
                <a:uLnTx/>
                <a:uFillTx/>
                <a:cs typeface="+mn-cs"/>
                <a:hlinkClick r:id="rId2" action="ppaction://hlinksldjump"/>
              </a:rPr>
              <a:t>语句实现循环</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3" action="ppaction://hlinksldjump"/>
              </a:rPr>
              <a:t>5.3 </a:t>
            </a:r>
            <a:r>
              <a:rPr kumimoji="1" lang="zh-CN" altLang="zh-CN" sz="2600" i="0" spc="200" baseline="0" noProof="0" dirty="0" smtClean="0">
                <a:ln>
                  <a:noFill/>
                </a:ln>
                <a:solidFill>
                  <a:schemeClr val="tx1"/>
                </a:solidFill>
                <a:effectLst/>
                <a:uLnTx/>
                <a:uFillTx/>
                <a:cs typeface="+mn-cs"/>
                <a:hlinkClick r:id="rId3" action="ppaction://hlinksldjump"/>
              </a:rPr>
              <a:t>用</a:t>
            </a:r>
            <a:r>
              <a:rPr kumimoji="1" lang="en-US" altLang="zh-CN" sz="2600" i="0" spc="200" baseline="0" noProof="0" dirty="0" smtClean="0">
                <a:ln>
                  <a:noFill/>
                </a:ln>
                <a:solidFill>
                  <a:schemeClr val="tx1"/>
                </a:solidFill>
                <a:effectLst/>
                <a:uLnTx/>
                <a:uFillTx/>
                <a:cs typeface="+mn-cs"/>
                <a:hlinkClick r:id="rId3" action="ppaction://hlinksldjump"/>
              </a:rPr>
              <a:t>do---while</a:t>
            </a:r>
            <a:r>
              <a:rPr kumimoji="1" lang="zh-CN" altLang="zh-CN" sz="2600" i="0" spc="200" baseline="0" noProof="0" dirty="0" smtClean="0">
                <a:ln>
                  <a:noFill/>
                </a:ln>
                <a:solidFill>
                  <a:schemeClr val="tx1"/>
                </a:solidFill>
                <a:effectLst/>
                <a:uLnTx/>
                <a:uFillTx/>
                <a:cs typeface="+mn-cs"/>
                <a:hlinkClick r:id="rId3" action="ppaction://hlinksldjump"/>
              </a:rPr>
              <a:t>语句实现循环</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4" action="ppaction://hlinksldjump"/>
              </a:rPr>
              <a:t>5.4 </a:t>
            </a:r>
            <a:r>
              <a:rPr kumimoji="1" lang="zh-CN" altLang="zh-CN" sz="2600" i="0" spc="200" baseline="0" noProof="0" dirty="0" smtClean="0">
                <a:ln>
                  <a:noFill/>
                </a:ln>
                <a:solidFill>
                  <a:schemeClr val="tx1"/>
                </a:solidFill>
                <a:effectLst/>
                <a:uLnTx/>
                <a:uFillTx/>
                <a:cs typeface="+mn-cs"/>
                <a:hlinkClick r:id="rId4" action="ppaction://hlinksldjump"/>
              </a:rPr>
              <a:t>用</a:t>
            </a:r>
            <a:r>
              <a:rPr kumimoji="1" lang="en-US" altLang="zh-CN" sz="2600" i="0" spc="200" baseline="0" noProof="0" dirty="0" smtClean="0">
                <a:ln>
                  <a:noFill/>
                </a:ln>
                <a:solidFill>
                  <a:schemeClr val="tx1"/>
                </a:solidFill>
                <a:effectLst/>
                <a:uLnTx/>
                <a:uFillTx/>
                <a:cs typeface="+mn-cs"/>
                <a:hlinkClick r:id="rId4" action="ppaction://hlinksldjump"/>
              </a:rPr>
              <a:t>for </a:t>
            </a:r>
            <a:r>
              <a:rPr kumimoji="1" lang="zh-CN" altLang="zh-CN" sz="2600" i="0" spc="200" baseline="0" noProof="0" dirty="0" smtClean="0">
                <a:ln>
                  <a:noFill/>
                </a:ln>
                <a:solidFill>
                  <a:schemeClr val="tx1"/>
                </a:solidFill>
                <a:effectLst/>
                <a:uLnTx/>
                <a:uFillTx/>
                <a:cs typeface="+mn-cs"/>
                <a:hlinkClick r:id="rId4" action="ppaction://hlinksldjump"/>
              </a:rPr>
              <a:t>语句实现循环</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5" action="ppaction://hlinksldjump"/>
              </a:rPr>
              <a:t>5.5 </a:t>
            </a:r>
            <a:r>
              <a:rPr kumimoji="1" lang="zh-CN" altLang="zh-CN" sz="2600" i="0" spc="200" baseline="0" noProof="0" dirty="0" smtClean="0">
                <a:ln>
                  <a:noFill/>
                </a:ln>
                <a:solidFill>
                  <a:schemeClr val="tx1"/>
                </a:solidFill>
                <a:effectLst/>
                <a:uLnTx/>
                <a:uFillTx/>
                <a:cs typeface="+mn-cs"/>
                <a:hlinkClick r:id="rId5" action="ppaction://hlinksldjump"/>
              </a:rPr>
              <a:t>循环的嵌套</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6" action="ppaction://hlinksldjump"/>
              </a:rPr>
              <a:t>5.6 </a:t>
            </a:r>
            <a:r>
              <a:rPr kumimoji="1" lang="zh-CN" altLang="zh-CN" sz="2600" i="0" spc="200" baseline="0" noProof="0" dirty="0" smtClean="0">
                <a:ln>
                  <a:noFill/>
                </a:ln>
                <a:solidFill>
                  <a:schemeClr val="tx1"/>
                </a:solidFill>
                <a:effectLst/>
                <a:uLnTx/>
                <a:uFillTx/>
                <a:cs typeface="+mn-cs"/>
                <a:hlinkClick r:id="rId6" action="ppaction://hlinksldjump"/>
              </a:rPr>
              <a:t>几种循环的比较</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7" action="ppaction://hlinksldjump"/>
              </a:rPr>
              <a:t>5.7 </a:t>
            </a:r>
            <a:r>
              <a:rPr kumimoji="1" lang="zh-CN" altLang="zh-CN" sz="2600" i="0" spc="200" baseline="0" noProof="0" dirty="0" smtClean="0">
                <a:ln>
                  <a:noFill/>
                </a:ln>
                <a:solidFill>
                  <a:schemeClr val="tx1"/>
                </a:solidFill>
                <a:effectLst/>
                <a:uLnTx/>
                <a:uFillTx/>
                <a:cs typeface="+mn-cs"/>
                <a:hlinkClick r:id="rId7" action="ppaction://hlinksldjump"/>
              </a:rPr>
              <a:t>改变循环执行的状态</a:t>
            </a:r>
            <a:endParaRPr kumimoji="1" lang="en-US" altLang="zh-CN" sz="2600" i="0" spc="200" baseline="0" noProof="0" dirty="0" smtClean="0">
              <a:ln>
                <a:noFill/>
              </a:ln>
              <a:solidFill>
                <a:schemeClr val="tx1"/>
              </a:solidFill>
              <a:effectLst/>
              <a:uLnTx/>
              <a:uFillTx/>
              <a:cs typeface="+mn-cs"/>
            </a:endParaRPr>
          </a:p>
          <a:p>
            <a:pPr marL="342900" marR="0" lvl="0" indent="-342900" algn="l" defTabSz="914400" rtl="0" latinLnBrk="0">
              <a:lnSpc>
                <a:spcPts val="4500"/>
              </a:lnSpc>
              <a:spcBef>
                <a:spcPts val="0"/>
              </a:spcBef>
              <a:spcAft>
                <a:spcPct val="0"/>
              </a:spcAft>
              <a:buClrTx/>
              <a:buSzTx/>
              <a:buFont typeface="Wingdings" panose="05000000000000000000" pitchFamily="2" charset="2"/>
              <a:buNone/>
              <a:defRPr/>
            </a:pPr>
            <a:r>
              <a:rPr kumimoji="1" lang="en-US" altLang="zh-CN" sz="2600" i="0" spc="200" baseline="0" noProof="0" dirty="0" smtClean="0">
                <a:ln>
                  <a:noFill/>
                </a:ln>
                <a:solidFill>
                  <a:schemeClr val="tx1"/>
                </a:solidFill>
                <a:effectLst/>
                <a:uLnTx/>
                <a:uFillTx/>
                <a:cs typeface="+mn-cs"/>
                <a:hlinkClick r:id="rId8" action="ppaction://hlinksldjump"/>
              </a:rPr>
              <a:t>5.8 </a:t>
            </a:r>
            <a:r>
              <a:rPr kumimoji="1" lang="zh-CN" altLang="zh-CN" sz="2600" i="0" spc="200" baseline="0" noProof="0" dirty="0" smtClean="0">
                <a:ln>
                  <a:noFill/>
                </a:ln>
                <a:solidFill>
                  <a:schemeClr val="tx1"/>
                </a:solidFill>
                <a:effectLst/>
                <a:uLnTx/>
                <a:uFillTx/>
                <a:cs typeface="+mn-cs"/>
                <a:hlinkClick r:id="rId8" action="ppaction://hlinksldjump"/>
              </a:rPr>
              <a:t>循环程序举例</a:t>
            </a:r>
            <a:endParaRPr kumimoji="1" lang="zh-CN" altLang="zh-CN" sz="2600" i="0" spc="200" baseline="0" noProof="0" dirty="0" smtClean="0">
              <a:ln>
                <a:noFill/>
              </a:ln>
              <a:solidFill>
                <a:schemeClr val="tx1"/>
              </a:solidFill>
              <a:effectLst/>
              <a:uLnTx/>
              <a:uFillTx/>
              <a:cs typeface="+mn-cs"/>
              <a:hlinkClick r:id="rId8" action="ppaction://hlinksldjump"/>
            </a:endParaRPr>
          </a:p>
        </p:txBody>
      </p:sp>
    </p:spTree>
  </p:cSld>
  <p:clrMapOvr>
    <a:masterClrMapping/>
  </p:clrMapOvr>
  <p:transition spd="med">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251143" y="548481"/>
            <a:ext cx="8001000" cy="645160"/>
          </a:xfrm>
        </p:spPr>
        <p:txBody>
          <a:bodyPr vert="horz" wrap="square" lIns="91440" tIns="45720" rIns="91440" bIns="45720" anchor="ctr" anchorCtr="0">
            <a:spAutoFit/>
          </a:bodyPr>
          <a:p>
            <a:pPr algn="l" eaLnBrk="1" hangingPunct="1"/>
            <a:r>
              <a:rPr lang="en-US" altLang="zh-CN" dirty="0">
                <a:solidFill>
                  <a:srgbClr val="235A67"/>
                </a:solidFill>
              </a:rPr>
              <a:t>5.1 </a:t>
            </a:r>
            <a:r>
              <a:rPr lang="zh-CN" altLang="zh-CN" dirty="0">
                <a:solidFill>
                  <a:srgbClr val="235A67"/>
                </a:solidFill>
              </a:rPr>
              <a:t>为什么需要循环控制</a:t>
            </a:r>
            <a:endParaRPr lang="zh-CN" altLang="zh-CN" dirty="0">
              <a:solidFill>
                <a:srgbClr val="235A67"/>
              </a:solidFill>
            </a:endParaRPr>
          </a:p>
        </p:txBody>
      </p:sp>
      <p:sp>
        <p:nvSpPr>
          <p:cNvPr id="11267" name="Rectangle 3"/>
          <p:cNvSpPr>
            <a:spLocks noGrp="1"/>
          </p:cNvSpPr>
          <p:nvPr>
            <p:ph idx="1"/>
          </p:nvPr>
        </p:nvSpPr>
        <p:spPr>
          <a:xfrm>
            <a:off x="251460" y="1268730"/>
            <a:ext cx="8481060" cy="3707130"/>
          </a:xfrm>
        </p:spPr>
        <p:txBody>
          <a:bodyPr vert="horz" wrap="square" lIns="91440" tIns="45720" rIns="91440" bIns="45720" anchor="t" anchorCtr="0"/>
          <a:p>
            <a:pPr eaLnBrk="1" latinLnBrk="0" hangingPunct="1">
              <a:lnSpc>
                <a:spcPts val="4000"/>
              </a:lnSpc>
              <a:spcBef>
                <a:spcPts val="0"/>
              </a:spcBef>
            </a:pPr>
            <a:r>
              <a:rPr kumimoji="1" lang="zh-CN" altLang="zh-CN" sz="2600" spc="200" dirty="0">
                <a:cs typeface="+mn-cs"/>
              </a:rPr>
              <a:t>在日常生活中或是在程序所处理的问题中常常遇到需要重复处理的问题</a:t>
            </a:r>
            <a:endParaRPr kumimoji="1" lang="en-US" altLang="zh-CN" sz="2600" spc="200" dirty="0">
              <a:cs typeface="+mn-cs"/>
            </a:endParaRPr>
          </a:p>
          <a:p>
            <a:pPr lvl="1" defTabSz="0" eaLnBrk="1" latinLnBrk="0" hangingPunct="1">
              <a:lnSpc>
                <a:spcPts val="4000"/>
              </a:lnSpc>
              <a:spcBef>
                <a:spcPts val="0"/>
              </a:spcBef>
              <a:tabLst>
                <a:tab pos="447675" algn="l"/>
              </a:tabLst>
            </a:pPr>
            <a:r>
              <a:rPr kumimoji="1" lang="zh-CN" altLang="zh-CN" sz="2500" spc="200" dirty="0"/>
              <a:t>要向计算机输入全班</a:t>
            </a:r>
            <a:r>
              <a:rPr kumimoji="1" lang="en-US" altLang="zh-CN" sz="2500" spc="200" dirty="0"/>
              <a:t>50</a:t>
            </a:r>
            <a:r>
              <a:rPr kumimoji="1" lang="zh-CN" altLang="zh-CN" sz="2500" spc="200" dirty="0"/>
              <a:t>个学生的成绩</a:t>
            </a:r>
            <a:endParaRPr kumimoji="1" lang="en-US" altLang="zh-CN" sz="2500" spc="200" dirty="0"/>
          </a:p>
          <a:p>
            <a:pPr lvl="1" defTabSz="0" eaLnBrk="1" latinLnBrk="0" hangingPunct="1">
              <a:lnSpc>
                <a:spcPts val="4000"/>
              </a:lnSpc>
              <a:spcBef>
                <a:spcPts val="0"/>
              </a:spcBef>
              <a:tabLst>
                <a:tab pos="447675" algn="l"/>
              </a:tabLst>
            </a:pPr>
            <a:r>
              <a:rPr kumimoji="1" lang="zh-CN" altLang="zh-CN" sz="2500" spc="200" dirty="0"/>
              <a:t>分别统计全班</a:t>
            </a:r>
            <a:r>
              <a:rPr kumimoji="1" lang="en-US" altLang="zh-CN" sz="2500" spc="200" dirty="0"/>
              <a:t>50</a:t>
            </a:r>
            <a:r>
              <a:rPr kumimoji="1" lang="zh-CN" altLang="zh-CN" sz="2500" spc="200" dirty="0"/>
              <a:t>个学生的平均成绩</a:t>
            </a:r>
            <a:endParaRPr kumimoji="1" lang="en-US" altLang="zh-CN" sz="2500" spc="200" dirty="0"/>
          </a:p>
          <a:p>
            <a:pPr lvl="1" defTabSz="0" eaLnBrk="1" latinLnBrk="0" hangingPunct="1">
              <a:lnSpc>
                <a:spcPts val="4000"/>
              </a:lnSpc>
              <a:spcBef>
                <a:spcPts val="0"/>
              </a:spcBef>
              <a:tabLst>
                <a:tab pos="447675" algn="l"/>
              </a:tabLst>
            </a:pPr>
            <a:r>
              <a:rPr kumimoji="1" lang="zh-CN" altLang="zh-CN" sz="2500" spc="200" dirty="0"/>
              <a:t>求</a:t>
            </a:r>
            <a:r>
              <a:rPr kumimoji="1" lang="en-US" altLang="zh-CN" sz="2500" spc="200" dirty="0"/>
              <a:t>30</a:t>
            </a:r>
            <a:r>
              <a:rPr kumimoji="1" lang="zh-CN" altLang="zh-CN" sz="2500" spc="200" dirty="0"/>
              <a:t>个整数之和</a:t>
            </a:r>
            <a:endParaRPr kumimoji="1" lang="en-US" altLang="zh-CN" sz="2500" spc="200" noProof="0" dirty="0">
              <a:solidFill>
                <a:srgbClr val="C00000"/>
              </a:solidFill>
              <a:cs typeface="+mn-cs"/>
            </a:endParaRPr>
          </a:p>
          <a:p>
            <a:pPr lvl="1" defTabSz="0" eaLnBrk="1" latinLnBrk="0" hangingPunct="1">
              <a:lnSpc>
                <a:spcPts val="4000"/>
              </a:lnSpc>
              <a:spcBef>
                <a:spcPts val="0"/>
              </a:spcBef>
              <a:tabLst>
                <a:tab pos="447675" algn="l"/>
              </a:tabLst>
            </a:pPr>
            <a:r>
              <a:rPr kumimoji="1" lang="zh-CN" altLang="zh-CN" sz="2500" spc="200" dirty="0"/>
              <a:t>教师检查</a:t>
            </a:r>
            <a:r>
              <a:rPr kumimoji="1" lang="en-US" altLang="zh-CN" sz="2500" spc="200" dirty="0"/>
              <a:t>30</a:t>
            </a:r>
            <a:r>
              <a:rPr kumimoji="1" lang="zh-CN" altLang="zh-CN" sz="2500" spc="200" dirty="0"/>
              <a:t>个学生的成绩是否及格</a:t>
            </a:r>
            <a:endParaRPr kumimoji="1" lang="zh-CN" altLang="zh-CN" sz="2500" spc="200" dirty="0"/>
          </a:p>
        </p:txBody>
      </p:sp>
      <p:pic>
        <p:nvPicPr>
          <p:cNvPr id="5124" name="图片 3"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charRg st="32" end="50"/>
                                            </p:txEl>
                                          </p:spTgt>
                                        </p:tgtEl>
                                        <p:attrNameLst>
                                          <p:attrName>style.visibility</p:attrName>
                                        </p:attrNameLst>
                                      </p:cBhvr>
                                      <p:to>
                                        <p:strVal val="visible"/>
                                      </p:to>
                                    </p:set>
                                    <p:animEffect transition="in" filter="blinds(horizontal)">
                                      <p:cBhvr>
                                        <p:cTn id="7" dur="500"/>
                                        <p:tgtEl>
                                          <p:spTgt spid="11267">
                                            <p:txEl>
                                              <p:charRg st="32" end="5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267">
                                            <p:txEl>
                                              <p:charRg st="50" end="67"/>
                                            </p:txEl>
                                          </p:spTgt>
                                        </p:tgtEl>
                                        <p:attrNameLst>
                                          <p:attrName>style.visibility</p:attrName>
                                        </p:attrNameLst>
                                      </p:cBhvr>
                                      <p:to>
                                        <p:strVal val="visible"/>
                                      </p:to>
                                    </p:set>
                                    <p:animEffect transition="in" filter="blinds(horizontal)">
                                      <p:cBhvr>
                                        <p:cTn id="10" dur="500"/>
                                        <p:tgtEl>
                                          <p:spTgt spid="11267">
                                            <p:txEl>
                                              <p:charRg st="50" end="6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267">
                                            <p:txEl>
                                              <p:charRg st="67" end="76"/>
                                            </p:txEl>
                                          </p:spTgt>
                                        </p:tgtEl>
                                        <p:attrNameLst>
                                          <p:attrName>style.visibility</p:attrName>
                                        </p:attrNameLst>
                                      </p:cBhvr>
                                      <p:to>
                                        <p:strVal val="visible"/>
                                      </p:to>
                                    </p:set>
                                    <p:animEffect transition="in" filter="blinds(horizontal)">
                                      <p:cBhvr>
                                        <p:cTn id="13" dur="500"/>
                                        <p:tgtEl>
                                          <p:spTgt spid="11267">
                                            <p:txEl>
                                              <p:charRg st="67" end="7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1267">
                                            <p:txEl>
                                              <p:charRg st="76" end="93"/>
                                            </p:txEl>
                                          </p:spTgt>
                                        </p:tgtEl>
                                        <p:attrNameLst>
                                          <p:attrName>style.visibility</p:attrName>
                                        </p:attrNameLst>
                                      </p:cBhvr>
                                      <p:to>
                                        <p:strVal val="visible"/>
                                      </p:to>
                                    </p:set>
                                    <p:animEffect transition="in" filter="blinds(horizontal)">
                                      <p:cBhvr>
                                        <p:cTn id="16" dur="500"/>
                                        <p:tgtEl>
                                          <p:spTgt spid="11267">
                                            <p:txEl>
                                              <p:charRg st="76" end="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243840" y="1118235"/>
            <a:ext cx="7904480" cy="696595"/>
          </a:xfrm>
          <a:prstGeom prst="rect">
            <a:avLst/>
          </a:prstGeom>
          <a:noFill/>
          <a:ln w="9525">
            <a:noFill/>
            <a:miter lim="800000"/>
          </a:ln>
        </p:spPr>
        <p:txBody>
          <a:bodyPr/>
          <a:lstStyle/>
          <a:p>
            <a:pPr marL="342900" marR="0" indent="-342900" defTabSz="914400">
              <a:lnSpc>
                <a:spcPts val="4000"/>
              </a:lnSpc>
              <a:spcBef>
                <a:spcPts val="0"/>
              </a:spcBef>
              <a:buClrTx/>
              <a:buSzTx/>
              <a:buFont typeface="Wingdings" panose="05000000000000000000" pitchFamily="2" charset="2"/>
              <a:buChar char="Ø"/>
              <a:defRPr/>
            </a:pPr>
            <a:r>
              <a:rPr kumimoji="1" lang="zh-CN" altLang="en-US" sz="2300" kern="0" cap="none" spc="0" normalizeH="0" baseline="0" noProof="0" dirty="0">
                <a:solidFill>
                  <a:srgbClr val="0000CC"/>
                </a:solidFill>
                <a:latin typeface="Times New Roman" panose="02020603050405020304" pitchFamily="18" charset="0"/>
                <a:ea typeface="微软雅黑" panose="020B0503020204020204" pitchFamily="34" charset="-122"/>
                <a:cs typeface="+mn-cs"/>
              </a:rPr>
              <a:t>例如</a:t>
            </a:r>
            <a:r>
              <a:rPr kumimoji="1" lang="zh-CN" altLang="en-US" sz="2300" kern="0" cap="none" spc="0" normalizeH="0" baseline="0" noProof="0" dirty="0">
                <a:latin typeface="Times New Roman" panose="02020603050405020304" pitchFamily="18" charset="0"/>
                <a:ea typeface="微软雅黑" panose="020B0503020204020204" pitchFamily="34" charset="-122"/>
                <a:cs typeface="+mn-cs"/>
              </a:rPr>
              <a:t>：全班有</a:t>
            </a:r>
            <a:r>
              <a:rPr kumimoji="1" lang="en-US" altLang="zh-CN" sz="2300" kern="0" cap="none" spc="0" normalizeH="0" baseline="0" noProof="0" dirty="0">
                <a:highlight>
                  <a:srgbClr val="FFFF00"/>
                </a:highlight>
                <a:latin typeface="Times New Roman" panose="02020603050405020304" pitchFamily="18" charset="0"/>
                <a:ea typeface="微软雅黑" panose="020B0503020204020204" pitchFamily="34" charset="-122"/>
                <a:cs typeface="+mn-cs"/>
              </a:rPr>
              <a:t>50</a:t>
            </a:r>
            <a:r>
              <a:rPr kumimoji="1" lang="zh-CN" altLang="zh-CN" sz="2300" kern="0" cap="none" spc="0" normalizeH="0" baseline="0" noProof="0" dirty="0">
                <a:latin typeface="Times New Roman" panose="02020603050405020304" pitchFamily="18" charset="0"/>
                <a:ea typeface="微软雅黑" panose="020B0503020204020204" pitchFamily="34" charset="-122"/>
                <a:cs typeface="+mn-cs"/>
              </a:rPr>
              <a:t>个学生</a:t>
            </a:r>
            <a:r>
              <a:rPr kumimoji="1" lang="zh-CN" altLang="en-US" sz="2300" kern="0" cap="none" spc="0" normalizeH="0" baseline="0" noProof="0" dirty="0">
                <a:latin typeface="Times New Roman" panose="02020603050405020304" pitchFamily="18" charset="0"/>
                <a:ea typeface="微软雅黑" panose="020B0503020204020204" pitchFamily="34" charset="-122"/>
                <a:cs typeface="+mn-cs"/>
              </a:rPr>
              <a:t>，统计各学生三门课</a:t>
            </a:r>
            <a:r>
              <a:rPr kumimoji="1" lang="zh-CN" altLang="zh-CN" sz="2300" kern="0" cap="none" spc="0" normalizeH="0" baseline="0" noProof="0" dirty="0">
                <a:latin typeface="Times New Roman" panose="02020603050405020304" pitchFamily="18" charset="0"/>
                <a:ea typeface="微软雅黑" panose="020B0503020204020204" pitchFamily="34" charset="-122"/>
                <a:cs typeface="+mn-cs"/>
              </a:rPr>
              <a:t>的平均成绩</a:t>
            </a:r>
            <a:r>
              <a:rPr kumimoji="1" lang="zh-CN" altLang="en-US" sz="2300" kern="0" cap="none" spc="0" normalizeH="0" baseline="0" noProof="0" dirty="0">
                <a:latin typeface="Times New Roman" panose="02020603050405020304" pitchFamily="18" charset="0"/>
                <a:ea typeface="微软雅黑" panose="020B0503020204020204" pitchFamily="34" charset="-122"/>
                <a:cs typeface="+mn-cs"/>
              </a:rPr>
              <a:t>。</a:t>
            </a:r>
            <a:endParaRPr kumimoji="1" lang="zh-CN" altLang="en-US" sz="2300" kern="0" cap="none" spc="0" normalizeH="0" baseline="0" noProof="0" dirty="0">
              <a:latin typeface="Times New Roman" panose="02020603050405020304" pitchFamily="18" charset="0"/>
              <a:ea typeface="微软雅黑" panose="020B0503020204020204" pitchFamily="34" charset="-122"/>
              <a:cs typeface="+mn-cs"/>
            </a:endParaRPr>
          </a:p>
        </p:txBody>
      </p:sp>
      <p:pic>
        <p:nvPicPr>
          <p:cNvPr id="6148"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r>
              <a:rPr lang="en-US" altLang="zh-CN" dirty="0">
                <a:solidFill>
                  <a:srgbClr val="235A67"/>
                </a:solidFill>
              </a:rPr>
              <a:t>5.1 </a:t>
            </a:r>
            <a:r>
              <a:rPr lang="zh-CN" altLang="zh-CN" dirty="0">
                <a:solidFill>
                  <a:srgbClr val="235A67"/>
                </a:solidFill>
              </a:rPr>
              <a:t>为什么需要循环控制</a:t>
            </a:r>
            <a:endParaRPr lang="zh-CN" altLang="zh-CN" dirty="0">
              <a:solidFill>
                <a:srgbClr val="235A67"/>
              </a:solidFill>
            </a:endParaRPr>
          </a:p>
        </p:txBody>
      </p:sp>
      <p:sp>
        <p:nvSpPr>
          <p:cNvPr id="11267" name="Rectangle 3"/>
          <p:cNvSpPr>
            <a:spLocks noGrp="1"/>
          </p:cNvSpPr>
          <p:nvPr>
            <p:ph idx="1"/>
            <p:custDataLst>
              <p:tags r:id="rId4"/>
            </p:custDataLst>
          </p:nvPr>
        </p:nvSpPr>
        <p:spPr>
          <a:xfrm>
            <a:off x="1043305" y="2326640"/>
            <a:ext cx="5398135" cy="1857375"/>
          </a:xfrm>
        </p:spPr>
        <p:txBody>
          <a:bodyPr vert="horz" wrap="square" lIns="91440" tIns="45720" rIns="91440" bIns="45720" anchor="t" anchorCtr="0"/>
          <a:p>
            <a:pPr lvl="1">
              <a:buFont typeface="Wingdings" panose="05000000000000000000" pitchFamily="2" charset="2"/>
              <a:buNone/>
            </a:pPr>
            <a:r>
              <a:rPr kumimoji="1" lang="en-US" altLang="zh-CN" sz="2600" dirty="0"/>
              <a:t>scanf(“%f,%f,%f”,&amp;s1,&amp;s2,&amp;s3);</a:t>
            </a:r>
            <a:endParaRPr kumimoji="1" lang="zh-CN" altLang="zh-CN" sz="2600" dirty="0"/>
          </a:p>
          <a:p>
            <a:pPr lvl="1">
              <a:buFont typeface="Wingdings" panose="05000000000000000000" pitchFamily="2" charset="2"/>
              <a:buNone/>
            </a:pPr>
            <a:r>
              <a:rPr kumimoji="1" lang="en-US" altLang="zh-CN" sz="2600" dirty="0"/>
              <a:t>aver=(s1+s2+s3)/3;</a:t>
            </a:r>
            <a:endParaRPr kumimoji="1" lang="zh-CN" altLang="zh-CN" sz="2600" dirty="0"/>
          </a:p>
          <a:p>
            <a:pPr lvl="1">
              <a:buFont typeface="Wingdings" panose="05000000000000000000" pitchFamily="2" charset="2"/>
              <a:buNone/>
            </a:pPr>
            <a:r>
              <a:rPr kumimoji="1" lang="en-US" altLang="zh-CN" sz="2600" dirty="0"/>
              <a:t>printf(“aver=%7.2f”,aver); </a:t>
            </a:r>
            <a:endParaRPr kumimoji="1" lang="zh-CN" altLang="en-US" sz="2600" dirty="0"/>
          </a:p>
        </p:txBody>
      </p:sp>
      <p:sp>
        <p:nvSpPr>
          <p:cNvPr id="5" name="Rectangle 3"/>
          <p:cNvSpPr txBox="1">
            <a:spLocks noChangeArrowheads="1"/>
          </p:cNvSpPr>
          <p:nvPr>
            <p:custDataLst>
              <p:tags r:id="rId5"/>
            </p:custDataLst>
          </p:nvPr>
        </p:nvSpPr>
        <p:spPr bwMode="auto">
          <a:xfrm>
            <a:off x="1475740" y="1772603"/>
            <a:ext cx="7929563" cy="642938"/>
          </a:xfrm>
          <a:prstGeom prst="rect">
            <a:avLst/>
          </a:prstGeom>
          <a:noFill/>
          <a:ln w="9525">
            <a:noFill/>
            <a:miter lim="800000"/>
          </a:ln>
        </p:spPr>
        <p:txBody>
          <a:bodyPr/>
          <a:lstStyle/>
          <a:p>
            <a:pPr marL="285750" marR="0" indent="-285750" defTabSz="914400">
              <a:lnSpc>
                <a:spcPct val="120000"/>
              </a:lnSpc>
              <a:spcBef>
                <a:spcPct val="20000"/>
              </a:spcBef>
              <a:buClrTx/>
              <a:buSzTx/>
              <a:buFontTx/>
              <a:buNone/>
              <a:defRPr/>
            </a:pP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输入学生</a:t>
            </a:r>
            <a:r>
              <a:rPr kumimoji="1" lang="en-US" altLang="zh-CN" sz="24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1</a:t>
            </a: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的三门课成绩，并计算平均值后输出</a:t>
            </a:r>
            <a:endParaRPr kumimoji="1" lang="zh-CN" altLang="en-US" sz="2400" kern="0" cap="none" spc="0" normalizeH="0" baseline="0" noProof="0" dirty="0">
              <a:latin typeface="Times New Roman" panose="02020603050405020304" pitchFamily="18" charset="0"/>
              <a:ea typeface="微软雅黑" panose="020B0503020204020204" pitchFamily="34" charset="-122"/>
              <a:cs typeface="+mn-cs"/>
            </a:endParaRPr>
          </a:p>
        </p:txBody>
      </p:sp>
      <p:sp>
        <p:nvSpPr>
          <p:cNvPr id="7" name="Rectangle 3"/>
          <p:cNvSpPr txBox="1">
            <a:spLocks noChangeArrowheads="1"/>
          </p:cNvSpPr>
          <p:nvPr>
            <p:custDataLst>
              <p:tags r:id="rId6"/>
            </p:custDataLst>
          </p:nvPr>
        </p:nvSpPr>
        <p:spPr bwMode="auto">
          <a:xfrm>
            <a:off x="1475423" y="4652963"/>
            <a:ext cx="7500938" cy="1857375"/>
          </a:xfrm>
          <a:prstGeom prst="rect">
            <a:avLst/>
          </a:prstGeom>
          <a:noFill/>
          <a:ln w="9525">
            <a:noFill/>
            <a:miter lim="800000"/>
          </a:ln>
        </p:spPr>
        <p:txBody>
          <a:bodyPr/>
          <a:lstStyle/>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600" i="0" u="none" strike="noStrike" kern="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mn-cs"/>
              </a:rPr>
              <a:t>scanf</a:t>
            </a:r>
            <a:r>
              <a:rPr kumimoji="1" lang="en-US" altLang="zh-CN" sz="260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(“%f,%f,%f”,&amp;s1,&amp;s2,&amp;s3);</a:t>
            </a:r>
            <a:endParaRPr kumimoji="1" lang="zh-CN" altLang="zh-CN" sz="260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60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aver=(s1+s2+s3)/3;</a:t>
            </a:r>
            <a:endParaRPr kumimoji="1" lang="zh-CN" altLang="zh-CN" sz="260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600" i="0" u="none" strike="noStrike" kern="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mn-cs"/>
              </a:rPr>
              <a:t>printf</a:t>
            </a:r>
            <a:r>
              <a:rPr kumimoji="1" lang="en-US" altLang="zh-CN" sz="260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(“aver=%7.2f”,aver); </a:t>
            </a:r>
            <a:endParaRPr kumimoji="1" lang="zh-CN" altLang="en-US" sz="260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8" name="Rectangle 3"/>
          <p:cNvSpPr txBox="1">
            <a:spLocks noChangeArrowheads="1"/>
          </p:cNvSpPr>
          <p:nvPr>
            <p:custDataLst>
              <p:tags r:id="rId7"/>
            </p:custDataLst>
          </p:nvPr>
        </p:nvSpPr>
        <p:spPr bwMode="auto">
          <a:xfrm>
            <a:off x="1475740" y="4009708"/>
            <a:ext cx="7929563" cy="642938"/>
          </a:xfrm>
          <a:prstGeom prst="rect">
            <a:avLst/>
          </a:prstGeom>
          <a:noFill/>
          <a:ln w="9525">
            <a:noFill/>
            <a:miter lim="800000"/>
          </a:ln>
        </p:spPr>
        <p:txBody>
          <a:bodyPr/>
          <a:lstStyle/>
          <a:p>
            <a:pPr marL="285750" marR="0" indent="-285750" defTabSz="914400">
              <a:lnSpc>
                <a:spcPct val="120000"/>
              </a:lnSpc>
              <a:spcBef>
                <a:spcPct val="20000"/>
              </a:spcBef>
              <a:buClrTx/>
              <a:buSzTx/>
              <a:buFontTx/>
              <a:buNone/>
              <a:defRPr/>
            </a:pP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输入学生</a:t>
            </a:r>
            <a:r>
              <a:rPr kumimoji="1" lang="en-US" altLang="zh-CN" sz="24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2</a:t>
            </a: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的三门课成绩，并计算平均值后输出</a:t>
            </a:r>
            <a:endParaRPr kumimoji="1" lang="zh-CN" altLang="en-US" sz="2400" kern="0" cap="none" spc="0" normalizeH="0" baseline="0" noProof="0" dirty="0">
              <a:latin typeface="Times New Roman" panose="02020603050405020304" pitchFamily="18" charset="0"/>
              <a:ea typeface="微软雅黑" panose="020B0503020204020204" pitchFamily="34" charset="-122"/>
              <a:cs typeface="+mn-cs"/>
            </a:endParaRPr>
          </a:p>
        </p:txBody>
      </p:sp>
      <p:sp>
        <p:nvSpPr>
          <p:cNvPr id="9" name="Rectangle 3"/>
          <p:cNvSpPr txBox="1">
            <a:spLocks noChangeArrowheads="1"/>
          </p:cNvSpPr>
          <p:nvPr/>
        </p:nvSpPr>
        <p:spPr bwMode="auto">
          <a:xfrm>
            <a:off x="223520" y="4437380"/>
            <a:ext cx="1252855" cy="1997710"/>
          </a:xfrm>
          <a:prstGeom prst="rect">
            <a:avLst/>
          </a:prstGeom>
          <a:noFill/>
          <a:ln w="9525">
            <a:noFill/>
            <a:miter lim="800000"/>
          </a:ln>
        </p:spPr>
        <p:txBody>
          <a:bodyPr/>
          <a:lstStyle/>
          <a:p>
            <a:pPr marL="285750" marR="0" indent="-285750" defTabSz="914400">
              <a:lnSpc>
                <a:spcPct val="120000"/>
              </a:lnSpc>
              <a:spcBef>
                <a:spcPct val="20000"/>
              </a:spcBef>
              <a:buClrTx/>
              <a:buSzTx/>
              <a:buFontTx/>
              <a:buNone/>
              <a:defRPr/>
            </a:pPr>
            <a:r>
              <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rPr>
              <a:t>要对</a:t>
            </a:r>
            <a:r>
              <a:rPr kumimoji="1" lang="en-US" altLang="zh-CN"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rPr>
              <a:t>50</a:t>
            </a:r>
            <a:endParaRPr kumimoji="1" lang="en-US" altLang="zh-CN"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endParaRPr>
          </a:p>
          <a:p>
            <a:pPr marL="285750" marR="0" indent="-285750" defTabSz="914400">
              <a:lnSpc>
                <a:spcPct val="120000"/>
              </a:lnSpc>
              <a:spcBef>
                <a:spcPct val="20000"/>
              </a:spcBef>
              <a:buClrTx/>
              <a:buSzTx/>
              <a:buFontTx/>
              <a:buNone/>
              <a:defRPr/>
            </a:pPr>
            <a:r>
              <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rPr>
              <a:t>个学生</a:t>
            </a:r>
            <a:endPar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endParaRPr>
          </a:p>
          <a:p>
            <a:pPr marL="285750" marR="0" indent="-285750" defTabSz="914400">
              <a:lnSpc>
                <a:spcPct val="120000"/>
              </a:lnSpc>
              <a:spcBef>
                <a:spcPct val="20000"/>
              </a:spcBef>
              <a:buClrTx/>
              <a:buSzTx/>
              <a:buFontTx/>
              <a:buNone/>
              <a:defRPr/>
            </a:pPr>
            <a:r>
              <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rPr>
              <a:t>进行相</a:t>
            </a:r>
            <a:endPar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endParaRPr>
          </a:p>
          <a:p>
            <a:pPr marL="285750" marR="0" indent="-285750" defTabSz="914400">
              <a:lnSpc>
                <a:spcPct val="120000"/>
              </a:lnSpc>
              <a:spcBef>
                <a:spcPct val="20000"/>
              </a:spcBef>
              <a:buClrTx/>
              <a:buSzTx/>
              <a:buFontTx/>
              <a:buNone/>
              <a:defRPr/>
            </a:pPr>
            <a:r>
              <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rPr>
              <a:t>同操作</a:t>
            </a:r>
            <a:endParaRPr kumimoji="1" lang="zh-CN" altLang="en-US" sz="2400" kern="0" cap="none" spc="0" normalizeH="0" baseline="0" noProof="0" dirty="0">
              <a:solidFill>
                <a:schemeClr val="tx1"/>
              </a:solidFill>
              <a:highlight>
                <a:srgbClr val="FFFF00"/>
              </a:highlight>
              <a:latin typeface="Times New Roman" panose="02020603050405020304" pitchFamily="18" charset="0"/>
              <a:ea typeface="微软雅黑" panose="020B0503020204020204" pitchFamily="34" charset="-122"/>
              <a:cs typeface="+mn-cs"/>
            </a:endParaRPr>
          </a:p>
        </p:txBody>
      </p:sp>
      <p:sp>
        <p:nvSpPr>
          <p:cNvPr id="10" name="TextBox 9"/>
          <p:cNvSpPr txBox="1"/>
          <p:nvPr>
            <p:custDataLst>
              <p:tags r:id="rId8"/>
            </p:custDataLst>
          </p:nvPr>
        </p:nvSpPr>
        <p:spPr>
          <a:xfrm>
            <a:off x="7092315" y="4725035"/>
            <a:ext cx="718185" cy="1691640"/>
          </a:xfrm>
          <a:prstGeom prst="rect">
            <a:avLst/>
          </a:prstGeom>
          <a:no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1" indent="0" eaLnBrk="1" hangingPunct="1">
              <a:lnSpc>
                <a:spcPct val="100000"/>
              </a:lnSpc>
              <a:spcBef>
                <a:spcPct val="0"/>
              </a:spcBef>
              <a:buFontTx/>
              <a:buNone/>
            </a:pPr>
            <a:r>
              <a:rPr lang="en-US" altLang="zh-CN" sz="2600" kern="0" noProof="0" dirty="0">
                <a:solidFill>
                  <a:srgbClr val="C00000"/>
                </a:solidFill>
                <a:latin typeface="Times New Roman" panose="02020603050405020304" pitchFamily="18" charset="0"/>
                <a:ea typeface="微软雅黑" panose="020B0503020204020204" pitchFamily="34" charset="-122"/>
              </a:rPr>
              <a:t>重复50次</a:t>
            </a:r>
            <a:endParaRPr lang="en-US" altLang="zh-CN" sz="2600" kern="0" noProof="0" dirty="0">
              <a:solidFill>
                <a:srgbClr val="C00000"/>
              </a:solidFill>
              <a:latin typeface="Times New Roman" panose="02020603050405020304" pitchFamily="18" charset="0"/>
              <a:ea typeface="微软雅黑" panose="020B0503020204020204" pitchFamily="34" charset="-122"/>
            </a:endParaRPr>
          </a:p>
        </p:txBody>
      </p:sp>
      <p:sp>
        <p:nvSpPr>
          <p:cNvPr id="11" name="矩形 10"/>
          <p:cNvSpPr/>
          <p:nvPr>
            <p:custDataLst>
              <p:tags r:id="rId9"/>
            </p:custDataLst>
          </p:nvPr>
        </p:nvSpPr>
        <p:spPr>
          <a:xfrm>
            <a:off x="1520190" y="4664710"/>
            <a:ext cx="6300470" cy="185737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xEl>
                                              <p:charRg st="0" end="22"/>
                                            </p:txEl>
                                          </p:spTgt>
                                        </p:tgtEl>
                                        <p:attrNameLst>
                                          <p:attrName>style.visibility</p:attrName>
                                        </p:attrNameLst>
                                      </p:cBhvr>
                                      <p:to>
                                        <p:strVal val="visible"/>
                                      </p:to>
                                    </p:set>
                                    <p:animEffect transition="in" filter="blinds(horizontal)">
                                      <p:cBhvr>
                                        <p:cTn id="11" dur="500"/>
                                        <p:tgtEl>
                                          <p:spTgt spid="5">
                                            <p:txEl>
                                              <p:charRg st="0" end="2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267">
                                            <p:txEl>
                                              <p:charRg st="0" end="31"/>
                                            </p:txEl>
                                          </p:spTgt>
                                        </p:tgtEl>
                                        <p:attrNameLst>
                                          <p:attrName>style.visibility</p:attrName>
                                        </p:attrNameLst>
                                      </p:cBhvr>
                                      <p:to>
                                        <p:strVal val="visible"/>
                                      </p:to>
                                    </p:set>
                                    <p:animEffect transition="in" filter="blinds(horizontal)">
                                      <p:cBhvr>
                                        <p:cTn id="16" dur="500"/>
                                        <p:tgtEl>
                                          <p:spTgt spid="11267">
                                            <p:txEl>
                                              <p:charRg st="0" end="31"/>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267">
                                            <p:txEl>
                                              <p:charRg st="31" end="50"/>
                                            </p:txEl>
                                          </p:spTgt>
                                        </p:tgtEl>
                                        <p:attrNameLst>
                                          <p:attrName>style.visibility</p:attrName>
                                        </p:attrNameLst>
                                      </p:cBhvr>
                                      <p:to>
                                        <p:strVal val="visible"/>
                                      </p:to>
                                    </p:set>
                                    <p:animEffect transition="in" filter="blinds(horizontal)">
                                      <p:cBhvr>
                                        <p:cTn id="19" dur="500"/>
                                        <p:tgtEl>
                                          <p:spTgt spid="11267">
                                            <p:txEl>
                                              <p:charRg st="31" end="50"/>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267">
                                            <p:txEl>
                                              <p:charRg st="50" end="78"/>
                                            </p:txEl>
                                          </p:spTgt>
                                        </p:tgtEl>
                                        <p:attrNameLst>
                                          <p:attrName>style.visibility</p:attrName>
                                        </p:attrNameLst>
                                      </p:cBhvr>
                                      <p:to>
                                        <p:strVal val="visible"/>
                                      </p:to>
                                    </p:set>
                                    <p:animEffect transition="in" filter="blinds(horizontal)">
                                      <p:cBhvr>
                                        <p:cTn id="22" dur="500"/>
                                        <p:tgtEl>
                                          <p:spTgt spid="11267">
                                            <p:txEl>
                                              <p:charRg st="50"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charRg st="0" end="22"/>
                                            </p:txEl>
                                          </p:spTgt>
                                        </p:tgtEl>
                                        <p:attrNameLst>
                                          <p:attrName>style.visibility</p:attrName>
                                        </p:attrNameLst>
                                      </p:cBhvr>
                                      <p:to>
                                        <p:strVal val="visible"/>
                                      </p:to>
                                    </p:set>
                                    <p:animEffect transition="in" filter="blinds(horizontal)">
                                      <p:cBhvr>
                                        <p:cTn id="27" dur="500"/>
                                        <p:tgtEl>
                                          <p:spTgt spid="8">
                                            <p:txEl>
                                              <p:charRg st="0" end="2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charRg st="0" end="31"/>
                                            </p:txEl>
                                          </p:spTgt>
                                        </p:tgtEl>
                                        <p:attrNameLst>
                                          <p:attrName>style.visibility</p:attrName>
                                        </p:attrNameLst>
                                      </p:cBhvr>
                                      <p:to>
                                        <p:strVal val="visible"/>
                                      </p:to>
                                    </p:set>
                                    <p:animEffect transition="in" filter="blinds(horizontal)">
                                      <p:cBhvr>
                                        <p:cTn id="32" dur="500"/>
                                        <p:tgtEl>
                                          <p:spTgt spid="7">
                                            <p:txEl>
                                              <p:charRg st="0" end="31"/>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7">
                                            <p:txEl>
                                              <p:charRg st="31" end="50"/>
                                            </p:txEl>
                                          </p:spTgt>
                                        </p:tgtEl>
                                        <p:attrNameLst>
                                          <p:attrName>style.visibility</p:attrName>
                                        </p:attrNameLst>
                                      </p:cBhvr>
                                      <p:to>
                                        <p:strVal val="visible"/>
                                      </p:to>
                                    </p:set>
                                    <p:animEffect transition="in" filter="blinds(horizontal)">
                                      <p:cBhvr>
                                        <p:cTn id="35" dur="500"/>
                                        <p:tgtEl>
                                          <p:spTgt spid="7">
                                            <p:txEl>
                                              <p:charRg st="31" end="50"/>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7">
                                            <p:txEl>
                                              <p:charRg st="50" end="78"/>
                                            </p:txEl>
                                          </p:spTgt>
                                        </p:tgtEl>
                                        <p:attrNameLst>
                                          <p:attrName>style.visibility</p:attrName>
                                        </p:attrNameLst>
                                      </p:cBhvr>
                                      <p:to>
                                        <p:strVal val="visible"/>
                                      </p:to>
                                    </p:set>
                                    <p:animEffect transition="in" filter="blinds(horizontal)">
                                      <p:cBhvr>
                                        <p:cTn id="38" dur="500"/>
                                        <p:tgtEl>
                                          <p:spTgt spid="7">
                                            <p:txEl>
                                              <p:charRg st="50" end="7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linds(horizontal)">
                                      <p:cBhvr>
                                        <p:cTn id="43" dur="500"/>
                                        <p:tgtEl>
                                          <p:spTgt spid="11"/>
                                        </p:tgtEl>
                                      </p:cBhvr>
                                    </p:animEffect>
                                  </p:childTnLst>
                                </p:cTn>
                              </p:par>
                            </p:childTnLst>
                          </p:cTn>
                        </p:par>
                        <p:par>
                          <p:cTn id="44" fill="hold">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linds(horizontal)">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267" grpId="0" build="p"/>
      <p:bldP spid="7" grpId="0" build="p"/>
      <p:bldP spid="10" grpId="0"/>
      <p:bldP spid="11" grpId="0" bldLvl="0" animBg="1"/>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179705" y="621030"/>
            <a:ext cx="8722360" cy="1840230"/>
          </a:xfrm>
          <a:prstGeom prst="rect">
            <a:avLst/>
          </a:prstGeom>
          <a:noFill/>
          <a:ln w="9525">
            <a:noFill/>
            <a:miter lim="800000"/>
          </a:ln>
        </p:spPr>
        <p:txBody>
          <a:bodyPr/>
          <a:lstStyle/>
          <a:p>
            <a:pPr marL="342900" marR="0" indent="-342900" defTabSz="914400">
              <a:lnSpc>
                <a:spcPts val="4500"/>
              </a:lnSpc>
              <a:spcBef>
                <a:spcPts val="0"/>
              </a:spcBef>
              <a:buClrTx/>
              <a:buSzTx/>
              <a:buFont typeface="Wingdings" panose="05000000000000000000" pitchFamily="2" charset="2"/>
              <a:buChar char="Ø"/>
              <a:defRPr/>
            </a:pPr>
            <a:r>
              <a:rPr kumimoji="1" lang="zh-CN" altLang="zh-CN" sz="2500" kern="0" spc="200" baseline="0" noProof="0" dirty="0">
                <a:latin typeface="Times New Roman" panose="02020603050405020304" pitchFamily="18" charset="0"/>
                <a:ea typeface="微软雅黑" panose="020B0503020204020204" pitchFamily="34" charset="-122"/>
                <a:cs typeface="+mn-cs"/>
              </a:rPr>
              <a:t>大多数的应用程序都会包含循环结构</a:t>
            </a:r>
            <a:endParaRPr kumimoji="1" lang="en-US" altLang="zh-CN" sz="2500" kern="0" spc="20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ts val="4500"/>
              </a:lnSpc>
              <a:spcBef>
                <a:spcPts val="0"/>
              </a:spcBef>
              <a:buClrTx/>
              <a:buSzTx/>
              <a:buFont typeface="Wingdings" panose="05000000000000000000" pitchFamily="2" charset="2"/>
              <a:buChar char="Ø"/>
              <a:defRPr/>
            </a:pPr>
            <a:r>
              <a:rPr kumimoji="1" lang="zh-CN" altLang="zh-CN" sz="2500" kern="0" spc="200" baseline="0" noProof="0" dirty="0">
                <a:latin typeface="Times New Roman" panose="02020603050405020304" pitchFamily="18" charset="0"/>
                <a:ea typeface="微软雅黑" panose="020B0503020204020204" pitchFamily="34" charset="-122"/>
                <a:cs typeface="+mn-cs"/>
              </a:rPr>
              <a:t>循环结构和顺序结构、选择结构是结构化程序设计的</a:t>
            </a:r>
            <a:r>
              <a:rPr kumimoji="1" lang="en-US" altLang="zh-CN" sz="2500" kern="0" spc="200" baseline="0" noProof="0" dirty="0">
                <a:solidFill>
                  <a:srgbClr val="C00000"/>
                </a:solidFill>
                <a:latin typeface="Times New Roman" panose="02020603050405020304" pitchFamily="18" charset="0"/>
                <a:ea typeface="微软雅黑" panose="020B0503020204020204" pitchFamily="34" charset="-122"/>
                <a:cs typeface="+mn-cs"/>
              </a:rPr>
              <a:t>三种基本结构</a:t>
            </a:r>
            <a:r>
              <a:rPr kumimoji="1" lang="zh-CN" altLang="zh-CN" sz="2500" kern="0" spc="200" baseline="0" noProof="0" dirty="0">
                <a:latin typeface="Times New Roman" panose="02020603050405020304" pitchFamily="18" charset="0"/>
                <a:ea typeface="微软雅黑" panose="020B0503020204020204" pitchFamily="34" charset="-122"/>
                <a:cs typeface="+mn-cs"/>
              </a:rPr>
              <a:t>，它们是各种复杂程序的基本构造单元</a:t>
            </a:r>
            <a:endParaRPr kumimoji="1" lang="zh-CN" altLang="zh-CN" sz="2500" kern="0" spc="200" baseline="0" noProof="0" dirty="0">
              <a:latin typeface="Times New Roman" panose="02020603050405020304" pitchFamily="18" charset="0"/>
              <a:ea typeface="微软雅黑" panose="020B0503020204020204" pitchFamily="34" charset="-122"/>
              <a:cs typeface="+mn-cs"/>
            </a:endParaRPr>
          </a:p>
        </p:txBody>
      </p:sp>
      <p:pic>
        <p:nvPicPr>
          <p:cNvPr id="8195" name="图片 2"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251460" y="1096010"/>
            <a:ext cx="8526780" cy="1428750"/>
          </a:xfrm>
          <a:prstGeom prst="rect">
            <a:avLst/>
          </a:prstGeom>
          <a:noFill/>
          <a:ln w="9525">
            <a:noFill/>
            <a:miter lim="800000"/>
          </a:ln>
        </p:spPr>
        <p:txBody>
          <a:bodyPr/>
          <a:lstStyle/>
          <a:p>
            <a:pPr marL="342900" marR="0" indent="-342900" defTabSz="914400">
              <a:lnSpc>
                <a:spcPct val="120000"/>
              </a:lnSpc>
              <a:spcBef>
                <a:spcPct val="20000"/>
              </a:spcBef>
              <a:buClrTx/>
              <a:buSzTx/>
              <a:buFont typeface="Wingdings" panose="05000000000000000000" pitchFamily="2" charset="2"/>
              <a:buChar char="Ø"/>
              <a:defRPr/>
            </a:pP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全班有</a:t>
            </a:r>
            <a:r>
              <a:rPr kumimoji="1" lang="en-US" altLang="zh-CN" sz="2400" kern="0" cap="none" spc="0" normalizeH="0" baseline="0" noProof="0" dirty="0">
                <a:latin typeface="Times New Roman" panose="02020603050405020304" pitchFamily="18" charset="0"/>
                <a:ea typeface="微软雅黑" panose="020B0503020204020204" pitchFamily="34" charset="-122"/>
                <a:cs typeface="+mn-cs"/>
              </a:rPr>
              <a:t>50</a:t>
            </a:r>
            <a:r>
              <a:rPr kumimoji="1" lang="zh-CN" altLang="zh-CN" sz="2400" kern="0" cap="none" spc="0" normalizeH="0" baseline="0" noProof="0" dirty="0">
                <a:latin typeface="Times New Roman" panose="02020603050405020304" pitchFamily="18" charset="0"/>
                <a:ea typeface="微软雅黑" panose="020B0503020204020204" pitchFamily="34" charset="-122"/>
                <a:cs typeface="+mn-cs"/>
              </a:rPr>
              <a:t>个学生</a:t>
            </a: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，统计各学生三门课</a:t>
            </a:r>
            <a:r>
              <a:rPr kumimoji="1" lang="zh-CN" altLang="zh-CN" sz="2400" kern="0" cap="none" spc="0" normalizeH="0" baseline="0" noProof="0" dirty="0">
                <a:latin typeface="Times New Roman" panose="02020603050405020304" pitchFamily="18" charset="0"/>
                <a:ea typeface="微软雅黑" panose="020B0503020204020204" pitchFamily="34" charset="-122"/>
                <a:cs typeface="+mn-cs"/>
              </a:rPr>
              <a:t>的平均成绩</a:t>
            </a:r>
            <a:r>
              <a:rPr kumimoji="1" lang="zh-CN" altLang="en-US" sz="2400" kern="0" cap="none" spc="0" normalizeH="0" baseline="0" noProof="0" dirty="0">
                <a:latin typeface="Times New Roman" panose="02020603050405020304" pitchFamily="18" charset="0"/>
                <a:ea typeface="微软雅黑" panose="020B0503020204020204" pitchFamily="34" charset="-122"/>
                <a:cs typeface="+mn-cs"/>
              </a:rPr>
              <a:t>。</a:t>
            </a:r>
            <a:endParaRPr kumimoji="1" lang="en-US" altLang="zh-CN" sz="2400" kern="0" cap="none" spc="0" normalizeH="0" baseline="0" noProof="0" dirty="0">
              <a:latin typeface="Times New Roman" panose="02020603050405020304" pitchFamily="18" charset="0"/>
              <a:ea typeface="微软雅黑" panose="020B0503020204020204" pitchFamily="34" charset="-122"/>
              <a:cs typeface="+mn-cs"/>
            </a:endParaRPr>
          </a:p>
        </p:txBody>
      </p:sp>
      <p:pic>
        <p:nvPicPr>
          <p:cNvPr id="9220"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r>
              <a:rPr lang="en-US" altLang="zh-CN" dirty="0">
                <a:sym typeface="+mn-ea"/>
              </a:rPr>
              <a:t>5.2 </a:t>
            </a:r>
            <a:r>
              <a:rPr lang="zh-CN" altLang="zh-CN" dirty="0">
                <a:sym typeface="+mn-ea"/>
              </a:rPr>
              <a:t>用</a:t>
            </a:r>
            <a:r>
              <a:rPr lang="en-US" altLang="zh-CN" dirty="0">
                <a:sym typeface="+mn-ea"/>
              </a:rPr>
              <a:t>while</a:t>
            </a:r>
            <a:r>
              <a:rPr lang="zh-CN" altLang="zh-CN" dirty="0">
                <a:sym typeface="+mn-ea"/>
              </a:rPr>
              <a:t>语句实现循环</a:t>
            </a:r>
            <a:endParaRPr lang="zh-CN" altLang="zh-CN" dirty="0">
              <a:solidFill>
                <a:srgbClr val="235A67"/>
              </a:solidFill>
            </a:endParaRPr>
          </a:p>
        </p:txBody>
      </p:sp>
      <p:sp>
        <p:nvSpPr>
          <p:cNvPr id="7" name="流程图: 过程 6"/>
          <p:cNvSpPr/>
          <p:nvPr>
            <p:custDataLst>
              <p:tags r:id="rId4"/>
            </p:custDataLst>
          </p:nvPr>
        </p:nvSpPr>
        <p:spPr>
          <a:xfrm>
            <a:off x="2291080" y="1779905"/>
            <a:ext cx="1674495" cy="408940"/>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100" dirty="0">
                <a:latin typeface="Times New Roman" panose="02020603050405020304" pitchFamily="18" charset="0"/>
                <a:ea typeface="微软雅黑" panose="020B0503020204020204" pitchFamily="34" charset="-122"/>
              </a:rPr>
              <a:t>i=1</a:t>
            </a:r>
            <a:endParaRPr lang="en-US" altLang="zh-CN" sz="2100" dirty="0">
              <a:latin typeface="Times New Roman" panose="02020603050405020304" pitchFamily="18" charset="0"/>
              <a:ea typeface="微软雅黑" panose="020B0503020204020204" pitchFamily="34" charset="-122"/>
            </a:endParaRPr>
          </a:p>
        </p:txBody>
      </p:sp>
      <p:cxnSp>
        <p:nvCxnSpPr>
          <p:cNvPr id="8" name="直接箭头连接符 7"/>
          <p:cNvCxnSpPr>
            <a:stCxn id="7" idx="2"/>
            <a:endCxn id="9" idx="0"/>
          </p:cNvCxnSpPr>
          <p:nvPr>
            <p:custDataLst>
              <p:tags r:id="rId5"/>
            </p:custDataLst>
          </p:nvPr>
        </p:nvCxnSpPr>
        <p:spPr>
          <a:xfrm>
            <a:off x="3128804" y="2189004"/>
            <a:ext cx="3175" cy="483870"/>
          </a:xfrm>
          <a:prstGeom prst="straightConnector1">
            <a:avLst/>
          </a:prstGeom>
          <a:ln w="38100" cap="flat" cmpd="sng">
            <a:solidFill>
              <a:schemeClr val="tx1"/>
            </a:solidFill>
            <a:prstDash val="solid"/>
            <a:miter/>
            <a:headEnd type="none" w="med" len="med"/>
            <a:tailEnd type="arrow" w="med" len="med"/>
          </a:ln>
        </p:spPr>
      </p:cxnSp>
      <p:sp>
        <p:nvSpPr>
          <p:cNvPr id="9" name="流程图: 决策 8"/>
          <p:cNvSpPr/>
          <p:nvPr>
            <p:custDataLst>
              <p:tags r:id="rId6"/>
            </p:custDataLst>
          </p:nvPr>
        </p:nvSpPr>
        <p:spPr>
          <a:xfrm>
            <a:off x="1835785" y="2672715"/>
            <a:ext cx="2592070" cy="57340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100" dirty="0">
                <a:latin typeface="Times New Roman" panose="02020603050405020304" pitchFamily="18" charset="0"/>
                <a:ea typeface="微软雅黑" panose="020B0503020204020204" pitchFamily="34" charset="-122"/>
              </a:rPr>
              <a:t>i</a:t>
            </a:r>
            <a:r>
              <a:rPr lang="zh-CN" altLang="zh-CN" sz="2100" dirty="0">
                <a:latin typeface="Times New Roman" panose="02020603050405020304" pitchFamily="18" charset="0"/>
                <a:ea typeface="微软雅黑" panose="020B0503020204020204" pitchFamily="34" charset="-122"/>
              </a:rPr>
              <a:t>≤</a:t>
            </a:r>
            <a:r>
              <a:rPr lang="en-US" altLang="zh-CN" sz="2100" dirty="0">
                <a:latin typeface="Times New Roman" panose="02020603050405020304" pitchFamily="18" charset="0"/>
                <a:ea typeface="微软雅黑" panose="020B0503020204020204" pitchFamily="34" charset="-122"/>
              </a:rPr>
              <a:t>0</a:t>
            </a:r>
            <a:endParaRPr lang="en-US" altLang="zh-CN" sz="2100" dirty="0">
              <a:latin typeface="Times New Roman" panose="02020603050405020304" pitchFamily="18" charset="0"/>
              <a:ea typeface="微软雅黑" panose="020B0503020204020204" pitchFamily="34" charset="-122"/>
            </a:endParaRPr>
          </a:p>
        </p:txBody>
      </p:sp>
      <p:sp>
        <p:nvSpPr>
          <p:cNvPr id="10" name="平行四边形 9"/>
          <p:cNvSpPr/>
          <p:nvPr>
            <p:custDataLst>
              <p:tags r:id="rId7"/>
            </p:custDataLst>
          </p:nvPr>
        </p:nvSpPr>
        <p:spPr>
          <a:xfrm>
            <a:off x="1475740" y="3573145"/>
            <a:ext cx="3301365" cy="387350"/>
          </a:xfrm>
          <a:prstGeom prst="parallelogram">
            <a:avLst>
              <a:gd name="adj" fmla="val 24999"/>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100" dirty="0">
                <a:latin typeface="Times New Roman" panose="02020603050405020304" pitchFamily="18" charset="0"/>
                <a:ea typeface="微软雅黑" panose="020B0503020204020204" pitchFamily="34" charset="-122"/>
              </a:rPr>
              <a:t>输入一个学生成绩</a:t>
            </a:r>
            <a:endParaRPr lang="zh-CN" altLang="en-US" sz="2100" dirty="0">
              <a:latin typeface="Times New Roman" panose="02020603050405020304" pitchFamily="18" charset="0"/>
              <a:ea typeface="微软雅黑" panose="020B0503020204020204" pitchFamily="34" charset="-122"/>
            </a:endParaRPr>
          </a:p>
        </p:txBody>
      </p:sp>
      <p:cxnSp>
        <p:nvCxnSpPr>
          <p:cNvPr id="11" name="直接箭头连接符 10"/>
          <p:cNvCxnSpPr/>
          <p:nvPr>
            <p:custDataLst>
              <p:tags r:id="rId8"/>
            </p:custDataLst>
          </p:nvPr>
        </p:nvCxnSpPr>
        <p:spPr>
          <a:xfrm>
            <a:off x="3143409" y="3276759"/>
            <a:ext cx="5080" cy="317500"/>
          </a:xfrm>
          <a:prstGeom prst="straightConnector1">
            <a:avLst/>
          </a:prstGeom>
          <a:ln w="38100" cap="flat" cmpd="sng">
            <a:solidFill>
              <a:schemeClr val="tx1"/>
            </a:solidFill>
            <a:prstDash val="solid"/>
            <a:miter/>
            <a:headEnd type="none" w="med" len="med"/>
            <a:tailEnd type="arrow" w="med" len="med"/>
          </a:ln>
        </p:spPr>
      </p:cxnSp>
      <p:cxnSp>
        <p:nvCxnSpPr>
          <p:cNvPr id="16" name="直接箭头连接符 15"/>
          <p:cNvCxnSpPr/>
          <p:nvPr>
            <p:custDataLst>
              <p:tags r:id="rId9"/>
            </p:custDataLst>
          </p:nvPr>
        </p:nvCxnSpPr>
        <p:spPr>
          <a:xfrm rot="-5400000" flipH="1">
            <a:off x="2928938" y="4159885"/>
            <a:ext cx="428625" cy="0"/>
          </a:xfrm>
          <a:prstGeom prst="straightConnector1">
            <a:avLst/>
          </a:prstGeom>
          <a:ln w="38100" cap="flat" cmpd="sng">
            <a:solidFill>
              <a:schemeClr val="tx1"/>
            </a:solidFill>
            <a:prstDash val="solid"/>
            <a:miter/>
            <a:headEnd type="none" w="med" len="med"/>
            <a:tailEnd type="arrow" w="med" len="med"/>
          </a:ln>
        </p:spPr>
      </p:cxnSp>
      <p:sp>
        <p:nvSpPr>
          <p:cNvPr id="17" name="流程图: 过程 16"/>
          <p:cNvSpPr/>
          <p:nvPr>
            <p:custDataLst>
              <p:tags r:id="rId10"/>
            </p:custDataLst>
          </p:nvPr>
        </p:nvSpPr>
        <p:spPr>
          <a:xfrm>
            <a:off x="1331595" y="4346575"/>
            <a:ext cx="3459480" cy="354330"/>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100" dirty="0">
                <a:latin typeface="Times New Roman" panose="02020603050405020304" pitchFamily="18" charset="0"/>
                <a:ea typeface="微软雅黑" panose="020B0503020204020204" pitchFamily="34" charset="-122"/>
              </a:rPr>
              <a:t>求一个学生平均成绩</a:t>
            </a:r>
            <a:endParaRPr lang="zh-CN" altLang="en-US" sz="2100" dirty="0">
              <a:latin typeface="Times New Roman" panose="02020603050405020304" pitchFamily="18" charset="0"/>
              <a:ea typeface="微软雅黑" panose="020B0503020204020204" pitchFamily="34" charset="-122"/>
            </a:endParaRPr>
          </a:p>
        </p:txBody>
      </p:sp>
      <p:sp>
        <p:nvSpPr>
          <p:cNvPr id="20" name="平行四边形 19"/>
          <p:cNvSpPr/>
          <p:nvPr>
            <p:custDataLst>
              <p:tags r:id="rId11"/>
            </p:custDataLst>
          </p:nvPr>
        </p:nvSpPr>
        <p:spPr>
          <a:xfrm>
            <a:off x="971550" y="5020310"/>
            <a:ext cx="4077335" cy="416560"/>
          </a:xfrm>
          <a:prstGeom prst="parallelogram">
            <a:avLst>
              <a:gd name="adj" fmla="val 25010"/>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100" dirty="0">
                <a:latin typeface="Times New Roman" panose="02020603050405020304" pitchFamily="18" charset="0"/>
                <a:ea typeface="微软雅黑" panose="020B0503020204020204" pitchFamily="34" charset="-122"/>
              </a:rPr>
              <a:t>输出一个学生平均成绩</a:t>
            </a:r>
            <a:endParaRPr lang="zh-CN" altLang="en-US" sz="2100" dirty="0">
              <a:latin typeface="Times New Roman" panose="02020603050405020304" pitchFamily="18" charset="0"/>
              <a:ea typeface="微软雅黑" panose="020B0503020204020204" pitchFamily="34" charset="-122"/>
            </a:endParaRPr>
          </a:p>
        </p:txBody>
      </p:sp>
      <p:cxnSp>
        <p:nvCxnSpPr>
          <p:cNvPr id="21" name="直接箭头连接符 20"/>
          <p:cNvCxnSpPr/>
          <p:nvPr>
            <p:custDataLst>
              <p:tags r:id="rId12"/>
            </p:custDataLst>
          </p:nvPr>
        </p:nvCxnSpPr>
        <p:spPr>
          <a:xfrm rot="-5400000" flipH="1">
            <a:off x="2964498" y="4903470"/>
            <a:ext cx="357187" cy="0"/>
          </a:xfrm>
          <a:prstGeom prst="straightConnector1">
            <a:avLst/>
          </a:prstGeom>
          <a:ln w="38100" cap="flat" cmpd="sng">
            <a:solidFill>
              <a:schemeClr val="tx1"/>
            </a:solidFill>
            <a:prstDash val="solid"/>
            <a:miter/>
            <a:headEnd type="none" w="med" len="med"/>
            <a:tailEnd type="arrow" w="med" len="med"/>
          </a:ln>
        </p:spPr>
      </p:cxnSp>
      <p:cxnSp>
        <p:nvCxnSpPr>
          <p:cNvPr id="22" name="直接箭头连接符 21"/>
          <p:cNvCxnSpPr/>
          <p:nvPr>
            <p:custDataLst>
              <p:tags r:id="rId13"/>
            </p:custDataLst>
          </p:nvPr>
        </p:nvCxnSpPr>
        <p:spPr>
          <a:xfrm rot="-5400000" flipH="1">
            <a:off x="2928938" y="5587683"/>
            <a:ext cx="428625" cy="0"/>
          </a:xfrm>
          <a:prstGeom prst="straightConnector1">
            <a:avLst/>
          </a:prstGeom>
          <a:ln w="38100" cap="flat" cmpd="sng">
            <a:solidFill>
              <a:schemeClr val="tx1"/>
            </a:solidFill>
            <a:prstDash val="solid"/>
            <a:miter/>
            <a:headEnd type="none" w="med" len="med"/>
            <a:tailEnd type="arrow" w="med" len="med"/>
          </a:ln>
        </p:spPr>
      </p:cxnSp>
      <p:sp>
        <p:nvSpPr>
          <p:cNvPr id="23" name="流程图: 过程 22"/>
          <p:cNvSpPr/>
          <p:nvPr>
            <p:custDataLst>
              <p:tags r:id="rId14"/>
            </p:custDataLst>
          </p:nvPr>
        </p:nvSpPr>
        <p:spPr>
          <a:xfrm>
            <a:off x="2291080" y="5805170"/>
            <a:ext cx="1649095" cy="381635"/>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100" dirty="0">
                <a:latin typeface="Times New Roman" panose="02020603050405020304" pitchFamily="18" charset="0"/>
                <a:ea typeface="微软雅黑" panose="020B0503020204020204" pitchFamily="34" charset="-122"/>
              </a:rPr>
              <a:t>i</a:t>
            </a:r>
            <a:r>
              <a:rPr lang="zh-CN" altLang="en-US" sz="2100" dirty="0">
                <a:latin typeface="Times New Roman" panose="02020603050405020304" pitchFamily="18" charset="0"/>
                <a:ea typeface="微软雅黑" panose="020B0503020204020204" pitchFamily="34" charset="-122"/>
              </a:rPr>
              <a:t>增</a:t>
            </a:r>
            <a:r>
              <a:rPr lang="en-US" altLang="zh-CN" sz="2100" dirty="0">
                <a:latin typeface="Times New Roman" panose="02020603050405020304" pitchFamily="18" charset="0"/>
                <a:ea typeface="微软雅黑" panose="020B0503020204020204" pitchFamily="34" charset="-122"/>
              </a:rPr>
              <a:t>1</a:t>
            </a:r>
            <a:endParaRPr lang="en-US" altLang="zh-CN" sz="2100" dirty="0">
              <a:latin typeface="Times New Roman" panose="02020603050405020304" pitchFamily="18" charset="0"/>
              <a:ea typeface="微软雅黑" panose="020B0503020204020204" pitchFamily="34" charset="-122"/>
            </a:endParaRPr>
          </a:p>
        </p:txBody>
      </p:sp>
      <p:cxnSp>
        <p:nvCxnSpPr>
          <p:cNvPr id="24" name="直接连接符 23"/>
          <p:cNvCxnSpPr/>
          <p:nvPr>
            <p:custDataLst>
              <p:tags r:id="rId15"/>
            </p:custDataLst>
          </p:nvPr>
        </p:nvCxnSpPr>
        <p:spPr>
          <a:xfrm>
            <a:off x="828040" y="6381433"/>
            <a:ext cx="2315210" cy="1905"/>
          </a:xfrm>
          <a:prstGeom prst="line">
            <a:avLst/>
          </a:prstGeom>
          <a:ln w="38100" cap="flat" cmpd="sng">
            <a:solidFill>
              <a:schemeClr val="tx1"/>
            </a:solidFill>
            <a:prstDash val="solid"/>
            <a:miter/>
            <a:headEnd type="none" w="med" len="med"/>
            <a:tailEnd type="none" w="med" len="med"/>
          </a:ln>
        </p:spPr>
      </p:cxnSp>
      <p:cxnSp>
        <p:nvCxnSpPr>
          <p:cNvPr id="26" name="直接连接符 25"/>
          <p:cNvCxnSpPr/>
          <p:nvPr>
            <p:custDataLst>
              <p:tags r:id="rId16"/>
            </p:custDataLst>
          </p:nvPr>
        </p:nvCxnSpPr>
        <p:spPr>
          <a:xfrm rot="5400000" flipH="1" flipV="1">
            <a:off x="3000375" y="6274118"/>
            <a:ext cx="285750" cy="0"/>
          </a:xfrm>
          <a:prstGeom prst="line">
            <a:avLst/>
          </a:prstGeom>
          <a:ln w="38100" cap="flat" cmpd="sng">
            <a:solidFill>
              <a:schemeClr val="tx1"/>
            </a:solidFill>
            <a:prstDash val="solid"/>
            <a:miter/>
            <a:headEnd type="none" w="med" len="med"/>
            <a:tailEnd type="none" w="med" len="med"/>
          </a:ln>
        </p:spPr>
      </p:cxnSp>
      <p:cxnSp>
        <p:nvCxnSpPr>
          <p:cNvPr id="28" name="直接连接符 27"/>
          <p:cNvCxnSpPr/>
          <p:nvPr>
            <p:custDataLst>
              <p:tags r:id="rId17"/>
            </p:custDataLst>
          </p:nvPr>
        </p:nvCxnSpPr>
        <p:spPr>
          <a:xfrm flipV="1">
            <a:off x="828041" y="2420938"/>
            <a:ext cx="0" cy="3960495"/>
          </a:xfrm>
          <a:prstGeom prst="line">
            <a:avLst/>
          </a:prstGeom>
          <a:ln w="38100" cap="flat" cmpd="sng">
            <a:solidFill>
              <a:schemeClr val="tx1"/>
            </a:solidFill>
            <a:prstDash val="solid"/>
            <a:miter/>
            <a:headEnd type="none" w="med" len="med"/>
            <a:tailEnd type="none" w="med" len="med"/>
          </a:ln>
        </p:spPr>
      </p:cxnSp>
      <p:cxnSp>
        <p:nvCxnSpPr>
          <p:cNvPr id="31" name="直接箭头连接符 30"/>
          <p:cNvCxnSpPr/>
          <p:nvPr>
            <p:custDataLst>
              <p:tags r:id="rId18"/>
            </p:custDataLst>
          </p:nvPr>
        </p:nvCxnSpPr>
        <p:spPr>
          <a:xfrm>
            <a:off x="833120" y="2420938"/>
            <a:ext cx="2293620" cy="6985"/>
          </a:xfrm>
          <a:prstGeom prst="straightConnector1">
            <a:avLst/>
          </a:prstGeom>
          <a:ln w="38100" cap="flat" cmpd="sng">
            <a:solidFill>
              <a:schemeClr val="tx1"/>
            </a:solidFill>
            <a:prstDash val="solid"/>
            <a:miter/>
            <a:headEnd type="none" w="med" len="med"/>
            <a:tailEnd type="arrow" w="med" len="med"/>
          </a:ln>
        </p:spPr>
      </p:cxnSp>
      <p:cxnSp>
        <p:nvCxnSpPr>
          <p:cNvPr id="36" name="直接连接符 35"/>
          <p:cNvCxnSpPr/>
          <p:nvPr>
            <p:custDataLst>
              <p:tags r:id="rId19"/>
            </p:custDataLst>
          </p:nvPr>
        </p:nvCxnSpPr>
        <p:spPr>
          <a:xfrm flipV="1">
            <a:off x="5147787" y="2925604"/>
            <a:ext cx="0" cy="3599815"/>
          </a:xfrm>
          <a:prstGeom prst="line">
            <a:avLst/>
          </a:prstGeom>
          <a:ln w="38100" cap="flat" cmpd="sng">
            <a:solidFill>
              <a:schemeClr val="tx1"/>
            </a:solidFill>
            <a:prstDash val="solid"/>
            <a:miter/>
            <a:headEnd type="none" w="med" len="med"/>
            <a:tailEnd type="none" w="med" len="med"/>
          </a:ln>
        </p:spPr>
      </p:cxnSp>
      <p:cxnSp>
        <p:nvCxnSpPr>
          <p:cNvPr id="38" name="直接连接符 37"/>
          <p:cNvCxnSpPr/>
          <p:nvPr>
            <p:custDataLst>
              <p:tags r:id="rId20"/>
            </p:custDataLst>
          </p:nvPr>
        </p:nvCxnSpPr>
        <p:spPr>
          <a:xfrm>
            <a:off x="3121660" y="6524943"/>
            <a:ext cx="2016125" cy="0"/>
          </a:xfrm>
          <a:prstGeom prst="line">
            <a:avLst/>
          </a:prstGeom>
          <a:ln w="38100" cap="flat" cmpd="sng">
            <a:solidFill>
              <a:schemeClr val="tx1"/>
            </a:solidFill>
            <a:prstDash val="solid"/>
            <a:miter/>
            <a:headEnd type="none" w="med" len="med"/>
            <a:tailEnd type="none" w="med" len="med"/>
          </a:ln>
        </p:spPr>
      </p:cxnSp>
      <p:cxnSp>
        <p:nvCxnSpPr>
          <p:cNvPr id="40" name="直接箭头连接符 39"/>
          <p:cNvCxnSpPr/>
          <p:nvPr>
            <p:custDataLst>
              <p:tags r:id="rId21"/>
            </p:custDataLst>
          </p:nvPr>
        </p:nvCxnSpPr>
        <p:spPr>
          <a:xfrm>
            <a:off x="3131821" y="6525578"/>
            <a:ext cx="11430" cy="261620"/>
          </a:xfrm>
          <a:prstGeom prst="straightConnector1">
            <a:avLst/>
          </a:prstGeom>
          <a:ln w="38100" cap="flat" cmpd="sng">
            <a:solidFill>
              <a:schemeClr val="tx1"/>
            </a:solidFill>
            <a:prstDash val="solid"/>
            <a:miter/>
            <a:headEnd type="none" w="med" len="med"/>
            <a:tailEnd type="arrow" w="med" len="med"/>
          </a:ln>
        </p:spPr>
      </p:cxnSp>
      <p:sp>
        <p:nvSpPr>
          <p:cNvPr id="42" name="TextBox 41"/>
          <p:cNvSpPr txBox="1"/>
          <p:nvPr>
            <p:custDataLst>
              <p:tags r:id="rId22"/>
            </p:custDataLst>
          </p:nvPr>
        </p:nvSpPr>
        <p:spPr>
          <a:xfrm>
            <a:off x="3148013" y="3187383"/>
            <a:ext cx="500062" cy="42989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200" dirty="0">
                <a:latin typeface="Times New Roman" panose="02020603050405020304" pitchFamily="18" charset="0"/>
                <a:ea typeface="微软雅黑" panose="020B0503020204020204" pitchFamily="34" charset="-122"/>
              </a:rPr>
              <a:t>Y</a:t>
            </a:r>
            <a:endParaRPr lang="en-US" altLang="zh-CN" sz="2200" dirty="0">
              <a:latin typeface="Times New Roman" panose="02020603050405020304" pitchFamily="18" charset="0"/>
              <a:ea typeface="微软雅黑" panose="020B0503020204020204" pitchFamily="34" charset="-122"/>
            </a:endParaRPr>
          </a:p>
        </p:txBody>
      </p:sp>
      <p:sp>
        <p:nvSpPr>
          <p:cNvPr id="43" name="TextBox 42"/>
          <p:cNvSpPr txBox="1"/>
          <p:nvPr>
            <p:custDataLst>
              <p:tags r:id="rId23"/>
            </p:custDataLst>
          </p:nvPr>
        </p:nvSpPr>
        <p:spPr>
          <a:xfrm>
            <a:off x="4500245" y="2455228"/>
            <a:ext cx="500063" cy="42989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200" dirty="0">
                <a:latin typeface="Times New Roman" panose="02020603050405020304" pitchFamily="18" charset="0"/>
                <a:ea typeface="微软雅黑" panose="020B0503020204020204" pitchFamily="34" charset="-122"/>
              </a:rPr>
              <a:t>N</a:t>
            </a:r>
            <a:endParaRPr lang="en-US" altLang="zh-CN" sz="2200" dirty="0">
              <a:latin typeface="Times New Roman" panose="02020603050405020304" pitchFamily="18" charset="0"/>
              <a:ea typeface="微软雅黑" panose="020B0503020204020204" pitchFamily="34" charset="-122"/>
            </a:endParaRPr>
          </a:p>
        </p:txBody>
      </p:sp>
      <p:sp>
        <p:nvSpPr>
          <p:cNvPr id="45" name="矩形 44"/>
          <p:cNvSpPr/>
          <p:nvPr>
            <p:custDataLst>
              <p:tags r:id="rId24"/>
            </p:custDataLst>
          </p:nvPr>
        </p:nvSpPr>
        <p:spPr>
          <a:xfrm>
            <a:off x="500380" y="2320925"/>
            <a:ext cx="4998085" cy="432308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2" name="直接箭头连接符 1"/>
          <p:cNvCxnSpPr/>
          <p:nvPr>
            <p:custDataLst>
              <p:tags r:id="rId25"/>
            </p:custDataLst>
          </p:nvPr>
        </p:nvCxnSpPr>
        <p:spPr>
          <a:xfrm flipV="1">
            <a:off x="4427855" y="2941003"/>
            <a:ext cx="720090" cy="6985"/>
          </a:xfrm>
          <a:prstGeom prst="straightConnector1">
            <a:avLst/>
          </a:prstGeom>
          <a:ln w="38100" cap="flat" cmpd="sng">
            <a:solidFill>
              <a:schemeClr val="tx1"/>
            </a:solidFill>
            <a:prstDash val="solid"/>
            <a:miter/>
            <a:headEnd type="none" w="med" len="med"/>
            <a:tailEnd type="none" w="med" len="med"/>
          </a:ln>
        </p:spPr>
      </p:cxnSp>
      <p:sp>
        <p:nvSpPr>
          <p:cNvPr id="44" name="TextBox 43"/>
          <p:cNvSpPr txBox="1"/>
          <p:nvPr>
            <p:custDataLst>
              <p:tags r:id="rId26"/>
            </p:custDataLst>
          </p:nvPr>
        </p:nvSpPr>
        <p:spPr>
          <a:xfrm>
            <a:off x="5724525" y="1812925"/>
            <a:ext cx="3049905" cy="445135"/>
          </a:xfrm>
          <a:prstGeom prst="rect">
            <a:avLst/>
          </a:prstGeom>
          <a:no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300" kern="0" noProof="0" dirty="0">
                <a:solidFill>
                  <a:srgbClr val="C00000"/>
                </a:solidFill>
                <a:latin typeface="Times New Roman" panose="02020603050405020304" pitchFamily="18" charset="0"/>
                <a:ea typeface="微软雅黑" panose="020B0503020204020204" pitchFamily="34" charset="-122"/>
              </a:rPr>
              <a:t>用while循环结构实现</a:t>
            </a:r>
            <a:endParaRPr lang="en-US" altLang="zh-CN" sz="2300" kern="0" noProof="0" dirty="0">
              <a:solidFill>
                <a:srgbClr val="C00000"/>
              </a:solidFill>
              <a:latin typeface="Times New Roman" panose="02020603050405020304" pitchFamily="18" charset="0"/>
              <a:ea typeface="微软雅黑" panose="020B0503020204020204" pitchFamily="34" charset="-122"/>
            </a:endParaRPr>
          </a:p>
        </p:txBody>
      </p:sp>
      <p:sp>
        <p:nvSpPr>
          <p:cNvPr id="49" name="Rectangle 3"/>
          <p:cNvSpPr txBox="1">
            <a:spLocks noChangeArrowheads="1"/>
          </p:cNvSpPr>
          <p:nvPr>
            <p:custDataLst>
              <p:tags r:id="rId27"/>
            </p:custDataLst>
          </p:nvPr>
        </p:nvSpPr>
        <p:spPr bwMode="auto">
          <a:xfrm>
            <a:off x="6000750" y="2448560"/>
            <a:ext cx="2795270" cy="3226435"/>
          </a:xfrm>
          <a:prstGeom prst="rect">
            <a:avLst/>
          </a:prstGeom>
          <a:noFill/>
          <a:ln w="9525">
            <a:noFill/>
            <a:miter lim="800000"/>
          </a:ln>
        </p:spPr>
        <p:txBody>
          <a:bodyPr/>
          <a:p>
            <a:pPr marL="342900" marR="0" indent="-342900" defTabSz="914400">
              <a:lnSpc>
                <a:spcPct val="120000"/>
              </a:lnSpc>
              <a:spcBef>
                <a:spcPct val="20000"/>
              </a:spcBef>
              <a:buClrTx/>
              <a:buSzTx/>
              <a:buFontTx/>
              <a:buNone/>
              <a:defRPr/>
            </a:pPr>
            <a:r>
              <a:rPr kumimoji="1" lang="en-US" altLang="zh-CN" sz="2400" kern="1200" cap="none" spc="0" normalizeH="0" baseline="0" noProof="0" dirty="0">
                <a:solidFill>
                  <a:srgbClr val="235A67"/>
                </a:solidFill>
                <a:latin typeface="Times New Roman" panose="02020603050405020304" pitchFamily="18" charset="0"/>
                <a:ea typeface="微软雅黑" panose="020B0503020204020204" pitchFamily="34" charset="-122"/>
                <a:cs typeface="+mn-cs"/>
              </a:rPr>
              <a:t>while</a:t>
            </a: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a:t>
            </a:r>
            <a:r>
              <a:rPr kumimoji="1" lang="en-US" altLang="zh-CN" sz="2400" kern="1200" cap="none" spc="0" normalizeH="0" baseline="0" noProof="0" dirty="0" err="1">
                <a:latin typeface="Times New Roman" panose="02020603050405020304" pitchFamily="18" charset="0"/>
                <a:ea typeface="微软雅黑" panose="020B0503020204020204" pitchFamily="34" charset="-122"/>
                <a:cs typeface="+mn-cs"/>
              </a:rPr>
              <a:t>i</a:t>
            </a: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&lt;=50)</a:t>
            </a:r>
            <a:endParaRPr kumimoji="1" lang="en-US" altLang="zh-CN" sz="24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   </a:t>
            </a:r>
            <a:r>
              <a:rPr kumimoji="1" lang="en-US" altLang="zh-CN" sz="2400" kern="1200" cap="none" spc="0" normalizeH="0" baseline="0" noProof="0" dirty="0" err="1">
                <a:latin typeface="Times New Roman" panose="02020603050405020304" pitchFamily="18" charset="0"/>
                <a:ea typeface="微软雅黑" panose="020B0503020204020204" pitchFamily="34" charset="-122"/>
                <a:cs typeface="+mn-cs"/>
              </a:rPr>
              <a:t>scanf</a:t>
            </a: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 ;</a:t>
            </a:r>
            <a:endParaRPr kumimoji="1" lang="en-US" altLang="zh-CN" sz="24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    aver=…… ;</a:t>
            </a:r>
            <a:endParaRPr kumimoji="1" lang="en-US" altLang="zh-CN" sz="24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    </a:t>
            </a:r>
            <a:r>
              <a:rPr kumimoji="1" lang="en-US" altLang="zh-CN" sz="2400" kern="1200" cap="none" spc="0" normalizeH="0" baseline="0" noProof="0" dirty="0" err="1">
                <a:latin typeface="Times New Roman" panose="02020603050405020304" pitchFamily="18" charset="0"/>
                <a:ea typeface="微软雅黑" panose="020B0503020204020204" pitchFamily="34" charset="-122"/>
                <a:cs typeface="+mn-cs"/>
              </a:rPr>
              <a:t>printf</a:t>
            </a: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 ;</a:t>
            </a:r>
            <a:endParaRPr kumimoji="1" lang="en-US" altLang="zh-CN" sz="24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    </a:t>
            </a:r>
            <a:r>
              <a:rPr kumimoji="1" lang="en-US" altLang="zh-CN" sz="2400" kern="1200" cap="none" spc="0" normalizeH="0" baseline="0" noProof="0" dirty="0" err="1">
                <a:latin typeface="Times New Roman" panose="02020603050405020304" pitchFamily="18" charset="0"/>
                <a:ea typeface="微软雅黑" panose="020B0503020204020204" pitchFamily="34" charset="-122"/>
                <a:cs typeface="+mn-cs"/>
              </a:rPr>
              <a:t>i</a:t>
            </a: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a:t>
            </a:r>
            <a:endParaRPr kumimoji="1" lang="en-US" altLang="zh-CN" sz="24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400" kern="1200" cap="none" spc="0" normalizeH="0" baseline="0" noProof="0" dirty="0">
                <a:latin typeface="Times New Roman" panose="02020603050405020304" pitchFamily="18" charset="0"/>
                <a:ea typeface="微软雅黑" panose="020B0503020204020204" pitchFamily="34" charset="-122"/>
                <a:cs typeface="+mn-cs"/>
              </a:rPr>
              <a:t>}</a:t>
            </a:r>
            <a:endParaRPr kumimoji="1" lang="en-US" altLang="zh-CN" sz="2400" kern="1200" cap="none" spc="0" normalizeH="0" baseline="0" noProof="0" dirty="0">
              <a:latin typeface="Times New Roman" panose="02020603050405020304" pitchFamily="18" charset="0"/>
              <a:ea typeface="微软雅黑" panose="020B0503020204020204" pitchFamily="34" charset="-122"/>
              <a:cs typeface="+mn-cs"/>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blinds(horizontal)">
                                      <p:cBhvr>
                                        <p:cTn id="24" dur="5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linds(horizontal)">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blinds(horizontal)">
                                      <p:cBhvr>
                                        <p:cTn id="45" dur="500"/>
                                        <p:tgtEl>
                                          <p:spTgt spid="2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blinds(horizontal)">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blinds(horizontal)">
                                      <p:cBhvr>
                                        <p:cTn id="53" dur="500"/>
                                        <p:tgtEl>
                                          <p:spTgt spid="22"/>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blinds(horizontal)">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slide(fromTop)">
                                      <p:cBhvr>
                                        <p:cTn id="61" dur="500"/>
                                        <p:tgtEl>
                                          <p:spTgt spid="26"/>
                                        </p:tgtEl>
                                      </p:cBhvr>
                                    </p:animEffect>
                                  </p:childTnLst>
                                </p:cTn>
                              </p:par>
                            </p:childTnLst>
                          </p:cTn>
                        </p:par>
                        <p:par>
                          <p:cTn id="62" fill="hold">
                            <p:stCondLst>
                              <p:cond delay="500"/>
                            </p:stCondLst>
                            <p:childTnLst>
                              <p:par>
                                <p:cTn id="63" presetID="12" presetClass="entr" presetSubtype="2"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slide(fromRight)">
                                      <p:cBhvr>
                                        <p:cTn id="65" dur="500"/>
                                        <p:tgtEl>
                                          <p:spTgt spid="24"/>
                                        </p:tgtEl>
                                      </p:cBhvr>
                                    </p:animEffect>
                                  </p:childTnLst>
                                </p:cTn>
                              </p:par>
                            </p:childTnLst>
                          </p:cTn>
                        </p:par>
                        <p:par>
                          <p:cTn id="66" fill="hold">
                            <p:stCondLst>
                              <p:cond delay="1000"/>
                            </p:stCondLst>
                            <p:childTnLst>
                              <p:par>
                                <p:cTn id="67" presetID="12" presetClass="entr" presetSubtype="4" fill="hold"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slide(fromBottom)">
                                      <p:cBhvr>
                                        <p:cTn id="69" dur="500"/>
                                        <p:tgtEl>
                                          <p:spTgt spid="28"/>
                                        </p:tgtEl>
                                      </p:cBhvr>
                                    </p:animEffect>
                                  </p:childTnLst>
                                </p:cTn>
                              </p:par>
                            </p:childTnLst>
                          </p:cTn>
                        </p:par>
                        <p:par>
                          <p:cTn id="70" fill="hold">
                            <p:stCondLst>
                              <p:cond delay="1500"/>
                            </p:stCondLst>
                            <p:childTnLst>
                              <p:par>
                                <p:cTn id="71" presetID="12" presetClass="entr" presetSubtype="8" fill="hold" nodeType="after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slide(fromLeft)">
                                      <p:cBhvr>
                                        <p:cTn id="73" dur="5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blinds(horizontal)">
                                      <p:cBhvr>
                                        <p:cTn id="78" dur="500"/>
                                        <p:tgtEl>
                                          <p:spTgt spid="43"/>
                                        </p:tgtEl>
                                      </p:cBhvr>
                                    </p:animEffect>
                                  </p:childTnLst>
                                </p:cTn>
                              </p:par>
                            </p:childTnLst>
                          </p:cTn>
                        </p:par>
                        <p:par>
                          <p:cTn id="79" fill="hold">
                            <p:stCondLst>
                              <p:cond delay="500"/>
                            </p:stCondLst>
                            <p:childTnLst>
                              <p:par>
                                <p:cTn id="80" presetID="12" presetClass="entr" presetSubtype="8" fill="hold" nodeType="afterEffect">
                                  <p:stCondLst>
                                    <p:cond delay="0"/>
                                  </p:stCondLst>
                                  <p:childTnLst>
                                    <p:set>
                                      <p:cBhvr>
                                        <p:cTn id="81" dur="1" fill="hold">
                                          <p:stCondLst>
                                            <p:cond delay="0"/>
                                          </p:stCondLst>
                                        </p:cTn>
                                        <p:tgtEl>
                                          <p:spTgt spid="2"/>
                                        </p:tgtEl>
                                        <p:attrNameLst>
                                          <p:attrName>style.visibility</p:attrName>
                                        </p:attrNameLst>
                                      </p:cBhvr>
                                      <p:to>
                                        <p:strVal val="visible"/>
                                      </p:to>
                                    </p:set>
                                    <p:animEffect transition="in" filter="slide(fromLeft)">
                                      <p:cBhvr>
                                        <p:cTn id="82" dur="500"/>
                                        <p:tgtEl>
                                          <p:spTgt spid="2"/>
                                        </p:tgtEl>
                                      </p:cBhvr>
                                    </p:animEffect>
                                  </p:childTnLst>
                                </p:cTn>
                              </p:par>
                            </p:childTnLst>
                          </p:cTn>
                        </p:par>
                        <p:par>
                          <p:cTn id="83" fill="hold">
                            <p:stCondLst>
                              <p:cond delay="1000"/>
                            </p:stCondLst>
                            <p:childTnLst>
                              <p:par>
                                <p:cTn id="84" presetID="12" presetClass="entr" presetSubtype="1" fill="hold" nodeType="after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slide(fromTop)">
                                      <p:cBhvr>
                                        <p:cTn id="86" dur="500"/>
                                        <p:tgtEl>
                                          <p:spTgt spid="36"/>
                                        </p:tgtEl>
                                      </p:cBhvr>
                                    </p:animEffect>
                                  </p:childTnLst>
                                </p:cTn>
                              </p:par>
                            </p:childTnLst>
                          </p:cTn>
                        </p:par>
                        <p:par>
                          <p:cTn id="87" fill="hold">
                            <p:stCondLst>
                              <p:cond delay="1500"/>
                            </p:stCondLst>
                            <p:childTnLst>
                              <p:par>
                                <p:cTn id="88" presetID="12" presetClass="entr" presetSubtype="2" fill="hold" nodeType="after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slide(fromRight)">
                                      <p:cBhvr>
                                        <p:cTn id="90" dur="500"/>
                                        <p:tgtEl>
                                          <p:spTgt spid="38"/>
                                        </p:tgtEl>
                                      </p:cBhvr>
                                    </p:animEffect>
                                  </p:childTnLst>
                                </p:cTn>
                              </p:par>
                            </p:childTnLst>
                          </p:cTn>
                        </p:par>
                        <p:par>
                          <p:cTn id="91" fill="hold">
                            <p:stCondLst>
                              <p:cond delay="2000"/>
                            </p:stCondLst>
                            <p:childTnLst>
                              <p:par>
                                <p:cTn id="92" presetID="12" presetClass="entr" presetSubtype="1" fill="hold" nodeType="after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slide(fromTop)">
                                      <p:cBhvr>
                                        <p:cTn id="94" dur="500"/>
                                        <p:tgtEl>
                                          <p:spTgt spid="40"/>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blinds(horizontal)">
                                      <p:cBhvr>
                                        <p:cTn id="99" dur="500"/>
                                        <p:tgtEl>
                                          <p:spTgt spid="45"/>
                                        </p:tgtEl>
                                      </p:cBhvr>
                                    </p:animEffect>
                                  </p:childTnLst>
                                </p:cTn>
                              </p:par>
                            </p:childTnLst>
                          </p:cTn>
                        </p:par>
                        <p:par>
                          <p:cTn id="100" fill="hold">
                            <p:stCondLst>
                              <p:cond delay="500"/>
                            </p:stCondLst>
                            <p:childTnLst>
                              <p:par>
                                <p:cTn id="101" presetID="3" presetClass="entr" presetSubtype="10" fill="hold" grpId="0" nodeType="after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blinds(horizontal)">
                                      <p:cBhvr>
                                        <p:cTn id="103" dur="500"/>
                                        <p:tgtEl>
                                          <p:spTgt spid="44"/>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blinds(horizontal)">
                                      <p:cBhvr>
                                        <p:cTn id="10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9" grpId="0" bldLvl="0" animBg="1"/>
      <p:bldP spid="10" grpId="0" bldLvl="0" animBg="1"/>
      <p:bldP spid="17" grpId="0" bldLvl="0" animBg="1"/>
      <p:bldP spid="20" grpId="0" bldLvl="0" animBg="1"/>
      <p:bldP spid="23" grpId="0" bldLvl="0" animBg="1"/>
      <p:bldP spid="42" grpId="0"/>
      <p:bldP spid="43" grpId="0"/>
      <p:bldP spid="45" grpId="0" bldLvl="0" animBg="1"/>
      <p:bldP spid="44"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3"/>
          <p:cNvSpPr>
            <a:spLocks noGrp="1"/>
          </p:cNvSpPr>
          <p:nvPr>
            <p:ph idx="1"/>
          </p:nvPr>
        </p:nvSpPr>
        <p:spPr>
          <a:xfrm>
            <a:off x="251460" y="594678"/>
            <a:ext cx="7786688" cy="1643062"/>
          </a:xfrm>
        </p:spPr>
        <p:txBody>
          <a:bodyPr vert="horz" wrap="square" lIns="91440" tIns="45720" rIns="91440" bIns="45720" anchor="t" anchorCtr="0"/>
          <a:p>
            <a:pPr>
              <a:buFont typeface="Wingdings" panose="05000000000000000000" pitchFamily="2" charset="2"/>
              <a:buNone/>
            </a:pPr>
            <a:r>
              <a:rPr kumimoji="1" lang="en-US" altLang="zh-CN" dirty="0">
                <a:cs typeface="+mn-cs"/>
              </a:rPr>
              <a:t> </a:t>
            </a:r>
            <a:r>
              <a:rPr kumimoji="1" lang="en-US" altLang="zh-CN" sz="2600" dirty="0">
                <a:cs typeface="+mn-cs"/>
              </a:rPr>
              <a:t>while</a:t>
            </a:r>
            <a:r>
              <a:rPr kumimoji="1" lang="zh-CN" altLang="zh-CN" sz="2600" dirty="0">
                <a:cs typeface="+mn-cs"/>
              </a:rPr>
              <a:t>语句的一般形式如下：</a:t>
            </a:r>
            <a:endParaRPr kumimoji="1" lang="zh-CN" altLang="zh-CN" sz="2600" dirty="0">
              <a:cs typeface="+mn-cs"/>
            </a:endParaRPr>
          </a:p>
          <a:p>
            <a:pPr>
              <a:buFont typeface="Wingdings" panose="05000000000000000000" pitchFamily="2" charset="2"/>
              <a:buNone/>
            </a:pPr>
            <a:r>
              <a:rPr kumimoji="1" lang="en-US" altLang="zh-CN" sz="2600" dirty="0">
                <a:cs typeface="+mn-cs"/>
              </a:rPr>
              <a:t>             while (</a:t>
            </a:r>
            <a:r>
              <a:rPr kumimoji="1" lang="zh-CN" altLang="zh-CN" sz="2600" dirty="0">
                <a:cs typeface="+mn-cs"/>
              </a:rPr>
              <a:t>表达式</a:t>
            </a:r>
            <a:r>
              <a:rPr kumimoji="1" lang="en-US" altLang="zh-CN" sz="2600" dirty="0">
                <a:cs typeface="+mn-cs"/>
              </a:rPr>
              <a:t>) </a:t>
            </a:r>
            <a:r>
              <a:rPr kumimoji="1" lang="zh-CN" altLang="zh-CN" sz="2600" dirty="0">
                <a:cs typeface="+mn-cs"/>
              </a:rPr>
              <a:t>语句</a:t>
            </a:r>
            <a:endParaRPr kumimoji="1" lang="en-US" altLang="zh-CN" sz="2600" dirty="0">
              <a:cs typeface="+mn-cs"/>
            </a:endParaRPr>
          </a:p>
        </p:txBody>
      </p:sp>
      <p:sp>
        <p:nvSpPr>
          <p:cNvPr id="11267"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1268"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1269"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 name="矩形 6"/>
          <p:cNvSpPr/>
          <p:nvPr/>
        </p:nvSpPr>
        <p:spPr>
          <a:xfrm>
            <a:off x="4859973" y="1341120"/>
            <a:ext cx="1214437" cy="500063"/>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0" name="TextBox 9"/>
          <p:cNvSpPr txBox="1"/>
          <p:nvPr/>
        </p:nvSpPr>
        <p:spPr>
          <a:xfrm>
            <a:off x="6372225" y="1245870"/>
            <a:ext cx="1428750" cy="690880"/>
          </a:xfrm>
          <a:prstGeom prst="rect">
            <a:avLst/>
          </a:prstGeom>
          <a:noFill/>
          <a:ln w="9525">
            <a:noFill/>
          </a:ln>
        </p:spPr>
        <p:txBody>
          <a:bodyPr>
            <a:no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循环体</a:t>
            </a:r>
            <a:endParaRPr lang="zh-CN" altLang="en-US" sz="28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spcBef>
                <a:spcPct val="0"/>
              </a:spcBef>
              <a:buFontTx/>
              <a:buNone/>
            </a:pPr>
            <a:endParaRPr lang="zh-CN" altLang="zh-CN" sz="2800" dirty="0">
              <a:solidFill>
                <a:srgbClr val="0000CC"/>
              </a:solidFill>
              <a:latin typeface="Times New Roman" panose="02020603050405020304" pitchFamily="18" charset="0"/>
              <a:ea typeface="微软雅黑" panose="020B0503020204020204" pitchFamily="34" charset="-122"/>
            </a:endParaRPr>
          </a:p>
        </p:txBody>
      </p:sp>
      <p:pic>
        <p:nvPicPr>
          <p:cNvPr id="11272" name="图片 7"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3"/>
          <p:cNvSpPr>
            <a:spLocks noGrp="1"/>
          </p:cNvSpPr>
          <p:nvPr>
            <p:ph idx="1"/>
          </p:nvPr>
        </p:nvSpPr>
        <p:spPr>
          <a:xfrm>
            <a:off x="309880" y="548640"/>
            <a:ext cx="7787005" cy="533400"/>
          </a:xfrm>
        </p:spPr>
        <p:txBody>
          <a:bodyPr vert="horz" wrap="square" lIns="91440" tIns="45720" rIns="91440" bIns="45720" anchor="t" anchorCtr="0"/>
          <a:p>
            <a:pPr>
              <a:buFont typeface="Wingdings" panose="05000000000000000000" pitchFamily="2" charset="2"/>
              <a:buNone/>
            </a:pPr>
            <a:r>
              <a:rPr kumimoji="1" lang="en-US" altLang="zh-CN" sz="2600" dirty="0">
                <a:cs typeface="+mn-cs"/>
              </a:rPr>
              <a:t>while</a:t>
            </a:r>
            <a:r>
              <a:rPr kumimoji="1" lang="zh-CN" altLang="zh-CN" sz="2600" dirty="0">
                <a:cs typeface="+mn-cs"/>
              </a:rPr>
              <a:t>语句的一般形式如下：</a:t>
            </a:r>
            <a:endParaRPr kumimoji="1" lang="zh-CN" altLang="zh-CN" sz="2600" dirty="0">
              <a:cs typeface="+mn-cs"/>
            </a:endParaRPr>
          </a:p>
          <a:p>
            <a:pPr>
              <a:buFont typeface="Wingdings" panose="05000000000000000000" pitchFamily="2" charset="2"/>
              <a:buNone/>
            </a:pPr>
            <a:r>
              <a:rPr kumimoji="1" lang="en-US" altLang="zh-CN" sz="2600" dirty="0">
                <a:cs typeface="+mn-cs"/>
              </a:rPr>
              <a:t>             while (</a:t>
            </a:r>
            <a:r>
              <a:rPr kumimoji="1" lang="zh-CN" altLang="zh-CN" sz="2600" dirty="0">
                <a:cs typeface="+mn-cs"/>
              </a:rPr>
              <a:t>表达式</a:t>
            </a:r>
            <a:r>
              <a:rPr kumimoji="1" lang="en-US" altLang="zh-CN" sz="2600" dirty="0">
                <a:cs typeface="+mn-cs"/>
              </a:rPr>
              <a:t>) </a:t>
            </a:r>
            <a:r>
              <a:rPr kumimoji="1" lang="zh-CN" altLang="zh-CN" sz="2600" dirty="0">
                <a:cs typeface="+mn-cs"/>
              </a:rPr>
              <a:t>语句</a:t>
            </a:r>
            <a:endParaRPr kumimoji="1" lang="en-US" altLang="zh-CN" sz="2600" dirty="0">
              <a:cs typeface="+mn-cs"/>
            </a:endParaRPr>
          </a:p>
        </p:txBody>
      </p:sp>
      <p:sp>
        <p:nvSpPr>
          <p:cNvPr id="12291"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2292"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2293"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 name="矩形 6"/>
          <p:cNvSpPr/>
          <p:nvPr/>
        </p:nvSpPr>
        <p:spPr>
          <a:xfrm>
            <a:off x="3491865" y="1196975"/>
            <a:ext cx="941070" cy="50038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9" name="线形标注 2 8"/>
          <p:cNvSpPr/>
          <p:nvPr/>
        </p:nvSpPr>
        <p:spPr>
          <a:xfrm>
            <a:off x="1475740" y="2277110"/>
            <a:ext cx="4500245" cy="925830"/>
          </a:xfrm>
          <a:prstGeom prst="borderCallout2">
            <a:avLst>
              <a:gd name="adj1" fmla="val 2245"/>
              <a:gd name="adj2" fmla="val 13352"/>
              <a:gd name="adj3" fmla="val -37492"/>
              <a:gd name="adj4" fmla="val 25446"/>
              <a:gd name="adj5" fmla="val -62254"/>
              <a:gd name="adj6" fmla="val 44677"/>
            </a:avLst>
          </a:prstGeom>
          <a:solidFill>
            <a:schemeClr val="accent1"/>
          </a:solid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b="1" dirty="0">
                <a:solidFill>
                  <a:srgbClr val="4545AB"/>
                </a:solidFill>
                <a:latin typeface="Arial" panose="020B0604020202020204" pitchFamily="34" charset="0"/>
                <a:ea typeface="宋体" panose="02010600030101010101" pitchFamily="2" charset="-122"/>
              </a:rPr>
              <a:t>“真”时</a:t>
            </a:r>
            <a:r>
              <a:rPr lang="zh-CN" altLang="zh-CN" sz="2600" b="1" dirty="0">
                <a:solidFill>
                  <a:srgbClr val="4545AB"/>
                </a:solidFill>
                <a:latin typeface="Arial" panose="020B0604020202020204" pitchFamily="34" charset="0"/>
                <a:ea typeface="宋体" panose="02010600030101010101" pitchFamily="2" charset="-122"/>
              </a:rPr>
              <a:t>执行循环体语句</a:t>
            </a:r>
            <a:endParaRPr lang="en-US" altLang="zh-CN" sz="2600" b="1" dirty="0">
              <a:solidFill>
                <a:srgbClr val="4545AB"/>
              </a:solidFill>
              <a:latin typeface="Arial" panose="020B0604020202020204" pitchFamily="34" charset="0"/>
              <a:ea typeface="宋体" panose="02010600030101010101" pitchFamily="2" charset="-122"/>
            </a:endParaRPr>
          </a:p>
          <a:p>
            <a:pPr marL="0" lvl="0" indent="0" eaLnBrk="1" hangingPunct="1">
              <a:lnSpc>
                <a:spcPct val="100000"/>
              </a:lnSpc>
              <a:spcBef>
                <a:spcPct val="0"/>
              </a:spcBef>
              <a:buFontTx/>
              <a:buNone/>
            </a:pPr>
            <a:r>
              <a:rPr lang="zh-CN" altLang="en-US" sz="2600" b="1" dirty="0">
                <a:solidFill>
                  <a:srgbClr val="4545AB"/>
                </a:solidFill>
                <a:latin typeface="Arial" panose="020B0604020202020204" pitchFamily="34" charset="0"/>
                <a:ea typeface="宋体" panose="02010600030101010101" pitchFamily="2" charset="-122"/>
              </a:rPr>
              <a:t>“假”时不执行</a:t>
            </a:r>
            <a:endParaRPr lang="zh-CN" altLang="en-US" sz="2600" b="1" dirty="0">
              <a:solidFill>
                <a:srgbClr val="4545AB"/>
              </a:solidFill>
              <a:latin typeface="Arial" panose="020B0604020202020204" pitchFamily="34" charset="0"/>
              <a:ea typeface="宋体" panose="02010600030101010101" pitchFamily="2" charset="-122"/>
            </a:endParaRPr>
          </a:p>
        </p:txBody>
      </p:sp>
      <p:sp>
        <p:nvSpPr>
          <p:cNvPr id="10" name="TextBox 9"/>
          <p:cNvSpPr txBox="1"/>
          <p:nvPr/>
        </p:nvSpPr>
        <p:spPr>
          <a:xfrm>
            <a:off x="5100955" y="1319530"/>
            <a:ext cx="3000375"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循环条件表达式</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sp>
        <p:nvSpPr>
          <p:cNvPr id="13" name="TextBox 12"/>
          <p:cNvSpPr txBox="1"/>
          <p:nvPr/>
        </p:nvSpPr>
        <p:spPr>
          <a:xfrm>
            <a:off x="323850" y="3717290"/>
            <a:ext cx="7429500" cy="89154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while</a:t>
            </a:r>
            <a:r>
              <a:rPr lang="zh-CN" altLang="zh-CN" sz="2600" dirty="0">
                <a:solidFill>
                  <a:srgbClr val="9D138D"/>
                </a:solidFill>
                <a:latin typeface="Times New Roman" panose="02020603050405020304" pitchFamily="18" charset="0"/>
                <a:ea typeface="微软雅黑" panose="020B0503020204020204" pitchFamily="34" charset="-122"/>
              </a:rPr>
              <a:t>循环的特点是：</a:t>
            </a:r>
            <a:endParaRPr lang="en-US"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zh-CN" altLang="zh-CN" sz="2600" dirty="0">
                <a:solidFill>
                  <a:srgbClr val="9D138D"/>
                </a:solidFill>
                <a:latin typeface="Times New Roman" panose="02020603050405020304" pitchFamily="18" charset="0"/>
                <a:ea typeface="微软雅黑" panose="020B0503020204020204" pitchFamily="34" charset="-122"/>
              </a:rPr>
              <a:t>先判断条件表达式，后执行循环体语句</a:t>
            </a:r>
            <a:endParaRPr lang="zh-CN" altLang="en-US" sz="2600" dirty="0">
              <a:solidFill>
                <a:srgbClr val="9D138D"/>
              </a:solidFill>
              <a:latin typeface="Times New Roman" panose="02020603050405020304" pitchFamily="18" charset="0"/>
              <a:ea typeface="微软雅黑" panose="020B0503020204020204" pitchFamily="34" charset="-122"/>
            </a:endParaRPr>
          </a:p>
        </p:txBody>
      </p:sp>
      <p:pic>
        <p:nvPicPr>
          <p:cNvPr id="12298" name="图片 10"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P spid="10"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Rectangle 3"/>
          <p:cNvSpPr>
            <a:spLocks noGrp="1"/>
          </p:cNvSpPr>
          <p:nvPr>
            <p:ph idx="1"/>
          </p:nvPr>
        </p:nvSpPr>
        <p:spPr>
          <a:xfrm>
            <a:off x="309880" y="620713"/>
            <a:ext cx="8072438" cy="4071937"/>
          </a:xfrm>
        </p:spPr>
        <p:txBody>
          <a:bodyPr vert="horz" wrap="square" lIns="91440" tIns="45720" rIns="91440" bIns="45720" anchor="t" anchorCtr="0"/>
          <a:p>
            <a:pPr>
              <a:buFont typeface="Wingdings" panose="05000000000000000000" pitchFamily="2" charset="2"/>
              <a:buNone/>
            </a:pPr>
            <a:r>
              <a:rPr kumimoji="1" lang="zh-CN" altLang="zh-CN" dirty="0">
                <a:solidFill>
                  <a:srgbClr val="0000CC"/>
                </a:solidFill>
                <a:cs typeface="+mn-cs"/>
              </a:rPr>
              <a:t>例</a:t>
            </a:r>
            <a:r>
              <a:rPr kumimoji="1" lang="en-US" altLang="zh-CN" dirty="0">
                <a:solidFill>
                  <a:srgbClr val="0000CC"/>
                </a:solidFill>
                <a:cs typeface="+mn-cs"/>
              </a:rPr>
              <a:t>5.1 </a:t>
            </a:r>
            <a:r>
              <a:rPr kumimoji="1" lang="zh-CN" altLang="zh-CN" dirty="0">
                <a:cs typeface="+mn-cs"/>
              </a:rPr>
              <a:t>求</a:t>
            </a:r>
            <a:r>
              <a:rPr kumimoji="1" lang="en-US" altLang="zh-CN" dirty="0">
                <a:cs typeface="+mn-cs"/>
              </a:rPr>
              <a:t>1+2+3+</a:t>
            </a:r>
            <a:r>
              <a:rPr kumimoji="1" lang="zh-CN" altLang="zh-CN" dirty="0">
                <a:cs typeface="+mn-cs"/>
              </a:rPr>
              <a:t>…</a:t>
            </a:r>
            <a:r>
              <a:rPr kumimoji="1" lang="en-US" altLang="zh-CN" dirty="0">
                <a:cs typeface="+mn-cs"/>
              </a:rPr>
              <a:t>+100</a:t>
            </a:r>
            <a:r>
              <a:rPr kumimoji="1" lang="zh-CN" altLang="zh-CN" dirty="0">
                <a:cs typeface="+mn-cs"/>
              </a:rPr>
              <a:t>，即</a:t>
            </a:r>
            <a:endParaRPr kumimoji="1" lang="en-US" altLang="zh-CN" dirty="0">
              <a:cs typeface="+mn-cs"/>
            </a:endParaRPr>
          </a:p>
          <a:p>
            <a:pPr>
              <a:lnSpc>
                <a:spcPct val="140000"/>
              </a:lnSpc>
            </a:pPr>
            <a:r>
              <a:rPr kumimoji="1" lang="zh-CN" altLang="zh-CN" sz="2600" spc="200" dirty="0">
                <a:solidFill>
                  <a:srgbClr val="235A67"/>
                </a:solidFill>
                <a:uFillTx/>
                <a:cs typeface="+mn-cs"/>
              </a:rPr>
              <a:t>解题思路：</a:t>
            </a:r>
            <a:endParaRPr kumimoji="1" lang="zh-CN" altLang="zh-CN" sz="2600" spc="200" dirty="0">
              <a:solidFill>
                <a:schemeClr val="tx1"/>
              </a:solidFill>
              <a:uFillTx/>
              <a:cs typeface="+mn-cs"/>
            </a:endParaRPr>
          </a:p>
          <a:p>
            <a:pPr lvl="1">
              <a:lnSpc>
                <a:spcPct val="140000"/>
              </a:lnSpc>
            </a:pPr>
            <a:r>
              <a:rPr kumimoji="1" lang="zh-CN" altLang="zh-CN" sz="2400" spc="200" dirty="0">
                <a:solidFill>
                  <a:srgbClr val="235A67"/>
                </a:solidFill>
                <a:uFillTx/>
              </a:rPr>
              <a:t>这是累加问题，需要先后将</a:t>
            </a:r>
            <a:r>
              <a:rPr kumimoji="1" lang="en-US" altLang="zh-CN" sz="2400" spc="200" dirty="0">
                <a:solidFill>
                  <a:srgbClr val="235A67"/>
                </a:solidFill>
                <a:uFillTx/>
              </a:rPr>
              <a:t>100</a:t>
            </a:r>
            <a:r>
              <a:rPr kumimoji="1" lang="zh-CN" altLang="zh-CN" sz="2400" spc="200" dirty="0">
                <a:solidFill>
                  <a:srgbClr val="235A67"/>
                </a:solidFill>
                <a:uFillTx/>
              </a:rPr>
              <a:t>个数相加</a:t>
            </a:r>
            <a:endParaRPr kumimoji="1" lang="en-US" altLang="zh-CN" sz="2400" spc="200" dirty="0">
              <a:solidFill>
                <a:srgbClr val="235A67"/>
              </a:solidFill>
              <a:uFillTx/>
            </a:endParaRPr>
          </a:p>
          <a:p>
            <a:pPr lvl="1">
              <a:lnSpc>
                <a:spcPct val="140000"/>
              </a:lnSpc>
            </a:pPr>
            <a:r>
              <a:rPr kumimoji="1" lang="zh-CN" altLang="zh-CN" sz="2400" spc="200" dirty="0">
                <a:solidFill>
                  <a:srgbClr val="235A67"/>
                </a:solidFill>
                <a:uFillTx/>
              </a:rPr>
              <a:t>要重复</a:t>
            </a:r>
            <a:r>
              <a:rPr kumimoji="1" lang="en-US" altLang="zh-CN" sz="2400" spc="200" dirty="0">
                <a:solidFill>
                  <a:srgbClr val="235A67"/>
                </a:solidFill>
                <a:uFillTx/>
              </a:rPr>
              <a:t>100</a:t>
            </a:r>
            <a:r>
              <a:rPr kumimoji="1" lang="zh-CN" altLang="zh-CN" sz="2400" spc="200" dirty="0">
                <a:solidFill>
                  <a:srgbClr val="235A67"/>
                </a:solidFill>
                <a:uFillTx/>
              </a:rPr>
              <a:t>次加法运算，可用循环实现</a:t>
            </a:r>
            <a:endParaRPr kumimoji="1" lang="zh-CN" altLang="zh-CN" sz="2400" spc="200" dirty="0">
              <a:solidFill>
                <a:srgbClr val="235A67"/>
              </a:solidFill>
              <a:uFillTx/>
            </a:endParaRPr>
          </a:p>
          <a:p>
            <a:pPr lvl="1">
              <a:lnSpc>
                <a:spcPct val="140000"/>
              </a:lnSpc>
            </a:pPr>
            <a:r>
              <a:rPr kumimoji="1" lang="zh-CN" altLang="zh-CN" sz="2400" spc="200" dirty="0">
                <a:solidFill>
                  <a:srgbClr val="235A67"/>
                </a:solidFill>
                <a:uFillTx/>
              </a:rPr>
              <a:t>后一个数是前一个数加</a:t>
            </a:r>
            <a:r>
              <a:rPr kumimoji="1" lang="en-US" altLang="zh-CN" sz="2400" spc="200" dirty="0">
                <a:solidFill>
                  <a:srgbClr val="235A67"/>
                </a:solidFill>
                <a:uFillTx/>
              </a:rPr>
              <a:t>1</a:t>
            </a:r>
            <a:r>
              <a:rPr kumimoji="1" lang="zh-CN" altLang="en-US" sz="2400" spc="200" dirty="0">
                <a:solidFill>
                  <a:srgbClr val="235A67"/>
                </a:solidFill>
                <a:uFillTx/>
              </a:rPr>
              <a:t>而得</a:t>
            </a:r>
            <a:endParaRPr kumimoji="1" lang="en-US" altLang="zh-CN" sz="2400" spc="200" dirty="0">
              <a:solidFill>
                <a:srgbClr val="235A67"/>
              </a:solidFill>
              <a:uFillTx/>
            </a:endParaRPr>
          </a:p>
          <a:p>
            <a:pPr lvl="1">
              <a:lnSpc>
                <a:spcPct val="140000"/>
              </a:lnSpc>
            </a:pPr>
            <a:r>
              <a:rPr kumimoji="1" lang="zh-CN" altLang="zh-CN" sz="2400" spc="200" dirty="0">
                <a:solidFill>
                  <a:srgbClr val="235A67"/>
                </a:solidFill>
                <a:uFillTx/>
              </a:rPr>
              <a:t>加完上一个数</a:t>
            </a:r>
            <a:r>
              <a:rPr kumimoji="1" lang="en-US" altLang="zh-CN" sz="2400" spc="200" dirty="0">
                <a:solidFill>
                  <a:srgbClr val="235A67"/>
                </a:solidFill>
                <a:uFillTx/>
              </a:rPr>
              <a:t>i</a:t>
            </a:r>
            <a:r>
              <a:rPr kumimoji="1" lang="zh-CN" altLang="zh-CN" sz="2400" spc="200" dirty="0">
                <a:solidFill>
                  <a:srgbClr val="235A67"/>
                </a:solidFill>
                <a:uFillTx/>
              </a:rPr>
              <a:t>后，使</a:t>
            </a:r>
            <a:r>
              <a:rPr kumimoji="1" lang="en-US" altLang="zh-CN" sz="2400" spc="200" dirty="0">
                <a:solidFill>
                  <a:srgbClr val="235A67"/>
                </a:solidFill>
                <a:uFillTx/>
              </a:rPr>
              <a:t>i</a:t>
            </a:r>
            <a:r>
              <a:rPr kumimoji="1" lang="zh-CN" altLang="zh-CN" sz="2400" spc="200" dirty="0">
                <a:solidFill>
                  <a:srgbClr val="235A67"/>
                </a:solidFill>
                <a:uFillTx/>
              </a:rPr>
              <a:t>加</a:t>
            </a:r>
            <a:r>
              <a:rPr kumimoji="1" lang="en-US" altLang="zh-CN" sz="2400" spc="200" dirty="0">
                <a:solidFill>
                  <a:srgbClr val="235A67"/>
                </a:solidFill>
                <a:uFillTx/>
              </a:rPr>
              <a:t>1</a:t>
            </a:r>
            <a:r>
              <a:rPr kumimoji="1" lang="zh-CN" altLang="zh-CN" sz="2400" spc="200" dirty="0">
                <a:solidFill>
                  <a:srgbClr val="235A67"/>
                </a:solidFill>
                <a:uFillTx/>
              </a:rPr>
              <a:t>可得到下一个数</a:t>
            </a:r>
            <a:endParaRPr kumimoji="1" lang="zh-CN" altLang="zh-CN" sz="2400" spc="200" dirty="0">
              <a:solidFill>
                <a:srgbClr val="235A67"/>
              </a:solidFill>
              <a:uFillTx/>
            </a:endParaRPr>
          </a:p>
        </p:txBody>
      </p:sp>
      <p:sp>
        <p:nvSpPr>
          <p:cNvPr id="13315"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3316"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3317"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3318"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13319" name="Object 1"/>
          <p:cNvGraphicFramePr>
            <a:graphicFrameLocks noChangeAspect="1"/>
          </p:cNvGraphicFramePr>
          <p:nvPr/>
        </p:nvGraphicFramePr>
        <p:xfrm>
          <a:off x="4643755" y="548640"/>
          <a:ext cx="558800" cy="785813"/>
        </p:xfrm>
        <a:graphic>
          <a:graphicData uri="http://schemas.openxmlformats.org/presentationml/2006/ole">
            <mc:AlternateContent xmlns:mc="http://schemas.openxmlformats.org/markup-compatibility/2006">
              <mc:Choice xmlns:v="urn:schemas-microsoft-com:vml" Requires="v">
                <p:oleObj spid="_x0000_s3076" name="" r:id="rId1" imgW="304800" imgH="431800" progId="Equation.3">
                  <p:embed/>
                </p:oleObj>
              </mc:Choice>
              <mc:Fallback>
                <p:oleObj name="" r:id="rId1" imgW="304800" imgH="431800" progId="Equation.3">
                  <p:embed/>
                  <p:pic>
                    <p:nvPicPr>
                      <p:cNvPr id="0" name="图片 3075"/>
                      <p:cNvPicPr/>
                      <p:nvPr/>
                    </p:nvPicPr>
                    <p:blipFill>
                      <a:blip r:embed="rId2"/>
                      <a:stretch>
                        <a:fillRect/>
                      </a:stretch>
                    </p:blipFill>
                    <p:spPr>
                      <a:xfrm>
                        <a:off x="4643755" y="548640"/>
                        <a:ext cx="558800" cy="785813"/>
                      </a:xfrm>
                      <a:prstGeom prst="rect">
                        <a:avLst/>
                      </a:prstGeom>
                      <a:noFill/>
                      <a:ln w="38100">
                        <a:noFill/>
                        <a:miter/>
                      </a:ln>
                    </p:spPr>
                  </p:pic>
                </p:oleObj>
              </mc:Fallback>
            </mc:AlternateContent>
          </a:graphicData>
        </a:graphic>
      </p:graphicFrame>
      <p:pic>
        <p:nvPicPr>
          <p:cNvPr id="13320" name="图片 7"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7">
                                            <p:txEl>
                                              <p:charRg st="19" end="25"/>
                                            </p:txEl>
                                          </p:spTgt>
                                        </p:tgtEl>
                                        <p:attrNameLst>
                                          <p:attrName>style.visibility</p:attrName>
                                        </p:attrNameLst>
                                      </p:cBhvr>
                                      <p:to>
                                        <p:strVal val="visible"/>
                                      </p:to>
                                    </p:set>
                                    <p:animEffect transition="in" filter="blinds(horizontal)">
                                      <p:cBhvr>
                                        <p:cTn id="7" dur="500"/>
                                        <p:tgtEl>
                                          <p:spTgt spid="1027">
                                            <p:txEl>
                                              <p:charRg st="19"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7">
                                            <p:txEl>
                                              <p:charRg st="25" end="45"/>
                                            </p:txEl>
                                          </p:spTgt>
                                        </p:tgtEl>
                                        <p:attrNameLst>
                                          <p:attrName>style.visibility</p:attrName>
                                        </p:attrNameLst>
                                      </p:cBhvr>
                                      <p:to>
                                        <p:strVal val="visible"/>
                                      </p:to>
                                    </p:set>
                                    <p:animEffect transition="in" filter="blinds(horizontal)">
                                      <p:cBhvr>
                                        <p:cTn id="12" dur="500"/>
                                        <p:tgtEl>
                                          <p:spTgt spid="1027">
                                            <p:txEl>
                                              <p:charRg st="25"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7">
                                            <p:txEl>
                                              <p:charRg st="45" end="64"/>
                                            </p:txEl>
                                          </p:spTgt>
                                        </p:tgtEl>
                                        <p:attrNameLst>
                                          <p:attrName>style.visibility</p:attrName>
                                        </p:attrNameLst>
                                      </p:cBhvr>
                                      <p:to>
                                        <p:strVal val="visible"/>
                                      </p:to>
                                    </p:set>
                                    <p:animEffect transition="in" filter="blinds(horizontal)">
                                      <p:cBhvr>
                                        <p:cTn id="17" dur="500"/>
                                        <p:tgtEl>
                                          <p:spTgt spid="1027">
                                            <p:txEl>
                                              <p:charRg st="45" end="6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27">
                                            <p:txEl>
                                              <p:charRg st="64" end="78"/>
                                            </p:txEl>
                                          </p:spTgt>
                                        </p:tgtEl>
                                        <p:attrNameLst>
                                          <p:attrName>style.visibility</p:attrName>
                                        </p:attrNameLst>
                                      </p:cBhvr>
                                      <p:to>
                                        <p:strVal val="visible"/>
                                      </p:to>
                                    </p:set>
                                    <p:animEffect transition="in" filter="blinds(horizontal)">
                                      <p:cBhvr>
                                        <p:cTn id="22" dur="500"/>
                                        <p:tgtEl>
                                          <p:spTgt spid="1027">
                                            <p:txEl>
                                              <p:charRg st="64"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27">
                                            <p:txEl>
                                              <p:charRg st="78" end="99"/>
                                            </p:txEl>
                                          </p:spTgt>
                                        </p:tgtEl>
                                        <p:attrNameLst>
                                          <p:attrName>style.visibility</p:attrName>
                                        </p:attrNameLst>
                                      </p:cBhvr>
                                      <p:to>
                                        <p:strVal val="visible"/>
                                      </p:to>
                                    </p:set>
                                    <p:animEffect transition="in" filter="blinds(horizontal)">
                                      <p:cBhvr>
                                        <p:cTn id="27" dur="500"/>
                                        <p:tgtEl>
                                          <p:spTgt spid="1027">
                                            <p:txEl>
                                              <p:charRg st="78" end="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3"/>
          <p:cNvSpPr>
            <a:spLocks noGrp="1"/>
          </p:cNvSpPr>
          <p:nvPr>
            <p:ph idx="1"/>
          </p:nvPr>
        </p:nvSpPr>
        <p:spPr>
          <a:xfrm>
            <a:off x="323215" y="571500"/>
            <a:ext cx="7500938" cy="5857875"/>
          </a:xfrm>
        </p:spPr>
        <p:txBody>
          <a:bodyPr vert="horz" wrap="square" lIns="91440" tIns="45720" rIns="91440" bIns="45720" anchor="t" anchorCtr="0"/>
          <a:p>
            <a:pPr>
              <a:lnSpc>
                <a:spcPct val="100000"/>
              </a:lnSpc>
              <a:buFont typeface="Wingdings" panose="05000000000000000000" pitchFamily="2" charset="2"/>
              <a:buNone/>
            </a:pPr>
            <a:r>
              <a:rPr kumimoji="1" lang="en-US" altLang="zh-CN" sz="2600" dirty="0">
                <a:cs typeface="+mn-cs"/>
              </a:rPr>
              <a:t>#include &lt;stdio.h&gt;</a:t>
            </a:r>
            <a:endParaRPr kumimoji="1" lang="zh-CN" altLang="zh-CN" sz="2600" dirty="0">
              <a:cs typeface="+mn-cs"/>
            </a:endParaRPr>
          </a:p>
          <a:p>
            <a:pPr>
              <a:lnSpc>
                <a:spcPct val="100000"/>
              </a:lnSpc>
              <a:buFont typeface="Wingdings" panose="05000000000000000000" pitchFamily="2" charset="2"/>
              <a:buNone/>
            </a:pPr>
            <a:r>
              <a:rPr kumimoji="1" lang="en-US" altLang="zh-CN" sz="2600" dirty="0">
                <a:cs typeface="+mn-cs"/>
              </a:rPr>
              <a:t>int main()</a:t>
            </a:r>
            <a:endParaRPr kumimoji="1" lang="zh-CN" altLang="zh-CN" sz="2600" dirty="0">
              <a:cs typeface="+mn-cs"/>
            </a:endParaRPr>
          </a:p>
          <a:p>
            <a:pPr>
              <a:lnSpc>
                <a:spcPct val="100000"/>
              </a:lnSpc>
              <a:buFont typeface="Wingdings" panose="05000000000000000000" pitchFamily="2" charset="2"/>
              <a:buNone/>
            </a:pPr>
            <a:r>
              <a:rPr kumimoji="1" lang="en-US" altLang="zh-CN" sz="2600" dirty="0">
                <a:cs typeface="+mn-cs"/>
              </a:rPr>
              <a:t>{</a:t>
            </a:r>
            <a:endParaRPr kumimoji="1" lang="zh-CN" altLang="zh-CN" sz="2600" dirty="0">
              <a:cs typeface="+mn-cs"/>
            </a:endParaRPr>
          </a:p>
          <a:p>
            <a:pPr>
              <a:lnSpc>
                <a:spcPct val="100000"/>
              </a:lnSpc>
              <a:buFont typeface="Wingdings" panose="05000000000000000000" pitchFamily="2" charset="2"/>
              <a:buNone/>
            </a:pPr>
            <a:r>
              <a:rPr kumimoji="1" lang="en-US" altLang="zh-CN" sz="2600" dirty="0">
                <a:cs typeface="+mn-cs"/>
              </a:rPr>
              <a:t>     int i=1,sum=0; </a:t>
            </a:r>
            <a:endParaRPr kumimoji="1" lang="zh-CN" altLang="zh-CN" sz="2600" dirty="0">
              <a:cs typeface="+mn-cs"/>
            </a:endParaRPr>
          </a:p>
          <a:p>
            <a:pPr>
              <a:lnSpc>
                <a:spcPct val="100000"/>
              </a:lnSpc>
              <a:buFont typeface="Wingdings" panose="05000000000000000000" pitchFamily="2" charset="2"/>
              <a:buNone/>
            </a:pPr>
            <a:r>
              <a:rPr kumimoji="1" lang="en-US" altLang="zh-CN" sz="2600" dirty="0">
                <a:cs typeface="+mn-cs"/>
              </a:rPr>
              <a:t>  </a:t>
            </a:r>
            <a:r>
              <a:rPr kumimoji="1" lang="en-US" altLang="zh-CN" sz="2600" dirty="0">
                <a:solidFill>
                  <a:srgbClr val="235A67"/>
                </a:solidFill>
                <a:cs typeface="+mn-cs"/>
              </a:rPr>
              <a:t>   while (i&lt;=100)</a:t>
            </a:r>
            <a:endParaRPr kumimoji="1" lang="zh-CN" altLang="zh-CN" sz="2600" dirty="0">
              <a:solidFill>
                <a:srgbClr val="235A67"/>
              </a:solidFill>
              <a:cs typeface="+mn-cs"/>
            </a:endParaRPr>
          </a:p>
          <a:p>
            <a:pPr>
              <a:lnSpc>
                <a:spcPct val="100000"/>
              </a:lnSpc>
              <a:buFont typeface="Wingdings" panose="05000000000000000000" pitchFamily="2" charset="2"/>
              <a:buNone/>
            </a:pPr>
            <a:r>
              <a:rPr kumimoji="1" lang="en-US" altLang="zh-CN" sz="2600" dirty="0">
                <a:solidFill>
                  <a:srgbClr val="00B050"/>
                </a:solidFill>
                <a:cs typeface="+mn-cs"/>
              </a:rPr>
              <a:t>     </a:t>
            </a:r>
            <a:r>
              <a:rPr kumimoji="1" lang="en-US" altLang="zh-CN" sz="2600" dirty="0">
                <a:solidFill>
                  <a:srgbClr val="235A67"/>
                </a:solidFill>
                <a:cs typeface="+mn-cs"/>
              </a:rPr>
              <a:t>{  sum=sum+i;                        </a:t>
            </a:r>
            <a:endParaRPr kumimoji="1" lang="zh-CN" altLang="zh-CN" sz="2600" dirty="0">
              <a:solidFill>
                <a:srgbClr val="235A67"/>
              </a:solidFill>
              <a:cs typeface="+mn-cs"/>
            </a:endParaRPr>
          </a:p>
          <a:p>
            <a:pPr>
              <a:lnSpc>
                <a:spcPct val="100000"/>
              </a:lnSpc>
              <a:buFont typeface="Wingdings" panose="05000000000000000000" pitchFamily="2" charset="2"/>
              <a:buNone/>
            </a:pPr>
            <a:r>
              <a:rPr kumimoji="1" lang="en-US" altLang="zh-CN" sz="2600" dirty="0">
                <a:solidFill>
                  <a:srgbClr val="235A67"/>
                </a:solidFill>
                <a:cs typeface="+mn-cs"/>
              </a:rPr>
              <a:t>         i++;                               </a:t>
            </a:r>
            <a:endParaRPr kumimoji="1" lang="zh-CN" altLang="zh-CN" sz="2600" dirty="0">
              <a:solidFill>
                <a:srgbClr val="235A67"/>
              </a:solidFill>
              <a:cs typeface="+mn-cs"/>
            </a:endParaRPr>
          </a:p>
          <a:p>
            <a:pPr>
              <a:lnSpc>
                <a:spcPct val="100000"/>
              </a:lnSpc>
              <a:buFont typeface="Wingdings" panose="05000000000000000000" pitchFamily="2" charset="2"/>
              <a:buNone/>
            </a:pPr>
            <a:r>
              <a:rPr kumimoji="1" lang="en-US" altLang="zh-CN" sz="2600" dirty="0">
                <a:solidFill>
                  <a:srgbClr val="235A67"/>
                </a:solidFill>
                <a:cs typeface="+mn-cs"/>
              </a:rPr>
              <a:t>     }</a:t>
            </a:r>
            <a:endParaRPr kumimoji="1" lang="zh-CN" altLang="zh-CN" sz="2600" dirty="0">
              <a:solidFill>
                <a:srgbClr val="235A67"/>
              </a:solidFill>
              <a:cs typeface="+mn-cs"/>
            </a:endParaRPr>
          </a:p>
          <a:p>
            <a:pPr>
              <a:lnSpc>
                <a:spcPct val="100000"/>
              </a:lnSpc>
              <a:buFont typeface="Wingdings" panose="05000000000000000000" pitchFamily="2" charset="2"/>
              <a:buNone/>
            </a:pPr>
            <a:r>
              <a:rPr kumimoji="1" lang="en-US" altLang="zh-CN" sz="2600" dirty="0">
                <a:cs typeface="+mn-cs"/>
              </a:rPr>
              <a:t>     printf("sum=%d\n",sum);              </a:t>
            </a:r>
            <a:endParaRPr kumimoji="1" lang="zh-CN" altLang="zh-CN" sz="2600" dirty="0">
              <a:cs typeface="+mn-cs"/>
            </a:endParaRPr>
          </a:p>
          <a:p>
            <a:pPr>
              <a:lnSpc>
                <a:spcPct val="100000"/>
              </a:lnSpc>
              <a:buFont typeface="Wingdings" panose="05000000000000000000" pitchFamily="2" charset="2"/>
              <a:buNone/>
            </a:pPr>
            <a:r>
              <a:rPr kumimoji="1" lang="en-US" altLang="zh-CN" sz="2600" dirty="0">
                <a:cs typeface="+mn-cs"/>
              </a:rPr>
              <a:t>     return 0;</a:t>
            </a:r>
            <a:endParaRPr kumimoji="1" lang="zh-CN" altLang="zh-CN" sz="2600" dirty="0">
              <a:cs typeface="+mn-cs"/>
            </a:endParaRPr>
          </a:p>
          <a:p>
            <a:pPr>
              <a:lnSpc>
                <a:spcPct val="100000"/>
              </a:lnSpc>
              <a:buFont typeface="Wingdings" panose="05000000000000000000" pitchFamily="2" charset="2"/>
              <a:buNone/>
            </a:pPr>
            <a:r>
              <a:rPr kumimoji="1" lang="en-US" altLang="zh-CN" sz="2600" dirty="0">
                <a:cs typeface="+mn-cs"/>
              </a:rPr>
              <a:t>}</a:t>
            </a:r>
            <a:endParaRPr kumimoji="1" lang="zh-CN" altLang="zh-CN" sz="2600" dirty="0">
              <a:cs typeface="+mn-cs"/>
            </a:endParaRPr>
          </a:p>
        </p:txBody>
      </p:sp>
      <p:sp>
        <p:nvSpPr>
          <p:cNvPr id="1433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4340"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4341"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4342"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 name="矩形 7"/>
          <p:cNvSpPr/>
          <p:nvPr/>
        </p:nvSpPr>
        <p:spPr>
          <a:xfrm>
            <a:off x="539750" y="2959100"/>
            <a:ext cx="2973705" cy="143256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9" name="TextBox 8"/>
          <p:cNvSpPr txBox="1"/>
          <p:nvPr/>
        </p:nvSpPr>
        <p:spPr>
          <a:xfrm>
            <a:off x="4500245" y="3254693"/>
            <a:ext cx="2428875"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复合语句</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cxnSp>
        <p:nvCxnSpPr>
          <p:cNvPr id="10" name="直接连接符 9"/>
          <p:cNvCxnSpPr/>
          <p:nvPr/>
        </p:nvCxnSpPr>
        <p:spPr>
          <a:xfrm>
            <a:off x="1691323" y="2492693"/>
            <a:ext cx="1296035" cy="0"/>
          </a:xfrm>
          <a:prstGeom prst="line">
            <a:avLst/>
          </a:prstGeom>
          <a:ln w="38100" cap="flat" cmpd="sng">
            <a:solidFill>
              <a:srgbClr val="FF0000"/>
            </a:solidFill>
            <a:prstDash val="solid"/>
            <a:miter/>
            <a:headEnd type="none" w="med" len="med"/>
            <a:tailEnd type="none" w="med" len="med"/>
          </a:ln>
        </p:spPr>
      </p:cxnSp>
      <p:sp>
        <p:nvSpPr>
          <p:cNvPr id="13" name="TextBox 12"/>
          <p:cNvSpPr txBox="1"/>
          <p:nvPr/>
        </p:nvSpPr>
        <p:spPr>
          <a:xfrm>
            <a:off x="4499610" y="2061210"/>
            <a:ext cx="1857375"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不能少</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pic>
        <p:nvPicPr>
          <p:cNvPr id="14347" name="图片 10"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slide(fromLeft)">
                                      <p:cBhvr>
                                        <p:cTn id="16" dur="500"/>
                                        <p:tgtEl>
                                          <p:spTgt spid="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p:cNvSpPr>
          <p:nvPr>
            <p:ph idx="1"/>
          </p:nvPr>
        </p:nvSpPr>
        <p:spPr>
          <a:xfrm>
            <a:off x="323215" y="621030"/>
            <a:ext cx="7500938" cy="5857875"/>
          </a:xfrm>
        </p:spPr>
        <p:txBody>
          <a:bodyPr vert="horz" wrap="square" lIns="91440" tIns="45720" rIns="91440" bIns="45720" anchor="t" anchorCtr="0"/>
          <a:p>
            <a:pPr algn="just">
              <a:lnSpc>
                <a:spcPct val="100000"/>
              </a:lnSpc>
              <a:buFont typeface="Wingdings" panose="05000000000000000000" pitchFamily="2" charset="2"/>
              <a:buNone/>
            </a:pPr>
            <a:r>
              <a:rPr kumimoji="1" lang="en-US" altLang="zh-CN" sz="2600" dirty="0">
                <a:cs typeface="+mn-cs"/>
              </a:rPr>
              <a:t>#include &lt;stdio.h&gt;</a:t>
            </a:r>
            <a:endParaRPr kumimoji="1" lang="zh-CN" altLang="zh-CN" sz="2600" dirty="0">
              <a:cs typeface="+mn-cs"/>
            </a:endParaRPr>
          </a:p>
          <a:p>
            <a:pPr algn="just">
              <a:lnSpc>
                <a:spcPct val="100000"/>
              </a:lnSpc>
              <a:buFont typeface="Wingdings" panose="05000000000000000000" pitchFamily="2" charset="2"/>
              <a:buNone/>
            </a:pPr>
            <a:r>
              <a:rPr kumimoji="1" lang="en-US" altLang="zh-CN" sz="2600" dirty="0">
                <a:cs typeface="+mn-cs"/>
              </a:rPr>
              <a:t>int main()</a:t>
            </a:r>
            <a:endParaRPr kumimoji="1" lang="zh-CN" altLang="zh-CN" sz="2600" dirty="0">
              <a:cs typeface="+mn-cs"/>
            </a:endParaRPr>
          </a:p>
          <a:p>
            <a:pPr algn="just">
              <a:lnSpc>
                <a:spcPct val="100000"/>
              </a:lnSpc>
              <a:buFont typeface="Wingdings" panose="05000000000000000000" pitchFamily="2" charset="2"/>
              <a:buNone/>
            </a:pPr>
            <a:r>
              <a:rPr kumimoji="1" lang="en-US" altLang="zh-CN" sz="2600" dirty="0">
                <a:cs typeface="+mn-cs"/>
              </a:rPr>
              <a:t>{</a:t>
            </a:r>
            <a:endParaRPr kumimoji="1" lang="zh-CN" altLang="zh-CN" sz="2600" dirty="0">
              <a:cs typeface="+mn-cs"/>
            </a:endParaRPr>
          </a:p>
          <a:p>
            <a:pPr algn="just">
              <a:lnSpc>
                <a:spcPct val="100000"/>
              </a:lnSpc>
              <a:buFont typeface="Wingdings" panose="05000000000000000000" pitchFamily="2" charset="2"/>
              <a:buNone/>
            </a:pPr>
            <a:r>
              <a:rPr kumimoji="1" lang="en-US" altLang="zh-CN" sz="2600" dirty="0">
                <a:cs typeface="+mn-cs"/>
              </a:rPr>
              <a:t>   int i=1,sum=0; </a:t>
            </a:r>
            <a:endParaRPr kumimoji="1" lang="zh-CN" altLang="zh-CN" sz="2600" dirty="0">
              <a:cs typeface="+mn-cs"/>
            </a:endParaRPr>
          </a:p>
          <a:p>
            <a:pPr algn="just">
              <a:lnSpc>
                <a:spcPct val="100000"/>
              </a:lnSpc>
              <a:buFont typeface="Wingdings" panose="05000000000000000000" pitchFamily="2" charset="2"/>
              <a:buNone/>
            </a:pPr>
            <a:r>
              <a:rPr kumimoji="1" lang="en-US" altLang="zh-CN" sz="2600" dirty="0">
                <a:cs typeface="+mn-cs"/>
              </a:rPr>
              <a:t>  </a:t>
            </a:r>
            <a:r>
              <a:rPr kumimoji="1" lang="en-US" altLang="zh-CN" sz="2600" dirty="0">
                <a:solidFill>
                  <a:srgbClr val="235A67"/>
                </a:solidFill>
                <a:cs typeface="+mn-cs"/>
              </a:rPr>
              <a:t> while (i&lt;=100)</a:t>
            </a:r>
            <a:endParaRPr kumimoji="1" lang="zh-CN" altLang="zh-CN" sz="2600" dirty="0">
              <a:solidFill>
                <a:srgbClr val="235A67"/>
              </a:solidFill>
              <a:cs typeface="+mn-cs"/>
            </a:endParaRPr>
          </a:p>
          <a:p>
            <a:pPr algn="just">
              <a:lnSpc>
                <a:spcPct val="100000"/>
              </a:lnSpc>
              <a:buFont typeface="Wingdings" panose="05000000000000000000" pitchFamily="2" charset="2"/>
              <a:buNone/>
            </a:pPr>
            <a:r>
              <a:rPr kumimoji="1" lang="en-US" altLang="zh-CN" sz="2600" dirty="0">
                <a:solidFill>
                  <a:srgbClr val="235A67"/>
                </a:solidFill>
                <a:cs typeface="+mn-cs"/>
              </a:rPr>
              <a:t>   {  sum=sum+i;                        </a:t>
            </a:r>
            <a:endParaRPr kumimoji="1" lang="zh-CN" altLang="zh-CN" sz="2600" dirty="0">
              <a:solidFill>
                <a:srgbClr val="235A67"/>
              </a:solidFill>
              <a:cs typeface="+mn-cs"/>
            </a:endParaRPr>
          </a:p>
          <a:p>
            <a:pPr algn="just">
              <a:lnSpc>
                <a:spcPct val="100000"/>
              </a:lnSpc>
              <a:buFont typeface="Wingdings" panose="05000000000000000000" pitchFamily="2" charset="2"/>
              <a:buNone/>
            </a:pPr>
            <a:r>
              <a:rPr kumimoji="1" lang="en-US" altLang="zh-CN" sz="2600" dirty="0">
                <a:solidFill>
                  <a:srgbClr val="235A67"/>
                </a:solidFill>
                <a:cs typeface="+mn-cs"/>
              </a:rPr>
              <a:t>       i++;                               </a:t>
            </a:r>
            <a:endParaRPr kumimoji="1" lang="zh-CN" altLang="zh-CN" sz="2600" dirty="0">
              <a:solidFill>
                <a:srgbClr val="235A67"/>
              </a:solidFill>
              <a:cs typeface="+mn-cs"/>
            </a:endParaRPr>
          </a:p>
          <a:p>
            <a:pPr algn="just">
              <a:lnSpc>
                <a:spcPct val="100000"/>
              </a:lnSpc>
              <a:buFont typeface="Wingdings" panose="05000000000000000000" pitchFamily="2" charset="2"/>
              <a:buNone/>
            </a:pPr>
            <a:r>
              <a:rPr kumimoji="1" lang="en-US" altLang="zh-CN" sz="2600" dirty="0">
                <a:solidFill>
                  <a:srgbClr val="235A67"/>
                </a:solidFill>
                <a:cs typeface="+mn-cs"/>
              </a:rPr>
              <a:t>   }</a:t>
            </a:r>
            <a:endParaRPr kumimoji="1" lang="zh-CN" altLang="zh-CN" sz="2600" dirty="0">
              <a:solidFill>
                <a:srgbClr val="235A67"/>
              </a:solidFill>
              <a:cs typeface="+mn-cs"/>
            </a:endParaRPr>
          </a:p>
          <a:p>
            <a:pPr algn="just">
              <a:lnSpc>
                <a:spcPct val="100000"/>
              </a:lnSpc>
              <a:buFont typeface="Wingdings" panose="05000000000000000000" pitchFamily="2" charset="2"/>
              <a:buNone/>
            </a:pPr>
            <a:r>
              <a:rPr kumimoji="1" lang="en-US" altLang="zh-CN" sz="2600" dirty="0">
                <a:cs typeface="+mn-cs"/>
              </a:rPr>
              <a:t>   printf("sum=%d\n",sum);              </a:t>
            </a:r>
            <a:endParaRPr kumimoji="1" lang="zh-CN" altLang="zh-CN" sz="2600" dirty="0">
              <a:cs typeface="+mn-cs"/>
            </a:endParaRPr>
          </a:p>
          <a:p>
            <a:pPr algn="just">
              <a:lnSpc>
                <a:spcPct val="100000"/>
              </a:lnSpc>
              <a:buFont typeface="Wingdings" panose="05000000000000000000" pitchFamily="2" charset="2"/>
              <a:buNone/>
            </a:pPr>
            <a:r>
              <a:rPr kumimoji="1" lang="en-US" altLang="zh-CN" sz="2600" dirty="0">
                <a:cs typeface="+mn-cs"/>
              </a:rPr>
              <a:t>   return 0;</a:t>
            </a:r>
            <a:endParaRPr kumimoji="1" lang="zh-CN" altLang="zh-CN" sz="2600" dirty="0">
              <a:cs typeface="+mn-cs"/>
            </a:endParaRPr>
          </a:p>
          <a:p>
            <a:pPr algn="just">
              <a:lnSpc>
                <a:spcPct val="100000"/>
              </a:lnSpc>
              <a:buFont typeface="Wingdings" panose="05000000000000000000" pitchFamily="2" charset="2"/>
              <a:buNone/>
            </a:pPr>
            <a:r>
              <a:rPr kumimoji="1" lang="en-US" altLang="zh-CN" sz="2600" dirty="0">
                <a:cs typeface="+mn-cs"/>
              </a:rPr>
              <a:t>}</a:t>
            </a:r>
            <a:endParaRPr kumimoji="1" lang="zh-CN" altLang="zh-CN" sz="2600" dirty="0">
              <a:cs typeface="+mn-cs"/>
            </a:endParaRPr>
          </a:p>
        </p:txBody>
      </p:sp>
      <p:sp>
        <p:nvSpPr>
          <p:cNvPr id="1536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5364"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5365"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5366"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9" name="TextBox 8"/>
          <p:cNvSpPr txBox="1"/>
          <p:nvPr/>
        </p:nvSpPr>
        <p:spPr>
          <a:xfrm>
            <a:off x="2999740" y="3501390"/>
            <a:ext cx="5062220" cy="491490"/>
          </a:xfrm>
          <a:prstGeom prst="rect">
            <a:avLst/>
          </a:prstGeom>
          <a:no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不能丢，否则</a:t>
            </a:r>
            <a:r>
              <a:rPr lang="zh-CN" altLang="zh-CN" sz="2600" dirty="0">
                <a:solidFill>
                  <a:srgbClr val="4545AB"/>
                </a:solidFill>
                <a:latin typeface="Times New Roman" panose="02020603050405020304" pitchFamily="18" charset="0"/>
                <a:ea typeface="微软雅黑" panose="020B0503020204020204" pitchFamily="34" charset="-122"/>
              </a:rPr>
              <a:t>循环永不结束</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cxnSp>
        <p:nvCxnSpPr>
          <p:cNvPr id="10" name="直接连接符 9"/>
          <p:cNvCxnSpPr/>
          <p:nvPr/>
        </p:nvCxnSpPr>
        <p:spPr>
          <a:xfrm>
            <a:off x="755333" y="3973195"/>
            <a:ext cx="1008380" cy="5080"/>
          </a:xfrm>
          <a:prstGeom prst="line">
            <a:avLst/>
          </a:prstGeom>
          <a:ln w="38100" cap="flat" cmpd="sng">
            <a:solidFill>
              <a:srgbClr val="FF0000"/>
            </a:solidFill>
            <a:prstDash val="solid"/>
            <a:miter/>
            <a:headEnd type="none" w="med" len="med"/>
            <a:tailEnd type="none" w="med" len="med"/>
          </a:ln>
        </p:spPr>
      </p:cxnSp>
      <p:pic>
        <p:nvPicPr>
          <p:cNvPr id="14345" name="Picture 9" descr="pic5-1"/>
          <p:cNvPicPr>
            <a:picLocks noChangeAspect="1"/>
          </p:cNvPicPr>
          <p:nvPr/>
        </p:nvPicPr>
        <p:blipFill>
          <a:blip r:embed="rId1"/>
          <a:stretch>
            <a:fillRect/>
          </a:stretch>
        </p:blipFill>
        <p:spPr>
          <a:xfrm>
            <a:off x="3491865" y="5301298"/>
            <a:ext cx="3968750" cy="571500"/>
          </a:xfrm>
          <a:prstGeom prst="rect">
            <a:avLst/>
          </a:prstGeom>
          <a:noFill/>
          <a:ln w="9525">
            <a:noFill/>
          </a:ln>
        </p:spPr>
      </p:pic>
      <p:pic>
        <p:nvPicPr>
          <p:cNvPr id="15370" name="图片 10" descr="Untitled.png">
            <a:hlinkClick r:id="rId2" action="ppaction://hlinksldjump"/>
          </p:cNvPr>
          <p:cNvPicPr>
            <a:picLocks noChangeAspect="1"/>
          </p:cNvPicPr>
          <p:nvPr/>
        </p:nvPicPr>
        <p:blipFill>
          <a:blip r:embed="rId3"/>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Left)">
                                      <p:cBhvr>
                                        <p:cTn id="7" dur="500"/>
                                        <p:tgtEl>
                                          <p:spTgt spid="1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4345"/>
                                        </p:tgtEl>
                                        <p:attrNameLst>
                                          <p:attrName>style.visibility</p:attrName>
                                        </p:attrNameLst>
                                      </p:cBhvr>
                                      <p:to>
                                        <p:strVal val="visible"/>
                                      </p:to>
                                    </p:set>
                                    <p:animEffect transition="in" filter="blinds(horizontal)">
                                      <p:cBhvr>
                                        <p:cTn id="16" dur="5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251460" y="1341120"/>
            <a:ext cx="8535035" cy="3571875"/>
          </a:xfrm>
          <a:prstGeom prst="rect">
            <a:avLst/>
          </a:prstGeom>
          <a:noFill/>
          <a:ln w="9525">
            <a:noFill/>
            <a:miter lim="800000"/>
          </a:ln>
        </p:spPr>
        <p:txBody>
          <a:bodyPr/>
          <a:lstStyle/>
          <a:p>
            <a:pPr marL="342900" marR="0" indent="-342900" defTabSz="914400">
              <a:lnSpc>
                <a:spcPts val="4000"/>
              </a:lnSpc>
              <a:spcBef>
                <a:spcPct val="20000"/>
              </a:spcBef>
              <a:buClrTx/>
              <a:buSzTx/>
              <a:buFont typeface="Wingdings" panose="05000000000000000000" pitchFamily="2" charset="2"/>
              <a:buChar char="Ø"/>
              <a:defRPr/>
            </a:pPr>
            <a:r>
              <a:rPr kumimoji="1" lang="en-US" altLang="zh-CN" sz="2500" kern="12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do---while</a:t>
            </a:r>
            <a:r>
              <a:rPr kumimoji="1" lang="zh-CN" altLang="zh-CN" sz="2500" kern="12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语句的特点：先无条件地执行循环体，然后判断循环条件是否成立</a:t>
            </a:r>
            <a:endParaRPr kumimoji="1" lang="en-US" altLang="zh-CN" sz="2500" kern="12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endParaRPr>
          </a:p>
          <a:p>
            <a:pPr marR="0" defTabSz="914400" eaLnBrk="1" hangingPunct="1">
              <a:lnSpc>
                <a:spcPts val="4000"/>
              </a:lnSpc>
              <a:buClrTx/>
              <a:buSzTx/>
              <a:buFont typeface="Wingdings" panose="05000000000000000000" pitchFamily="2" charset="2"/>
              <a:buChar char="Ø"/>
              <a:defRPr/>
            </a:pPr>
            <a:r>
              <a:rPr kumimoji="1" lang="en-US"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do---while</a:t>
            </a:r>
            <a:r>
              <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语句的一般形式为：</a:t>
            </a:r>
            <a:endPar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endParaRPr>
          </a:p>
          <a:p>
            <a:pPr marR="0" defTabSz="914400" eaLnBrk="1" hangingPunct="1">
              <a:lnSpc>
                <a:spcPts val="4000"/>
              </a:lnSpc>
              <a:buClrTx/>
              <a:buSzTx/>
              <a:buFontTx/>
              <a:buNone/>
              <a:defRPr/>
            </a:pPr>
            <a:r>
              <a:rPr kumimoji="1" lang="en-US"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           do</a:t>
            </a:r>
            <a:endPar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endParaRPr>
          </a:p>
          <a:p>
            <a:pPr marR="0" defTabSz="914400" eaLnBrk="1" hangingPunct="1">
              <a:lnSpc>
                <a:spcPts val="4000"/>
              </a:lnSpc>
              <a:buClrTx/>
              <a:buSzTx/>
              <a:buFontTx/>
              <a:buNone/>
              <a:defRPr/>
            </a:pPr>
            <a:r>
              <a:rPr kumimoji="1" lang="en-US"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语句</a:t>
            </a:r>
            <a:endPar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endParaRPr>
          </a:p>
          <a:p>
            <a:pPr marR="0" defTabSz="914400" eaLnBrk="1" hangingPunct="1">
              <a:lnSpc>
                <a:spcPts val="4000"/>
              </a:lnSpc>
              <a:buClrTx/>
              <a:buSzTx/>
              <a:buFontTx/>
              <a:buNone/>
              <a:defRPr/>
            </a:pPr>
            <a:r>
              <a:rPr kumimoji="1" lang="en-US"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           while (</a:t>
            </a:r>
            <a:r>
              <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表达式</a:t>
            </a:r>
            <a:r>
              <a:rPr kumimoji="1" lang="en-US"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a:t>
            </a:r>
            <a:r>
              <a:rPr kumimoji="1" lang="zh-CN"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rPr>
              <a:t>；</a:t>
            </a:r>
            <a:endParaRPr kumimoji="1" lang="en-US" altLang="zh-CN" sz="2500" kern="1200" cap="none" spc="0" normalizeH="0" baseline="0" noProof="0" dirty="0">
              <a:solidFill>
                <a:srgbClr val="9D138D"/>
              </a:solidFill>
              <a:latin typeface="Times New Roman" panose="02020603050405020304" pitchFamily="18" charset="0"/>
              <a:ea typeface="微软雅黑" panose="020B0503020204020204" pitchFamily="34" charset="-122"/>
              <a:cs typeface="微软雅黑" panose="020B0503020204020204" pitchFamily="34" charset="-122"/>
            </a:endParaRPr>
          </a:p>
        </p:txBody>
      </p:sp>
      <p:pic>
        <p:nvPicPr>
          <p:cNvPr id="16398" name="图片 1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16" name="Rectangle 2"/>
          <p:cNvSpPr>
            <a:spLocks noGrp="1"/>
          </p:cNvSpPr>
          <p:nvPr>
            <p:ph type="title"/>
            <p:custDataLst>
              <p:tags r:id="rId3"/>
            </p:custDataLst>
          </p:nvPr>
        </p:nvSpPr>
        <p:spPr>
          <a:xfrm>
            <a:off x="251143" y="548481"/>
            <a:ext cx="8001000" cy="645160"/>
          </a:xfrm>
        </p:spPr>
        <p:txBody>
          <a:bodyPr vert="horz" wrap="square" lIns="91440" tIns="45720" rIns="91440" bIns="45720" anchor="ctr" anchorCtr="0">
            <a:spAutoFit/>
          </a:bodyPr>
          <a:p>
            <a:pPr algn="l" eaLnBrk="1" hangingPunct="1"/>
            <a:r>
              <a:rPr lang="en-US" altLang="zh-CN" dirty="0">
                <a:sym typeface="+mn-ea"/>
              </a:rPr>
              <a:t>5.3 </a:t>
            </a:r>
            <a:r>
              <a:rPr lang="zh-CN" altLang="zh-CN" dirty="0">
                <a:sym typeface="+mn-ea"/>
              </a:rPr>
              <a:t>用</a:t>
            </a:r>
            <a:r>
              <a:rPr lang="en-US" altLang="zh-CN" dirty="0">
                <a:sym typeface="+mn-ea"/>
              </a:rPr>
              <a:t>do---while</a:t>
            </a:r>
            <a:r>
              <a:rPr lang="zh-CN" altLang="zh-CN" dirty="0">
                <a:sym typeface="+mn-ea"/>
              </a:rPr>
              <a:t>语句实现循环</a:t>
            </a:r>
            <a:endParaRPr lang="zh-CN" altLang="zh-CN" dirty="0">
              <a:solidFill>
                <a:srgbClr val="235A67"/>
              </a:solidFill>
            </a:endParaRPr>
          </a:p>
        </p:txBody>
      </p:sp>
      <p:grpSp>
        <p:nvGrpSpPr>
          <p:cNvPr id="6" name="组合 5"/>
          <p:cNvGrpSpPr/>
          <p:nvPr/>
        </p:nvGrpSpPr>
        <p:grpSpPr>
          <a:xfrm>
            <a:off x="4860290" y="3068320"/>
            <a:ext cx="3429635" cy="2499360"/>
            <a:chOff x="8437" y="5851"/>
            <a:chExt cx="5401" cy="3936"/>
          </a:xfrm>
        </p:grpSpPr>
        <p:sp>
          <p:nvSpPr>
            <p:cNvPr id="5" name="流程图: 决策 4"/>
            <p:cNvSpPr/>
            <p:nvPr/>
          </p:nvSpPr>
          <p:spPr>
            <a:xfrm>
              <a:off x="9338" y="7988"/>
              <a:ext cx="4500" cy="112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300" dirty="0">
                  <a:latin typeface="Times New Roman" panose="02020603050405020304" pitchFamily="18" charset="0"/>
                  <a:ea typeface="微软雅黑" panose="020B0503020204020204" pitchFamily="34" charset="-122"/>
                </a:rPr>
                <a:t>表达式</a:t>
              </a:r>
              <a:endParaRPr lang="zh-CN" altLang="en-US" sz="2300" dirty="0">
                <a:latin typeface="Times New Roman" panose="02020603050405020304" pitchFamily="18" charset="0"/>
                <a:ea typeface="微软雅黑" panose="020B0503020204020204" pitchFamily="34" charset="-122"/>
              </a:endParaRPr>
            </a:p>
          </p:txBody>
        </p:sp>
        <p:sp>
          <p:nvSpPr>
            <p:cNvPr id="7" name="TextBox 6"/>
            <p:cNvSpPr txBox="1"/>
            <p:nvPr/>
          </p:nvSpPr>
          <p:spPr>
            <a:xfrm>
              <a:off x="8663" y="7650"/>
              <a:ext cx="787" cy="701"/>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300" dirty="0">
                  <a:latin typeface="Times New Roman" panose="02020603050405020304" pitchFamily="18" charset="0"/>
                  <a:ea typeface="微软雅黑" panose="020B0503020204020204" pitchFamily="34" charset="-122"/>
                </a:rPr>
                <a:t>Y</a:t>
              </a:r>
              <a:endParaRPr lang="en-US" altLang="zh-CN" sz="2300" dirty="0">
                <a:latin typeface="Times New Roman" panose="02020603050405020304" pitchFamily="18" charset="0"/>
                <a:ea typeface="微软雅黑" panose="020B0503020204020204" pitchFamily="34" charset="-122"/>
              </a:endParaRPr>
            </a:p>
          </p:txBody>
        </p:sp>
        <p:sp>
          <p:nvSpPr>
            <p:cNvPr id="8" name="TextBox 7"/>
            <p:cNvSpPr txBox="1"/>
            <p:nvPr/>
          </p:nvSpPr>
          <p:spPr>
            <a:xfrm>
              <a:off x="11700" y="9000"/>
              <a:ext cx="788" cy="701"/>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300" dirty="0">
                  <a:latin typeface="Times New Roman" panose="02020603050405020304" pitchFamily="18" charset="0"/>
                  <a:ea typeface="微软雅黑" panose="020B0503020204020204" pitchFamily="34" charset="-122"/>
                </a:rPr>
                <a:t>N</a:t>
              </a:r>
              <a:endParaRPr lang="en-US" altLang="zh-CN" sz="2300" dirty="0">
                <a:latin typeface="Times New Roman" panose="02020603050405020304" pitchFamily="18" charset="0"/>
                <a:ea typeface="微软雅黑" panose="020B0503020204020204" pitchFamily="34" charset="-122"/>
              </a:endParaRPr>
            </a:p>
          </p:txBody>
        </p:sp>
        <p:sp>
          <p:nvSpPr>
            <p:cNvPr id="9" name="流程图: 过程 8"/>
            <p:cNvSpPr/>
            <p:nvPr/>
          </p:nvSpPr>
          <p:spPr>
            <a:xfrm>
              <a:off x="9695" y="6546"/>
              <a:ext cx="3712" cy="767"/>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300" dirty="0">
                <a:latin typeface="Times New Roman" panose="02020603050405020304" pitchFamily="18" charset="0"/>
                <a:ea typeface="微软雅黑" panose="020B0503020204020204" pitchFamily="34" charset="-122"/>
              </a:endParaRPr>
            </a:p>
          </p:txBody>
        </p:sp>
        <p:cxnSp>
          <p:nvCxnSpPr>
            <p:cNvPr id="10" name="直接箭头连接符 9"/>
            <p:cNvCxnSpPr/>
            <p:nvPr/>
          </p:nvCxnSpPr>
          <p:spPr>
            <a:xfrm rot="-5400000" flipH="1">
              <a:off x="11250" y="7650"/>
              <a:ext cx="675" cy="0"/>
            </a:xfrm>
            <a:prstGeom prst="straightConnector1">
              <a:avLst/>
            </a:prstGeom>
            <a:ln w="38100" cap="flat" cmpd="sng">
              <a:solidFill>
                <a:schemeClr val="tx1"/>
              </a:solidFill>
              <a:prstDash val="solid"/>
              <a:miter/>
              <a:headEnd type="none" w="med" len="med"/>
              <a:tailEnd type="arrow" w="med" len="med"/>
            </a:ln>
          </p:spPr>
        </p:cxnSp>
        <p:cxnSp>
          <p:nvCxnSpPr>
            <p:cNvPr id="11" name="直接连接符 10"/>
            <p:cNvCxnSpPr/>
            <p:nvPr/>
          </p:nvCxnSpPr>
          <p:spPr>
            <a:xfrm rot="-10800000" flipV="1">
              <a:off x="8438" y="8550"/>
              <a:ext cx="787" cy="0"/>
            </a:xfrm>
            <a:prstGeom prst="line">
              <a:avLst/>
            </a:prstGeom>
            <a:ln w="38100" cap="flat" cmpd="sng">
              <a:solidFill>
                <a:schemeClr val="tx1"/>
              </a:solidFill>
              <a:prstDash val="solid"/>
              <a:miter/>
              <a:headEnd type="none" w="med" len="med"/>
              <a:tailEnd type="none" w="med" len="med"/>
            </a:ln>
          </p:spPr>
        </p:cxnSp>
        <p:cxnSp>
          <p:nvCxnSpPr>
            <p:cNvPr id="12" name="直接箭头连接符 11"/>
            <p:cNvCxnSpPr/>
            <p:nvPr/>
          </p:nvCxnSpPr>
          <p:spPr>
            <a:xfrm rot="-5400000" flipH="1">
              <a:off x="11250" y="6188"/>
              <a:ext cx="675" cy="0"/>
            </a:xfrm>
            <a:prstGeom prst="straightConnector1">
              <a:avLst/>
            </a:prstGeom>
            <a:ln w="38100" cap="flat" cmpd="sng">
              <a:solidFill>
                <a:schemeClr val="tx1"/>
              </a:solidFill>
              <a:prstDash val="solid"/>
              <a:miter/>
              <a:headEnd type="none" w="med" len="med"/>
              <a:tailEnd type="arrow" w="med" len="med"/>
            </a:ln>
          </p:spPr>
        </p:cxnSp>
        <p:cxnSp>
          <p:nvCxnSpPr>
            <p:cNvPr id="13" name="直接箭头连接符 12"/>
            <p:cNvCxnSpPr/>
            <p:nvPr/>
          </p:nvCxnSpPr>
          <p:spPr>
            <a:xfrm rot="-5400000" flipH="1">
              <a:off x="11250" y="9450"/>
              <a:ext cx="675" cy="0"/>
            </a:xfrm>
            <a:prstGeom prst="straightConnector1">
              <a:avLst/>
            </a:prstGeom>
            <a:ln w="38100" cap="flat" cmpd="sng">
              <a:solidFill>
                <a:schemeClr val="tx1"/>
              </a:solidFill>
              <a:prstDash val="solid"/>
              <a:miter/>
              <a:headEnd type="none" w="med" len="med"/>
              <a:tailEnd type="arrow" w="med" len="med"/>
            </a:ln>
          </p:spPr>
        </p:cxnSp>
        <p:cxnSp>
          <p:nvCxnSpPr>
            <p:cNvPr id="14" name="直接连接符 13"/>
            <p:cNvCxnSpPr/>
            <p:nvPr/>
          </p:nvCxnSpPr>
          <p:spPr>
            <a:xfrm rot="-5400000" flipV="1">
              <a:off x="7200" y="7313"/>
              <a:ext cx="2475" cy="0"/>
            </a:xfrm>
            <a:prstGeom prst="line">
              <a:avLst/>
            </a:prstGeom>
            <a:ln w="38100" cap="flat" cmpd="sng">
              <a:solidFill>
                <a:schemeClr val="tx1"/>
              </a:solidFill>
              <a:prstDash val="solid"/>
              <a:miter/>
              <a:headEnd type="none" w="med" len="med"/>
              <a:tailEnd type="none" w="med" len="med"/>
            </a:ln>
          </p:spPr>
        </p:cxnSp>
        <p:cxnSp>
          <p:nvCxnSpPr>
            <p:cNvPr id="17" name="直接箭头连接符 16"/>
            <p:cNvCxnSpPr/>
            <p:nvPr/>
          </p:nvCxnSpPr>
          <p:spPr>
            <a:xfrm flipV="1">
              <a:off x="8438" y="6075"/>
              <a:ext cx="3150" cy="0"/>
            </a:xfrm>
            <a:prstGeom prst="straightConnector1">
              <a:avLst/>
            </a:prstGeom>
            <a:ln w="38100" cap="flat" cmpd="sng">
              <a:solidFill>
                <a:schemeClr val="tx1"/>
              </a:solidFill>
              <a:prstDash val="solid"/>
              <a:miter/>
              <a:headEnd type="none" w="med" len="med"/>
              <a:tailEnd type="arrow" w="med" len="med"/>
            </a:ln>
          </p:spPr>
        </p:cxnSp>
        <p:sp>
          <p:nvSpPr>
            <p:cNvPr id="2" name="文本框 1"/>
            <p:cNvSpPr txBox="1"/>
            <p:nvPr/>
          </p:nvSpPr>
          <p:spPr>
            <a:xfrm>
              <a:off x="9425" y="6616"/>
              <a:ext cx="4413" cy="701"/>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2300" dirty="0">
                  <a:latin typeface="Times New Roman" panose="02020603050405020304" pitchFamily="18" charset="0"/>
                  <a:ea typeface="微软雅黑" panose="020B0503020204020204" pitchFamily="34" charset="-122"/>
                  <a:sym typeface="+mn-ea"/>
                </a:rPr>
                <a:t>循环体语句</a:t>
              </a:r>
              <a:endParaRPr lang="zh-CN" altLang="en-US" sz="2300">
                <a:latin typeface="Arial" panose="020B0604020202020204" pitchFamily="34" charset="0"/>
                <a:ea typeface="微软雅黑" panose="020B0503020204020204" pitchFamily="34" charset="-122"/>
              </a:endParaRPr>
            </a:p>
          </p:txBody>
        </p:sp>
      </p:gr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charRg st="40" end="60"/>
                                            </p:txEl>
                                          </p:spTgt>
                                        </p:tgtEl>
                                        <p:attrNameLst>
                                          <p:attrName>style.visibility</p:attrName>
                                        </p:attrNameLst>
                                      </p:cBhvr>
                                      <p:to>
                                        <p:strVal val="visible"/>
                                      </p:to>
                                    </p:set>
                                    <p:animEffect transition="in" filter="blinds(horizontal)">
                                      <p:cBhvr>
                                        <p:cTn id="7" dur="500"/>
                                        <p:tgtEl>
                                          <p:spTgt spid="4">
                                            <p:txEl>
                                              <p:charRg st="40" end="6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charRg st="60" end="74"/>
                                            </p:txEl>
                                          </p:spTgt>
                                        </p:tgtEl>
                                        <p:attrNameLst>
                                          <p:attrName>style.visibility</p:attrName>
                                        </p:attrNameLst>
                                      </p:cBhvr>
                                      <p:to>
                                        <p:strVal val="visible"/>
                                      </p:to>
                                    </p:set>
                                    <p:animEffect transition="in" filter="blinds(horizontal)">
                                      <p:cBhvr>
                                        <p:cTn id="10" dur="500"/>
                                        <p:tgtEl>
                                          <p:spTgt spid="4">
                                            <p:txEl>
                                              <p:charRg st="60" end="7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charRg st="74" end="95"/>
                                            </p:txEl>
                                          </p:spTgt>
                                        </p:tgtEl>
                                        <p:attrNameLst>
                                          <p:attrName>style.visibility</p:attrName>
                                        </p:attrNameLst>
                                      </p:cBhvr>
                                      <p:to>
                                        <p:strVal val="visible"/>
                                      </p:to>
                                    </p:set>
                                    <p:animEffect transition="in" filter="blinds(horizontal)">
                                      <p:cBhvr>
                                        <p:cTn id="13" dur="500"/>
                                        <p:tgtEl>
                                          <p:spTgt spid="4">
                                            <p:txEl>
                                              <p:charRg st="74" end="9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charRg st="95" end="119"/>
                                            </p:txEl>
                                          </p:spTgt>
                                        </p:tgtEl>
                                        <p:attrNameLst>
                                          <p:attrName>style.visibility</p:attrName>
                                        </p:attrNameLst>
                                      </p:cBhvr>
                                      <p:to>
                                        <p:strVal val="visible"/>
                                      </p:to>
                                    </p:set>
                                    <p:animEffect transition="in" filter="blinds(horizontal)">
                                      <p:cBhvr>
                                        <p:cTn id="16" dur="500"/>
                                        <p:tgtEl>
                                          <p:spTgt spid="4">
                                            <p:txEl>
                                              <p:charRg st="95"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309880" y="1193800"/>
            <a:ext cx="8477885" cy="2091690"/>
          </a:xfrm>
          <a:prstGeom prst="rect">
            <a:avLst/>
          </a:prstGeom>
          <a:noFill/>
          <a:ln w="9525">
            <a:noFill/>
            <a:miter lim="800000"/>
          </a:ln>
        </p:spPr>
        <p:txBody>
          <a:bodyPr/>
          <a:lstStyle/>
          <a:p>
            <a:pPr marL="342900" marR="0" indent="-342900" defTabSz="914400">
              <a:lnSpc>
                <a:spcPct val="120000"/>
              </a:lnSpc>
              <a:spcBef>
                <a:spcPct val="20000"/>
              </a:spcBef>
              <a:buClrTx/>
              <a:buSzTx/>
              <a:buFontTx/>
              <a:buNone/>
              <a:defRPr/>
            </a:pPr>
            <a:r>
              <a:rPr kumimoji="1" lang="zh-CN" altLang="zh-CN" sz="2600" spc="200" baseline="0" noProof="0" dirty="0">
                <a:solidFill>
                  <a:srgbClr val="0000CC"/>
                </a:solidFill>
                <a:latin typeface="Times New Roman" panose="02020603050405020304" pitchFamily="18" charset="0"/>
                <a:ea typeface="微软雅黑" panose="020B0503020204020204" pitchFamily="34" charset="-122"/>
                <a:cs typeface="微软雅黑" panose="020B0503020204020204" pitchFamily="34" charset="-122"/>
              </a:rPr>
              <a:t>例</a:t>
            </a:r>
            <a:r>
              <a:rPr kumimoji="1" lang="en-US" altLang="zh-CN" sz="2600" spc="200" baseline="0" noProof="0" dirty="0">
                <a:solidFill>
                  <a:srgbClr val="0000CC"/>
                </a:solidFill>
                <a:latin typeface="Times New Roman" panose="02020603050405020304" pitchFamily="18" charset="0"/>
                <a:ea typeface="微软雅黑" panose="020B0503020204020204" pitchFamily="34" charset="-122"/>
                <a:cs typeface="微软雅黑" panose="020B0503020204020204" pitchFamily="34" charset="-122"/>
              </a:rPr>
              <a:t>5.2 </a:t>
            </a:r>
            <a:r>
              <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用</a:t>
            </a:r>
            <a:r>
              <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do</a:t>
            </a:r>
            <a:r>
              <a:rPr kumimoji="1" lang="zh-CN"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a:t>
            </a:r>
            <a:r>
              <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while</a:t>
            </a:r>
            <a:r>
              <a:rPr kumimoji="1" lang="zh-CN"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语句求</a:t>
            </a:r>
            <a:r>
              <a:rPr kumimoji="1" lang="zh-CN" altLang="en-US"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   </a:t>
            </a:r>
            <a:endPar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endParaRPr>
          </a:p>
          <a:p>
            <a:pPr marL="342900" marR="0" indent="-342900" defTabSz="914400">
              <a:lnSpc>
                <a:spcPct val="120000"/>
              </a:lnSpc>
              <a:spcBef>
                <a:spcPct val="20000"/>
              </a:spcBef>
              <a:buClrTx/>
              <a:buSzTx/>
              <a:buFontTx/>
              <a:buNone/>
              <a:defRPr/>
            </a:pPr>
            <a:r>
              <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           1+2+3+</a:t>
            </a:r>
            <a:r>
              <a:rPr kumimoji="1" lang="zh-CN"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a:t>
            </a:r>
            <a:r>
              <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+100</a:t>
            </a:r>
            <a:r>
              <a:rPr kumimoji="1" lang="zh-CN"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rPr>
              <a:t>，即</a:t>
            </a:r>
            <a:endParaRPr kumimoji="1" lang="en-US" altLang="zh-CN" sz="2600" spc="200" baseline="0" noProof="0" dirty="0">
              <a:latin typeface="Times New Roman" panose="02020603050405020304" pitchFamily="18" charset="0"/>
              <a:ea typeface="微软雅黑" panose="020B0503020204020204" pitchFamily="34" charset="-122"/>
              <a:cs typeface="微软雅黑" panose="020B0503020204020204" pitchFamily="34" charset="-122"/>
            </a:endParaRPr>
          </a:p>
        </p:txBody>
      </p:sp>
      <p:sp>
        <p:nvSpPr>
          <p:cNvPr id="17412"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17413" name="Object 1"/>
          <p:cNvGraphicFramePr>
            <a:graphicFrameLocks noChangeAspect="1"/>
          </p:cNvGraphicFramePr>
          <p:nvPr/>
        </p:nvGraphicFramePr>
        <p:xfrm>
          <a:off x="4787742" y="1557020"/>
          <a:ext cx="643255" cy="958215"/>
        </p:xfrm>
        <a:graphic>
          <a:graphicData uri="http://schemas.openxmlformats.org/presentationml/2006/ole">
            <mc:AlternateContent xmlns:mc="http://schemas.openxmlformats.org/markup-compatibility/2006">
              <mc:Choice xmlns:v="urn:schemas-microsoft-com:vml" Requires="v">
                <p:oleObj spid="_x0000_s3076" name="" r:id="rId1" imgW="304800" imgH="457200" progId="Equation.3">
                  <p:embed/>
                </p:oleObj>
              </mc:Choice>
              <mc:Fallback>
                <p:oleObj name="" r:id="rId1" imgW="304800" imgH="457200" progId="Equation.3">
                  <p:embed/>
                  <p:pic>
                    <p:nvPicPr>
                      <p:cNvPr id="0" name="图片 3075"/>
                      <p:cNvPicPr/>
                      <p:nvPr/>
                    </p:nvPicPr>
                    <p:blipFill>
                      <a:blip r:embed="rId2"/>
                      <a:stretch>
                        <a:fillRect/>
                      </a:stretch>
                    </p:blipFill>
                    <p:spPr>
                      <a:xfrm>
                        <a:off x="4787742" y="1557020"/>
                        <a:ext cx="643255" cy="958215"/>
                      </a:xfrm>
                      <a:prstGeom prst="rect">
                        <a:avLst/>
                      </a:prstGeom>
                      <a:noFill/>
                      <a:ln w="38100">
                        <a:noFill/>
                        <a:miter/>
                      </a:ln>
                    </p:spPr>
                  </p:pic>
                </p:oleObj>
              </mc:Fallback>
            </mc:AlternateContent>
          </a:graphicData>
        </a:graphic>
      </p:graphicFrame>
      <p:pic>
        <p:nvPicPr>
          <p:cNvPr id="17414" name="图片 5"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5"/>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5.3 </a:t>
            </a:r>
            <a:r>
              <a:rPr lang="zh-CN" altLang="zh-CN" dirty="0">
                <a:sym typeface="+mn-ea"/>
              </a:rPr>
              <a:t>用</a:t>
            </a:r>
            <a:r>
              <a:rPr lang="en-US" altLang="zh-CN" dirty="0">
                <a:solidFill>
                  <a:srgbClr val="235A67"/>
                </a:solidFill>
                <a:sym typeface="+mn-ea"/>
              </a:rPr>
              <a:t>do</a:t>
            </a:r>
            <a:r>
              <a:rPr lang="en-US" altLang="zh-CN" dirty="0">
                <a:solidFill>
                  <a:srgbClr val="507B85"/>
                </a:solidFill>
                <a:sym typeface="+mn-ea"/>
              </a:rPr>
              <a:t>---</a:t>
            </a:r>
            <a:r>
              <a:rPr lang="en-US" altLang="zh-CN" dirty="0">
                <a:sym typeface="+mn-ea"/>
              </a:rPr>
              <a:t>while</a:t>
            </a:r>
            <a:r>
              <a:rPr lang="zh-CN" altLang="zh-CN" dirty="0">
                <a:sym typeface="+mn-ea"/>
              </a:rPr>
              <a:t>语句实现循环</a:t>
            </a:r>
            <a:endParaRPr lang="zh-CN" altLang="zh-CN" dirty="0">
              <a:solidFill>
                <a:srgbClr val="235A67"/>
              </a:solidFill>
            </a:endParaRPr>
          </a:p>
        </p:txBody>
      </p:sp>
      <p:sp>
        <p:nvSpPr>
          <p:cNvPr id="2" name="Rectangle 3"/>
          <p:cNvSpPr txBox="1">
            <a:spLocks noChangeArrowheads="1"/>
          </p:cNvSpPr>
          <p:nvPr>
            <p:custDataLst>
              <p:tags r:id="rId6"/>
            </p:custDataLst>
          </p:nvPr>
        </p:nvSpPr>
        <p:spPr bwMode="auto">
          <a:xfrm>
            <a:off x="309563" y="2205038"/>
            <a:ext cx="3357563" cy="857250"/>
          </a:xfrm>
          <a:prstGeom prst="rect">
            <a:avLst/>
          </a:prstGeom>
          <a:noFill/>
          <a:ln w="9525">
            <a:noFill/>
            <a:miter lim="800000"/>
          </a:ln>
        </p:spPr>
        <p:txBody>
          <a:bodyPr/>
          <a:p>
            <a:pPr marL="342900" marR="0" indent="-342900" defTabSz="914400">
              <a:lnSpc>
                <a:spcPct val="120000"/>
              </a:lnSpc>
              <a:spcBef>
                <a:spcPct val="20000"/>
              </a:spcBef>
              <a:buClrTx/>
              <a:buSzTx/>
              <a:buFont typeface="Wingdings" panose="05000000000000000000" pitchFamily="2" charset="2"/>
              <a:buChar char="Ø"/>
              <a:defRPr/>
            </a:pPr>
            <a:r>
              <a:rPr kumimoji="1" lang="zh-CN" altLang="zh-CN" sz="2600" kern="1200" cap="none" spc="0" normalizeH="0" baseline="0" noProof="0" dirty="0">
                <a:solidFill>
                  <a:srgbClr val="235A67"/>
                </a:solidFill>
                <a:latin typeface="Times New Roman" panose="02020603050405020304" pitchFamily="18" charset="0"/>
                <a:ea typeface="微软雅黑" panose="020B0503020204020204" pitchFamily="34" charset="-122"/>
                <a:cs typeface="+mn-cs"/>
              </a:rPr>
              <a:t>解题思路：</a:t>
            </a:r>
            <a:endParaRPr kumimoji="1" lang="zh-CN" altLang="zh-CN" sz="2600" kern="1200" cap="none" spc="0" normalizeH="0" baseline="0" noProof="0" dirty="0">
              <a:solidFill>
                <a:srgbClr val="235A67"/>
              </a:solidFill>
              <a:latin typeface="Times New Roman" panose="02020603050405020304" pitchFamily="18" charset="0"/>
              <a:ea typeface="微软雅黑" panose="020B0503020204020204" pitchFamily="34" charset="-122"/>
              <a:cs typeface="+mn-cs"/>
            </a:endParaRPr>
          </a:p>
        </p:txBody>
      </p:sp>
      <p:grpSp>
        <p:nvGrpSpPr>
          <p:cNvPr id="3" name="组合 2"/>
          <p:cNvGrpSpPr/>
          <p:nvPr/>
        </p:nvGrpSpPr>
        <p:grpSpPr>
          <a:xfrm>
            <a:off x="1011555" y="2424430"/>
            <a:ext cx="3357880" cy="4349115"/>
            <a:chOff x="1290" y="3488"/>
            <a:chExt cx="5288" cy="6849"/>
          </a:xfrm>
        </p:grpSpPr>
        <p:sp>
          <p:nvSpPr>
            <p:cNvPr id="6" name="流程图: 决策 5"/>
            <p:cNvSpPr/>
            <p:nvPr>
              <p:custDataLst>
                <p:tags r:id="rId7"/>
              </p:custDataLst>
            </p:nvPr>
          </p:nvSpPr>
          <p:spPr>
            <a:xfrm>
              <a:off x="2078" y="8438"/>
              <a:ext cx="4500" cy="112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i</a:t>
              </a:r>
              <a:r>
                <a:rPr lang="zh-CN" altLang="zh-CN" sz="2600" dirty="0">
                  <a:latin typeface="Times New Roman" panose="02020603050405020304" pitchFamily="18" charset="0"/>
                  <a:ea typeface="微软雅黑" panose="020B0503020204020204" pitchFamily="34" charset="-122"/>
                </a:rPr>
                <a:t> ≤</a:t>
              </a:r>
              <a:r>
                <a:rPr lang="en-US" altLang="zh-CN" sz="2600" dirty="0">
                  <a:latin typeface="Times New Roman" panose="02020603050405020304" pitchFamily="18" charset="0"/>
                  <a:ea typeface="微软雅黑" panose="020B0503020204020204" pitchFamily="34" charset="-122"/>
                </a:rPr>
                <a:t>100</a:t>
              </a:r>
              <a:endParaRPr lang="zh-CN" altLang="en-US" sz="2600" dirty="0">
                <a:latin typeface="Times New Roman" panose="02020603050405020304" pitchFamily="18" charset="0"/>
                <a:ea typeface="微软雅黑" panose="020B0503020204020204" pitchFamily="34" charset="-122"/>
              </a:endParaRPr>
            </a:p>
          </p:txBody>
        </p:sp>
        <p:sp>
          <p:nvSpPr>
            <p:cNvPr id="7" name="TextBox 6"/>
            <p:cNvSpPr txBox="1"/>
            <p:nvPr>
              <p:custDataLst>
                <p:tags r:id="rId8"/>
              </p:custDataLst>
            </p:nvPr>
          </p:nvSpPr>
          <p:spPr>
            <a:xfrm>
              <a:off x="1515" y="8213"/>
              <a:ext cx="788" cy="774"/>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Y</a:t>
              </a:r>
              <a:endParaRPr lang="en-US" altLang="zh-CN" sz="2600" dirty="0">
                <a:latin typeface="Times New Roman" panose="02020603050405020304" pitchFamily="18" charset="0"/>
                <a:ea typeface="微软雅黑" panose="020B0503020204020204" pitchFamily="34" charset="-122"/>
              </a:endParaRPr>
            </a:p>
          </p:txBody>
        </p:sp>
        <p:sp>
          <p:nvSpPr>
            <p:cNvPr id="8" name="TextBox 7"/>
            <p:cNvSpPr txBox="1"/>
            <p:nvPr>
              <p:custDataLst>
                <p:tags r:id="rId9"/>
              </p:custDataLst>
            </p:nvPr>
          </p:nvSpPr>
          <p:spPr>
            <a:xfrm>
              <a:off x="4440" y="9563"/>
              <a:ext cx="788" cy="774"/>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N</a:t>
              </a:r>
              <a:endParaRPr lang="en-US" altLang="zh-CN" sz="2600" dirty="0">
                <a:latin typeface="Times New Roman" panose="02020603050405020304" pitchFamily="18" charset="0"/>
                <a:ea typeface="微软雅黑" panose="020B0503020204020204" pitchFamily="34" charset="-122"/>
              </a:endParaRPr>
            </a:p>
          </p:txBody>
        </p:sp>
        <p:sp>
          <p:nvSpPr>
            <p:cNvPr id="9" name="流程图: 过程 8"/>
            <p:cNvSpPr/>
            <p:nvPr>
              <p:custDataLst>
                <p:tags r:id="rId10"/>
              </p:custDataLst>
            </p:nvPr>
          </p:nvSpPr>
          <p:spPr>
            <a:xfrm>
              <a:off x="2528" y="6300"/>
              <a:ext cx="3712" cy="1463"/>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sum=sum+i</a:t>
              </a:r>
              <a:endParaRPr lang="en-US" altLang="zh-CN" sz="2600" dirty="0">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i=i+1</a:t>
              </a:r>
              <a:endParaRPr lang="zh-CN" altLang="en-US" sz="2600" dirty="0">
                <a:latin typeface="Times New Roman" panose="02020603050405020304" pitchFamily="18" charset="0"/>
                <a:ea typeface="微软雅黑" panose="020B0503020204020204" pitchFamily="34" charset="-122"/>
              </a:endParaRPr>
            </a:p>
          </p:txBody>
        </p:sp>
        <p:cxnSp>
          <p:nvCxnSpPr>
            <p:cNvPr id="10" name="直接箭头连接符 9"/>
            <p:cNvCxnSpPr/>
            <p:nvPr>
              <p:custDataLst>
                <p:tags r:id="rId11"/>
              </p:custDataLst>
            </p:nvPr>
          </p:nvCxnSpPr>
          <p:spPr>
            <a:xfrm rot="-5400000" flipH="1">
              <a:off x="3990" y="8100"/>
              <a:ext cx="675" cy="0"/>
            </a:xfrm>
            <a:prstGeom prst="straightConnector1">
              <a:avLst/>
            </a:prstGeom>
            <a:ln w="38100" cap="flat" cmpd="sng">
              <a:solidFill>
                <a:schemeClr val="tx1"/>
              </a:solidFill>
              <a:prstDash val="solid"/>
              <a:miter/>
              <a:headEnd type="none" w="med" len="med"/>
              <a:tailEnd type="arrow" w="med" len="med"/>
            </a:ln>
          </p:spPr>
        </p:cxnSp>
        <p:cxnSp>
          <p:nvCxnSpPr>
            <p:cNvPr id="11" name="直接连接符 10"/>
            <p:cNvCxnSpPr/>
            <p:nvPr>
              <p:custDataLst>
                <p:tags r:id="rId12"/>
              </p:custDataLst>
            </p:nvPr>
          </p:nvCxnSpPr>
          <p:spPr>
            <a:xfrm rot="-10800000" flipV="1">
              <a:off x="1290" y="9000"/>
              <a:ext cx="788" cy="0"/>
            </a:xfrm>
            <a:prstGeom prst="line">
              <a:avLst/>
            </a:prstGeom>
            <a:ln w="38100" cap="flat" cmpd="sng">
              <a:solidFill>
                <a:schemeClr val="tx1"/>
              </a:solidFill>
              <a:prstDash val="solid"/>
              <a:miter/>
              <a:headEnd type="none" w="med" len="med"/>
              <a:tailEnd type="none" w="med" len="med"/>
            </a:ln>
          </p:spPr>
        </p:cxnSp>
        <p:cxnSp>
          <p:nvCxnSpPr>
            <p:cNvPr id="12" name="直接箭头连接符 11"/>
            <p:cNvCxnSpPr/>
            <p:nvPr>
              <p:custDataLst>
                <p:tags r:id="rId13"/>
              </p:custDataLst>
            </p:nvPr>
          </p:nvCxnSpPr>
          <p:spPr>
            <a:xfrm rot="-5400000" flipH="1">
              <a:off x="3990" y="5963"/>
              <a:ext cx="675" cy="0"/>
            </a:xfrm>
            <a:prstGeom prst="straightConnector1">
              <a:avLst/>
            </a:prstGeom>
            <a:ln w="38100" cap="flat" cmpd="sng">
              <a:solidFill>
                <a:schemeClr val="tx1"/>
              </a:solidFill>
              <a:prstDash val="solid"/>
              <a:miter/>
              <a:headEnd type="none" w="med" len="med"/>
              <a:tailEnd type="arrow" w="med" len="med"/>
            </a:ln>
          </p:spPr>
        </p:cxnSp>
        <p:cxnSp>
          <p:nvCxnSpPr>
            <p:cNvPr id="13" name="直接箭头连接符 12"/>
            <p:cNvCxnSpPr/>
            <p:nvPr>
              <p:custDataLst>
                <p:tags r:id="rId14"/>
              </p:custDataLst>
            </p:nvPr>
          </p:nvCxnSpPr>
          <p:spPr>
            <a:xfrm rot="-5400000" flipH="1">
              <a:off x="3990" y="9900"/>
              <a:ext cx="675" cy="0"/>
            </a:xfrm>
            <a:prstGeom prst="straightConnector1">
              <a:avLst/>
            </a:prstGeom>
            <a:ln w="38100" cap="flat" cmpd="sng">
              <a:solidFill>
                <a:schemeClr val="tx1"/>
              </a:solidFill>
              <a:prstDash val="solid"/>
              <a:miter/>
              <a:headEnd type="none" w="med" len="med"/>
              <a:tailEnd type="arrow" w="med" len="med"/>
            </a:ln>
          </p:spPr>
        </p:cxnSp>
        <p:cxnSp>
          <p:nvCxnSpPr>
            <p:cNvPr id="14" name="直接连接符 13"/>
            <p:cNvCxnSpPr/>
            <p:nvPr>
              <p:custDataLst>
                <p:tags r:id="rId15"/>
              </p:custDataLst>
            </p:nvPr>
          </p:nvCxnSpPr>
          <p:spPr>
            <a:xfrm rot="-5400000" flipV="1">
              <a:off x="-285" y="7425"/>
              <a:ext cx="3150" cy="0"/>
            </a:xfrm>
            <a:prstGeom prst="line">
              <a:avLst/>
            </a:prstGeom>
            <a:ln w="38100" cap="flat" cmpd="sng">
              <a:solidFill>
                <a:schemeClr val="tx1"/>
              </a:solidFill>
              <a:prstDash val="solid"/>
              <a:miter/>
              <a:headEnd type="none" w="med" len="med"/>
              <a:tailEnd type="none" w="med" len="med"/>
            </a:ln>
          </p:spPr>
        </p:cxnSp>
        <p:cxnSp>
          <p:nvCxnSpPr>
            <p:cNvPr id="15" name="直接箭头连接符 14"/>
            <p:cNvCxnSpPr/>
            <p:nvPr>
              <p:custDataLst>
                <p:tags r:id="rId16"/>
              </p:custDataLst>
            </p:nvPr>
          </p:nvCxnSpPr>
          <p:spPr>
            <a:xfrm flipV="1">
              <a:off x="1290" y="5850"/>
              <a:ext cx="3038" cy="0"/>
            </a:xfrm>
            <a:prstGeom prst="straightConnector1">
              <a:avLst/>
            </a:prstGeom>
            <a:ln w="38100" cap="flat" cmpd="sng">
              <a:solidFill>
                <a:schemeClr val="tx1"/>
              </a:solidFill>
              <a:prstDash val="solid"/>
              <a:miter/>
              <a:headEnd type="none" w="med" len="med"/>
              <a:tailEnd type="arrow" w="med" len="med"/>
            </a:ln>
          </p:spPr>
        </p:cxnSp>
        <p:sp>
          <p:nvSpPr>
            <p:cNvPr id="16" name="流程图: 过程 15"/>
            <p:cNvSpPr/>
            <p:nvPr>
              <p:custDataLst>
                <p:tags r:id="rId17"/>
              </p:custDataLst>
            </p:nvPr>
          </p:nvSpPr>
          <p:spPr>
            <a:xfrm>
              <a:off x="2475" y="4163"/>
              <a:ext cx="3713" cy="14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sum=0</a:t>
              </a:r>
              <a:endParaRPr lang="en-US" altLang="zh-CN" sz="2600" dirty="0">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i=1</a:t>
              </a:r>
              <a:endParaRPr lang="zh-CN" altLang="en-US" sz="2600" dirty="0">
                <a:latin typeface="Times New Roman" panose="02020603050405020304" pitchFamily="18" charset="0"/>
                <a:ea typeface="微软雅黑" panose="020B0503020204020204" pitchFamily="34" charset="-122"/>
              </a:endParaRPr>
            </a:p>
          </p:txBody>
        </p:sp>
        <p:cxnSp>
          <p:nvCxnSpPr>
            <p:cNvPr id="17" name="直接箭头连接符 16"/>
            <p:cNvCxnSpPr/>
            <p:nvPr>
              <p:custDataLst>
                <p:tags r:id="rId18"/>
              </p:custDataLst>
            </p:nvPr>
          </p:nvCxnSpPr>
          <p:spPr>
            <a:xfrm rot="-5400000" flipH="1">
              <a:off x="3878" y="3825"/>
              <a:ext cx="675" cy="0"/>
            </a:xfrm>
            <a:prstGeom prst="straightConnector1">
              <a:avLst/>
            </a:prstGeom>
            <a:ln w="38100" cap="flat" cmpd="sng">
              <a:solidFill>
                <a:schemeClr val="tx1"/>
              </a:solidFill>
              <a:prstDash val="solid"/>
              <a:miter/>
              <a:headEnd type="none" w="med" len="med"/>
              <a:tailEnd type="arrow" w="med" len="med"/>
            </a:ln>
          </p:spPr>
        </p:cxnSp>
      </p:grpSp>
      <p:sp>
        <p:nvSpPr>
          <p:cNvPr id="20" name="Rectangle 3"/>
          <p:cNvSpPr txBox="1"/>
          <p:nvPr>
            <p:custDataLst>
              <p:tags r:id="rId19"/>
            </p:custDataLst>
          </p:nvPr>
        </p:nvSpPr>
        <p:spPr>
          <a:xfrm>
            <a:off x="5075873" y="2997200"/>
            <a:ext cx="4000500" cy="3357563"/>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 </a:t>
            </a:r>
            <a:r>
              <a:rPr lang="en-US" altLang="zh-CN" sz="2600" dirty="0">
                <a:latin typeface="Times New Roman" panose="02020603050405020304" pitchFamily="18" charset="0"/>
                <a:ea typeface="微软雅黑" panose="020B0503020204020204" pitchFamily="34" charset="-122"/>
              </a:rPr>
              <a:t>  i=1;   sum=0;</a:t>
            </a:r>
            <a:endParaRPr lang="zh-CN" altLang="zh-CN" sz="26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   </a:t>
            </a:r>
            <a:r>
              <a:rPr lang="en-US" altLang="zh-CN" sz="2600" dirty="0">
                <a:solidFill>
                  <a:srgbClr val="9D138D"/>
                </a:solidFill>
                <a:latin typeface="Times New Roman" panose="02020603050405020304" pitchFamily="18" charset="0"/>
                <a:ea typeface="微软雅黑" panose="020B0503020204020204" pitchFamily="34" charset="-122"/>
              </a:rPr>
              <a:t>do </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    {</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         sum=sum+i;</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         i++;</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    }while(i&lt;=100);</a:t>
            </a:r>
            <a:r>
              <a:rPr lang="en-US" altLang="zh-CN" sz="2600" dirty="0">
                <a:latin typeface="Times New Roman" panose="02020603050405020304" pitchFamily="18" charset="0"/>
                <a:ea typeface="微软雅黑" panose="020B0503020204020204" pitchFamily="34" charset="-122"/>
              </a:rPr>
              <a:t>   </a:t>
            </a:r>
            <a:r>
              <a:rPr lang="en-US" altLang="zh-CN" sz="2800" dirty="0">
                <a:latin typeface="Times New Roman" panose="02020603050405020304" pitchFamily="18" charset="0"/>
                <a:ea typeface="微软雅黑" panose="020B0503020204020204" pitchFamily="34" charset="-122"/>
              </a:rPr>
              <a:t> </a:t>
            </a:r>
            <a:endParaRPr lang="zh-CN" altLang="zh-CN" sz="2800" dirty="0">
              <a:latin typeface="Times New Roman" panose="02020603050405020304" pitchFamily="18" charset="0"/>
              <a:ea typeface="微软雅黑" panose="020B0503020204020204" pitchFamily="34"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xEl>
                                              <p:charRg st="0" end="17"/>
                                            </p:txEl>
                                          </p:spTgt>
                                        </p:tgtEl>
                                        <p:attrNameLst>
                                          <p:attrName>style.visibility</p:attrName>
                                        </p:attrNameLst>
                                      </p:cBhvr>
                                      <p:to>
                                        <p:strVal val="visible"/>
                                      </p:to>
                                    </p:set>
                                    <p:animEffect transition="in" filter="blinds(horizontal)">
                                      <p:cBhvr>
                                        <p:cTn id="7" dur="500"/>
                                        <p:tgtEl>
                                          <p:spTgt spid="20">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
                                            <p:txEl>
                                              <p:charRg st="30" end="48"/>
                                            </p:txEl>
                                          </p:spTgt>
                                        </p:tgtEl>
                                        <p:attrNameLst>
                                          <p:attrName>style.visibility</p:attrName>
                                        </p:attrNameLst>
                                      </p:cBhvr>
                                      <p:to>
                                        <p:strVal val="visible"/>
                                      </p:to>
                                    </p:set>
                                    <p:animEffect transition="in" filter="blinds(horizontal)">
                                      <p:cBhvr>
                                        <p:cTn id="12" dur="500"/>
                                        <p:tgtEl>
                                          <p:spTgt spid="20">
                                            <p:txEl>
                                              <p:charRg st="30" end="48"/>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0">
                                            <p:txEl>
                                              <p:charRg st="48" end="60"/>
                                            </p:txEl>
                                          </p:spTgt>
                                        </p:tgtEl>
                                        <p:attrNameLst>
                                          <p:attrName>style.visibility</p:attrName>
                                        </p:attrNameLst>
                                      </p:cBhvr>
                                      <p:to>
                                        <p:strVal val="visible"/>
                                      </p:to>
                                    </p:set>
                                    <p:animEffect transition="in" filter="blinds(horizontal)">
                                      <p:cBhvr>
                                        <p:cTn id="15" dur="500"/>
                                        <p:tgtEl>
                                          <p:spTgt spid="20">
                                            <p:txEl>
                                              <p:charRg st="48" end="6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0">
                                            <p:txEl>
                                              <p:charRg st="60" end="84"/>
                                            </p:txEl>
                                          </p:spTgt>
                                        </p:tgtEl>
                                        <p:attrNameLst>
                                          <p:attrName>style.visibility</p:attrName>
                                        </p:attrNameLst>
                                      </p:cBhvr>
                                      <p:to>
                                        <p:strVal val="visible"/>
                                      </p:to>
                                    </p:set>
                                    <p:animEffect transition="in" filter="blinds(horizontal)">
                                      <p:cBhvr>
                                        <p:cTn id="20" dur="500"/>
                                        <p:tgtEl>
                                          <p:spTgt spid="20">
                                            <p:txEl>
                                              <p:charRg st="60" end="84"/>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20">
                                            <p:txEl>
                                              <p:charRg st="17" end="24"/>
                                            </p:txEl>
                                          </p:spTgt>
                                        </p:tgtEl>
                                        <p:attrNameLst>
                                          <p:attrName>style.visibility</p:attrName>
                                        </p:attrNameLst>
                                      </p:cBhvr>
                                      <p:to>
                                        <p:strVal val="visible"/>
                                      </p:to>
                                    </p:set>
                                    <p:animEffect transition="in" filter="blinds(horizontal)">
                                      <p:cBhvr>
                                        <p:cTn id="24" dur="500"/>
                                        <p:tgtEl>
                                          <p:spTgt spid="20">
                                            <p:txEl>
                                              <p:charRg st="17" end="2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20">
                                            <p:txEl>
                                              <p:charRg st="24" end="30"/>
                                            </p:txEl>
                                          </p:spTgt>
                                        </p:tgtEl>
                                        <p:attrNameLst>
                                          <p:attrName>style.visibility</p:attrName>
                                        </p:attrNameLst>
                                      </p:cBhvr>
                                      <p:to>
                                        <p:strVal val="visible"/>
                                      </p:to>
                                    </p:set>
                                    <p:animEffect transition="in" filter="blinds(horizontal)">
                                      <p:cBhvr>
                                        <p:cTn id="28" dur="500"/>
                                        <p:tgtEl>
                                          <p:spTgt spid="20">
                                            <p:txEl>
                                              <p:charRg st="24"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3"/>
          <p:cNvSpPr txBox="1"/>
          <p:nvPr/>
        </p:nvSpPr>
        <p:spPr>
          <a:xfrm>
            <a:off x="309563" y="643255"/>
            <a:ext cx="5857875" cy="5572125"/>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#include &lt;stdio.h&gt;</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int main()</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    int i=1,sum=0;</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      </a:t>
            </a:r>
            <a:r>
              <a:rPr lang="en-US" altLang="zh-CN" sz="2800" dirty="0">
                <a:solidFill>
                  <a:srgbClr val="9D138D"/>
                </a:solidFill>
                <a:latin typeface="Times New Roman" panose="02020603050405020304" pitchFamily="18" charset="0"/>
                <a:ea typeface="微软雅黑" panose="020B0503020204020204" pitchFamily="34" charset="-122"/>
              </a:rPr>
              <a:t>do </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sum=sum+i;</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i++;</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}while(i&lt;=100);</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      printf("sum=%d\n",sum);</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      return 0;</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ts val="4000"/>
              </a:lnSpc>
              <a:spcBef>
                <a:spcPct val="0"/>
              </a:spcBef>
              <a:buFontTx/>
              <a:buNone/>
            </a:pPr>
            <a:r>
              <a:rPr lang="en-US" altLang="zh-CN" sz="2800" dirty="0">
                <a:latin typeface="Times New Roman" panose="02020603050405020304" pitchFamily="18" charset="0"/>
                <a:ea typeface="微软雅黑" panose="020B0503020204020204" pitchFamily="34" charset="-122"/>
              </a:rPr>
              <a:t>}</a:t>
            </a:r>
            <a:endParaRPr lang="zh-CN" altLang="zh-CN" sz="2800" dirty="0">
              <a:latin typeface="Times New Roman" panose="02020603050405020304" pitchFamily="18" charset="0"/>
              <a:ea typeface="微软雅黑" panose="020B0503020204020204" pitchFamily="34" charset="-122"/>
            </a:endParaRPr>
          </a:p>
        </p:txBody>
      </p:sp>
      <p:sp>
        <p:nvSpPr>
          <p:cNvPr id="1945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20485" name="Picture 5"/>
          <p:cNvPicPr>
            <a:picLocks noChangeAspect="1"/>
          </p:cNvPicPr>
          <p:nvPr/>
        </p:nvPicPr>
        <p:blipFill>
          <a:blip r:embed="rId1"/>
          <a:stretch>
            <a:fillRect/>
          </a:stretch>
        </p:blipFill>
        <p:spPr>
          <a:xfrm>
            <a:off x="5004118" y="4797425"/>
            <a:ext cx="3348037" cy="642938"/>
          </a:xfrm>
          <a:prstGeom prst="rect">
            <a:avLst/>
          </a:prstGeom>
          <a:noFill/>
          <a:ln w="9525">
            <a:noFill/>
          </a:ln>
        </p:spPr>
      </p:pic>
      <p:pic>
        <p:nvPicPr>
          <p:cNvPr id="19461" name="图片 4" descr="Untitled.png">
            <a:hlinkClick r:id="rId2" action="ppaction://hlinksldjump"/>
          </p:cNvPr>
          <p:cNvPicPr>
            <a:picLocks noChangeAspect="1"/>
          </p:cNvPicPr>
          <p:nvPr/>
        </p:nvPicPr>
        <p:blipFill>
          <a:blip r:embed="rId3"/>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linds(horizontal)">
                                      <p:cBhvr>
                                        <p:cTn id="7" dur="5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309880" y="548640"/>
            <a:ext cx="7713345" cy="1071880"/>
          </a:xfrm>
          <a:prstGeom prst="rect">
            <a:avLst/>
          </a:prstGeom>
          <a:noFill/>
          <a:ln w="9525">
            <a:noFill/>
            <a:miter lim="800000"/>
          </a:ln>
        </p:spPr>
        <p:txBody>
          <a:bodyPr/>
          <a:lstStyle/>
          <a:p>
            <a:pPr marL="342900" marR="0" indent="-342900" defTabSz="914400">
              <a:lnSpc>
                <a:spcPct val="120000"/>
              </a:lnSpc>
              <a:spcBef>
                <a:spcPct val="20000"/>
              </a:spcBef>
              <a:buClrTx/>
              <a:buSzTx/>
              <a:buFontTx/>
              <a:buNone/>
              <a:defRPr/>
            </a:pPr>
            <a:r>
              <a:rPr kumimoji="1" lang="zh-CN" altLang="zh-CN" sz="2600" kern="1200" cap="none" spc="0" normalizeH="0" baseline="0" noProof="0" dirty="0">
                <a:solidFill>
                  <a:srgbClr val="0000CC"/>
                </a:solidFill>
                <a:latin typeface="Times New Roman" panose="02020603050405020304" pitchFamily="18" charset="0"/>
                <a:ea typeface="微软雅黑" panose="020B0503020204020204" pitchFamily="34" charset="-122"/>
                <a:cs typeface="+mn-cs"/>
              </a:rPr>
              <a:t>例</a:t>
            </a:r>
            <a:r>
              <a:rPr kumimoji="1" lang="en-US" altLang="zh-CN" sz="2600" kern="1200" cap="none" spc="0" normalizeH="0" baseline="0" noProof="0" dirty="0">
                <a:solidFill>
                  <a:srgbClr val="0000CC"/>
                </a:solidFill>
                <a:latin typeface="Times New Roman" panose="02020603050405020304" pitchFamily="18" charset="0"/>
                <a:ea typeface="微软雅黑" panose="020B0503020204020204" pitchFamily="34" charset="-122"/>
                <a:cs typeface="+mn-cs"/>
              </a:rPr>
              <a:t>5.3</a:t>
            </a:r>
            <a:r>
              <a:rPr kumimoji="1" lang="en-US" altLang="zh-CN" sz="2600" kern="1200" cap="none" spc="0" normalizeH="0" baseline="0" noProof="0" dirty="0">
                <a:solidFill>
                  <a:srgbClr val="235A67"/>
                </a:solidFill>
                <a:latin typeface="Times New Roman" panose="02020603050405020304" pitchFamily="18" charset="0"/>
                <a:ea typeface="微软雅黑" panose="020B0503020204020204" pitchFamily="34" charset="-122"/>
                <a:cs typeface="+mn-cs"/>
              </a:rPr>
              <a:t>   </a:t>
            </a:r>
            <a:r>
              <a:rPr kumimoji="1" lang="en-US" altLang="zh-CN" sz="2600" kern="1200" cap="none" spc="0" normalizeH="0" baseline="0" noProof="0" dirty="0">
                <a:latin typeface="Times New Roman" panose="02020603050405020304" pitchFamily="18" charset="0"/>
                <a:ea typeface="微软雅黑" panose="020B0503020204020204" pitchFamily="34" charset="-122"/>
                <a:cs typeface="+mn-cs"/>
              </a:rPr>
              <a:t>while</a:t>
            </a:r>
            <a:r>
              <a:rPr kumimoji="1" lang="zh-CN" altLang="zh-CN" sz="2600" kern="1200" cap="none" spc="0" normalizeH="0" baseline="0" noProof="0" dirty="0">
                <a:latin typeface="Times New Roman" panose="02020603050405020304" pitchFamily="18" charset="0"/>
                <a:ea typeface="微软雅黑" panose="020B0503020204020204" pitchFamily="34" charset="-122"/>
                <a:cs typeface="+mn-cs"/>
              </a:rPr>
              <a:t>和</a:t>
            </a:r>
            <a:r>
              <a:rPr kumimoji="1" lang="en-US" altLang="zh-CN" sz="2600" kern="1200" cap="none" spc="0" normalizeH="0" baseline="0" noProof="0" dirty="0">
                <a:latin typeface="Times New Roman" panose="02020603050405020304" pitchFamily="18" charset="0"/>
                <a:ea typeface="微软雅黑" panose="020B0503020204020204" pitchFamily="34" charset="-122"/>
                <a:cs typeface="+mn-cs"/>
              </a:rPr>
              <a:t>do---while</a:t>
            </a:r>
            <a:r>
              <a:rPr kumimoji="1" lang="zh-CN" altLang="zh-CN" sz="2600" kern="1200" cap="none" spc="0" normalizeH="0" baseline="0" noProof="0" dirty="0">
                <a:latin typeface="Times New Roman" panose="02020603050405020304" pitchFamily="18" charset="0"/>
                <a:ea typeface="微软雅黑" panose="020B0503020204020204" pitchFamily="34" charset="-122"/>
                <a:cs typeface="+mn-cs"/>
              </a:rPr>
              <a:t>循环的比较</a:t>
            </a:r>
            <a:r>
              <a:rPr kumimoji="1" lang="zh-CN" altLang="zh-CN" sz="2800" kern="1200" cap="none" spc="0" normalizeH="0" baseline="0" noProof="0" dirty="0">
                <a:latin typeface="Times New Roman" panose="02020603050405020304" pitchFamily="18" charset="0"/>
                <a:ea typeface="微软雅黑" panose="020B0503020204020204" pitchFamily="34" charset="-122"/>
                <a:cs typeface="+mn-cs"/>
              </a:rPr>
              <a:t>。</a:t>
            </a:r>
            <a:endParaRPr kumimoji="1" lang="en-US" altLang="zh-CN" sz="2800" kern="0" cap="none" spc="0" normalizeH="0" baseline="0" noProof="0" dirty="0">
              <a:latin typeface="Times New Roman" panose="02020603050405020304" pitchFamily="18" charset="0"/>
              <a:ea typeface="微软雅黑" panose="020B0503020204020204" pitchFamily="34" charset="-122"/>
              <a:cs typeface="+mn-cs"/>
            </a:endParaRPr>
          </a:p>
        </p:txBody>
      </p:sp>
      <p:sp>
        <p:nvSpPr>
          <p:cNvPr id="2048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 name="Rectangle 3"/>
          <p:cNvSpPr txBox="1"/>
          <p:nvPr/>
        </p:nvSpPr>
        <p:spPr>
          <a:xfrm>
            <a:off x="71438" y="1285875"/>
            <a:ext cx="4500562" cy="4000500"/>
          </a:xfrm>
          <a:prstGeom prst="rect">
            <a:avLst/>
          </a:prstGeom>
          <a:solidFill>
            <a:srgbClr val="FFFFCC"/>
          </a:solidFill>
          <a:ln w="9525" cap="flat" cmpd="sng">
            <a:solidFill>
              <a:srgbClr val="C0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int i,sum=0;</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printf(“i=?”);</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scanf(“%d”,&amp;i);</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235A67"/>
                </a:solidFill>
                <a:latin typeface="Times New Roman" panose="02020603050405020304" pitchFamily="18" charset="0"/>
                <a:ea typeface="微软雅黑" panose="020B0503020204020204" pitchFamily="34" charset="-122"/>
              </a:rPr>
              <a:t>while(i&lt;=10) </a:t>
            </a:r>
            <a:endParaRPr lang="zh-CN" altLang="zh-CN" sz="28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235A67"/>
                </a:solidFill>
                <a:latin typeface="Times New Roman" panose="02020603050405020304" pitchFamily="18" charset="0"/>
                <a:ea typeface="微软雅黑" panose="020B0503020204020204" pitchFamily="34" charset="-122"/>
              </a:rPr>
              <a:t>{</a:t>
            </a:r>
            <a:endParaRPr lang="zh-CN" altLang="zh-CN" sz="28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235A67"/>
                </a:solidFill>
                <a:latin typeface="Times New Roman" panose="02020603050405020304" pitchFamily="18" charset="0"/>
                <a:ea typeface="微软雅黑" panose="020B0503020204020204" pitchFamily="34" charset="-122"/>
              </a:rPr>
              <a:t>    sum=sum+i;</a:t>
            </a:r>
            <a:endParaRPr lang="zh-CN" altLang="zh-CN" sz="28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235A67"/>
                </a:solidFill>
                <a:latin typeface="Times New Roman" panose="02020603050405020304" pitchFamily="18" charset="0"/>
                <a:ea typeface="微软雅黑" panose="020B0503020204020204" pitchFamily="34" charset="-122"/>
              </a:rPr>
              <a:t>    i++;</a:t>
            </a:r>
            <a:endParaRPr lang="zh-CN" altLang="zh-CN" sz="28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235A67"/>
                </a:solidFill>
                <a:latin typeface="Times New Roman" panose="02020603050405020304" pitchFamily="18" charset="0"/>
                <a:ea typeface="微软雅黑" panose="020B0503020204020204" pitchFamily="34" charset="-122"/>
              </a:rPr>
              <a:t>}</a:t>
            </a:r>
            <a:endParaRPr lang="zh-CN" altLang="zh-CN" sz="28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printf(“sum=%d\n",sum);</a:t>
            </a:r>
            <a:endParaRPr lang="zh-CN" altLang="zh-CN" sz="2800" dirty="0">
              <a:latin typeface="Times New Roman" panose="02020603050405020304" pitchFamily="18" charset="0"/>
              <a:ea typeface="微软雅黑" panose="020B0503020204020204" pitchFamily="34" charset="-122"/>
            </a:endParaRPr>
          </a:p>
        </p:txBody>
      </p:sp>
      <p:sp>
        <p:nvSpPr>
          <p:cNvPr id="8" name="Rectangle 3"/>
          <p:cNvSpPr txBox="1"/>
          <p:nvPr/>
        </p:nvSpPr>
        <p:spPr>
          <a:xfrm>
            <a:off x="4714875" y="1285875"/>
            <a:ext cx="4429125" cy="3929063"/>
          </a:xfrm>
          <a:prstGeom prst="rect">
            <a:avLst/>
          </a:prstGeom>
          <a:solidFill>
            <a:srgbClr val="E1FFE1"/>
          </a:solidFill>
          <a:ln w="9525" cap="flat" cmpd="sng">
            <a:solidFill>
              <a:srgbClr val="C0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int i,sum=0;</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printf(“i=?”);</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scanf(“%d”,&amp;i);</a:t>
            </a:r>
            <a:endParaRPr lang="zh-CN"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do </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sum=sum+i;</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i++;</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}while(i&lt;=10);</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printf(“sum=%d\n",sum);</a:t>
            </a:r>
            <a:endParaRPr lang="zh-CN" altLang="zh-CN" sz="2800" dirty="0">
              <a:latin typeface="Times New Roman" panose="02020603050405020304" pitchFamily="18" charset="0"/>
              <a:ea typeface="微软雅黑" panose="020B0503020204020204" pitchFamily="34" charset="-122"/>
            </a:endParaRPr>
          </a:p>
        </p:txBody>
      </p:sp>
      <p:pic>
        <p:nvPicPr>
          <p:cNvPr id="48131" name="Picture 3"/>
          <p:cNvPicPr>
            <a:picLocks noChangeAspect="1"/>
          </p:cNvPicPr>
          <p:nvPr/>
        </p:nvPicPr>
        <p:blipFill>
          <a:blip r:embed="rId1"/>
          <a:stretch>
            <a:fillRect/>
          </a:stretch>
        </p:blipFill>
        <p:spPr>
          <a:xfrm>
            <a:off x="785813" y="5357813"/>
            <a:ext cx="1500187" cy="942975"/>
          </a:xfrm>
          <a:prstGeom prst="rect">
            <a:avLst/>
          </a:prstGeom>
          <a:noFill/>
          <a:ln w="9525">
            <a:noFill/>
          </a:ln>
        </p:spPr>
      </p:pic>
      <p:pic>
        <p:nvPicPr>
          <p:cNvPr id="48132" name="Picture 4"/>
          <p:cNvPicPr>
            <a:picLocks noChangeAspect="1"/>
          </p:cNvPicPr>
          <p:nvPr/>
        </p:nvPicPr>
        <p:blipFill>
          <a:blip r:embed="rId2"/>
          <a:stretch>
            <a:fillRect/>
          </a:stretch>
        </p:blipFill>
        <p:spPr>
          <a:xfrm>
            <a:off x="2643188" y="5429250"/>
            <a:ext cx="1285875" cy="857250"/>
          </a:xfrm>
          <a:prstGeom prst="rect">
            <a:avLst/>
          </a:prstGeom>
          <a:noFill/>
          <a:ln w="9525">
            <a:noFill/>
          </a:ln>
        </p:spPr>
      </p:pic>
      <p:pic>
        <p:nvPicPr>
          <p:cNvPr id="48133" name="Picture 5"/>
          <p:cNvPicPr>
            <a:picLocks noChangeAspect="1"/>
          </p:cNvPicPr>
          <p:nvPr/>
        </p:nvPicPr>
        <p:blipFill>
          <a:blip r:embed="rId3"/>
          <a:stretch>
            <a:fillRect/>
          </a:stretch>
        </p:blipFill>
        <p:spPr>
          <a:xfrm>
            <a:off x="4929188" y="5429250"/>
            <a:ext cx="1574800" cy="928688"/>
          </a:xfrm>
          <a:prstGeom prst="rect">
            <a:avLst/>
          </a:prstGeom>
          <a:noFill/>
          <a:ln w="9525">
            <a:noFill/>
          </a:ln>
        </p:spPr>
      </p:pic>
      <p:pic>
        <p:nvPicPr>
          <p:cNvPr id="48134" name="Picture 6"/>
          <p:cNvPicPr>
            <a:picLocks noChangeAspect="1"/>
          </p:cNvPicPr>
          <p:nvPr/>
        </p:nvPicPr>
        <p:blipFill>
          <a:blip r:embed="rId4"/>
          <a:stretch>
            <a:fillRect/>
          </a:stretch>
        </p:blipFill>
        <p:spPr>
          <a:xfrm>
            <a:off x="6715125" y="5429250"/>
            <a:ext cx="1522413" cy="928688"/>
          </a:xfrm>
          <a:prstGeom prst="rect">
            <a:avLst/>
          </a:prstGeom>
          <a:noFill/>
          <a:ln w="9525">
            <a:noFill/>
          </a:ln>
        </p:spPr>
      </p:pic>
      <p:sp>
        <p:nvSpPr>
          <p:cNvPr id="13" name="TextBox 12"/>
          <p:cNvSpPr txBox="1"/>
          <p:nvPr/>
        </p:nvSpPr>
        <p:spPr>
          <a:xfrm>
            <a:off x="428625" y="1214438"/>
            <a:ext cx="8215313" cy="891540"/>
          </a:xfrm>
          <a:prstGeom prst="rect">
            <a:avLst/>
          </a:prstGeom>
          <a:solidFill>
            <a:srgbClr val="FFCCFF"/>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当</a:t>
            </a:r>
            <a:r>
              <a:rPr lang="en-US" altLang="zh-CN" sz="2600" dirty="0">
                <a:solidFill>
                  <a:srgbClr val="4545AB"/>
                </a:solidFill>
                <a:latin typeface="Times New Roman" panose="02020603050405020304" pitchFamily="18" charset="0"/>
                <a:ea typeface="微软雅黑" panose="020B0503020204020204" pitchFamily="34" charset="-122"/>
              </a:rPr>
              <a:t>while</a:t>
            </a:r>
            <a:r>
              <a:rPr lang="zh-CN" altLang="zh-CN" sz="2600" dirty="0">
                <a:solidFill>
                  <a:srgbClr val="4545AB"/>
                </a:solidFill>
                <a:latin typeface="Times New Roman" panose="02020603050405020304" pitchFamily="18" charset="0"/>
                <a:ea typeface="微软雅黑" panose="020B0503020204020204" pitchFamily="34" charset="-122"/>
              </a:rPr>
              <a:t>后面的表达式的第一次的值为“真”时，两种循环得到的结果相同；否则不相同</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pic>
        <p:nvPicPr>
          <p:cNvPr id="20491" name="图片 10" descr="Untitled.png">
            <a:hlinkClick r:id="rId5" action="ppaction://hlinksldjump"/>
          </p:cNvPr>
          <p:cNvPicPr>
            <a:picLocks noChangeAspect="1"/>
          </p:cNvPicPr>
          <p:nvPr/>
        </p:nvPicPr>
        <p:blipFill>
          <a:blip r:embed="rId6"/>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131"/>
                                        </p:tgtEl>
                                        <p:attrNameLst>
                                          <p:attrName>style.visibility</p:attrName>
                                        </p:attrNameLst>
                                      </p:cBhvr>
                                      <p:to>
                                        <p:strVal val="visible"/>
                                      </p:to>
                                    </p:set>
                                    <p:animEffect transition="in" filter="blinds(horizontal)">
                                      <p:cBhvr>
                                        <p:cTn id="17" dur="500"/>
                                        <p:tgtEl>
                                          <p:spTgt spid="4813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8133"/>
                                        </p:tgtEl>
                                        <p:attrNameLst>
                                          <p:attrName>style.visibility</p:attrName>
                                        </p:attrNameLst>
                                      </p:cBhvr>
                                      <p:to>
                                        <p:strVal val="visible"/>
                                      </p:to>
                                    </p:set>
                                    <p:animEffect transition="in" filter="blinds(horizontal)">
                                      <p:cBhvr>
                                        <p:cTn id="22" dur="500"/>
                                        <p:tgtEl>
                                          <p:spTgt spid="4813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8132"/>
                                        </p:tgtEl>
                                        <p:attrNameLst>
                                          <p:attrName>style.visibility</p:attrName>
                                        </p:attrNameLst>
                                      </p:cBhvr>
                                      <p:to>
                                        <p:strVal val="visible"/>
                                      </p:to>
                                    </p:set>
                                    <p:animEffect transition="in" filter="blinds(horizontal)">
                                      <p:cBhvr>
                                        <p:cTn id="27" dur="500"/>
                                        <p:tgtEl>
                                          <p:spTgt spid="4813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8134"/>
                                        </p:tgtEl>
                                        <p:attrNameLst>
                                          <p:attrName>style.visibility</p:attrName>
                                        </p:attrNameLst>
                                      </p:cBhvr>
                                      <p:to>
                                        <p:strVal val="visible"/>
                                      </p:to>
                                    </p:set>
                                    <p:animEffect transition="in" filter="blinds(horizontal)">
                                      <p:cBhvr>
                                        <p:cTn id="32" dur="500"/>
                                        <p:tgtEl>
                                          <p:spTgt spid="48134"/>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00" fill="hold"/>
                                        <p:tgtEl>
                                          <p:spTgt spid="13"/>
                                        </p:tgtEl>
                                        <p:attrNameLst>
                                          <p:attrName>ppt_w</p:attrName>
                                        </p:attrNameLst>
                                      </p:cBhvr>
                                      <p:tavLst>
                                        <p:tav tm="0">
                                          <p:val>
                                            <p:fltVal val="0.000000"/>
                                          </p:val>
                                        </p:tav>
                                        <p:tav tm="100000">
                                          <p:val>
                                            <p:strVal val="#ppt_w"/>
                                          </p:val>
                                        </p:tav>
                                      </p:tavLst>
                                    </p:anim>
                                    <p:anim calcmode="lin" valueType="num">
                                      <p:cBhvr>
                                        <p:cTn id="38" dur="500" fill="hold"/>
                                        <p:tgtEl>
                                          <p:spTgt spid="13"/>
                                        </p:tgtEl>
                                        <p:attrNameLst>
                                          <p:attrName>ppt_h</p:attrName>
                                        </p:attrNameLst>
                                      </p:cBhvr>
                                      <p:tavLst>
                                        <p:tav tm="0">
                                          <p:val>
                                            <p:fltVal val="0.000000"/>
                                          </p:val>
                                        </p:tav>
                                        <p:tav tm="100000">
                                          <p:val>
                                            <p:strVal val="#ppt_h"/>
                                          </p:val>
                                        </p:tav>
                                      </p:tavLst>
                                    </p:anim>
                                    <p:anim calcmode="lin" valueType="num">
                                      <p:cBhvr>
                                        <p:cTn id="39" dur="500" fill="hold"/>
                                        <p:tgtEl>
                                          <p:spTgt spid="13"/>
                                        </p:tgtEl>
                                        <p:attrNameLst>
                                          <p:attrName>style.rotation</p:attrName>
                                        </p:attrNameLst>
                                      </p:cBhvr>
                                      <p:tavLst>
                                        <p:tav tm="0">
                                          <p:val>
                                            <p:fltVal val="360.000000"/>
                                          </p:val>
                                        </p:tav>
                                        <p:tav tm="100000">
                                          <p:val>
                                            <p:fltVal val="0.000000"/>
                                          </p:val>
                                        </p:tav>
                                      </p:tavLst>
                                    </p:anim>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animBg="1"/>
      <p:bldP spid="1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309245" y="1196975"/>
            <a:ext cx="8489950" cy="2857500"/>
          </a:xfrm>
          <a:prstGeom prst="rect">
            <a:avLst/>
          </a:prstGeom>
          <a:noFill/>
          <a:ln w="9525">
            <a:noFill/>
            <a:miter lim="800000"/>
          </a:ln>
        </p:spPr>
        <p:txBody>
          <a:bodyPr/>
          <a:lstStyle/>
          <a:p>
            <a:pPr marL="342900" marR="0" indent="-342900" algn="just" defTabSz="914400">
              <a:lnSpc>
                <a:spcPts val="4500"/>
              </a:lnSpc>
              <a:spcBef>
                <a:spcPts val="0"/>
              </a:spcBef>
              <a:buClrTx/>
              <a:buSzTx/>
              <a:buFont typeface="Wingdings" panose="05000000000000000000" pitchFamily="2" charset="2"/>
              <a:buChar char="Ø"/>
              <a:defRPr/>
            </a:pPr>
            <a:r>
              <a:rPr kumimoji="1" lang="en-US" altLang="zh-CN" sz="2500" spc="100" baseline="0" noProof="0" dirty="0">
                <a:solidFill>
                  <a:schemeClr val="tx1"/>
                </a:solidFill>
                <a:uFillTx/>
                <a:latin typeface="Times New Roman" panose="02020603050405020304" pitchFamily="18" charset="0"/>
                <a:ea typeface="微软雅黑" panose="020B0503020204020204" pitchFamily="34" charset="-122"/>
                <a:cs typeface="+mn-cs"/>
              </a:rPr>
              <a:t>for</a:t>
            </a:r>
            <a:r>
              <a:rPr kumimoji="1" lang="zh-CN" altLang="zh-CN" sz="2500" spc="100" baseline="0" noProof="0" dirty="0">
                <a:solidFill>
                  <a:schemeClr val="tx1"/>
                </a:solidFill>
                <a:uFillTx/>
                <a:latin typeface="Times New Roman" panose="02020603050405020304" pitchFamily="18" charset="0"/>
                <a:ea typeface="微软雅黑" panose="020B0503020204020204" pitchFamily="34" charset="-122"/>
                <a:cs typeface="+mn-cs"/>
              </a:rPr>
              <a:t>语句不仅可以用于循环次数已经确定的情况，还可以用于循环次数不确定而只给出循环结束条件的情况</a:t>
            </a:r>
            <a:endParaRPr kumimoji="1" lang="en-US" altLang="zh-CN" sz="2500" spc="100" baseline="0" noProof="0" dirty="0">
              <a:solidFill>
                <a:schemeClr val="tx1"/>
              </a:solidFill>
              <a:uFillTx/>
              <a:latin typeface="Times New Roman" panose="02020603050405020304" pitchFamily="18" charset="0"/>
              <a:ea typeface="微软雅黑" panose="020B0503020204020204" pitchFamily="34" charset="-122"/>
              <a:cs typeface="+mn-cs"/>
            </a:endParaRPr>
          </a:p>
          <a:p>
            <a:pPr marL="342900" marR="0" indent="-342900" algn="just" defTabSz="914400">
              <a:lnSpc>
                <a:spcPts val="4500"/>
              </a:lnSpc>
              <a:spcBef>
                <a:spcPts val="0"/>
              </a:spcBef>
              <a:buClrTx/>
              <a:buSzTx/>
              <a:buFont typeface="Wingdings" panose="05000000000000000000" pitchFamily="2" charset="2"/>
              <a:buChar char="Ø"/>
              <a:defRPr/>
            </a:pPr>
            <a:r>
              <a:rPr kumimoji="1" lang="en-US" altLang="zh-CN" sz="2500" spc="100" baseline="0" noProof="0" dirty="0">
                <a:solidFill>
                  <a:schemeClr val="tx1"/>
                </a:solidFill>
                <a:uFillTx/>
                <a:latin typeface="Times New Roman" panose="02020603050405020304" pitchFamily="18" charset="0"/>
                <a:ea typeface="微软雅黑" panose="020B0503020204020204" pitchFamily="34" charset="-122"/>
                <a:cs typeface="+mn-cs"/>
              </a:rPr>
              <a:t>for</a:t>
            </a:r>
            <a:r>
              <a:rPr kumimoji="1" lang="zh-CN" altLang="zh-CN" sz="2500" spc="100" baseline="0" noProof="0" dirty="0">
                <a:solidFill>
                  <a:schemeClr val="tx1"/>
                </a:solidFill>
                <a:uFillTx/>
                <a:latin typeface="Times New Roman" panose="02020603050405020304" pitchFamily="18" charset="0"/>
                <a:ea typeface="微软雅黑" panose="020B0503020204020204" pitchFamily="34" charset="-122"/>
                <a:cs typeface="+mn-cs"/>
              </a:rPr>
              <a:t>语句完全可以代替</a:t>
            </a:r>
            <a:r>
              <a:rPr kumimoji="1" lang="en-US" altLang="zh-CN" sz="2500" spc="100" baseline="0" noProof="0" dirty="0">
                <a:solidFill>
                  <a:schemeClr val="tx1"/>
                </a:solidFill>
                <a:uFillTx/>
                <a:latin typeface="Times New Roman" panose="02020603050405020304" pitchFamily="18" charset="0"/>
                <a:ea typeface="微软雅黑" panose="020B0503020204020204" pitchFamily="34" charset="-122"/>
                <a:cs typeface="+mn-cs"/>
              </a:rPr>
              <a:t>while</a:t>
            </a:r>
            <a:r>
              <a:rPr kumimoji="1" lang="zh-CN" altLang="zh-CN" sz="2500" spc="100" baseline="0" noProof="0" dirty="0">
                <a:solidFill>
                  <a:schemeClr val="tx1"/>
                </a:solidFill>
                <a:uFillTx/>
                <a:latin typeface="Times New Roman" panose="02020603050405020304" pitchFamily="18" charset="0"/>
                <a:ea typeface="微软雅黑" panose="020B0503020204020204" pitchFamily="34" charset="-122"/>
                <a:cs typeface="+mn-cs"/>
              </a:rPr>
              <a:t>语句</a:t>
            </a:r>
            <a:endParaRPr kumimoji="1" lang="zh-CN" altLang="zh-CN" sz="2500" spc="100" baseline="0" noProof="0" dirty="0">
              <a:solidFill>
                <a:schemeClr val="tx1"/>
              </a:solidFill>
              <a:uFillTx/>
              <a:latin typeface="Times New Roman" panose="02020603050405020304" pitchFamily="18" charset="0"/>
              <a:ea typeface="微软雅黑" panose="020B0503020204020204" pitchFamily="34" charset="-122"/>
              <a:cs typeface="+mn-cs"/>
            </a:endParaRPr>
          </a:p>
        </p:txBody>
      </p:sp>
      <p:sp>
        <p:nvSpPr>
          <p:cNvPr id="21508"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21509"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charRg st="49" end="68"/>
                                            </p:txEl>
                                          </p:spTgt>
                                        </p:tgtEl>
                                        <p:attrNameLst>
                                          <p:attrName>style.visibility</p:attrName>
                                        </p:attrNameLst>
                                      </p:cBhvr>
                                      <p:to>
                                        <p:strVal val="visible"/>
                                      </p:to>
                                    </p:set>
                                    <p:animEffect transition="in" filter="blinds(horizontal)">
                                      <p:cBhvr>
                                        <p:cTn id="7" dur="500"/>
                                        <p:tgtEl>
                                          <p:spTgt spid="4">
                                            <p:txEl>
                                              <p:charRg st="49"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251460" y="1341120"/>
            <a:ext cx="4181475" cy="2857500"/>
          </a:xfrm>
          <a:prstGeom prst="rect">
            <a:avLst/>
          </a:prstGeom>
          <a:noFill/>
          <a:ln w="9525">
            <a:noFill/>
            <a:miter lim="800000"/>
          </a:ln>
        </p:spPr>
        <p:txBody>
          <a:bodyPr/>
          <a:lstStyle/>
          <a:p>
            <a:pPr marL="342900" marR="0" indent="-342900" defTabSz="914400">
              <a:lnSpc>
                <a:spcPct val="120000"/>
              </a:lnSpc>
              <a:spcBef>
                <a:spcPct val="20000"/>
              </a:spcBef>
              <a:buClrTx/>
              <a:buSzTx/>
              <a:buFontTx/>
              <a:buNone/>
              <a:defRPr/>
            </a:pP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for (</a:t>
            </a:r>
            <a:r>
              <a:rPr kumimoji="1" lang="en-US" altLang="zh-CN" sz="2800" kern="1200" cap="none" spc="0" normalizeH="0" baseline="0" noProof="0" dirty="0" err="1">
                <a:latin typeface="Times New Roman" panose="02020603050405020304" pitchFamily="18" charset="0"/>
                <a:ea typeface="微软雅黑" panose="020B0503020204020204" pitchFamily="34" charset="-122"/>
                <a:cs typeface="+mn-cs"/>
              </a:rPr>
              <a:t>i</a:t>
            </a: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=1;i&lt;=100;i++)</a:t>
            </a:r>
            <a:endParaRPr kumimoji="1" lang="en-US" altLang="zh-CN" sz="28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  </a:t>
            </a:r>
            <a:endParaRPr kumimoji="1" lang="en-US" altLang="zh-CN" sz="28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      </a:t>
            </a:r>
            <a:r>
              <a:rPr kumimoji="1" lang="en-US" altLang="zh-CN" sz="2800" kern="1200" cap="none" spc="0" normalizeH="0" baseline="0" noProof="0" dirty="0" err="1">
                <a:latin typeface="Times New Roman" panose="02020603050405020304" pitchFamily="18" charset="0"/>
                <a:ea typeface="微软雅黑" panose="020B0503020204020204" pitchFamily="34" charset="-122"/>
                <a:cs typeface="+mn-cs"/>
              </a:rPr>
              <a:t>printf</a:t>
            </a: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("%d ", </a:t>
            </a:r>
            <a:r>
              <a:rPr kumimoji="1" lang="en-US" altLang="zh-CN" sz="2800" kern="1200" cap="none" spc="0" normalizeH="0" baseline="0" noProof="0" dirty="0" err="1">
                <a:latin typeface="Times New Roman" panose="02020603050405020304" pitchFamily="18" charset="0"/>
                <a:ea typeface="微软雅黑" panose="020B0503020204020204" pitchFamily="34" charset="-122"/>
                <a:cs typeface="+mn-cs"/>
              </a:rPr>
              <a:t>i</a:t>
            </a: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 );  </a:t>
            </a:r>
            <a:endParaRPr kumimoji="1" lang="en-US" altLang="zh-CN" sz="2800" kern="1200" cap="none" spc="0" normalizeH="0" baseline="0" noProof="0" dirty="0">
              <a:latin typeface="Times New Roman" panose="02020603050405020304" pitchFamily="18" charset="0"/>
              <a:ea typeface="微软雅黑" panose="020B0503020204020204" pitchFamily="34" charset="-122"/>
              <a:cs typeface="+mn-cs"/>
            </a:endParaRPr>
          </a:p>
          <a:p>
            <a:pPr marL="342900" marR="0" indent="-342900" defTabSz="914400">
              <a:lnSpc>
                <a:spcPct val="120000"/>
              </a:lnSpc>
              <a:spcBef>
                <a:spcPct val="20000"/>
              </a:spcBef>
              <a:buClrTx/>
              <a:buSzTx/>
              <a:buFontTx/>
              <a:buNone/>
              <a:defRPr/>
            </a:pPr>
            <a:r>
              <a:rPr kumimoji="1" lang="en-US" altLang="zh-CN" sz="2800" kern="1200" cap="none" spc="0" normalizeH="0" baseline="0" noProof="0" dirty="0">
                <a:latin typeface="Times New Roman" panose="02020603050405020304" pitchFamily="18" charset="0"/>
                <a:ea typeface="微软雅黑" panose="020B0503020204020204" pitchFamily="34" charset="-122"/>
                <a:cs typeface="+mn-cs"/>
              </a:rPr>
              <a:t>}</a:t>
            </a:r>
            <a:endParaRPr kumimoji="1" lang="en-US" altLang="zh-CN" sz="2800" kern="0" cap="none" spc="0" normalizeH="0" baseline="0" noProof="0" dirty="0">
              <a:latin typeface="Times New Roman" panose="02020603050405020304" pitchFamily="18" charset="0"/>
              <a:ea typeface="微软雅黑" panose="020B0503020204020204" pitchFamily="34" charset="-122"/>
              <a:cs typeface="+mn-cs"/>
            </a:endParaRPr>
          </a:p>
        </p:txBody>
      </p:sp>
      <p:sp>
        <p:nvSpPr>
          <p:cNvPr id="22536"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pSp>
        <p:nvGrpSpPr>
          <p:cNvPr id="2" name="组合 1"/>
          <p:cNvGrpSpPr/>
          <p:nvPr/>
        </p:nvGrpSpPr>
        <p:grpSpPr>
          <a:xfrm>
            <a:off x="4624070" y="1341120"/>
            <a:ext cx="3592830" cy="4785995"/>
            <a:chOff x="7761" y="2363"/>
            <a:chExt cx="5658" cy="7537"/>
          </a:xfrm>
        </p:grpSpPr>
        <p:sp>
          <p:nvSpPr>
            <p:cNvPr id="16" name="流程图: 决策 15"/>
            <p:cNvSpPr/>
            <p:nvPr/>
          </p:nvSpPr>
          <p:spPr>
            <a:xfrm>
              <a:off x="8325" y="4428"/>
              <a:ext cx="4500" cy="112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i</a:t>
              </a:r>
              <a:r>
                <a:rPr lang="zh-CN" altLang="zh-CN" sz="2600" dirty="0">
                  <a:latin typeface="Times New Roman" panose="02020603050405020304" pitchFamily="18" charset="0"/>
                  <a:ea typeface="微软雅黑" panose="020B0503020204020204" pitchFamily="34" charset="-122"/>
                </a:rPr>
                <a:t> ≤</a:t>
              </a:r>
              <a:r>
                <a:rPr lang="en-US" altLang="zh-CN" sz="2600" dirty="0">
                  <a:latin typeface="Times New Roman" panose="02020603050405020304" pitchFamily="18" charset="0"/>
                  <a:ea typeface="微软雅黑" panose="020B0503020204020204" pitchFamily="34" charset="-122"/>
                </a:rPr>
                <a:t>100</a:t>
              </a:r>
              <a:endParaRPr lang="zh-CN" altLang="en-US" sz="2600" dirty="0">
                <a:latin typeface="Times New Roman" panose="02020603050405020304" pitchFamily="18" charset="0"/>
                <a:ea typeface="微软雅黑" panose="020B0503020204020204" pitchFamily="34" charset="-122"/>
              </a:endParaRPr>
            </a:p>
          </p:txBody>
        </p:sp>
        <p:sp>
          <p:nvSpPr>
            <p:cNvPr id="17" name="TextBox 16"/>
            <p:cNvSpPr txBox="1"/>
            <p:nvPr/>
          </p:nvSpPr>
          <p:spPr>
            <a:xfrm>
              <a:off x="10688" y="5513"/>
              <a:ext cx="787" cy="822"/>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sp>
          <p:nvSpPr>
            <p:cNvPr id="18" name="TextBox 17"/>
            <p:cNvSpPr txBox="1"/>
            <p:nvPr/>
          </p:nvSpPr>
          <p:spPr>
            <a:xfrm>
              <a:off x="12600" y="4163"/>
              <a:ext cx="788" cy="774"/>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N</a:t>
              </a:r>
              <a:endParaRPr lang="en-US" altLang="zh-CN" sz="2600" dirty="0">
                <a:latin typeface="Times New Roman" panose="02020603050405020304" pitchFamily="18" charset="0"/>
                <a:ea typeface="微软雅黑" panose="020B0503020204020204" pitchFamily="34" charset="-122"/>
              </a:endParaRPr>
            </a:p>
          </p:txBody>
        </p:sp>
        <p:sp>
          <p:nvSpPr>
            <p:cNvPr id="19" name="流程图: 过程 18"/>
            <p:cNvSpPr/>
            <p:nvPr/>
          </p:nvSpPr>
          <p:spPr>
            <a:xfrm>
              <a:off x="9225" y="7650"/>
              <a:ext cx="2700" cy="788"/>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i=i+1</a:t>
              </a:r>
              <a:endParaRPr lang="en-US" altLang="zh-CN" sz="2600" dirty="0">
                <a:latin typeface="Times New Roman" panose="02020603050405020304" pitchFamily="18" charset="0"/>
                <a:ea typeface="微软雅黑" panose="020B0503020204020204" pitchFamily="34" charset="-122"/>
              </a:endParaRPr>
            </a:p>
          </p:txBody>
        </p:sp>
        <p:cxnSp>
          <p:nvCxnSpPr>
            <p:cNvPr id="20" name="直接箭头连接符 19"/>
            <p:cNvCxnSpPr/>
            <p:nvPr/>
          </p:nvCxnSpPr>
          <p:spPr>
            <a:xfrm rot="-5400000" flipH="1">
              <a:off x="10238" y="4163"/>
              <a:ext cx="675" cy="0"/>
            </a:xfrm>
            <a:prstGeom prst="straightConnector1">
              <a:avLst/>
            </a:prstGeom>
            <a:ln w="38100" cap="flat" cmpd="sng">
              <a:solidFill>
                <a:schemeClr val="tx1"/>
              </a:solidFill>
              <a:prstDash val="solid"/>
              <a:miter/>
              <a:headEnd type="none" w="med" len="med"/>
              <a:tailEnd type="arrow" w="med" len="med"/>
            </a:ln>
          </p:spPr>
        </p:cxnSp>
        <p:cxnSp>
          <p:nvCxnSpPr>
            <p:cNvPr id="21" name="直接连接符 20"/>
            <p:cNvCxnSpPr/>
            <p:nvPr/>
          </p:nvCxnSpPr>
          <p:spPr>
            <a:xfrm rot="10800000">
              <a:off x="7763" y="8888"/>
              <a:ext cx="2812" cy="0"/>
            </a:xfrm>
            <a:prstGeom prst="line">
              <a:avLst/>
            </a:prstGeom>
            <a:ln w="38100" cap="flat" cmpd="sng">
              <a:solidFill>
                <a:schemeClr val="tx1"/>
              </a:solidFill>
              <a:prstDash val="solid"/>
              <a:miter/>
              <a:headEnd type="none" w="med" len="med"/>
              <a:tailEnd type="none" w="med" len="med"/>
            </a:ln>
          </p:spPr>
        </p:cxnSp>
        <p:cxnSp>
          <p:nvCxnSpPr>
            <p:cNvPr id="22" name="直接箭头连接符 21"/>
            <p:cNvCxnSpPr/>
            <p:nvPr/>
          </p:nvCxnSpPr>
          <p:spPr>
            <a:xfrm rot="-5400000" flipH="1">
              <a:off x="10238" y="5903"/>
              <a:ext cx="675" cy="0"/>
            </a:xfrm>
            <a:prstGeom prst="straightConnector1">
              <a:avLst/>
            </a:prstGeom>
            <a:ln w="38100" cap="flat" cmpd="sng">
              <a:solidFill>
                <a:schemeClr val="tx1"/>
              </a:solidFill>
              <a:prstDash val="solid"/>
              <a:miter/>
              <a:headEnd type="none" w="med" len="med"/>
              <a:tailEnd type="arrow" w="med" len="med"/>
            </a:ln>
          </p:spPr>
        </p:cxnSp>
        <p:cxnSp>
          <p:nvCxnSpPr>
            <p:cNvPr id="23" name="直接箭头连接符 22"/>
            <p:cNvCxnSpPr/>
            <p:nvPr/>
          </p:nvCxnSpPr>
          <p:spPr>
            <a:xfrm rot="-5400000" flipH="1">
              <a:off x="10238" y="9563"/>
              <a:ext cx="675" cy="0"/>
            </a:xfrm>
            <a:prstGeom prst="straightConnector1">
              <a:avLst/>
            </a:prstGeom>
            <a:ln w="38100" cap="flat" cmpd="sng">
              <a:solidFill>
                <a:schemeClr val="tx1"/>
              </a:solidFill>
              <a:prstDash val="solid"/>
              <a:miter/>
              <a:headEnd type="none" w="med" len="med"/>
              <a:tailEnd type="arrow" w="med" len="med"/>
            </a:ln>
          </p:spPr>
        </p:cxnSp>
        <p:cxnSp>
          <p:nvCxnSpPr>
            <p:cNvPr id="24" name="直接连接符 23"/>
            <p:cNvCxnSpPr/>
            <p:nvPr/>
          </p:nvCxnSpPr>
          <p:spPr>
            <a:xfrm rot="-5400000" flipV="1">
              <a:off x="5343" y="6468"/>
              <a:ext cx="4837" cy="0"/>
            </a:xfrm>
            <a:prstGeom prst="line">
              <a:avLst/>
            </a:prstGeom>
            <a:ln w="38100" cap="flat" cmpd="sng">
              <a:solidFill>
                <a:schemeClr val="tx1"/>
              </a:solidFill>
              <a:prstDash val="solid"/>
              <a:miter/>
              <a:headEnd type="none" w="med" len="med"/>
              <a:tailEnd type="none" w="med" len="med"/>
            </a:ln>
          </p:spPr>
        </p:cxnSp>
        <p:cxnSp>
          <p:nvCxnSpPr>
            <p:cNvPr id="25" name="直接箭头连接符 24"/>
            <p:cNvCxnSpPr/>
            <p:nvPr/>
          </p:nvCxnSpPr>
          <p:spPr>
            <a:xfrm>
              <a:off x="7763" y="4050"/>
              <a:ext cx="2827" cy="3"/>
            </a:xfrm>
            <a:prstGeom prst="straightConnector1">
              <a:avLst/>
            </a:prstGeom>
            <a:ln w="38100" cap="flat" cmpd="sng">
              <a:solidFill>
                <a:schemeClr val="tx1"/>
              </a:solidFill>
              <a:prstDash val="solid"/>
              <a:miter/>
              <a:headEnd type="none" w="med" len="med"/>
              <a:tailEnd type="arrow" w="med" len="med"/>
            </a:ln>
          </p:spPr>
        </p:cxnSp>
        <p:sp>
          <p:nvSpPr>
            <p:cNvPr id="26" name="流程图: 过程 25"/>
            <p:cNvSpPr/>
            <p:nvPr/>
          </p:nvSpPr>
          <p:spPr>
            <a:xfrm>
              <a:off x="9435" y="3038"/>
              <a:ext cx="2305" cy="787"/>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latin typeface="Times New Roman" panose="02020603050405020304" pitchFamily="18" charset="0"/>
                  <a:ea typeface="微软雅黑" panose="020B0503020204020204" pitchFamily="34" charset="-122"/>
                </a:rPr>
                <a:t>i=1</a:t>
              </a:r>
              <a:endParaRPr lang="en-US" altLang="zh-CN" sz="2600" dirty="0">
                <a:latin typeface="Times New Roman" panose="02020603050405020304" pitchFamily="18" charset="0"/>
                <a:ea typeface="微软雅黑" panose="020B0503020204020204" pitchFamily="34" charset="-122"/>
              </a:endParaRPr>
            </a:p>
          </p:txBody>
        </p:sp>
        <p:cxnSp>
          <p:nvCxnSpPr>
            <p:cNvPr id="27" name="直接箭头连接符 26"/>
            <p:cNvCxnSpPr/>
            <p:nvPr/>
          </p:nvCxnSpPr>
          <p:spPr>
            <a:xfrm rot="-5400000" flipH="1">
              <a:off x="10238" y="2700"/>
              <a:ext cx="675" cy="0"/>
            </a:xfrm>
            <a:prstGeom prst="straightConnector1">
              <a:avLst/>
            </a:prstGeom>
            <a:ln w="38100" cap="flat" cmpd="sng">
              <a:solidFill>
                <a:schemeClr val="tx1"/>
              </a:solidFill>
              <a:prstDash val="solid"/>
              <a:miter/>
              <a:headEnd type="none" w="med" len="med"/>
              <a:tailEnd type="arrow" w="med" len="med"/>
            </a:ln>
          </p:spPr>
        </p:cxnSp>
        <p:sp>
          <p:nvSpPr>
            <p:cNvPr id="28" name="平行四边形 27"/>
            <p:cNvSpPr/>
            <p:nvPr/>
          </p:nvSpPr>
          <p:spPr>
            <a:xfrm>
              <a:off x="9225" y="6240"/>
              <a:ext cx="2700" cy="788"/>
            </a:xfrm>
            <a:prstGeom prst="parallelogram">
              <a:avLst>
                <a:gd name="adj" fmla="val 25001"/>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latin typeface="Times New Roman" panose="02020603050405020304" pitchFamily="18" charset="0"/>
                  <a:ea typeface="微软雅黑" panose="020B0503020204020204" pitchFamily="34" charset="-122"/>
                </a:rPr>
                <a:t>输出</a:t>
              </a:r>
              <a:r>
                <a:rPr lang="en-US" altLang="zh-CN" sz="2600" dirty="0">
                  <a:latin typeface="Times New Roman" panose="02020603050405020304" pitchFamily="18" charset="0"/>
                  <a:ea typeface="微软雅黑" panose="020B0503020204020204" pitchFamily="34" charset="-122"/>
                </a:rPr>
                <a:t>i</a:t>
              </a:r>
              <a:endParaRPr lang="zh-CN" altLang="en-US" sz="2600" dirty="0">
                <a:latin typeface="Times New Roman" panose="02020603050405020304" pitchFamily="18" charset="0"/>
                <a:ea typeface="微软雅黑" panose="020B0503020204020204" pitchFamily="34" charset="-122"/>
              </a:endParaRPr>
            </a:p>
          </p:txBody>
        </p:sp>
        <p:cxnSp>
          <p:nvCxnSpPr>
            <p:cNvPr id="29" name="直接箭头连接符 28"/>
            <p:cNvCxnSpPr/>
            <p:nvPr/>
          </p:nvCxnSpPr>
          <p:spPr>
            <a:xfrm rot="-5400000" flipH="1">
              <a:off x="10238" y="7353"/>
              <a:ext cx="675" cy="0"/>
            </a:xfrm>
            <a:prstGeom prst="straightConnector1">
              <a:avLst/>
            </a:prstGeom>
            <a:ln w="38100" cap="flat" cmpd="sng">
              <a:solidFill>
                <a:schemeClr val="tx1"/>
              </a:solidFill>
              <a:prstDash val="solid"/>
              <a:miter/>
              <a:headEnd type="none" w="med" len="med"/>
              <a:tailEnd type="arrow" w="med" len="med"/>
            </a:ln>
          </p:spPr>
        </p:cxnSp>
        <p:cxnSp>
          <p:nvCxnSpPr>
            <p:cNvPr id="30" name="直接连接符 29"/>
            <p:cNvCxnSpPr>
              <a:stCxn id="19" idx="2"/>
            </p:cNvCxnSpPr>
            <p:nvPr/>
          </p:nvCxnSpPr>
          <p:spPr>
            <a:xfrm rot="5400000">
              <a:off x="10350" y="8663"/>
              <a:ext cx="450" cy="0"/>
            </a:xfrm>
            <a:prstGeom prst="line">
              <a:avLst/>
            </a:prstGeom>
            <a:ln w="38100" cap="flat" cmpd="sng">
              <a:solidFill>
                <a:schemeClr val="tx1"/>
              </a:solidFill>
              <a:prstDash val="solid"/>
              <a:miter/>
              <a:headEnd type="none" w="med" len="med"/>
              <a:tailEnd type="none" w="med" len="med"/>
            </a:ln>
          </p:spPr>
        </p:cxnSp>
        <p:cxnSp>
          <p:nvCxnSpPr>
            <p:cNvPr id="39" name="直接连接符 38"/>
            <p:cNvCxnSpPr/>
            <p:nvPr/>
          </p:nvCxnSpPr>
          <p:spPr>
            <a:xfrm rot="5400000">
              <a:off x="11260" y="7098"/>
              <a:ext cx="4255" cy="0"/>
            </a:xfrm>
            <a:prstGeom prst="line">
              <a:avLst/>
            </a:prstGeom>
            <a:ln w="38100" cap="flat" cmpd="sng">
              <a:solidFill>
                <a:schemeClr val="tx1"/>
              </a:solidFill>
              <a:prstDash val="solid"/>
              <a:miter/>
              <a:headEnd type="none" w="med" len="med"/>
              <a:tailEnd type="none" w="med" len="med"/>
            </a:ln>
          </p:spPr>
        </p:cxnSp>
        <p:cxnSp>
          <p:nvCxnSpPr>
            <p:cNvPr id="42" name="直接连接符 41"/>
            <p:cNvCxnSpPr/>
            <p:nvPr/>
          </p:nvCxnSpPr>
          <p:spPr>
            <a:xfrm rot="10800000">
              <a:off x="10575" y="9225"/>
              <a:ext cx="2813" cy="0"/>
            </a:xfrm>
            <a:prstGeom prst="line">
              <a:avLst/>
            </a:prstGeom>
            <a:ln w="38100" cap="flat" cmpd="sng">
              <a:solidFill>
                <a:schemeClr val="tx1"/>
              </a:solidFill>
              <a:prstDash val="solid"/>
              <a:miter/>
              <a:headEnd type="none" w="med" len="med"/>
              <a:tailEnd type="none" w="med" len="med"/>
            </a:ln>
          </p:spPr>
        </p:cxnSp>
        <p:cxnSp>
          <p:nvCxnSpPr>
            <p:cNvPr id="45" name="直接连接符 44"/>
            <p:cNvCxnSpPr/>
            <p:nvPr/>
          </p:nvCxnSpPr>
          <p:spPr>
            <a:xfrm rot="10800000">
              <a:off x="12745" y="4990"/>
              <a:ext cx="675" cy="0"/>
            </a:xfrm>
            <a:prstGeom prst="line">
              <a:avLst/>
            </a:prstGeom>
            <a:ln w="38100" cap="flat" cmpd="sng">
              <a:solidFill>
                <a:schemeClr val="tx1"/>
              </a:solidFill>
              <a:prstDash val="solid"/>
              <a:miter/>
              <a:headEnd type="none" w="med" len="med"/>
              <a:tailEnd type="none" w="med" len="med"/>
            </a:ln>
          </p:spPr>
        </p:cxnSp>
      </p:grpSp>
      <p:pic>
        <p:nvPicPr>
          <p:cNvPr id="22555" name="图片 30"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Rectangle 3"/>
          <p:cNvSpPr txBox="1"/>
          <p:nvPr/>
        </p:nvSpPr>
        <p:spPr>
          <a:xfrm>
            <a:off x="309880" y="1268730"/>
            <a:ext cx="8206105" cy="2428875"/>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pPr>
            <a:r>
              <a:rPr lang="en-US" altLang="zh-CN" sz="2600" dirty="0">
                <a:latin typeface="Times New Roman" panose="02020603050405020304" pitchFamily="18" charset="0"/>
                <a:ea typeface="微软雅黑" panose="020B0503020204020204" pitchFamily="34" charset="-122"/>
              </a:rPr>
              <a:t>for</a:t>
            </a:r>
            <a:r>
              <a:rPr lang="zh-CN" altLang="zh-CN" sz="2600" dirty="0">
                <a:latin typeface="Times New Roman" panose="02020603050405020304" pitchFamily="18" charset="0"/>
                <a:ea typeface="微软雅黑" panose="020B0503020204020204" pitchFamily="34" charset="-122"/>
              </a:rPr>
              <a:t>语句的一般形式为</a:t>
            </a:r>
            <a:endParaRPr lang="zh-CN" altLang="zh-CN" sz="26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600" dirty="0">
                <a:latin typeface="Times New Roman" panose="02020603050405020304" pitchFamily="18" charset="0"/>
                <a:ea typeface="微软雅黑" panose="020B0503020204020204" pitchFamily="34" charset="-122"/>
              </a:rPr>
              <a:t>    for(</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1</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2</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3) </a:t>
            </a:r>
            <a:endParaRPr lang="zh-CN" altLang="zh-CN" sz="26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600" dirty="0">
                <a:latin typeface="Times New Roman" panose="02020603050405020304" pitchFamily="18" charset="0"/>
                <a:ea typeface="微软雅黑" panose="020B0503020204020204" pitchFamily="34" charset="-122"/>
              </a:rPr>
              <a:t>                </a:t>
            </a:r>
            <a:r>
              <a:rPr lang="zh-CN" altLang="zh-CN" sz="2600" dirty="0">
                <a:latin typeface="Times New Roman" panose="02020603050405020304" pitchFamily="18" charset="0"/>
                <a:ea typeface="微软雅黑" panose="020B0503020204020204" pitchFamily="34" charset="-122"/>
              </a:rPr>
              <a:t>语句</a:t>
            </a:r>
            <a:endParaRPr lang="zh-CN" altLang="zh-CN" sz="2600" dirty="0">
              <a:latin typeface="Times New Roman" panose="02020603050405020304" pitchFamily="18" charset="0"/>
              <a:ea typeface="微软雅黑" panose="020B0503020204020204" pitchFamily="34" charset="-122"/>
            </a:endParaRPr>
          </a:p>
        </p:txBody>
      </p:sp>
      <p:sp>
        <p:nvSpPr>
          <p:cNvPr id="23556"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5" name="直接连接符 4"/>
          <p:cNvCxnSpPr/>
          <p:nvPr/>
        </p:nvCxnSpPr>
        <p:spPr>
          <a:xfrm>
            <a:off x="1331278" y="2780983"/>
            <a:ext cx="1500187" cy="0"/>
          </a:xfrm>
          <a:prstGeom prst="line">
            <a:avLst/>
          </a:prstGeom>
          <a:ln w="38100" cap="flat" cmpd="sng">
            <a:solidFill>
              <a:srgbClr val="FF0000"/>
            </a:solidFill>
            <a:prstDash val="solid"/>
            <a:miter/>
            <a:headEnd type="none" w="med" len="med"/>
            <a:tailEnd type="none" w="med" len="med"/>
          </a:ln>
        </p:spPr>
      </p:cxnSp>
      <p:sp>
        <p:nvSpPr>
          <p:cNvPr id="8" name="线形标注 2 7"/>
          <p:cNvSpPr/>
          <p:nvPr/>
        </p:nvSpPr>
        <p:spPr>
          <a:xfrm>
            <a:off x="849630" y="3429000"/>
            <a:ext cx="4143375" cy="1571625"/>
          </a:xfrm>
          <a:prstGeom prst="borderCallout2">
            <a:avLst>
              <a:gd name="adj1" fmla="val 2245"/>
              <a:gd name="adj2" fmla="val 13352"/>
              <a:gd name="adj3" fmla="val -22585"/>
              <a:gd name="adj4" fmla="val 17072"/>
              <a:gd name="adj5" fmla="val -41010"/>
              <a:gd name="adj6" fmla="val 28137"/>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800" b="1" dirty="0">
                <a:solidFill>
                  <a:srgbClr val="4545AB"/>
                </a:solidFill>
                <a:latin typeface="Arial" panose="020B0604020202020204" pitchFamily="34" charset="0"/>
                <a:ea typeface="宋体" panose="02010600030101010101" pitchFamily="2" charset="-122"/>
              </a:rPr>
              <a:t>设置初始条件，只执行一次。可以为零个、一个或多个变量设置初值</a:t>
            </a:r>
            <a:r>
              <a:rPr lang="zh-CN" altLang="en-US" sz="2800" b="1" dirty="0">
                <a:solidFill>
                  <a:srgbClr val="4545AB"/>
                </a:solidFill>
                <a:latin typeface="Arial" panose="020B0604020202020204" pitchFamily="34" charset="0"/>
                <a:ea typeface="宋体" panose="02010600030101010101" pitchFamily="2" charset="-122"/>
              </a:rPr>
              <a:t>执行</a:t>
            </a:r>
            <a:endParaRPr lang="zh-CN" altLang="en-US" sz="2800" b="1" dirty="0">
              <a:solidFill>
                <a:srgbClr val="4545AB"/>
              </a:solidFill>
              <a:latin typeface="Arial" panose="020B0604020202020204" pitchFamily="34" charset="0"/>
              <a:ea typeface="宋体" panose="02010600030101010101" pitchFamily="2" charset="-122"/>
            </a:endParaRPr>
          </a:p>
        </p:txBody>
      </p:sp>
      <p:pic>
        <p:nvPicPr>
          <p:cNvPr id="23559" name="图片 6"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3"/>
          <p:cNvSpPr txBox="1"/>
          <p:nvPr/>
        </p:nvSpPr>
        <p:spPr>
          <a:xfrm>
            <a:off x="309563" y="1268730"/>
            <a:ext cx="7143750" cy="2428875"/>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pPr>
            <a:r>
              <a:rPr lang="en-US" altLang="zh-CN" sz="2600" dirty="0">
                <a:latin typeface="Times New Roman" panose="02020603050405020304" pitchFamily="18" charset="0"/>
                <a:ea typeface="微软雅黑" panose="020B0503020204020204" pitchFamily="34" charset="-122"/>
              </a:rPr>
              <a:t>for</a:t>
            </a:r>
            <a:r>
              <a:rPr lang="zh-CN" altLang="zh-CN" sz="2600" dirty="0">
                <a:latin typeface="Times New Roman" panose="02020603050405020304" pitchFamily="18" charset="0"/>
                <a:ea typeface="微软雅黑" panose="020B0503020204020204" pitchFamily="34" charset="-122"/>
              </a:rPr>
              <a:t>语句的一般形式为</a:t>
            </a:r>
            <a:endParaRPr lang="zh-CN" altLang="zh-CN" sz="26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600" dirty="0">
                <a:latin typeface="Times New Roman" panose="02020603050405020304" pitchFamily="18" charset="0"/>
                <a:ea typeface="微软雅黑" panose="020B0503020204020204" pitchFamily="34" charset="-122"/>
              </a:rPr>
              <a:t>    for(</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1</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2</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3) </a:t>
            </a:r>
            <a:endParaRPr lang="zh-CN" altLang="zh-CN" sz="26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600" dirty="0">
                <a:latin typeface="Times New Roman" panose="02020603050405020304" pitchFamily="18" charset="0"/>
                <a:ea typeface="微软雅黑" panose="020B0503020204020204" pitchFamily="34" charset="-122"/>
              </a:rPr>
              <a:t>                </a:t>
            </a:r>
            <a:r>
              <a:rPr lang="zh-CN" altLang="zh-CN" sz="2600" dirty="0">
                <a:latin typeface="Times New Roman" panose="02020603050405020304" pitchFamily="18" charset="0"/>
                <a:ea typeface="微软雅黑" panose="020B0503020204020204" pitchFamily="34" charset="-122"/>
              </a:rPr>
              <a:t>语句</a:t>
            </a:r>
            <a:endParaRPr lang="zh-CN" altLang="zh-CN" sz="2600" dirty="0">
              <a:latin typeface="Times New Roman" panose="02020603050405020304" pitchFamily="18" charset="0"/>
              <a:ea typeface="微软雅黑" panose="020B0503020204020204" pitchFamily="34" charset="-122"/>
            </a:endParaRPr>
          </a:p>
        </p:txBody>
      </p:sp>
      <p:sp>
        <p:nvSpPr>
          <p:cNvPr id="24580"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5" name="直接连接符 4"/>
          <p:cNvCxnSpPr/>
          <p:nvPr/>
        </p:nvCxnSpPr>
        <p:spPr>
          <a:xfrm>
            <a:off x="1403985" y="2780983"/>
            <a:ext cx="1500188" cy="0"/>
          </a:xfrm>
          <a:prstGeom prst="line">
            <a:avLst/>
          </a:prstGeom>
          <a:ln w="38100" cap="flat" cmpd="sng">
            <a:solidFill>
              <a:srgbClr val="FF0000"/>
            </a:solidFill>
            <a:prstDash val="solid"/>
            <a:miter/>
            <a:headEnd type="none" w="med" len="med"/>
            <a:tailEnd type="none" w="med" len="med"/>
          </a:ln>
        </p:spPr>
      </p:cxnSp>
      <p:sp>
        <p:nvSpPr>
          <p:cNvPr id="8" name="线形标注 2 7"/>
          <p:cNvSpPr/>
          <p:nvPr/>
        </p:nvSpPr>
        <p:spPr>
          <a:xfrm>
            <a:off x="478155" y="3357245"/>
            <a:ext cx="8237220" cy="948055"/>
          </a:xfrm>
          <a:prstGeom prst="borderCallout2">
            <a:avLst>
              <a:gd name="adj1" fmla="val -1393"/>
              <a:gd name="adj2" fmla="val 37465"/>
              <a:gd name="adj3" fmla="val -36402"/>
              <a:gd name="adj4" fmla="val 28985"/>
              <a:gd name="adj5" fmla="val -59745"/>
              <a:gd name="adj6" fmla="val 19179"/>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b="1" dirty="0">
                <a:solidFill>
                  <a:srgbClr val="4545AB"/>
                </a:solidFill>
                <a:latin typeface="Arial" panose="020B0604020202020204" pitchFamily="34" charset="0"/>
                <a:ea typeface="宋体" panose="02010600030101010101" pitchFamily="2" charset="-122"/>
              </a:rPr>
              <a:t>循环条件表达式，用来判定是否继续循环。在每次执行循环体前先执行此表达式，决定是否继续执行循环</a:t>
            </a:r>
            <a:endParaRPr lang="zh-CN" altLang="zh-CN" sz="2600" b="1" dirty="0">
              <a:solidFill>
                <a:srgbClr val="4545AB"/>
              </a:solidFill>
              <a:latin typeface="Arial" panose="020B0604020202020204" pitchFamily="34" charset="0"/>
              <a:ea typeface="宋体" panose="02010600030101010101" pitchFamily="2" charset="-122"/>
            </a:endParaRPr>
          </a:p>
        </p:txBody>
      </p:sp>
      <p:pic>
        <p:nvPicPr>
          <p:cNvPr id="24583" name="图片 6"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Rectangle 3"/>
          <p:cNvSpPr txBox="1"/>
          <p:nvPr/>
        </p:nvSpPr>
        <p:spPr>
          <a:xfrm>
            <a:off x="309563" y="1268730"/>
            <a:ext cx="7143750" cy="2428875"/>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pPr>
            <a:r>
              <a:rPr lang="en-US" altLang="zh-CN" sz="2600" dirty="0">
                <a:latin typeface="Times New Roman" panose="02020603050405020304" pitchFamily="18" charset="0"/>
                <a:ea typeface="微软雅黑" panose="020B0503020204020204" pitchFamily="34" charset="-122"/>
              </a:rPr>
              <a:t>for</a:t>
            </a:r>
            <a:r>
              <a:rPr lang="zh-CN" altLang="zh-CN" sz="2600" dirty="0">
                <a:latin typeface="Times New Roman" panose="02020603050405020304" pitchFamily="18" charset="0"/>
                <a:ea typeface="微软雅黑" panose="020B0503020204020204" pitchFamily="34" charset="-122"/>
              </a:rPr>
              <a:t>语句的一般形式为</a:t>
            </a:r>
            <a:endParaRPr lang="zh-CN" altLang="zh-CN" sz="26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600" dirty="0">
                <a:latin typeface="Times New Roman" panose="02020603050405020304" pitchFamily="18" charset="0"/>
                <a:ea typeface="微软雅黑" panose="020B0503020204020204" pitchFamily="34" charset="-122"/>
              </a:rPr>
              <a:t>    for(</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1</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2</a:t>
            </a:r>
            <a:r>
              <a:rPr lang="zh-CN" altLang="zh-CN"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3) </a:t>
            </a:r>
            <a:endParaRPr lang="zh-CN" altLang="zh-CN" sz="26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600" dirty="0">
                <a:latin typeface="Times New Roman" panose="02020603050405020304" pitchFamily="18" charset="0"/>
                <a:ea typeface="微软雅黑" panose="020B0503020204020204" pitchFamily="34" charset="-122"/>
              </a:rPr>
              <a:t>                </a:t>
            </a:r>
            <a:r>
              <a:rPr lang="zh-CN" altLang="zh-CN" sz="2600" dirty="0">
                <a:latin typeface="Times New Roman" panose="02020603050405020304" pitchFamily="18" charset="0"/>
                <a:ea typeface="微软雅黑" panose="020B0503020204020204" pitchFamily="34" charset="-122"/>
              </a:rPr>
              <a:t>语句</a:t>
            </a:r>
            <a:endParaRPr lang="zh-CN" altLang="zh-CN" sz="2600" dirty="0">
              <a:latin typeface="Times New Roman" panose="02020603050405020304" pitchFamily="18" charset="0"/>
              <a:ea typeface="微软雅黑" panose="020B0503020204020204" pitchFamily="34" charset="-122"/>
            </a:endParaRPr>
          </a:p>
        </p:txBody>
      </p:sp>
      <p:sp>
        <p:nvSpPr>
          <p:cNvPr id="25604"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5" name="直接连接符 4"/>
          <p:cNvCxnSpPr/>
          <p:nvPr/>
        </p:nvCxnSpPr>
        <p:spPr>
          <a:xfrm>
            <a:off x="1403985" y="2780983"/>
            <a:ext cx="1500188" cy="0"/>
          </a:xfrm>
          <a:prstGeom prst="line">
            <a:avLst/>
          </a:prstGeom>
          <a:ln w="38100" cap="flat" cmpd="sng">
            <a:solidFill>
              <a:srgbClr val="FF0000"/>
            </a:solidFill>
            <a:prstDash val="solid"/>
            <a:miter/>
            <a:headEnd type="none" w="med" len="med"/>
            <a:tailEnd type="none" w="med" len="med"/>
          </a:ln>
        </p:spPr>
      </p:cxnSp>
      <p:sp>
        <p:nvSpPr>
          <p:cNvPr id="8" name="线形标注 2 7"/>
          <p:cNvSpPr/>
          <p:nvPr/>
        </p:nvSpPr>
        <p:spPr>
          <a:xfrm>
            <a:off x="395605" y="3373120"/>
            <a:ext cx="8214360" cy="1000125"/>
          </a:xfrm>
          <a:prstGeom prst="borderCallout2">
            <a:avLst>
              <a:gd name="adj1" fmla="val -3069"/>
              <a:gd name="adj2" fmla="val 35304"/>
              <a:gd name="adj3" fmla="val -34666"/>
              <a:gd name="adj4" fmla="val 31957"/>
              <a:gd name="adj5" fmla="val -59047"/>
              <a:gd name="adj6" fmla="val 19132"/>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800" b="1" dirty="0">
                <a:solidFill>
                  <a:srgbClr val="4545AB"/>
                </a:solidFill>
                <a:latin typeface="Arial" panose="020B0604020202020204" pitchFamily="34" charset="0"/>
                <a:ea typeface="宋体" panose="02010600030101010101" pitchFamily="2" charset="-122"/>
              </a:rPr>
              <a:t>作为循环的调整器，例如使循环变量增值，它是在执行完循环体后才进行的</a:t>
            </a:r>
            <a:endParaRPr lang="zh-CN" altLang="zh-CN" sz="2800" b="1" dirty="0">
              <a:solidFill>
                <a:srgbClr val="4545AB"/>
              </a:solidFill>
              <a:latin typeface="Arial" panose="020B0604020202020204" pitchFamily="34" charset="0"/>
              <a:ea typeface="宋体" panose="02010600030101010101" pitchFamily="2" charset="-122"/>
            </a:endParaRPr>
          </a:p>
        </p:txBody>
      </p:sp>
      <p:pic>
        <p:nvPicPr>
          <p:cNvPr id="25607" name="图片 6"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3"/>
          <p:cNvSpPr txBox="1"/>
          <p:nvPr/>
        </p:nvSpPr>
        <p:spPr>
          <a:xfrm>
            <a:off x="251460" y="1243330"/>
            <a:ext cx="8625205" cy="4643755"/>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eaLnBrk="1" hangingPunct="1">
              <a:lnSpc>
                <a:spcPts val="4500"/>
              </a:lnSpc>
              <a:spcBef>
                <a:spcPct val="0"/>
              </a:spcBef>
            </a:pPr>
            <a:r>
              <a:rPr lang="en-US" altLang="zh-CN" sz="2600" dirty="0">
                <a:latin typeface="Times New Roman" panose="02020603050405020304" pitchFamily="18" charset="0"/>
                <a:ea typeface="微软雅黑" panose="020B0503020204020204" pitchFamily="34" charset="-122"/>
              </a:rPr>
              <a:t>for</a:t>
            </a:r>
            <a:r>
              <a:rPr lang="zh-CN" altLang="zh-CN" sz="2600" dirty="0">
                <a:latin typeface="Times New Roman" panose="02020603050405020304" pitchFamily="18" charset="0"/>
                <a:ea typeface="微软雅黑" panose="020B0503020204020204" pitchFamily="34" charset="-122"/>
              </a:rPr>
              <a:t>语句的执行过程</a:t>
            </a:r>
            <a:r>
              <a:rPr lang="zh-CN" altLang="en-US" sz="2600" dirty="0">
                <a:latin typeface="Times New Roman" panose="02020603050405020304" pitchFamily="18" charset="0"/>
                <a:ea typeface="微软雅黑" panose="020B0503020204020204" pitchFamily="34" charset="-122"/>
              </a:rPr>
              <a:t>：</a:t>
            </a:r>
            <a:endParaRPr lang="en-US" altLang="zh-CN" sz="2600" dirty="0">
              <a:latin typeface="Times New Roman" panose="02020603050405020304" pitchFamily="18" charset="0"/>
              <a:ea typeface="微软雅黑" panose="020B0503020204020204" pitchFamily="34" charset="-122"/>
            </a:endParaRPr>
          </a:p>
          <a:p>
            <a:pPr marL="457200" lvl="1" eaLnBrk="1" hangingPunct="1">
              <a:lnSpc>
                <a:spcPts val="4500"/>
              </a:lnSpc>
              <a:spcBef>
                <a:spcPct val="0"/>
              </a:spcBef>
              <a:buFontTx/>
              <a:buNone/>
            </a:pPr>
            <a:r>
              <a:rPr lang="en-US" altLang="zh-CN" sz="2500" dirty="0">
                <a:latin typeface="Times New Roman" panose="02020603050405020304" pitchFamily="18" charset="0"/>
                <a:ea typeface="微软雅黑" panose="020B0503020204020204" pitchFamily="34" charset="-122"/>
              </a:rPr>
              <a:t>  (1) </a:t>
            </a:r>
            <a:r>
              <a:rPr lang="zh-CN" altLang="zh-CN" sz="2500" dirty="0">
                <a:latin typeface="Times New Roman" panose="02020603050405020304" pitchFamily="18" charset="0"/>
                <a:ea typeface="微软雅黑" panose="020B0503020204020204" pitchFamily="34" charset="-122"/>
              </a:rPr>
              <a:t>先求解表达式</a:t>
            </a:r>
            <a:r>
              <a:rPr lang="en-US" altLang="zh-CN" sz="2500" dirty="0">
                <a:latin typeface="Times New Roman" panose="02020603050405020304" pitchFamily="18" charset="0"/>
                <a:ea typeface="微软雅黑" panose="020B0503020204020204" pitchFamily="34" charset="-122"/>
              </a:rPr>
              <a:t>1</a:t>
            </a:r>
            <a:endParaRPr lang="zh-CN" altLang="zh-CN" sz="2500" dirty="0">
              <a:latin typeface="Times New Roman" panose="02020603050405020304" pitchFamily="18" charset="0"/>
              <a:ea typeface="微软雅黑" panose="020B0503020204020204" pitchFamily="34" charset="-122"/>
            </a:endParaRPr>
          </a:p>
          <a:p>
            <a:pPr marL="457200" lvl="1" eaLnBrk="1" hangingPunct="1">
              <a:lnSpc>
                <a:spcPts val="4500"/>
              </a:lnSpc>
              <a:spcBef>
                <a:spcPct val="0"/>
              </a:spcBef>
              <a:buFontTx/>
              <a:buNone/>
            </a:pPr>
            <a:r>
              <a:rPr lang="en-US" altLang="zh-CN" sz="2500" dirty="0">
                <a:latin typeface="Times New Roman" panose="02020603050405020304" pitchFamily="18" charset="0"/>
                <a:ea typeface="微软雅黑" panose="020B0503020204020204" pitchFamily="34" charset="-122"/>
              </a:rPr>
              <a:t>  (2) </a:t>
            </a:r>
            <a:r>
              <a:rPr lang="zh-CN" altLang="zh-CN" sz="2500" dirty="0">
                <a:latin typeface="Times New Roman" panose="02020603050405020304" pitchFamily="18" charset="0"/>
                <a:ea typeface="微软雅黑" panose="020B0503020204020204" pitchFamily="34" charset="-122"/>
              </a:rPr>
              <a:t>求解表达式</a:t>
            </a:r>
            <a:r>
              <a:rPr lang="en-US" altLang="zh-CN" sz="2500" dirty="0">
                <a:latin typeface="Times New Roman" panose="02020603050405020304" pitchFamily="18" charset="0"/>
                <a:ea typeface="微软雅黑" panose="020B0503020204020204" pitchFamily="34" charset="-122"/>
              </a:rPr>
              <a:t>2</a:t>
            </a:r>
            <a:r>
              <a:rPr lang="zh-CN" altLang="zh-CN" sz="2500" dirty="0">
                <a:latin typeface="Times New Roman" panose="02020603050405020304" pitchFamily="18" charset="0"/>
                <a:ea typeface="微软雅黑" panose="020B0503020204020204" pitchFamily="34" charset="-122"/>
              </a:rPr>
              <a:t>，若</a:t>
            </a:r>
            <a:r>
              <a:rPr lang="zh-CN" altLang="en-US" sz="2500" dirty="0">
                <a:latin typeface="Times New Roman" panose="02020603050405020304" pitchFamily="18" charset="0"/>
                <a:ea typeface="微软雅黑" panose="020B0503020204020204" pitchFamily="34" charset="-122"/>
              </a:rPr>
              <a:t>其</a:t>
            </a:r>
            <a:r>
              <a:rPr lang="zh-CN" altLang="zh-CN" sz="2500" dirty="0">
                <a:latin typeface="Times New Roman" panose="02020603050405020304" pitchFamily="18" charset="0"/>
                <a:ea typeface="微软雅黑" panose="020B0503020204020204" pitchFamily="34" charset="-122"/>
              </a:rPr>
              <a:t>值为真，执行循环体，然后执行下面第</a:t>
            </a:r>
            <a:r>
              <a:rPr lang="en-US" altLang="zh-CN" sz="2500" dirty="0">
                <a:latin typeface="Times New Roman" panose="02020603050405020304" pitchFamily="18" charset="0"/>
                <a:ea typeface="微软雅黑" panose="020B0503020204020204" pitchFamily="34" charset="-122"/>
              </a:rPr>
              <a:t>(3)</a:t>
            </a:r>
            <a:r>
              <a:rPr lang="zh-CN" altLang="zh-CN" sz="2500" dirty="0">
                <a:latin typeface="Times New Roman" panose="02020603050405020304" pitchFamily="18" charset="0"/>
                <a:ea typeface="微软雅黑" panose="020B0503020204020204" pitchFamily="34" charset="-122"/>
              </a:rPr>
              <a:t>步。若为假，则结束循环，转到第</a:t>
            </a:r>
            <a:r>
              <a:rPr lang="en-US" altLang="zh-CN" sz="2500" dirty="0">
                <a:latin typeface="Times New Roman" panose="02020603050405020304" pitchFamily="18" charset="0"/>
                <a:ea typeface="微软雅黑" panose="020B0503020204020204" pitchFamily="34" charset="-122"/>
              </a:rPr>
              <a:t>(5)</a:t>
            </a:r>
            <a:r>
              <a:rPr lang="zh-CN" altLang="zh-CN" sz="2500" dirty="0">
                <a:latin typeface="Times New Roman" panose="02020603050405020304" pitchFamily="18" charset="0"/>
                <a:ea typeface="微软雅黑" panose="020B0503020204020204" pitchFamily="34" charset="-122"/>
              </a:rPr>
              <a:t>步</a:t>
            </a:r>
            <a:endParaRPr lang="zh-CN" altLang="zh-CN" sz="2500" dirty="0">
              <a:latin typeface="Times New Roman" panose="02020603050405020304" pitchFamily="18" charset="0"/>
              <a:ea typeface="微软雅黑" panose="020B0503020204020204" pitchFamily="34" charset="-122"/>
            </a:endParaRPr>
          </a:p>
          <a:p>
            <a:pPr marL="457200" lvl="1" eaLnBrk="1" hangingPunct="1">
              <a:lnSpc>
                <a:spcPts val="4500"/>
              </a:lnSpc>
              <a:spcBef>
                <a:spcPct val="0"/>
              </a:spcBef>
              <a:buFontTx/>
              <a:buNone/>
            </a:pPr>
            <a:r>
              <a:rPr lang="en-US" altLang="zh-CN" sz="2500" dirty="0">
                <a:latin typeface="Times New Roman" panose="02020603050405020304" pitchFamily="18" charset="0"/>
                <a:ea typeface="微软雅黑" panose="020B0503020204020204" pitchFamily="34" charset="-122"/>
              </a:rPr>
              <a:t>  (3) </a:t>
            </a:r>
            <a:r>
              <a:rPr lang="zh-CN" altLang="zh-CN" sz="2500" dirty="0">
                <a:latin typeface="Times New Roman" panose="02020603050405020304" pitchFamily="18" charset="0"/>
                <a:ea typeface="微软雅黑" panose="020B0503020204020204" pitchFamily="34" charset="-122"/>
              </a:rPr>
              <a:t>求解表达式</a:t>
            </a:r>
            <a:r>
              <a:rPr lang="en-US" altLang="zh-CN" sz="2500" dirty="0">
                <a:latin typeface="Times New Roman" panose="02020603050405020304" pitchFamily="18" charset="0"/>
                <a:ea typeface="微软雅黑" panose="020B0503020204020204" pitchFamily="34" charset="-122"/>
              </a:rPr>
              <a:t>3</a:t>
            </a:r>
            <a:endParaRPr lang="zh-CN" altLang="zh-CN" sz="2500" dirty="0">
              <a:latin typeface="Times New Roman" panose="02020603050405020304" pitchFamily="18" charset="0"/>
              <a:ea typeface="微软雅黑" panose="020B0503020204020204" pitchFamily="34" charset="-122"/>
            </a:endParaRPr>
          </a:p>
          <a:p>
            <a:pPr marL="457200" lvl="1" eaLnBrk="1" hangingPunct="1">
              <a:lnSpc>
                <a:spcPts val="4500"/>
              </a:lnSpc>
              <a:spcBef>
                <a:spcPct val="0"/>
              </a:spcBef>
              <a:buFontTx/>
              <a:buNone/>
            </a:pPr>
            <a:r>
              <a:rPr lang="en-US" altLang="zh-CN" sz="2500" dirty="0">
                <a:latin typeface="Times New Roman" panose="02020603050405020304" pitchFamily="18" charset="0"/>
                <a:ea typeface="微软雅黑" panose="020B0503020204020204" pitchFamily="34" charset="-122"/>
              </a:rPr>
              <a:t>  (4) </a:t>
            </a:r>
            <a:r>
              <a:rPr lang="zh-CN" altLang="zh-CN" sz="2500" dirty="0">
                <a:latin typeface="Times New Roman" panose="02020603050405020304" pitchFamily="18" charset="0"/>
                <a:ea typeface="微软雅黑" panose="020B0503020204020204" pitchFamily="34" charset="-122"/>
              </a:rPr>
              <a:t>转回上面步骤</a:t>
            </a:r>
            <a:r>
              <a:rPr lang="en-US" altLang="zh-CN" sz="2500" dirty="0">
                <a:latin typeface="Times New Roman" panose="02020603050405020304" pitchFamily="18" charset="0"/>
                <a:ea typeface="微软雅黑" panose="020B0503020204020204" pitchFamily="34" charset="-122"/>
              </a:rPr>
              <a:t>(2)</a:t>
            </a:r>
            <a:r>
              <a:rPr lang="zh-CN" altLang="zh-CN" sz="2500" dirty="0">
                <a:latin typeface="Times New Roman" panose="02020603050405020304" pitchFamily="18" charset="0"/>
                <a:ea typeface="微软雅黑" panose="020B0503020204020204" pitchFamily="34" charset="-122"/>
              </a:rPr>
              <a:t>继续执行</a:t>
            </a:r>
            <a:endParaRPr lang="zh-CN" altLang="zh-CN" sz="2500" dirty="0">
              <a:latin typeface="Times New Roman" panose="02020603050405020304" pitchFamily="18" charset="0"/>
              <a:ea typeface="微软雅黑" panose="020B0503020204020204" pitchFamily="34" charset="-122"/>
            </a:endParaRPr>
          </a:p>
          <a:p>
            <a:pPr marL="457200" lvl="1" eaLnBrk="1" hangingPunct="1">
              <a:lnSpc>
                <a:spcPts val="4500"/>
              </a:lnSpc>
              <a:spcBef>
                <a:spcPct val="0"/>
              </a:spcBef>
              <a:buFontTx/>
              <a:buNone/>
            </a:pPr>
            <a:r>
              <a:rPr lang="en-US" altLang="zh-CN" sz="2500" dirty="0">
                <a:latin typeface="Times New Roman" panose="02020603050405020304" pitchFamily="18" charset="0"/>
                <a:ea typeface="微软雅黑" panose="020B0503020204020204" pitchFamily="34" charset="-122"/>
              </a:rPr>
              <a:t>  (5) </a:t>
            </a:r>
            <a:r>
              <a:rPr lang="zh-CN" altLang="zh-CN" sz="2500" dirty="0">
                <a:latin typeface="Times New Roman" panose="02020603050405020304" pitchFamily="18" charset="0"/>
                <a:ea typeface="微软雅黑" panose="020B0503020204020204" pitchFamily="34" charset="-122"/>
              </a:rPr>
              <a:t>循环结束，执行</a:t>
            </a:r>
            <a:r>
              <a:rPr lang="en-US" altLang="zh-CN" sz="2500" dirty="0">
                <a:latin typeface="Times New Roman" panose="02020603050405020304" pitchFamily="18" charset="0"/>
                <a:ea typeface="微软雅黑" panose="020B0503020204020204" pitchFamily="34" charset="-122"/>
              </a:rPr>
              <a:t>for</a:t>
            </a:r>
            <a:r>
              <a:rPr lang="zh-CN" altLang="zh-CN" sz="2500" dirty="0">
                <a:latin typeface="Times New Roman" panose="02020603050405020304" pitchFamily="18" charset="0"/>
                <a:ea typeface="微软雅黑" panose="020B0503020204020204" pitchFamily="34" charset="-122"/>
              </a:rPr>
              <a:t>语句下面的一个语句</a:t>
            </a:r>
            <a:endParaRPr lang="en-US" altLang="zh-CN" sz="2500" dirty="0">
              <a:latin typeface="Times New Roman" panose="02020603050405020304" pitchFamily="18" charset="0"/>
              <a:ea typeface="微软雅黑" panose="020B0503020204020204" pitchFamily="34" charset="-122"/>
            </a:endParaRPr>
          </a:p>
        </p:txBody>
      </p:sp>
      <p:sp>
        <p:nvSpPr>
          <p:cNvPr id="26628"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26629"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3">
                                            <p:txEl>
                                              <p:charRg st="12" end="24"/>
                                            </p:txEl>
                                          </p:spTgt>
                                        </p:tgtEl>
                                        <p:attrNameLst>
                                          <p:attrName>style.visibility</p:attrName>
                                        </p:attrNameLst>
                                      </p:cBhvr>
                                      <p:to>
                                        <p:strVal val="visible"/>
                                      </p:to>
                                    </p:set>
                                    <p:animEffect transition="in" filter="blinds(horizontal)">
                                      <p:cBhvr>
                                        <p:cTn id="7" dur="500"/>
                                        <p:tgtEl>
                                          <p:spTgt spid="30723">
                                            <p:txEl>
                                              <p:charRg st="12"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3">
                                            <p:txEl>
                                              <p:charRg st="24" end="77"/>
                                            </p:txEl>
                                          </p:spTgt>
                                        </p:tgtEl>
                                        <p:attrNameLst>
                                          <p:attrName>style.visibility</p:attrName>
                                        </p:attrNameLst>
                                      </p:cBhvr>
                                      <p:to>
                                        <p:strVal val="visible"/>
                                      </p:to>
                                    </p:set>
                                    <p:animEffect transition="in" filter="blinds(horizontal)">
                                      <p:cBhvr>
                                        <p:cTn id="12" dur="500"/>
                                        <p:tgtEl>
                                          <p:spTgt spid="30723">
                                            <p:txEl>
                                              <p:charRg st="24" end="7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23">
                                            <p:txEl>
                                              <p:charRg st="77" end="88"/>
                                            </p:txEl>
                                          </p:spTgt>
                                        </p:tgtEl>
                                        <p:attrNameLst>
                                          <p:attrName>style.visibility</p:attrName>
                                        </p:attrNameLst>
                                      </p:cBhvr>
                                      <p:to>
                                        <p:strVal val="visible"/>
                                      </p:to>
                                    </p:set>
                                    <p:animEffect transition="in" filter="blinds(horizontal)">
                                      <p:cBhvr>
                                        <p:cTn id="17" dur="500"/>
                                        <p:tgtEl>
                                          <p:spTgt spid="30723">
                                            <p:txEl>
                                              <p:charRg st="77" end="8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0723">
                                            <p:txEl>
                                              <p:charRg st="88" end="106"/>
                                            </p:txEl>
                                          </p:spTgt>
                                        </p:tgtEl>
                                        <p:attrNameLst>
                                          <p:attrName>style.visibility</p:attrName>
                                        </p:attrNameLst>
                                      </p:cBhvr>
                                      <p:to>
                                        <p:strVal val="visible"/>
                                      </p:to>
                                    </p:set>
                                    <p:animEffect transition="in" filter="blinds(horizontal)">
                                      <p:cBhvr>
                                        <p:cTn id="22" dur="500"/>
                                        <p:tgtEl>
                                          <p:spTgt spid="30723">
                                            <p:txEl>
                                              <p:charRg st="88" end="10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0723">
                                            <p:txEl>
                                              <p:charRg st="106" end="130"/>
                                            </p:txEl>
                                          </p:spTgt>
                                        </p:tgtEl>
                                        <p:attrNameLst>
                                          <p:attrName>style.visibility</p:attrName>
                                        </p:attrNameLst>
                                      </p:cBhvr>
                                      <p:to>
                                        <p:strVal val="visible"/>
                                      </p:to>
                                    </p:set>
                                    <p:animEffect transition="in" filter="blinds(horizontal)">
                                      <p:cBhvr>
                                        <p:cTn id="27" dur="500"/>
                                        <p:tgtEl>
                                          <p:spTgt spid="30723">
                                            <p:txEl>
                                              <p:charRg st="106" end="1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p:nvPr/>
        </p:nvSpPr>
        <p:spPr>
          <a:xfrm>
            <a:off x="309880" y="1268413"/>
            <a:ext cx="5072063" cy="4500562"/>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600" dirty="0">
                <a:solidFill>
                  <a:srgbClr val="235A67"/>
                </a:solidFill>
                <a:latin typeface="Times New Roman" panose="02020603050405020304" pitchFamily="18" charset="0"/>
                <a:ea typeface="微软雅黑" panose="020B0503020204020204" pitchFamily="34" charset="-122"/>
              </a:rPr>
              <a:t>for(i=1;i&lt;=100;i++) </a:t>
            </a:r>
            <a:endParaRPr lang="zh-CN" altLang="zh-CN" sz="26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235A67"/>
                </a:solidFill>
                <a:latin typeface="Times New Roman" panose="02020603050405020304" pitchFamily="18" charset="0"/>
                <a:ea typeface="微软雅黑" panose="020B0503020204020204" pitchFamily="34" charset="-122"/>
              </a:rPr>
              <a:t>         sum=sum+i;</a:t>
            </a:r>
            <a:endParaRPr lang="en-US" altLang="zh-CN" sz="26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en-US" altLang="zh-CN" sz="2600" dirty="0">
              <a:solidFill>
                <a:srgbClr val="235A67"/>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zh-CN" altLang="en-US" sz="2500" dirty="0">
                <a:highlight>
                  <a:srgbClr val="FFFF00"/>
                </a:highlight>
                <a:latin typeface="Times New Roman" panose="02020603050405020304" pitchFamily="18" charset="0"/>
                <a:ea typeface="微软雅黑" panose="020B0503020204020204" pitchFamily="34" charset="-122"/>
              </a:rPr>
              <a:t>等价于</a:t>
            </a:r>
            <a:endParaRPr lang="zh-CN" altLang="en-US" sz="2500" dirty="0">
              <a:highlight>
                <a:srgbClr val="FFFF00"/>
              </a:highlight>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en-US" altLang="zh-CN" sz="25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i=1;</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while(i&lt;=100)</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       sum=sum+i;</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       i++;	</a:t>
            </a:r>
            <a:endParaRPr lang="zh-CN" altLang="zh-CN" sz="26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600" dirty="0">
                <a:solidFill>
                  <a:srgbClr val="9D138D"/>
                </a:solidFill>
                <a:latin typeface="Times New Roman" panose="02020603050405020304" pitchFamily="18" charset="0"/>
                <a:ea typeface="微软雅黑" panose="020B0503020204020204" pitchFamily="34" charset="-122"/>
              </a:rPr>
              <a:t>}</a:t>
            </a:r>
            <a:endParaRPr lang="zh-CN" altLang="zh-CN" sz="2600" dirty="0">
              <a:solidFill>
                <a:srgbClr val="9D138D"/>
              </a:solidFill>
              <a:latin typeface="Times New Roman" panose="02020603050405020304" pitchFamily="18" charset="0"/>
              <a:ea typeface="微软雅黑" panose="020B0503020204020204" pitchFamily="34" charset="-122"/>
            </a:endParaRPr>
          </a:p>
        </p:txBody>
      </p:sp>
      <p:sp>
        <p:nvSpPr>
          <p:cNvPr id="27652"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5" name="线形标注 2 4"/>
          <p:cNvSpPr/>
          <p:nvPr/>
        </p:nvSpPr>
        <p:spPr>
          <a:xfrm>
            <a:off x="2700020" y="2348865"/>
            <a:ext cx="4286250" cy="571500"/>
          </a:xfrm>
          <a:prstGeom prst="borderCallout2">
            <a:avLst>
              <a:gd name="adj1" fmla="val -1741"/>
              <a:gd name="adj2" fmla="val 51801"/>
              <a:gd name="adj3" fmla="val -102111"/>
              <a:gd name="adj4" fmla="val 39392"/>
              <a:gd name="adj5" fmla="val -128333"/>
              <a:gd name="adj6" fmla="val 16948"/>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zh-CN" sz="2600" b="1" dirty="0">
                <a:solidFill>
                  <a:srgbClr val="4545AB"/>
                </a:solidFill>
                <a:latin typeface="Arial" panose="020B0604020202020204" pitchFamily="34" charset="0"/>
                <a:ea typeface="宋体" panose="02010600030101010101" pitchFamily="2" charset="-122"/>
              </a:rPr>
              <a:t>用</a:t>
            </a:r>
            <a:r>
              <a:rPr lang="en-US" altLang="zh-CN" sz="2600" b="1" dirty="0">
                <a:solidFill>
                  <a:srgbClr val="4545AB"/>
                </a:solidFill>
                <a:latin typeface="Arial" panose="020B0604020202020204" pitchFamily="34" charset="0"/>
                <a:ea typeface="宋体" panose="02010600030101010101" pitchFamily="2" charset="-122"/>
              </a:rPr>
              <a:t>for</a:t>
            </a:r>
            <a:r>
              <a:rPr lang="zh-CN" altLang="zh-CN" sz="2600" b="1" dirty="0">
                <a:solidFill>
                  <a:srgbClr val="4545AB"/>
                </a:solidFill>
                <a:latin typeface="Arial" panose="020B0604020202020204" pitchFamily="34" charset="0"/>
                <a:ea typeface="宋体" panose="02010600030101010101" pitchFamily="2" charset="-122"/>
              </a:rPr>
              <a:t>语句</a:t>
            </a:r>
            <a:r>
              <a:rPr lang="zh-CN" altLang="en-US" sz="2600" b="1" dirty="0">
                <a:solidFill>
                  <a:srgbClr val="4545AB"/>
                </a:solidFill>
                <a:latin typeface="Arial" panose="020B0604020202020204" pitchFamily="34" charset="0"/>
                <a:ea typeface="宋体" panose="02010600030101010101" pitchFamily="2" charset="-122"/>
              </a:rPr>
              <a:t>更</a:t>
            </a:r>
            <a:r>
              <a:rPr lang="zh-CN" altLang="zh-CN" sz="2600" b="1" dirty="0">
                <a:solidFill>
                  <a:srgbClr val="4545AB"/>
                </a:solidFill>
                <a:latin typeface="Arial" panose="020B0604020202020204" pitchFamily="34" charset="0"/>
                <a:ea typeface="宋体" panose="02010600030101010101" pitchFamily="2" charset="-122"/>
              </a:rPr>
              <a:t>简单、方便</a:t>
            </a:r>
            <a:endParaRPr lang="zh-CN" altLang="zh-CN" sz="2600" b="1" dirty="0">
              <a:solidFill>
                <a:srgbClr val="4545AB"/>
              </a:solidFill>
              <a:latin typeface="Arial" panose="020B0604020202020204" pitchFamily="34" charset="0"/>
              <a:ea typeface="宋体" panose="02010600030101010101" pitchFamily="2" charset="-122"/>
            </a:endParaRPr>
          </a:p>
        </p:txBody>
      </p:sp>
      <p:pic>
        <p:nvPicPr>
          <p:cNvPr id="27654" name="图片 5"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charRg st="39" end="43"/>
                                            </p:txEl>
                                          </p:spTgt>
                                        </p:tgtEl>
                                        <p:attrNameLst>
                                          <p:attrName>style.visibility</p:attrName>
                                        </p:attrNameLst>
                                      </p:cBhvr>
                                      <p:to>
                                        <p:strVal val="visible"/>
                                      </p:to>
                                    </p:set>
                                    <p:animEffect transition="in" filter="blinds(horizontal)">
                                      <p:cBhvr>
                                        <p:cTn id="7" dur="500"/>
                                        <p:tgtEl>
                                          <p:spTgt spid="4">
                                            <p:txEl>
                                              <p:charRg st="39" end="4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
                                            <p:txEl>
                                              <p:charRg st="43" end="48"/>
                                            </p:txEl>
                                          </p:spTgt>
                                        </p:tgtEl>
                                        <p:attrNameLst>
                                          <p:attrName>style.visibility</p:attrName>
                                        </p:attrNameLst>
                                      </p:cBhvr>
                                      <p:to>
                                        <p:strVal val="visible"/>
                                      </p:to>
                                    </p:set>
                                    <p:animEffect transition="in" filter="blinds(horizontal)">
                                      <p:cBhvr>
                                        <p:cTn id="11" dur="500"/>
                                        <p:tgtEl>
                                          <p:spTgt spid="4">
                                            <p:txEl>
                                              <p:charRg st="43" end="48"/>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
                                            <p:txEl>
                                              <p:charRg st="48" end="62"/>
                                            </p:txEl>
                                          </p:spTgt>
                                        </p:tgtEl>
                                        <p:attrNameLst>
                                          <p:attrName>style.visibility</p:attrName>
                                        </p:attrNameLst>
                                      </p:cBhvr>
                                      <p:to>
                                        <p:strVal val="visible"/>
                                      </p:to>
                                    </p:set>
                                    <p:animEffect transition="in" filter="blinds(horizontal)">
                                      <p:cBhvr>
                                        <p:cTn id="15" dur="500"/>
                                        <p:tgtEl>
                                          <p:spTgt spid="4">
                                            <p:txEl>
                                              <p:charRg st="48" end="6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4">
                                            <p:txEl>
                                              <p:charRg st="62" end="64"/>
                                            </p:txEl>
                                          </p:spTgt>
                                        </p:tgtEl>
                                        <p:attrNameLst>
                                          <p:attrName>style.visibility</p:attrName>
                                        </p:attrNameLst>
                                      </p:cBhvr>
                                      <p:to>
                                        <p:strVal val="visible"/>
                                      </p:to>
                                    </p:set>
                                    <p:animEffect transition="in" filter="blinds(horizontal)">
                                      <p:cBhvr>
                                        <p:cTn id="19" dur="500"/>
                                        <p:tgtEl>
                                          <p:spTgt spid="4">
                                            <p:txEl>
                                              <p:charRg st="62" end="64"/>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4">
                                            <p:txEl>
                                              <p:charRg st="64" end="80"/>
                                            </p:txEl>
                                          </p:spTgt>
                                        </p:tgtEl>
                                        <p:attrNameLst>
                                          <p:attrName>style.visibility</p:attrName>
                                        </p:attrNameLst>
                                      </p:cBhvr>
                                      <p:to>
                                        <p:strVal val="visible"/>
                                      </p:to>
                                    </p:set>
                                    <p:animEffect transition="in" filter="blinds(horizontal)">
                                      <p:cBhvr>
                                        <p:cTn id="23" dur="500"/>
                                        <p:tgtEl>
                                          <p:spTgt spid="4">
                                            <p:txEl>
                                              <p:charRg st="64" end="80"/>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4">
                                            <p:txEl>
                                              <p:charRg st="80" end="91"/>
                                            </p:txEl>
                                          </p:spTgt>
                                        </p:tgtEl>
                                        <p:attrNameLst>
                                          <p:attrName>style.visibility</p:attrName>
                                        </p:attrNameLst>
                                      </p:cBhvr>
                                      <p:to>
                                        <p:strVal val="visible"/>
                                      </p:to>
                                    </p:set>
                                    <p:animEffect transition="in" filter="blinds(horizontal)">
                                      <p:cBhvr>
                                        <p:cTn id="27" dur="500"/>
                                        <p:tgtEl>
                                          <p:spTgt spid="4">
                                            <p:txEl>
                                              <p:charRg st="80" end="91"/>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4">
                                            <p:txEl>
                                              <p:charRg st="91" end="93"/>
                                            </p:txEl>
                                          </p:spTgt>
                                        </p:tgtEl>
                                        <p:attrNameLst>
                                          <p:attrName>style.visibility</p:attrName>
                                        </p:attrNameLst>
                                      </p:cBhvr>
                                      <p:to>
                                        <p:strVal val="visible"/>
                                      </p:to>
                                    </p:set>
                                    <p:animEffect transition="in" filter="blinds(horizontal)">
                                      <p:cBhvr>
                                        <p:cTn id="31" dur="500"/>
                                        <p:tgtEl>
                                          <p:spTgt spid="4">
                                            <p:txEl>
                                              <p:charRg st="91" end="9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linds(horizontal)">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Rectangle 3"/>
          <p:cNvSpPr txBox="1"/>
          <p:nvPr/>
        </p:nvSpPr>
        <p:spPr>
          <a:xfrm>
            <a:off x="309880" y="1268730"/>
            <a:ext cx="7143750" cy="1990090"/>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for(</a:t>
            </a:r>
            <a:r>
              <a:rPr lang="zh-CN" altLang="zh-CN" sz="2800" dirty="0">
                <a:latin typeface="Times New Roman" panose="02020603050405020304" pitchFamily="18" charset="0"/>
                <a:ea typeface="微软雅黑" panose="020B0503020204020204" pitchFamily="34" charset="-122"/>
              </a:rPr>
              <a:t>表达式</a:t>
            </a:r>
            <a:r>
              <a:rPr lang="en-US" altLang="zh-CN" sz="2800" dirty="0">
                <a:latin typeface="Times New Roman" panose="02020603050405020304" pitchFamily="18" charset="0"/>
                <a:ea typeface="微软雅黑" panose="020B0503020204020204" pitchFamily="34" charset="-122"/>
              </a:rPr>
              <a:t>1</a:t>
            </a:r>
            <a:r>
              <a:rPr lang="zh-CN" altLang="zh-CN" sz="2800" dirty="0">
                <a:latin typeface="Times New Roman" panose="02020603050405020304" pitchFamily="18" charset="0"/>
                <a:ea typeface="微软雅黑" panose="020B0503020204020204" pitchFamily="34" charset="-122"/>
              </a:rPr>
              <a:t>；表达式</a:t>
            </a:r>
            <a:r>
              <a:rPr lang="en-US" altLang="zh-CN" sz="2800" dirty="0">
                <a:latin typeface="Times New Roman" panose="02020603050405020304" pitchFamily="18" charset="0"/>
                <a:ea typeface="微软雅黑" panose="020B0503020204020204" pitchFamily="34" charset="-122"/>
              </a:rPr>
              <a:t>2</a:t>
            </a:r>
            <a:r>
              <a:rPr lang="zh-CN" altLang="zh-CN" sz="2800" dirty="0">
                <a:latin typeface="Times New Roman" panose="02020603050405020304" pitchFamily="18" charset="0"/>
                <a:ea typeface="微软雅黑" panose="020B0503020204020204" pitchFamily="34" charset="-122"/>
              </a:rPr>
              <a:t>；表达式</a:t>
            </a:r>
            <a:r>
              <a:rPr lang="en-US" altLang="zh-CN" sz="2800" dirty="0">
                <a:latin typeface="Times New Roman" panose="02020603050405020304" pitchFamily="18" charset="0"/>
                <a:ea typeface="微软雅黑" panose="020B0503020204020204" pitchFamily="34" charset="-122"/>
              </a:rPr>
              <a:t>3) </a:t>
            </a:r>
            <a:endParaRPr lang="zh-CN" altLang="zh-CN" sz="28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              </a:t>
            </a:r>
            <a:endParaRPr lang="en-US" altLang="zh-CN" sz="28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zh-CN" altLang="zh-CN" sz="2800" dirty="0">
                <a:latin typeface="Times New Roman" panose="02020603050405020304" pitchFamily="18" charset="0"/>
                <a:ea typeface="微软雅黑" panose="020B0503020204020204" pitchFamily="34" charset="-122"/>
              </a:rPr>
              <a:t>语句</a:t>
            </a:r>
            <a:endParaRPr lang="zh-CN" altLang="zh-CN" sz="2800" dirty="0">
              <a:latin typeface="Times New Roman" panose="02020603050405020304" pitchFamily="18" charset="0"/>
              <a:ea typeface="微软雅黑" panose="020B0503020204020204" pitchFamily="34" charset="-122"/>
            </a:endParaRPr>
          </a:p>
        </p:txBody>
      </p:sp>
      <p:sp>
        <p:nvSpPr>
          <p:cNvPr id="28676"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 name="线形标注 2 7"/>
          <p:cNvSpPr/>
          <p:nvPr/>
        </p:nvSpPr>
        <p:spPr>
          <a:xfrm>
            <a:off x="1263015" y="2493010"/>
            <a:ext cx="5977890" cy="610870"/>
          </a:xfrm>
          <a:prstGeom prst="borderCallout2">
            <a:avLst>
              <a:gd name="adj1" fmla="val -1741"/>
              <a:gd name="adj2" fmla="val 51801"/>
              <a:gd name="adj3" fmla="val -59771"/>
              <a:gd name="adj4" fmla="val 45804"/>
              <a:gd name="adj5" fmla="val -94594"/>
              <a:gd name="adj6" fmla="val 36318"/>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1" dirty="0">
                <a:solidFill>
                  <a:srgbClr val="4545AB"/>
                </a:solidFill>
                <a:latin typeface="Arial" panose="020B0604020202020204" pitchFamily="34" charset="0"/>
                <a:ea typeface="宋体" panose="02010600030101010101" pitchFamily="2" charset="-122"/>
              </a:rPr>
              <a:t>一个或两个或三个表达式均可以省略</a:t>
            </a:r>
            <a:endParaRPr lang="zh-CN" altLang="en-US" sz="2800" b="1" dirty="0">
              <a:solidFill>
                <a:srgbClr val="4545AB"/>
              </a:solidFill>
              <a:latin typeface="Arial" panose="020B0604020202020204" pitchFamily="34" charset="0"/>
              <a:ea typeface="宋体" panose="02010600030101010101" pitchFamily="2" charset="-122"/>
            </a:endParaRPr>
          </a:p>
        </p:txBody>
      </p:sp>
      <p:sp>
        <p:nvSpPr>
          <p:cNvPr id="7" name="矩形 6"/>
          <p:cNvSpPr/>
          <p:nvPr/>
        </p:nvSpPr>
        <p:spPr>
          <a:xfrm>
            <a:off x="899795" y="1341120"/>
            <a:ext cx="1294765"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9" name="矩形 8"/>
          <p:cNvSpPr/>
          <p:nvPr/>
        </p:nvSpPr>
        <p:spPr>
          <a:xfrm>
            <a:off x="2411730" y="1341120"/>
            <a:ext cx="1434465"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0" name="矩形 9"/>
          <p:cNvSpPr/>
          <p:nvPr/>
        </p:nvSpPr>
        <p:spPr>
          <a:xfrm>
            <a:off x="4067810" y="1347470"/>
            <a:ext cx="1337945"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28681" name="图片 10"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7" grpId="0" bldLvl="0" animBg="1"/>
      <p:bldP spid="9" grpId="0" bldLvl="0" animBg="1"/>
      <p:bldP spid="10"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Rectangle 3"/>
          <p:cNvSpPr txBox="1"/>
          <p:nvPr/>
        </p:nvSpPr>
        <p:spPr>
          <a:xfrm>
            <a:off x="309563" y="1268730"/>
            <a:ext cx="6072187" cy="1357313"/>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for (sum=0 ;  i&lt;=100;  i++) </a:t>
            </a:r>
            <a:endParaRPr lang="en-US" altLang="zh-CN" sz="28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             sum=sum+i;              </a:t>
            </a:r>
            <a:endParaRPr lang="zh-CN" altLang="zh-CN" sz="2800" dirty="0">
              <a:latin typeface="Times New Roman" panose="02020603050405020304" pitchFamily="18" charset="0"/>
              <a:ea typeface="微软雅黑" panose="020B0503020204020204" pitchFamily="34" charset="-122"/>
            </a:endParaRPr>
          </a:p>
        </p:txBody>
      </p:sp>
      <p:sp>
        <p:nvSpPr>
          <p:cNvPr id="29700"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 name="线形标注 2 7"/>
          <p:cNvSpPr/>
          <p:nvPr/>
        </p:nvSpPr>
        <p:spPr>
          <a:xfrm>
            <a:off x="395605" y="2781300"/>
            <a:ext cx="3192780" cy="937895"/>
          </a:xfrm>
          <a:prstGeom prst="borderCallout2">
            <a:avLst>
              <a:gd name="adj1" fmla="val -2176"/>
              <a:gd name="adj2" fmla="val 21921"/>
              <a:gd name="adj3" fmla="val -39644"/>
              <a:gd name="adj4" fmla="val 17463"/>
              <a:gd name="adj5" fmla="val -92349"/>
              <a:gd name="adj6" fmla="val 33114"/>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zh-CN" sz="2600" b="1" dirty="0">
                <a:solidFill>
                  <a:srgbClr val="4545AB"/>
                </a:solidFill>
                <a:latin typeface="Arial" panose="020B0604020202020204" pitchFamily="34" charset="0"/>
                <a:ea typeface="宋体" panose="02010600030101010101" pitchFamily="2" charset="-122"/>
              </a:rPr>
              <a:t>与循环变量无关</a:t>
            </a:r>
            <a:endParaRPr lang="zh-CN" altLang="zh-CN" sz="2600" b="1" dirty="0">
              <a:solidFill>
                <a:srgbClr val="4545AB"/>
              </a:solidFill>
              <a:latin typeface="Arial" panose="020B0604020202020204" pitchFamily="34" charset="0"/>
              <a:ea typeface="宋体" panose="02010600030101010101" pitchFamily="2" charset="-122"/>
            </a:endParaRPr>
          </a:p>
          <a:p>
            <a:pPr marL="0" lvl="0" indent="0" algn="ctr" eaLnBrk="1" hangingPunct="1">
              <a:lnSpc>
                <a:spcPct val="100000"/>
              </a:lnSpc>
              <a:spcBef>
                <a:spcPct val="0"/>
              </a:spcBef>
              <a:buFontTx/>
              <a:buNone/>
            </a:pPr>
            <a:r>
              <a:rPr lang="zh-CN" altLang="en-US" sz="2600" b="1" dirty="0">
                <a:solidFill>
                  <a:srgbClr val="9D138D"/>
                </a:solidFill>
                <a:latin typeface="Arial" panose="020B0604020202020204" pitchFamily="34" charset="0"/>
                <a:ea typeface="宋体" panose="02010600030101010101" pitchFamily="2" charset="-122"/>
              </a:rPr>
              <a:t>合法</a:t>
            </a:r>
            <a:endParaRPr lang="zh-CN" altLang="en-US" sz="2600" b="1" dirty="0">
              <a:solidFill>
                <a:srgbClr val="9D138D"/>
              </a:solidFill>
              <a:latin typeface="Arial" panose="020B0604020202020204" pitchFamily="34" charset="0"/>
              <a:ea typeface="宋体" panose="02010600030101010101" pitchFamily="2" charset="-122"/>
            </a:endParaRPr>
          </a:p>
        </p:txBody>
      </p:sp>
      <p:sp>
        <p:nvSpPr>
          <p:cNvPr id="7" name="矩形 6"/>
          <p:cNvSpPr/>
          <p:nvPr/>
        </p:nvSpPr>
        <p:spPr>
          <a:xfrm>
            <a:off x="971550" y="1341120"/>
            <a:ext cx="1078865"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29703" name="图片 8"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7"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3"/>
          <p:cNvSpPr txBox="1"/>
          <p:nvPr/>
        </p:nvSpPr>
        <p:spPr>
          <a:xfrm>
            <a:off x="309563" y="1268730"/>
            <a:ext cx="6072187" cy="1357313"/>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for(sum=0,i=1 ; i&lt;=100; i++)       </a:t>
            </a:r>
            <a:endParaRPr lang="en-US" altLang="zh-CN" sz="28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         sum=sum+i;              </a:t>
            </a:r>
            <a:endParaRPr lang="zh-CN" altLang="zh-CN" sz="2800" dirty="0">
              <a:latin typeface="Times New Roman" panose="02020603050405020304" pitchFamily="18" charset="0"/>
              <a:ea typeface="微软雅黑" panose="020B0503020204020204" pitchFamily="34" charset="-122"/>
            </a:endParaRPr>
          </a:p>
        </p:txBody>
      </p:sp>
      <p:sp>
        <p:nvSpPr>
          <p:cNvPr id="30724"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 name="线形标注 2 7"/>
          <p:cNvSpPr/>
          <p:nvPr/>
        </p:nvSpPr>
        <p:spPr>
          <a:xfrm>
            <a:off x="3460750" y="4077335"/>
            <a:ext cx="2119630" cy="1000125"/>
          </a:xfrm>
          <a:prstGeom prst="borderCallout2">
            <a:avLst>
              <a:gd name="adj1" fmla="val -926"/>
              <a:gd name="adj2" fmla="val 42644"/>
              <a:gd name="adj3" fmla="val -40571"/>
              <a:gd name="adj4" fmla="val 40892"/>
              <a:gd name="adj5" fmla="val -77587"/>
              <a:gd name="adj6" fmla="val 21989"/>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800" b="1" dirty="0">
                <a:solidFill>
                  <a:srgbClr val="4545AB"/>
                </a:solidFill>
                <a:latin typeface="Arial" panose="020B0604020202020204" pitchFamily="34" charset="0"/>
                <a:ea typeface="宋体" panose="02010600030101010101" pitchFamily="2" charset="-122"/>
              </a:rPr>
              <a:t>逗号表达式</a:t>
            </a:r>
            <a:endParaRPr lang="en-US" altLang="zh-CN" sz="2800" b="1" dirty="0">
              <a:solidFill>
                <a:srgbClr val="0000CC"/>
              </a:solidFill>
              <a:latin typeface="Arial" panose="020B0604020202020204" pitchFamily="34" charset="0"/>
              <a:ea typeface="宋体" panose="02010600030101010101" pitchFamily="2" charset="-122"/>
            </a:endParaRPr>
          </a:p>
          <a:p>
            <a:pPr marL="0" lvl="0" indent="0" eaLnBrk="1" hangingPunct="1">
              <a:lnSpc>
                <a:spcPct val="100000"/>
              </a:lnSpc>
              <a:spcBef>
                <a:spcPct val="0"/>
              </a:spcBef>
              <a:buFontTx/>
              <a:buNone/>
            </a:pPr>
            <a:r>
              <a:rPr lang="zh-CN" altLang="en-US" sz="2800" b="1" dirty="0">
                <a:solidFill>
                  <a:srgbClr val="9D138D"/>
                </a:solidFill>
                <a:latin typeface="Arial" panose="020B0604020202020204" pitchFamily="34" charset="0"/>
                <a:ea typeface="宋体" panose="02010600030101010101" pitchFamily="2" charset="-122"/>
              </a:rPr>
              <a:t>合法</a:t>
            </a:r>
            <a:endParaRPr lang="zh-CN" altLang="en-US" sz="2800" b="1" dirty="0">
              <a:solidFill>
                <a:srgbClr val="9D138D"/>
              </a:solidFill>
              <a:latin typeface="Arial" panose="020B0604020202020204" pitchFamily="34" charset="0"/>
              <a:ea typeface="宋体" panose="02010600030101010101" pitchFamily="2" charset="-122"/>
            </a:endParaRPr>
          </a:p>
        </p:txBody>
      </p:sp>
      <p:sp>
        <p:nvSpPr>
          <p:cNvPr id="7" name="矩形 6"/>
          <p:cNvSpPr/>
          <p:nvPr/>
        </p:nvSpPr>
        <p:spPr>
          <a:xfrm>
            <a:off x="899795" y="1341120"/>
            <a:ext cx="1638300"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30727" name="Rectangle 3"/>
          <p:cNvSpPr txBox="1"/>
          <p:nvPr/>
        </p:nvSpPr>
        <p:spPr>
          <a:xfrm>
            <a:off x="323533" y="2637155"/>
            <a:ext cx="5357812" cy="1357313"/>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for(i=0,j=100 ; i&lt;=j;  i++,j--  ) </a:t>
            </a:r>
            <a:endParaRPr lang="en-US" altLang="zh-CN" sz="2800" dirty="0">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800" dirty="0">
                <a:latin typeface="Times New Roman" panose="02020603050405020304" pitchFamily="18" charset="0"/>
                <a:ea typeface="微软雅黑" panose="020B0503020204020204" pitchFamily="34" charset="-122"/>
              </a:rPr>
              <a:t>       k=i+j</a:t>
            </a:r>
            <a:r>
              <a:rPr lang="zh-CN" altLang="zh-CN" sz="2800" dirty="0">
                <a:latin typeface="Times New Roman" panose="02020603050405020304" pitchFamily="18" charset="0"/>
                <a:ea typeface="微软雅黑" panose="020B0503020204020204" pitchFamily="34" charset="-122"/>
              </a:rPr>
              <a:t>；</a:t>
            </a:r>
            <a:r>
              <a:rPr lang="en-US" altLang="zh-CN" sz="2800" dirty="0">
                <a:latin typeface="Times New Roman" panose="02020603050405020304" pitchFamily="18" charset="0"/>
                <a:ea typeface="微软雅黑" panose="020B0503020204020204" pitchFamily="34" charset="-122"/>
              </a:rPr>
              <a:t>                      </a:t>
            </a:r>
            <a:endParaRPr lang="zh-CN" altLang="zh-CN" sz="2800" dirty="0">
              <a:latin typeface="Times New Roman" panose="02020603050405020304" pitchFamily="18" charset="0"/>
              <a:ea typeface="微软雅黑" panose="020B0503020204020204" pitchFamily="34" charset="-122"/>
            </a:endParaRPr>
          </a:p>
        </p:txBody>
      </p:sp>
      <p:sp>
        <p:nvSpPr>
          <p:cNvPr id="12" name="矩形 11"/>
          <p:cNvSpPr/>
          <p:nvPr/>
        </p:nvSpPr>
        <p:spPr>
          <a:xfrm>
            <a:off x="899795" y="2708910"/>
            <a:ext cx="1534160"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3" name="矩形 12"/>
          <p:cNvSpPr/>
          <p:nvPr/>
        </p:nvSpPr>
        <p:spPr>
          <a:xfrm>
            <a:off x="3420110" y="2701290"/>
            <a:ext cx="1080770"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30730" name="图片 9"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7" grpId="0" bldLvl="0" animBg="1"/>
      <p:bldP spid="12" grpId="0" bldLvl="0" animBg="1"/>
      <p:bldP spid="1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Rectangle 3"/>
          <p:cNvSpPr txBox="1"/>
          <p:nvPr/>
        </p:nvSpPr>
        <p:spPr>
          <a:xfrm>
            <a:off x="309563" y="1268730"/>
            <a:ext cx="6572250" cy="1357313"/>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spcBef>
                <a:spcPct val="0"/>
              </a:spcBef>
              <a:buFontTx/>
              <a:buNone/>
            </a:pPr>
            <a:r>
              <a:rPr lang="en-US" altLang="zh-CN" sz="2800" dirty="0">
                <a:solidFill>
                  <a:srgbClr val="C00000"/>
                </a:solidFill>
                <a:latin typeface="Times New Roman" panose="02020603050405020304" pitchFamily="18" charset="0"/>
                <a:ea typeface="微软雅黑" panose="020B0503020204020204" pitchFamily="34" charset="-122"/>
              </a:rPr>
              <a:t>for(i=0; (c=getchar())!=’\n</a:t>
            </a:r>
            <a:r>
              <a:rPr lang="zh-CN" altLang="zh-CN" sz="2800" dirty="0">
                <a:solidFill>
                  <a:srgbClr val="C00000"/>
                </a:solidFill>
                <a:latin typeface="Times New Roman" panose="02020603050405020304" pitchFamily="18" charset="0"/>
                <a:ea typeface="微软雅黑" panose="020B0503020204020204" pitchFamily="34" charset="-122"/>
              </a:rPr>
              <a:t>′</a:t>
            </a:r>
            <a:r>
              <a:rPr lang="en-US" altLang="zh-CN" sz="2800" dirty="0">
                <a:solidFill>
                  <a:srgbClr val="C00000"/>
                </a:solidFill>
                <a:latin typeface="Times New Roman" panose="02020603050405020304" pitchFamily="18" charset="0"/>
                <a:ea typeface="微软雅黑" panose="020B0503020204020204" pitchFamily="34" charset="-122"/>
              </a:rPr>
              <a:t>; i+=c)</a:t>
            </a:r>
            <a:endParaRPr lang="en-US" altLang="zh-CN" sz="2800" dirty="0">
              <a:solidFill>
                <a:srgbClr val="C00000"/>
              </a:solidFill>
              <a:latin typeface="Times New Roman" panose="02020603050405020304" pitchFamily="18" charset="0"/>
              <a:ea typeface="微软雅黑" panose="020B0503020204020204" pitchFamily="34" charset="-122"/>
            </a:endParaRPr>
          </a:p>
          <a:p>
            <a:pPr marL="0" lvl="0" indent="0" eaLnBrk="1" hangingPunct="1">
              <a:spcBef>
                <a:spcPct val="0"/>
              </a:spcBef>
              <a:buFontTx/>
              <a:buNone/>
            </a:pPr>
            <a:r>
              <a:rPr lang="en-US" altLang="zh-CN" sz="2800" dirty="0">
                <a:solidFill>
                  <a:srgbClr val="C00000"/>
                </a:solidFill>
                <a:latin typeface="Times New Roman" panose="02020603050405020304" pitchFamily="18" charset="0"/>
                <a:ea typeface="微软雅黑" panose="020B0503020204020204" pitchFamily="34" charset="-122"/>
              </a:rPr>
              <a:t>             </a:t>
            </a:r>
            <a:endParaRPr lang="en-US" altLang="zh-CN" sz="2800" dirty="0">
              <a:solidFill>
                <a:srgbClr val="C00000"/>
              </a:solidFill>
              <a:latin typeface="Times New Roman" panose="02020603050405020304" pitchFamily="18" charset="0"/>
              <a:ea typeface="微软雅黑" panose="020B0503020204020204" pitchFamily="34" charset="-122"/>
            </a:endParaRPr>
          </a:p>
        </p:txBody>
      </p:sp>
      <p:sp>
        <p:nvSpPr>
          <p:cNvPr id="31748"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 name="线形标注 2 7"/>
          <p:cNvSpPr/>
          <p:nvPr/>
        </p:nvSpPr>
        <p:spPr>
          <a:xfrm>
            <a:off x="4716145" y="3717290"/>
            <a:ext cx="1857375" cy="642938"/>
          </a:xfrm>
          <a:prstGeom prst="borderCallout2">
            <a:avLst>
              <a:gd name="adj1" fmla="val -926"/>
              <a:gd name="adj2" fmla="val 42644"/>
              <a:gd name="adj3" fmla="val -84731"/>
              <a:gd name="adj4" fmla="val 50384"/>
              <a:gd name="adj5" fmla="val -165324"/>
              <a:gd name="adj6" fmla="val 16648"/>
            </a:avLst>
          </a:prstGeom>
          <a:solidFill>
            <a:schemeClr val="accent1"/>
          </a:solidFill>
          <a:ln w="38100" cap="flat" cmpd="sng">
            <a:solidFill>
              <a:srgbClr val="FF0000"/>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b="1" dirty="0">
                <a:solidFill>
                  <a:srgbClr val="4545AB"/>
                </a:solidFill>
                <a:latin typeface="Arial" panose="020B0604020202020204" pitchFamily="34" charset="0"/>
                <a:ea typeface="宋体" panose="02010600030101010101" pitchFamily="2" charset="-122"/>
              </a:rPr>
              <a:t>合法</a:t>
            </a:r>
            <a:endParaRPr lang="zh-CN" altLang="en-US" b="1" dirty="0">
              <a:solidFill>
                <a:srgbClr val="4545AB"/>
              </a:solidFill>
              <a:latin typeface="Arial" panose="020B0604020202020204" pitchFamily="34" charset="0"/>
              <a:ea typeface="宋体" panose="02010600030101010101" pitchFamily="2" charset="-122"/>
            </a:endParaRPr>
          </a:p>
        </p:txBody>
      </p:sp>
      <p:sp>
        <p:nvSpPr>
          <p:cNvPr id="31750" name="Rectangle 3"/>
          <p:cNvSpPr txBox="1"/>
          <p:nvPr/>
        </p:nvSpPr>
        <p:spPr>
          <a:xfrm>
            <a:off x="323533" y="2277110"/>
            <a:ext cx="6215062" cy="1357313"/>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for(      ; (c=getchar())!=’\n’;     )</a:t>
            </a:r>
            <a:endParaRPr lang="zh-CN" altLang="zh-CN" sz="2800" dirty="0">
              <a:solidFill>
                <a:srgbClr val="9D138D"/>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          printf(</a:t>
            </a:r>
            <a:r>
              <a:rPr lang="zh-CN" altLang="zh-CN" sz="2800" dirty="0">
                <a:solidFill>
                  <a:srgbClr val="9D138D"/>
                </a:solidFill>
                <a:latin typeface="Times New Roman" panose="02020603050405020304" pitchFamily="18" charset="0"/>
                <a:ea typeface="微软雅黑" panose="020B0503020204020204" pitchFamily="34" charset="-122"/>
              </a:rPr>
              <a:t>″</a:t>
            </a:r>
            <a:r>
              <a:rPr lang="en-US" altLang="zh-CN" sz="2800" dirty="0">
                <a:solidFill>
                  <a:srgbClr val="9D138D"/>
                </a:solidFill>
                <a:latin typeface="Times New Roman" panose="02020603050405020304" pitchFamily="18" charset="0"/>
                <a:ea typeface="微软雅黑" panose="020B0503020204020204" pitchFamily="34" charset="-122"/>
              </a:rPr>
              <a:t>%c</a:t>
            </a:r>
            <a:r>
              <a:rPr lang="zh-CN" altLang="zh-CN" sz="2800" dirty="0">
                <a:solidFill>
                  <a:srgbClr val="9D138D"/>
                </a:solidFill>
                <a:latin typeface="Times New Roman" panose="02020603050405020304" pitchFamily="18" charset="0"/>
                <a:ea typeface="微软雅黑" panose="020B0503020204020204" pitchFamily="34" charset="-122"/>
              </a:rPr>
              <a:t>″，</a:t>
            </a:r>
            <a:r>
              <a:rPr lang="en-US" altLang="zh-CN" sz="2800" dirty="0">
                <a:solidFill>
                  <a:srgbClr val="9D138D"/>
                </a:solidFill>
                <a:latin typeface="Times New Roman" panose="02020603050405020304" pitchFamily="18" charset="0"/>
                <a:ea typeface="微软雅黑" panose="020B0503020204020204" pitchFamily="34" charset="-122"/>
              </a:rPr>
              <a:t>c);        </a:t>
            </a:r>
            <a:endParaRPr lang="zh-CN" altLang="zh-CN" sz="2800" dirty="0">
              <a:solidFill>
                <a:srgbClr val="9D138D"/>
              </a:solidFill>
              <a:latin typeface="Times New Roman" panose="02020603050405020304" pitchFamily="18" charset="0"/>
              <a:ea typeface="微软雅黑" panose="020B0503020204020204" pitchFamily="34" charset="-122"/>
            </a:endParaRPr>
          </a:p>
        </p:txBody>
      </p:sp>
      <p:pic>
        <p:nvPicPr>
          <p:cNvPr id="31751" name="图片 6"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5.4 </a:t>
            </a:r>
            <a:r>
              <a:rPr lang="zh-CN" altLang="zh-CN" dirty="0">
                <a:sym typeface="+mn-ea"/>
              </a:rPr>
              <a:t>用</a:t>
            </a:r>
            <a:r>
              <a:rPr lang="en-US" altLang="zh-CN" dirty="0">
                <a:sym typeface="+mn-ea"/>
              </a:rPr>
              <a:t>for </a:t>
            </a:r>
            <a:r>
              <a:rPr lang="zh-CN" altLang="zh-CN" dirty="0">
                <a:sym typeface="+mn-ea"/>
              </a:rPr>
              <a:t>语句实现循环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Rectangle 3"/>
          <p:cNvSpPr txBox="1"/>
          <p:nvPr/>
        </p:nvSpPr>
        <p:spPr>
          <a:xfrm>
            <a:off x="251460" y="1196975"/>
            <a:ext cx="8627110" cy="4215130"/>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311785" lvl="0" indent="-311785" defTabSz="914400" eaLnBrk="1" hangingPunct="1">
              <a:lnSpc>
                <a:spcPct val="140000"/>
              </a:lnSpc>
              <a:spcBef>
                <a:spcPct val="0"/>
              </a:spcBef>
              <a:tabLst>
                <a:tab pos="268605" algn="l"/>
              </a:tabLst>
            </a:pPr>
            <a:r>
              <a:rPr lang="zh-CN" altLang="zh-CN" sz="2400" spc="200" dirty="0">
                <a:latin typeface="Times New Roman" panose="02020603050405020304" pitchFamily="18" charset="0"/>
                <a:ea typeface="微软雅黑" panose="020B0503020204020204" pitchFamily="34" charset="-122"/>
              </a:rPr>
              <a:t>一个循环体内又包含另一个完整的循环结构，称为</a:t>
            </a:r>
            <a:r>
              <a:rPr lang="zh-CN" altLang="zh-CN" sz="2400" spc="200" dirty="0">
                <a:solidFill>
                  <a:srgbClr val="C00000"/>
                </a:solidFill>
                <a:latin typeface="Times New Roman" panose="02020603050405020304" pitchFamily="18" charset="0"/>
                <a:ea typeface="微软雅黑" panose="020B0503020204020204" pitchFamily="34" charset="-122"/>
              </a:rPr>
              <a:t>循环的嵌套</a:t>
            </a:r>
            <a:endParaRPr lang="en-US" altLang="zh-CN" sz="2400" spc="200" dirty="0">
              <a:solidFill>
                <a:srgbClr val="C00000"/>
              </a:solidFill>
              <a:latin typeface="Times New Roman" panose="02020603050405020304" pitchFamily="18" charset="0"/>
              <a:ea typeface="微软雅黑" panose="020B0503020204020204" pitchFamily="34" charset="-122"/>
            </a:endParaRPr>
          </a:p>
          <a:p>
            <a:pPr marL="0" lvl="0" indent="288925" eaLnBrk="1" hangingPunct="1">
              <a:lnSpc>
                <a:spcPct val="140000"/>
              </a:lnSpc>
              <a:spcBef>
                <a:spcPct val="0"/>
              </a:spcBef>
            </a:pPr>
            <a:r>
              <a:rPr lang="zh-CN" altLang="zh-CN" sz="2400" spc="200" dirty="0">
                <a:latin typeface="Times New Roman" panose="02020603050405020304" pitchFamily="18" charset="0"/>
                <a:ea typeface="微软雅黑" panose="020B0503020204020204" pitchFamily="34" charset="-122"/>
              </a:rPr>
              <a:t>内嵌的循环中还可以嵌套循环，这就是多层循环</a:t>
            </a:r>
            <a:endParaRPr lang="en-US" altLang="zh-CN" sz="2400" spc="200" dirty="0">
              <a:latin typeface="Times New Roman" panose="02020603050405020304" pitchFamily="18" charset="0"/>
              <a:ea typeface="微软雅黑" panose="020B0503020204020204" pitchFamily="34" charset="-122"/>
            </a:endParaRPr>
          </a:p>
          <a:p>
            <a:pPr marL="268605" lvl="0" indent="-268605" defTabSz="914400" eaLnBrk="1" hangingPunct="1">
              <a:lnSpc>
                <a:spcPct val="140000"/>
              </a:lnSpc>
              <a:spcBef>
                <a:spcPct val="0"/>
              </a:spcBef>
              <a:tabLst>
                <a:tab pos="179070" algn="l"/>
              </a:tabLst>
            </a:pPr>
            <a:r>
              <a:rPr lang="en-US" altLang="zh-CN" sz="2400" spc="200" dirty="0">
                <a:latin typeface="Times New Roman" panose="02020603050405020304" pitchFamily="18" charset="0"/>
                <a:ea typeface="微软雅黑" panose="020B0503020204020204" pitchFamily="34" charset="-122"/>
              </a:rPr>
              <a:t>3</a:t>
            </a:r>
            <a:r>
              <a:rPr lang="zh-CN" altLang="zh-CN" sz="2400" spc="200" dirty="0">
                <a:latin typeface="Times New Roman" panose="02020603050405020304" pitchFamily="18" charset="0"/>
                <a:ea typeface="微软雅黑" panose="020B0503020204020204" pitchFamily="34" charset="-122"/>
              </a:rPr>
              <a:t>种循环</a:t>
            </a:r>
            <a:r>
              <a:rPr lang="en-US" altLang="zh-CN" sz="2400" spc="200" dirty="0">
                <a:latin typeface="Times New Roman" panose="02020603050405020304" pitchFamily="18" charset="0"/>
                <a:ea typeface="微软雅黑" panose="020B0503020204020204" pitchFamily="34" charset="-122"/>
              </a:rPr>
              <a:t>(while</a:t>
            </a:r>
            <a:r>
              <a:rPr lang="zh-CN" altLang="zh-CN" sz="2400" spc="200" dirty="0">
                <a:latin typeface="Times New Roman" panose="02020603050405020304" pitchFamily="18" charset="0"/>
                <a:ea typeface="微软雅黑" panose="020B0503020204020204" pitchFamily="34" charset="-122"/>
              </a:rPr>
              <a:t>循环、</a:t>
            </a:r>
            <a:r>
              <a:rPr lang="en-US" altLang="zh-CN" sz="2400" spc="200" dirty="0">
                <a:latin typeface="Times New Roman" panose="02020603050405020304" pitchFamily="18" charset="0"/>
                <a:ea typeface="微软雅黑" panose="020B0503020204020204" pitchFamily="34" charset="-122"/>
              </a:rPr>
              <a:t>do</a:t>
            </a:r>
            <a:r>
              <a:rPr lang="zh-CN" altLang="zh-CN" sz="2400" spc="200" dirty="0">
                <a:latin typeface="Times New Roman" panose="02020603050405020304" pitchFamily="18" charset="0"/>
                <a:ea typeface="微软雅黑" panose="020B0503020204020204" pitchFamily="34" charset="-122"/>
              </a:rPr>
              <a:t>…</a:t>
            </a:r>
            <a:r>
              <a:rPr lang="en-US" altLang="zh-CN" sz="2400" spc="200" dirty="0">
                <a:latin typeface="Times New Roman" panose="02020603050405020304" pitchFamily="18" charset="0"/>
                <a:ea typeface="微软雅黑" panose="020B0503020204020204" pitchFamily="34" charset="-122"/>
              </a:rPr>
              <a:t>while</a:t>
            </a:r>
            <a:r>
              <a:rPr lang="zh-CN" altLang="zh-CN" sz="2400" spc="200" dirty="0">
                <a:latin typeface="Times New Roman" panose="02020603050405020304" pitchFamily="18" charset="0"/>
                <a:ea typeface="微软雅黑" panose="020B0503020204020204" pitchFamily="34" charset="-122"/>
              </a:rPr>
              <a:t>循环和</a:t>
            </a:r>
            <a:r>
              <a:rPr lang="en-US" altLang="zh-CN" sz="2400" spc="200" dirty="0">
                <a:latin typeface="Times New Roman" panose="02020603050405020304" pitchFamily="18" charset="0"/>
                <a:ea typeface="微软雅黑" panose="020B0503020204020204" pitchFamily="34" charset="-122"/>
              </a:rPr>
              <a:t>for</a:t>
            </a:r>
            <a:r>
              <a:rPr lang="zh-CN" altLang="zh-CN" sz="2400" spc="200" dirty="0">
                <a:latin typeface="Times New Roman" panose="02020603050405020304" pitchFamily="18" charset="0"/>
                <a:ea typeface="微软雅黑" panose="020B0503020204020204" pitchFamily="34" charset="-122"/>
              </a:rPr>
              <a:t>循环</a:t>
            </a:r>
            <a:r>
              <a:rPr lang="en-US" altLang="zh-CN" sz="2400" spc="200" dirty="0">
                <a:latin typeface="Times New Roman" panose="02020603050405020304" pitchFamily="18" charset="0"/>
                <a:ea typeface="微软雅黑" panose="020B0503020204020204" pitchFamily="34" charset="-122"/>
              </a:rPr>
              <a:t>)</a:t>
            </a:r>
            <a:r>
              <a:rPr lang="zh-CN" altLang="zh-CN" sz="2400" spc="200" dirty="0">
                <a:latin typeface="Times New Roman" panose="02020603050405020304" pitchFamily="18" charset="0"/>
                <a:ea typeface="微软雅黑" panose="020B0503020204020204" pitchFamily="34" charset="-122"/>
              </a:rPr>
              <a:t>可以互相嵌套</a:t>
            </a:r>
            <a:endParaRPr lang="en-US" altLang="zh-CN" sz="2400" spc="200" dirty="0">
              <a:latin typeface="Times New Roman" panose="02020603050405020304" pitchFamily="18" charset="0"/>
              <a:ea typeface="微软雅黑" panose="020B0503020204020204" pitchFamily="34" charset="-122"/>
            </a:endParaRPr>
          </a:p>
        </p:txBody>
      </p:sp>
      <p:sp>
        <p:nvSpPr>
          <p:cNvPr id="32772"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32773"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5.5 </a:t>
            </a:r>
            <a:r>
              <a:rPr lang="zh-CN" altLang="zh-CN" dirty="0">
                <a:sym typeface="+mn-ea"/>
              </a:rPr>
              <a:t>循环的嵌套</a:t>
            </a:r>
            <a:endParaRPr lang="zh-CN" altLang="zh-CN" dirty="0">
              <a:solidFill>
                <a:srgbClr val="235A67"/>
              </a:solidFill>
            </a:endParaRPr>
          </a:p>
        </p:txBody>
      </p:sp>
    </p:spTree>
  </p:cSld>
  <p:clrMapOvr>
    <a:masterClrMapping/>
  </p:clrMapOvr>
  <p:transition spd="med">
    <p:blinds/>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Rectangle 3"/>
          <p:cNvSpPr txBox="1"/>
          <p:nvPr/>
        </p:nvSpPr>
        <p:spPr>
          <a:xfrm>
            <a:off x="251460" y="1196975"/>
            <a:ext cx="8641080" cy="4358005"/>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just" eaLnBrk="1" hangingPunct="1">
              <a:lnSpc>
                <a:spcPts val="5000"/>
              </a:lnSpc>
              <a:spcBef>
                <a:spcPct val="0"/>
              </a:spcBef>
              <a:buFontTx/>
              <a:buNone/>
            </a:pPr>
            <a:r>
              <a:rPr lang="en-US" altLang="zh-CN" sz="2400"/>
              <a:t>(1) </a:t>
            </a:r>
            <a:r>
              <a:rPr lang="zh-CN" altLang="zh-CN" sz="2400"/>
              <a:t>一般情况下</a:t>
            </a:r>
            <a:r>
              <a:rPr lang="zh-CN" altLang="en-US" sz="2400"/>
              <a:t>，</a:t>
            </a:r>
            <a:r>
              <a:rPr lang="en-US" altLang="zh-CN" sz="2400"/>
              <a:t>3</a:t>
            </a:r>
            <a:r>
              <a:rPr lang="zh-CN" altLang="zh-CN" sz="2400"/>
              <a:t>种循环可以互相代替。</a:t>
            </a:r>
            <a:endParaRPr lang="zh-CN" altLang="zh-CN" sz="2400"/>
          </a:p>
          <a:p>
            <a:pPr marL="0" lvl="0" indent="0" algn="just" defTabSz="914400" eaLnBrk="1" hangingPunct="1">
              <a:lnSpc>
                <a:spcPts val="5000"/>
              </a:lnSpc>
              <a:spcBef>
                <a:spcPct val="0"/>
              </a:spcBef>
              <a:buFontTx/>
              <a:buNone/>
              <a:tabLst>
                <a:tab pos="447675" algn="l"/>
              </a:tabLst>
            </a:pPr>
            <a:r>
              <a:rPr lang="en-US" altLang="zh-CN" sz="2400"/>
              <a:t>(2) </a:t>
            </a:r>
            <a:r>
              <a:rPr lang="zh-CN" altLang="zh-CN" sz="2400"/>
              <a:t>在while和do---while循环中，循环体应包含使循环趋于结束的语句。</a:t>
            </a:r>
            <a:endParaRPr lang="zh-CN" altLang="zh-CN" sz="2400"/>
          </a:p>
          <a:p>
            <a:pPr marL="0" lvl="0" algn="just" eaLnBrk="1" hangingPunct="1">
              <a:lnSpc>
                <a:spcPts val="5000"/>
              </a:lnSpc>
              <a:buClrTx/>
              <a:buSzTx/>
              <a:buFontTx/>
              <a:buNone/>
            </a:pPr>
            <a:r>
              <a:rPr lang="en-US" altLang="zh-CN" sz="2400"/>
              <a:t>(3) </a:t>
            </a:r>
            <a:r>
              <a:rPr lang="zh-CN" altLang="zh-CN" sz="2400"/>
              <a:t>用while和do---while循环时，循环变量初始化的操作应在  while和do---while语句之前完成。而for语句可以在表达式</a:t>
            </a:r>
            <a:r>
              <a:rPr lang="zh-CN" altLang="zh-CN" sz="2400"/>
              <a:t>1中    实现循环变量的初</a:t>
            </a:r>
            <a:r>
              <a:rPr lang="zh-CN" altLang="zh-CN" sz="2400"/>
              <a:t>始化。</a:t>
            </a:r>
            <a:endParaRPr lang="zh-CN" altLang="zh-CN" sz="2400"/>
          </a:p>
        </p:txBody>
      </p:sp>
      <p:sp>
        <p:nvSpPr>
          <p:cNvPr id="33796"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33797"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5.6 </a:t>
            </a:r>
            <a:r>
              <a:rPr lang="zh-CN" altLang="zh-CN" dirty="0">
                <a:sym typeface="+mn-ea"/>
              </a:rPr>
              <a:t>几种循环的比较</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1">
                                            <p:txEl>
                                              <p:charRg st="0" end="20"/>
                                            </p:txEl>
                                          </p:spTgt>
                                        </p:tgtEl>
                                        <p:attrNameLst>
                                          <p:attrName>style.visibility</p:attrName>
                                        </p:attrNameLst>
                                      </p:cBhvr>
                                      <p:to>
                                        <p:strVal val="visible"/>
                                      </p:to>
                                    </p:set>
                                    <p:animEffect transition="in" filter="blinds(horizontal)">
                                      <p:cBhvr>
                                        <p:cTn id="7" dur="500"/>
                                        <p:tgtEl>
                                          <p:spTgt spid="37891">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1">
                                            <p:txEl>
                                              <p:charRg st="1" end="1"/>
                                            </p:txEl>
                                          </p:spTgt>
                                        </p:tgtEl>
                                        <p:attrNameLst>
                                          <p:attrName>style.visibility</p:attrName>
                                        </p:attrNameLst>
                                      </p:cBhvr>
                                      <p:to>
                                        <p:strVal val="visible"/>
                                      </p:to>
                                    </p:set>
                                    <p:animEffect transition="in" filter="blinds(horizontal)">
                                      <p:cBhvr>
                                        <p:cTn id="12" dur="500"/>
                                        <p:tgtEl>
                                          <p:spTgt spid="37891">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91">
                                            <p:txEl>
                                              <p:charRg st="63" end="149"/>
                                            </p:txEl>
                                          </p:spTgt>
                                        </p:tgtEl>
                                        <p:attrNameLst>
                                          <p:attrName>style.visibility</p:attrName>
                                        </p:attrNameLst>
                                      </p:cBhvr>
                                      <p:to>
                                        <p:strVal val="visible"/>
                                      </p:to>
                                    </p:set>
                                    <p:animEffect transition="in" filter="blinds(horizontal)">
                                      <p:cBhvr>
                                        <p:cTn id="17" dur="500"/>
                                        <p:tgtEl>
                                          <p:spTgt spid="37891">
                                            <p:txEl>
                                              <p:charRg st="63" end="1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Rectangle 3"/>
          <p:cNvSpPr>
            <a:spLocks noGrp="1"/>
          </p:cNvSpPr>
          <p:nvPr>
            <p:ph idx="1"/>
          </p:nvPr>
        </p:nvSpPr>
        <p:spPr>
          <a:xfrm>
            <a:off x="251143" y="1268413"/>
            <a:ext cx="8286750" cy="2571750"/>
          </a:xfrm>
        </p:spPr>
        <p:txBody>
          <a:bodyPr vert="horz" wrap="square" lIns="91440" tIns="45720" rIns="91440" bIns="45720" anchor="t" anchorCtr="0"/>
          <a:p>
            <a:pPr eaLnBrk="1" latinLnBrk="0" hangingPunct="1">
              <a:lnSpc>
                <a:spcPts val="6000"/>
              </a:lnSpc>
              <a:spcBef>
                <a:spcPts val="0"/>
              </a:spcBef>
              <a:buFont typeface="Wingdings" panose="05000000000000000000" pitchFamily="2" charset="2"/>
              <a:buNone/>
            </a:pPr>
            <a:r>
              <a:rPr kumimoji="1" lang="en-US" altLang="zh-CN" spc="200" dirty="0">
                <a:solidFill>
                  <a:schemeClr val="tx1"/>
                </a:solidFill>
                <a:uFillTx/>
                <a:cs typeface="+mn-cs"/>
                <a:hlinkClick r:id="rId1" action="ppaction://hlinksldjump"/>
              </a:rPr>
              <a:t>5.7.1 </a:t>
            </a:r>
            <a:r>
              <a:rPr kumimoji="1" lang="zh-CN" altLang="zh-CN" spc="200" dirty="0">
                <a:solidFill>
                  <a:schemeClr val="tx1"/>
                </a:solidFill>
                <a:uFillTx/>
                <a:cs typeface="+mn-cs"/>
                <a:hlinkClick r:id="rId1" action="ppaction://hlinksldjump"/>
              </a:rPr>
              <a:t>用</a:t>
            </a:r>
            <a:r>
              <a:rPr kumimoji="1" lang="en-US" altLang="zh-CN" spc="200" dirty="0">
                <a:solidFill>
                  <a:schemeClr val="tx1"/>
                </a:solidFill>
                <a:uFillTx/>
                <a:cs typeface="+mn-cs"/>
                <a:hlinkClick r:id="rId1" action="ppaction://hlinksldjump"/>
              </a:rPr>
              <a:t>break</a:t>
            </a:r>
            <a:r>
              <a:rPr kumimoji="1" lang="zh-CN" altLang="zh-CN" spc="200" dirty="0">
                <a:solidFill>
                  <a:schemeClr val="tx1"/>
                </a:solidFill>
                <a:uFillTx/>
                <a:cs typeface="+mn-cs"/>
                <a:hlinkClick r:id="rId1" action="ppaction://hlinksldjump"/>
              </a:rPr>
              <a:t>语句提前终止循环</a:t>
            </a:r>
            <a:endParaRPr kumimoji="1" lang="en-US" altLang="zh-CN" spc="200" dirty="0">
              <a:solidFill>
                <a:schemeClr val="tx1"/>
              </a:solidFill>
              <a:uFillTx/>
              <a:cs typeface="+mn-cs"/>
            </a:endParaRPr>
          </a:p>
          <a:p>
            <a:pPr eaLnBrk="1" latinLnBrk="0" hangingPunct="1">
              <a:lnSpc>
                <a:spcPts val="6000"/>
              </a:lnSpc>
              <a:spcBef>
                <a:spcPts val="0"/>
              </a:spcBef>
              <a:buFont typeface="Wingdings" panose="05000000000000000000" pitchFamily="2" charset="2"/>
              <a:buNone/>
            </a:pPr>
            <a:r>
              <a:rPr kumimoji="1" lang="en-US" altLang="zh-CN" spc="200" dirty="0">
                <a:solidFill>
                  <a:schemeClr val="tx1"/>
                </a:solidFill>
                <a:uFillTx/>
                <a:cs typeface="+mn-cs"/>
                <a:hlinkClick r:id="rId2" action="ppaction://hlinksldjump"/>
              </a:rPr>
              <a:t>5.7.2 </a:t>
            </a:r>
            <a:r>
              <a:rPr kumimoji="1" lang="zh-CN" altLang="zh-CN" spc="200" dirty="0">
                <a:solidFill>
                  <a:schemeClr val="tx1"/>
                </a:solidFill>
                <a:uFillTx/>
                <a:cs typeface="+mn-cs"/>
                <a:hlinkClick r:id="rId2" action="ppaction://hlinksldjump"/>
              </a:rPr>
              <a:t>用</a:t>
            </a:r>
            <a:r>
              <a:rPr kumimoji="1" lang="en-US" altLang="zh-CN" spc="200" dirty="0">
                <a:solidFill>
                  <a:schemeClr val="tx1"/>
                </a:solidFill>
                <a:uFillTx/>
                <a:cs typeface="+mn-cs"/>
                <a:hlinkClick r:id="rId2" action="ppaction://hlinksldjump"/>
              </a:rPr>
              <a:t>continue</a:t>
            </a:r>
            <a:r>
              <a:rPr kumimoji="1" lang="zh-CN" altLang="zh-CN" spc="200" dirty="0">
                <a:solidFill>
                  <a:schemeClr val="tx1"/>
                </a:solidFill>
                <a:uFillTx/>
                <a:cs typeface="+mn-cs"/>
                <a:hlinkClick r:id="rId2" action="ppaction://hlinksldjump"/>
              </a:rPr>
              <a:t>语句提前结束本次循环</a:t>
            </a:r>
            <a:endParaRPr kumimoji="1" lang="en-US" altLang="zh-CN" spc="200" dirty="0">
              <a:solidFill>
                <a:schemeClr val="tx1"/>
              </a:solidFill>
              <a:uFillTx/>
              <a:cs typeface="+mn-cs"/>
            </a:endParaRPr>
          </a:p>
          <a:p>
            <a:pPr eaLnBrk="1" latinLnBrk="0" hangingPunct="1">
              <a:lnSpc>
                <a:spcPts val="6000"/>
              </a:lnSpc>
              <a:spcBef>
                <a:spcPts val="0"/>
              </a:spcBef>
              <a:buFont typeface="Wingdings" panose="05000000000000000000" pitchFamily="2" charset="2"/>
              <a:buNone/>
            </a:pPr>
            <a:r>
              <a:rPr kumimoji="1" lang="en-US" altLang="zh-CN" spc="200" dirty="0">
                <a:solidFill>
                  <a:schemeClr val="tx1"/>
                </a:solidFill>
                <a:uFillTx/>
                <a:cs typeface="+mn-cs"/>
                <a:hlinkClick r:id="rId3" action="ppaction://hlinksldjump"/>
              </a:rPr>
              <a:t>5.7.3 break</a:t>
            </a:r>
            <a:r>
              <a:rPr kumimoji="1" lang="zh-CN" altLang="zh-CN" spc="200" dirty="0">
                <a:solidFill>
                  <a:schemeClr val="tx1"/>
                </a:solidFill>
                <a:uFillTx/>
                <a:cs typeface="+mn-cs"/>
                <a:hlinkClick r:id="rId3" action="ppaction://hlinksldjump"/>
              </a:rPr>
              <a:t>语句和</a:t>
            </a:r>
            <a:r>
              <a:rPr kumimoji="1" lang="en-US" altLang="zh-CN" spc="200" dirty="0">
                <a:solidFill>
                  <a:schemeClr val="tx1"/>
                </a:solidFill>
                <a:uFillTx/>
                <a:cs typeface="+mn-cs"/>
                <a:hlinkClick r:id="rId3" action="ppaction://hlinksldjump"/>
              </a:rPr>
              <a:t>continue</a:t>
            </a:r>
            <a:r>
              <a:rPr kumimoji="1" lang="zh-CN" altLang="zh-CN" spc="200" dirty="0">
                <a:solidFill>
                  <a:schemeClr val="tx1"/>
                </a:solidFill>
                <a:uFillTx/>
                <a:cs typeface="+mn-cs"/>
                <a:hlinkClick r:id="rId3" action="ppaction://hlinksldjump"/>
              </a:rPr>
              <a:t>语句的区别</a:t>
            </a:r>
            <a:endParaRPr kumimoji="1" lang="zh-CN" altLang="zh-CN" spc="200" dirty="0">
              <a:solidFill>
                <a:schemeClr val="tx1"/>
              </a:solidFill>
              <a:uFillTx/>
              <a:cs typeface="+mn-cs"/>
              <a:hlinkClick r:id="rId3" action="ppaction://hlinksldjump"/>
            </a:endParaRPr>
          </a:p>
        </p:txBody>
      </p:sp>
      <p:pic>
        <p:nvPicPr>
          <p:cNvPr id="34820" name="图片 3" descr="Untitled.png">
            <a:hlinkClick r:id="rId4" action="ppaction://hlinksldjump"/>
          </p:cNvPr>
          <p:cNvPicPr>
            <a:picLocks noChangeAspect="1"/>
          </p:cNvPicPr>
          <p:nvPr/>
        </p:nvPicPr>
        <p:blipFill>
          <a:blip r:embed="rId5"/>
          <a:stretch>
            <a:fillRect/>
          </a:stretch>
        </p:blipFill>
        <p:spPr>
          <a:xfrm>
            <a:off x="8216900" y="5937250"/>
            <a:ext cx="927100" cy="920750"/>
          </a:xfrm>
          <a:prstGeom prst="rect">
            <a:avLst/>
          </a:prstGeom>
          <a:noFill/>
          <a:ln w="9525">
            <a:noFill/>
          </a:ln>
        </p:spPr>
      </p:pic>
      <p:sp>
        <p:nvSpPr>
          <p:cNvPr id="5122" name="Rectangle 2"/>
          <p:cNvSpPr>
            <a:spLocks noGrp="1"/>
          </p:cNvSpPr>
          <p:nvPr>
            <p:custDataLst>
              <p:tags r:id="rId6"/>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5.7 </a:t>
            </a:r>
            <a:r>
              <a:rPr lang="zh-CN" altLang="zh-CN" dirty="0">
                <a:sym typeface="+mn-ea"/>
              </a:rPr>
              <a:t>改变循环执行的状态</a:t>
            </a:r>
            <a:endParaRPr lang="zh-CN" altLang="zh-CN" dirty="0">
              <a:solidFill>
                <a:srgbClr val="235A67"/>
              </a:solidFill>
            </a:endParaRPr>
          </a:p>
        </p:txBody>
      </p:sp>
    </p:spTree>
  </p:cSld>
  <p:clrMapOvr>
    <a:masterClrMapping/>
  </p:clrMapOvr>
  <p:transition spd="med">
    <p:blinds/>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Rectangle 3"/>
          <p:cNvSpPr>
            <a:spLocks noGrp="1"/>
          </p:cNvSpPr>
          <p:nvPr>
            <p:ph idx="1"/>
          </p:nvPr>
        </p:nvSpPr>
        <p:spPr>
          <a:xfrm>
            <a:off x="323215" y="1268730"/>
            <a:ext cx="8428355" cy="2571750"/>
          </a:xfrm>
        </p:spPr>
        <p:txBody>
          <a:bodyPr vert="horz" wrap="square" lIns="91440" tIns="45720" rIns="91440" bIns="45720" anchor="t" anchorCtr="0"/>
          <a:p>
            <a:pPr eaLnBrk="1" hangingPunct="1">
              <a:spcBef>
                <a:spcPct val="50000"/>
              </a:spcBef>
            </a:pPr>
            <a:r>
              <a:rPr kumimoji="1" lang="en-US" altLang="zh-CN" sz="2600" spc="100" dirty="0">
                <a:solidFill>
                  <a:schemeClr val="tx1"/>
                </a:solidFill>
                <a:uFillTx/>
                <a:cs typeface="+mn-cs"/>
              </a:rPr>
              <a:t>break</a:t>
            </a:r>
            <a:r>
              <a:rPr kumimoji="1" lang="zh-CN" altLang="zh-CN" sz="2600" spc="100" dirty="0">
                <a:solidFill>
                  <a:schemeClr val="tx1"/>
                </a:solidFill>
                <a:uFillTx/>
                <a:cs typeface="+mn-cs"/>
              </a:rPr>
              <a:t>语句可以用来从循环体内跳出循环体，即提前结束循环，接着执行循环下面的语句</a:t>
            </a:r>
            <a:endParaRPr kumimoji="1" lang="zh-CN" altLang="zh-CN" sz="2600" spc="100" dirty="0">
              <a:solidFill>
                <a:schemeClr val="tx1"/>
              </a:solidFill>
              <a:uFillTx/>
              <a:cs typeface="+mn-cs"/>
            </a:endParaRPr>
          </a:p>
        </p:txBody>
      </p:sp>
      <p:pic>
        <p:nvPicPr>
          <p:cNvPr id="35844"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5.7.1 </a:t>
            </a:r>
            <a:r>
              <a:rPr lang="zh-CN" altLang="zh-CN" dirty="0">
                <a:sym typeface="+mn-ea"/>
              </a:rPr>
              <a:t>用</a:t>
            </a:r>
            <a:r>
              <a:rPr lang="en-US" altLang="zh-CN" dirty="0">
                <a:sym typeface="+mn-ea"/>
              </a:rPr>
              <a:t>break</a:t>
            </a:r>
            <a:r>
              <a:rPr lang="zh-CN" altLang="zh-CN" dirty="0">
                <a:sym typeface="+mn-ea"/>
              </a:rPr>
              <a:t>语句提前终止循环</a:t>
            </a:r>
            <a:endParaRPr lang="zh-CN" altLang="zh-CN" dirty="0">
              <a:solidFill>
                <a:srgbClr val="235A67"/>
              </a:solidFill>
            </a:endParaRPr>
          </a:p>
        </p:txBody>
      </p:sp>
    </p:spTree>
  </p:cSld>
  <p:clrMapOvr>
    <a:masterClrMapping/>
  </p:clrMapOvr>
  <p:transition spd="med">
    <p:blinds/>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Rectangle 3"/>
          <p:cNvSpPr>
            <a:spLocks noGrp="1"/>
          </p:cNvSpPr>
          <p:nvPr>
            <p:ph idx="1"/>
          </p:nvPr>
        </p:nvSpPr>
        <p:spPr>
          <a:xfrm>
            <a:off x="251460" y="1341120"/>
            <a:ext cx="8486775" cy="2571750"/>
          </a:xfrm>
        </p:spPr>
        <p:txBody>
          <a:bodyPr vert="horz" wrap="square" lIns="91440" tIns="45720" rIns="91440" bIns="45720" anchor="t" anchorCtr="0"/>
          <a:p>
            <a:pPr marL="1056640" indent="-1056640" defTabSz="0" eaLnBrk="1" hangingPunct="1">
              <a:lnSpc>
                <a:spcPct val="140000"/>
              </a:lnSpc>
              <a:spcBef>
                <a:spcPct val="50000"/>
              </a:spcBef>
              <a:buFont typeface="Wingdings" panose="05000000000000000000" pitchFamily="2" charset="2"/>
              <a:buNone/>
              <a:tabLst>
                <a:tab pos="1074420" algn="l"/>
              </a:tabLst>
            </a:pPr>
            <a:r>
              <a:rPr kumimoji="1" lang="zh-CN" altLang="zh-CN" spc="100" dirty="0">
                <a:solidFill>
                  <a:srgbClr val="2727CF"/>
                </a:solidFill>
                <a:cs typeface="+mn-cs"/>
              </a:rPr>
              <a:t>例</a:t>
            </a:r>
            <a:r>
              <a:rPr kumimoji="1" lang="en-US" altLang="zh-CN" spc="100" dirty="0">
                <a:solidFill>
                  <a:srgbClr val="2727CF"/>
                </a:solidFill>
                <a:cs typeface="+mn-cs"/>
              </a:rPr>
              <a:t>5.4</a:t>
            </a:r>
            <a:r>
              <a:rPr kumimoji="1" lang="en-US" altLang="zh-CN" spc="100" dirty="0">
                <a:cs typeface="+mn-cs"/>
              </a:rPr>
              <a:t>  </a:t>
            </a:r>
            <a:r>
              <a:rPr kumimoji="1" lang="zh-CN" altLang="zh-CN" spc="100" dirty="0">
                <a:cs typeface="+mn-cs"/>
              </a:rPr>
              <a:t>在全系</a:t>
            </a:r>
            <a:r>
              <a:rPr kumimoji="1" lang="en-US" altLang="zh-CN" spc="100" dirty="0">
                <a:cs typeface="+mn-cs"/>
              </a:rPr>
              <a:t>1000</a:t>
            </a:r>
            <a:r>
              <a:rPr kumimoji="1" lang="zh-CN" altLang="zh-CN" spc="100" dirty="0">
                <a:cs typeface="+mn-cs"/>
              </a:rPr>
              <a:t>学生中，征集慈善募捐，当总数</a:t>
            </a:r>
            <a:r>
              <a:rPr kumimoji="1" lang="en-US" altLang="zh-CN" spc="100" dirty="0">
                <a:cs typeface="+mn-cs"/>
              </a:rPr>
              <a:t>        </a:t>
            </a:r>
            <a:r>
              <a:rPr lang="en-US" altLang="zh-CN"/>
              <a:t>         </a:t>
            </a:r>
            <a:r>
              <a:rPr kumimoji="1" lang="zh-CN" altLang="zh-CN" spc="100" dirty="0">
                <a:cs typeface="+mn-cs"/>
              </a:rPr>
              <a:t>达到</a:t>
            </a:r>
            <a:r>
              <a:rPr kumimoji="1" lang="en-US" altLang="zh-CN" spc="100" dirty="0">
                <a:cs typeface="+mn-cs"/>
              </a:rPr>
              <a:t>10</a:t>
            </a:r>
            <a:r>
              <a:rPr kumimoji="1" lang="zh-CN" altLang="zh-CN" spc="100" dirty="0">
                <a:cs typeface="+mn-cs"/>
              </a:rPr>
              <a:t>万元时就结束，统计此时捐款的人数以及平均每人捐款的数目。</a:t>
            </a:r>
            <a:endParaRPr kumimoji="1" lang="en-US" altLang="zh-CN" spc="100" dirty="0">
              <a:cs typeface="+mn-cs"/>
            </a:endParaRPr>
          </a:p>
        </p:txBody>
      </p:sp>
      <p:pic>
        <p:nvPicPr>
          <p:cNvPr id="36868"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5.7.1 </a:t>
            </a:r>
            <a:r>
              <a:rPr lang="zh-CN" altLang="zh-CN" dirty="0">
                <a:sym typeface="+mn-ea"/>
              </a:rPr>
              <a:t>用</a:t>
            </a:r>
            <a:r>
              <a:rPr lang="en-US" altLang="zh-CN" dirty="0">
                <a:sym typeface="+mn-ea"/>
              </a:rPr>
              <a:t>break</a:t>
            </a:r>
            <a:r>
              <a:rPr lang="zh-CN" altLang="zh-CN" dirty="0">
                <a:sym typeface="+mn-ea"/>
              </a:rPr>
              <a:t>语句提前终止循环</a:t>
            </a:r>
            <a:endParaRPr lang="zh-CN" altLang="zh-CN" dirty="0">
              <a:solidFill>
                <a:srgbClr val="235A67"/>
              </a:solidFill>
            </a:endParaRPr>
          </a:p>
        </p:txBody>
      </p:sp>
    </p:spTree>
  </p:cSld>
  <p:clrMapOvr>
    <a:masterClrMapping/>
  </p:clrMapOvr>
  <p:transition spd="med">
    <p:blinds/>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Rectangle 3"/>
          <p:cNvSpPr>
            <a:spLocks noGrp="1"/>
          </p:cNvSpPr>
          <p:nvPr>
            <p:ph idx="1"/>
          </p:nvPr>
        </p:nvSpPr>
        <p:spPr>
          <a:xfrm>
            <a:off x="322898" y="1268413"/>
            <a:ext cx="8001000" cy="4500562"/>
          </a:xfrm>
        </p:spPr>
        <p:txBody>
          <a:bodyPr vert="horz" wrap="square" lIns="91440" tIns="45720" rIns="91440" bIns="45720" anchor="t" anchorCtr="0"/>
          <a:p>
            <a:pPr eaLnBrk="1" hangingPunct="1">
              <a:spcBef>
                <a:spcPct val="50000"/>
              </a:spcBef>
            </a:pPr>
            <a:r>
              <a:rPr kumimoji="1" lang="zh-CN" altLang="zh-CN" dirty="0">
                <a:solidFill>
                  <a:srgbClr val="235A67"/>
                </a:solidFill>
                <a:cs typeface="+mn-cs"/>
              </a:rPr>
              <a:t>编程思路：</a:t>
            </a:r>
            <a:endParaRPr kumimoji="1" lang="en-US" altLang="zh-CN" dirty="0">
              <a:cs typeface="+mn-cs"/>
            </a:endParaRPr>
          </a:p>
          <a:p>
            <a:pPr lvl="1" eaLnBrk="1" hangingPunct="1">
              <a:spcBef>
                <a:spcPct val="50000"/>
              </a:spcBef>
            </a:pPr>
            <a:r>
              <a:rPr kumimoji="1" lang="zh-CN" altLang="zh-CN" dirty="0">
                <a:solidFill>
                  <a:srgbClr val="235A67"/>
                </a:solidFill>
              </a:rPr>
              <a:t>循环次数不确定，</a:t>
            </a:r>
            <a:r>
              <a:rPr kumimoji="1" lang="zh-CN" altLang="en-US" dirty="0">
                <a:solidFill>
                  <a:srgbClr val="235A67"/>
                </a:solidFill>
              </a:rPr>
              <a:t>但最多循环</a:t>
            </a:r>
            <a:r>
              <a:rPr kumimoji="1" lang="en-US" altLang="zh-CN" dirty="0">
                <a:solidFill>
                  <a:srgbClr val="235A67"/>
                </a:solidFill>
              </a:rPr>
              <a:t>1000</a:t>
            </a:r>
            <a:r>
              <a:rPr kumimoji="1" lang="zh-CN" altLang="en-US" dirty="0">
                <a:solidFill>
                  <a:srgbClr val="235A67"/>
                </a:solidFill>
              </a:rPr>
              <a:t>次</a:t>
            </a:r>
            <a:endParaRPr kumimoji="1" lang="en-US" altLang="zh-CN" dirty="0">
              <a:solidFill>
                <a:srgbClr val="235A67"/>
              </a:solidFill>
            </a:endParaRPr>
          </a:p>
          <a:p>
            <a:pPr lvl="2" eaLnBrk="1" hangingPunct="1">
              <a:spcBef>
                <a:spcPct val="50000"/>
              </a:spcBef>
            </a:pPr>
            <a:r>
              <a:rPr kumimoji="1" lang="zh-CN" altLang="zh-CN" dirty="0">
                <a:solidFill>
                  <a:srgbClr val="235A67"/>
                </a:solidFill>
              </a:rPr>
              <a:t>在循环体中累计捐款总数</a:t>
            </a:r>
            <a:endParaRPr kumimoji="1" lang="en-US" altLang="zh-CN" dirty="0">
              <a:solidFill>
                <a:srgbClr val="235A67"/>
              </a:solidFill>
            </a:endParaRPr>
          </a:p>
          <a:p>
            <a:pPr lvl="2" eaLnBrk="1" hangingPunct="1">
              <a:spcBef>
                <a:spcPct val="50000"/>
              </a:spcBef>
            </a:pPr>
            <a:r>
              <a:rPr kumimoji="1" lang="zh-CN" altLang="zh-CN" dirty="0">
                <a:solidFill>
                  <a:srgbClr val="235A67"/>
                </a:solidFill>
              </a:rPr>
              <a:t>用</a:t>
            </a:r>
            <a:r>
              <a:rPr kumimoji="1" lang="en-US" altLang="zh-CN" dirty="0">
                <a:solidFill>
                  <a:srgbClr val="235A67"/>
                </a:solidFill>
              </a:rPr>
              <a:t>if</a:t>
            </a:r>
            <a:r>
              <a:rPr kumimoji="1" lang="zh-CN" altLang="zh-CN" dirty="0">
                <a:solidFill>
                  <a:srgbClr val="235A67"/>
                </a:solidFill>
              </a:rPr>
              <a:t>语句检查是否达到</a:t>
            </a:r>
            <a:r>
              <a:rPr kumimoji="1" lang="en-US" altLang="zh-CN" dirty="0">
                <a:solidFill>
                  <a:srgbClr val="235A67"/>
                </a:solidFill>
              </a:rPr>
              <a:t>10</a:t>
            </a:r>
            <a:r>
              <a:rPr kumimoji="1" lang="zh-CN" altLang="zh-CN" dirty="0">
                <a:solidFill>
                  <a:srgbClr val="235A67"/>
                </a:solidFill>
              </a:rPr>
              <a:t>万元</a:t>
            </a:r>
            <a:endParaRPr kumimoji="1" lang="en-US" altLang="zh-CN" dirty="0">
              <a:solidFill>
                <a:srgbClr val="235A67"/>
              </a:solidFill>
            </a:endParaRPr>
          </a:p>
          <a:p>
            <a:pPr lvl="2" eaLnBrk="1" hangingPunct="1">
              <a:spcBef>
                <a:spcPct val="50000"/>
              </a:spcBef>
            </a:pPr>
            <a:r>
              <a:rPr kumimoji="1" lang="zh-CN" altLang="zh-CN" dirty="0">
                <a:solidFill>
                  <a:srgbClr val="235A67"/>
                </a:solidFill>
              </a:rPr>
              <a:t>如果达到就不再继续执行循环，终止累加</a:t>
            </a:r>
            <a:endParaRPr kumimoji="1" lang="en-US" altLang="zh-CN" dirty="0">
              <a:solidFill>
                <a:srgbClr val="235A67"/>
              </a:solidFill>
            </a:endParaRPr>
          </a:p>
          <a:p>
            <a:pPr lvl="1" eaLnBrk="1" hangingPunct="1">
              <a:spcBef>
                <a:spcPct val="50000"/>
              </a:spcBef>
            </a:pPr>
            <a:r>
              <a:rPr kumimoji="1" lang="zh-CN" altLang="en-US" dirty="0">
                <a:solidFill>
                  <a:srgbClr val="235A67"/>
                </a:solidFill>
              </a:rPr>
              <a:t>计算</a:t>
            </a:r>
            <a:r>
              <a:rPr kumimoji="1" lang="zh-CN" altLang="zh-CN" dirty="0">
                <a:solidFill>
                  <a:srgbClr val="235A67"/>
                </a:solidFill>
              </a:rPr>
              <a:t>人均捐款数</a:t>
            </a:r>
            <a:endParaRPr kumimoji="1" lang="zh-CN" altLang="zh-CN" dirty="0">
              <a:solidFill>
                <a:srgbClr val="235A67"/>
              </a:solidFill>
            </a:endParaRPr>
          </a:p>
        </p:txBody>
      </p:sp>
      <p:pic>
        <p:nvPicPr>
          <p:cNvPr id="37892"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5.7.1 </a:t>
            </a:r>
            <a:r>
              <a:rPr lang="zh-CN" altLang="zh-CN" dirty="0">
                <a:sym typeface="+mn-ea"/>
              </a:rPr>
              <a:t>用</a:t>
            </a:r>
            <a:r>
              <a:rPr lang="en-US" altLang="zh-CN" dirty="0">
                <a:sym typeface="+mn-ea"/>
              </a:rPr>
              <a:t>break</a:t>
            </a:r>
            <a:r>
              <a:rPr lang="zh-CN" altLang="zh-CN" dirty="0">
                <a:sym typeface="+mn-ea"/>
              </a:rPr>
              <a:t>语句提前终止循环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charRg st="6" end="25"/>
                                            </p:txEl>
                                          </p:spTgt>
                                        </p:tgtEl>
                                        <p:attrNameLst>
                                          <p:attrName>style.visibility</p:attrName>
                                        </p:attrNameLst>
                                      </p:cBhvr>
                                      <p:to>
                                        <p:strVal val="visible"/>
                                      </p:to>
                                    </p:set>
                                    <p:animEffect transition="in" filter="blinds(horizontal)">
                                      <p:cBhvr>
                                        <p:cTn id="7" dur="500"/>
                                        <p:tgtEl>
                                          <p:spTgt spid="41987">
                                            <p:txEl>
                                              <p:charRg st="6"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charRg st="25" end="37"/>
                                            </p:txEl>
                                          </p:spTgt>
                                        </p:tgtEl>
                                        <p:attrNameLst>
                                          <p:attrName>style.visibility</p:attrName>
                                        </p:attrNameLst>
                                      </p:cBhvr>
                                      <p:to>
                                        <p:strVal val="visible"/>
                                      </p:to>
                                    </p:set>
                                    <p:animEffect transition="in" filter="blinds(horizontal)">
                                      <p:cBhvr>
                                        <p:cTn id="12" dur="500"/>
                                        <p:tgtEl>
                                          <p:spTgt spid="41987">
                                            <p:txEl>
                                              <p:charRg st="25" end="3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1987">
                                            <p:txEl>
                                              <p:charRg st="37" end="53"/>
                                            </p:txEl>
                                          </p:spTgt>
                                        </p:tgtEl>
                                        <p:attrNameLst>
                                          <p:attrName>style.visibility</p:attrName>
                                        </p:attrNameLst>
                                      </p:cBhvr>
                                      <p:to>
                                        <p:strVal val="visible"/>
                                      </p:to>
                                    </p:set>
                                    <p:animEffect transition="in" filter="blinds(horizontal)">
                                      <p:cBhvr>
                                        <p:cTn id="15" dur="500"/>
                                        <p:tgtEl>
                                          <p:spTgt spid="41987">
                                            <p:txEl>
                                              <p:charRg st="37" end="5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987">
                                            <p:txEl>
                                              <p:charRg st="53" end="72"/>
                                            </p:txEl>
                                          </p:spTgt>
                                        </p:tgtEl>
                                        <p:attrNameLst>
                                          <p:attrName>style.visibility</p:attrName>
                                        </p:attrNameLst>
                                      </p:cBhvr>
                                      <p:to>
                                        <p:strVal val="visible"/>
                                      </p:to>
                                    </p:set>
                                    <p:animEffect transition="in" filter="blinds(horizontal)">
                                      <p:cBhvr>
                                        <p:cTn id="18" dur="500"/>
                                        <p:tgtEl>
                                          <p:spTgt spid="41987">
                                            <p:txEl>
                                              <p:charRg st="53" end="7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987">
                                            <p:txEl>
                                              <p:charRg st="72" end="80"/>
                                            </p:txEl>
                                          </p:spTgt>
                                        </p:tgtEl>
                                        <p:attrNameLst>
                                          <p:attrName>style.visibility</p:attrName>
                                        </p:attrNameLst>
                                      </p:cBhvr>
                                      <p:to>
                                        <p:strVal val="visible"/>
                                      </p:to>
                                    </p:set>
                                    <p:animEffect transition="in" filter="blinds(horizontal)">
                                      <p:cBhvr>
                                        <p:cTn id="23" dur="500"/>
                                        <p:tgtEl>
                                          <p:spTgt spid="41987">
                                            <p:txEl>
                                              <p:charRg st="72" end="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Rectangle 3"/>
          <p:cNvSpPr>
            <a:spLocks noGrp="1"/>
          </p:cNvSpPr>
          <p:nvPr>
            <p:ph idx="1"/>
          </p:nvPr>
        </p:nvSpPr>
        <p:spPr>
          <a:xfrm>
            <a:off x="322898" y="1268413"/>
            <a:ext cx="7643812" cy="3929062"/>
          </a:xfrm>
        </p:spPr>
        <p:txBody>
          <a:bodyPr vert="horz" wrap="square" lIns="91440" tIns="45720" rIns="91440" bIns="45720" anchor="t" anchorCtr="0"/>
          <a:p>
            <a:pPr eaLnBrk="1" hangingPunct="1">
              <a:spcBef>
                <a:spcPct val="50000"/>
              </a:spcBef>
            </a:pPr>
            <a:r>
              <a:rPr kumimoji="1" lang="zh-CN" altLang="zh-CN" dirty="0">
                <a:solidFill>
                  <a:srgbClr val="235A67"/>
                </a:solidFill>
                <a:cs typeface="+mn-cs"/>
              </a:rPr>
              <a:t>编程思路：</a:t>
            </a:r>
            <a:endParaRPr kumimoji="1" lang="en-US" altLang="zh-CN" dirty="0">
              <a:cs typeface="+mn-cs"/>
            </a:endParaRPr>
          </a:p>
          <a:p>
            <a:pPr lvl="1" eaLnBrk="1" hangingPunct="1">
              <a:spcBef>
                <a:spcPct val="50000"/>
              </a:spcBef>
            </a:pPr>
            <a:r>
              <a:rPr kumimoji="1" lang="zh-CN" altLang="zh-CN" dirty="0">
                <a:solidFill>
                  <a:srgbClr val="235A67"/>
                </a:solidFill>
              </a:rPr>
              <a:t>变量</a:t>
            </a:r>
            <a:r>
              <a:rPr kumimoji="1" lang="en-US" altLang="zh-CN" dirty="0">
                <a:solidFill>
                  <a:srgbClr val="235A67"/>
                </a:solidFill>
              </a:rPr>
              <a:t>amount</a:t>
            </a:r>
            <a:r>
              <a:rPr kumimoji="1" lang="zh-CN" altLang="zh-CN" dirty="0">
                <a:solidFill>
                  <a:srgbClr val="235A67"/>
                </a:solidFill>
              </a:rPr>
              <a:t>，用来存放捐款数</a:t>
            </a:r>
            <a:endParaRPr kumimoji="1" lang="en-US" altLang="zh-CN" dirty="0">
              <a:solidFill>
                <a:srgbClr val="235A67"/>
              </a:solidFill>
            </a:endParaRPr>
          </a:p>
          <a:p>
            <a:pPr lvl="1" eaLnBrk="1" hangingPunct="1">
              <a:spcBef>
                <a:spcPct val="50000"/>
              </a:spcBef>
            </a:pPr>
            <a:r>
              <a:rPr kumimoji="1" lang="zh-CN" altLang="zh-CN" dirty="0">
                <a:solidFill>
                  <a:srgbClr val="235A67"/>
                </a:solidFill>
              </a:rPr>
              <a:t>变量</a:t>
            </a:r>
            <a:r>
              <a:rPr kumimoji="1" lang="en-US" altLang="zh-CN" dirty="0">
                <a:solidFill>
                  <a:srgbClr val="235A67"/>
                </a:solidFill>
              </a:rPr>
              <a:t>total</a:t>
            </a:r>
            <a:r>
              <a:rPr kumimoji="1" lang="zh-CN" altLang="zh-CN" dirty="0">
                <a:solidFill>
                  <a:srgbClr val="235A67"/>
                </a:solidFill>
              </a:rPr>
              <a:t>，用来存放累加后的总捐款数</a:t>
            </a:r>
            <a:endParaRPr kumimoji="1" lang="en-US" altLang="zh-CN" dirty="0">
              <a:solidFill>
                <a:srgbClr val="235A67"/>
              </a:solidFill>
            </a:endParaRPr>
          </a:p>
          <a:p>
            <a:pPr lvl="1" eaLnBrk="1" hangingPunct="1">
              <a:spcBef>
                <a:spcPct val="50000"/>
              </a:spcBef>
            </a:pPr>
            <a:r>
              <a:rPr kumimoji="1" lang="zh-CN" altLang="zh-CN" dirty="0">
                <a:solidFill>
                  <a:srgbClr val="235A67"/>
                </a:solidFill>
              </a:rPr>
              <a:t>变量</a:t>
            </a:r>
            <a:r>
              <a:rPr kumimoji="1" lang="en-US" altLang="zh-CN" dirty="0">
                <a:solidFill>
                  <a:srgbClr val="235A67"/>
                </a:solidFill>
              </a:rPr>
              <a:t>aver</a:t>
            </a:r>
            <a:r>
              <a:rPr kumimoji="1" lang="zh-CN" altLang="zh-CN" dirty="0">
                <a:solidFill>
                  <a:srgbClr val="235A67"/>
                </a:solidFill>
              </a:rPr>
              <a:t>，用来存放人均捐款数</a:t>
            </a:r>
            <a:endParaRPr kumimoji="1" lang="en-US" altLang="zh-CN" dirty="0">
              <a:solidFill>
                <a:srgbClr val="235A67"/>
              </a:solidFill>
            </a:endParaRPr>
          </a:p>
          <a:p>
            <a:pPr lvl="1" eaLnBrk="1" hangingPunct="1">
              <a:spcBef>
                <a:spcPct val="50000"/>
              </a:spcBef>
            </a:pPr>
            <a:r>
              <a:rPr kumimoji="1" lang="zh-CN" altLang="zh-CN" dirty="0">
                <a:solidFill>
                  <a:srgbClr val="235A67"/>
                </a:solidFill>
              </a:rPr>
              <a:t>定义符号常量</a:t>
            </a:r>
            <a:r>
              <a:rPr kumimoji="1" lang="en-US" altLang="zh-CN" dirty="0">
                <a:solidFill>
                  <a:srgbClr val="235A67"/>
                </a:solidFill>
              </a:rPr>
              <a:t>SUM</a:t>
            </a:r>
            <a:r>
              <a:rPr kumimoji="1" lang="zh-CN" altLang="zh-CN" dirty="0">
                <a:solidFill>
                  <a:srgbClr val="235A67"/>
                </a:solidFill>
              </a:rPr>
              <a:t>代表</a:t>
            </a:r>
            <a:r>
              <a:rPr kumimoji="1" lang="en-US" altLang="zh-CN" dirty="0">
                <a:solidFill>
                  <a:srgbClr val="235A67"/>
                </a:solidFill>
              </a:rPr>
              <a:t>100000</a:t>
            </a:r>
            <a:endParaRPr kumimoji="1" lang="en-US" altLang="zh-CN" dirty="0">
              <a:solidFill>
                <a:srgbClr val="235A67"/>
              </a:solidFill>
            </a:endParaRPr>
          </a:p>
        </p:txBody>
      </p:sp>
      <p:pic>
        <p:nvPicPr>
          <p:cNvPr id="38916"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5.7.1 </a:t>
            </a:r>
            <a:r>
              <a:rPr lang="zh-CN" altLang="zh-CN" dirty="0">
                <a:sym typeface="+mn-ea"/>
              </a:rPr>
              <a:t>用</a:t>
            </a:r>
            <a:r>
              <a:rPr lang="en-US" altLang="zh-CN" dirty="0">
                <a:sym typeface="+mn-ea"/>
              </a:rPr>
              <a:t>break</a:t>
            </a:r>
            <a:r>
              <a:rPr lang="zh-CN" altLang="zh-CN" dirty="0">
                <a:sym typeface="+mn-ea"/>
              </a:rPr>
              <a:t>语句提前终止循环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7" dur="500"/>
                                        <p:tgtEl>
                                          <p:spTgt spid="430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2" dur="500"/>
                                        <p:tgtEl>
                                          <p:spTgt spid="430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11">
                                            <p:txEl>
                                              <p:pRg st="3" end="3"/>
                                            </p:txEl>
                                          </p:spTgt>
                                        </p:tgtEl>
                                        <p:attrNameLst>
                                          <p:attrName>style.visibility</p:attrName>
                                        </p:attrNameLst>
                                      </p:cBhvr>
                                      <p:to>
                                        <p:strVal val="visible"/>
                                      </p:to>
                                    </p:set>
                                    <p:animEffect transition="in" filter="blinds(horizontal)">
                                      <p:cBhvr>
                                        <p:cTn id="17" dur="500"/>
                                        <p:tgtEl>
                                          <p:spTgt spid="430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22" dur="500"/>
                                        <p:tgtEl>
                                          <p:spTgt spid="430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3"/>
          <p:cNvSpPr>
            <a:spLocks noGrp="1"/>
          </p:cNvSpPr>
          <p:nvPr>
            <p:ph idx="1"/>
          </p:nvPr>
        </p:nvSpPr>
        <p:spPr>
          <a:xfrm>
            <a:off x="214313" y="548323"/>
            <a:ext cx="8715375" cy="6786562"/>
          </a:xfrm>
        </p:spPr>
        <p:txBody>
          <a:bodyPr vert="horz" wrap="square" lIns="91440" tIns="45720" rIns="91440" bIns="45720" anchor="t" anchorCtr="0"/>
          <a:p>
            <a:pPr>
              <a:lnSpc>
                <a:spcPts val="2900"/>
              </a:lnSpc>
              <a:buFont typeface="Wingdings" panose="05000000000000000000" pitchFamily="2" charset="2"/>
              <a:buNone/>
            </a:pPr>
            <a:r>
              <a:rPr kumimoji="1" lang="en-US" altLang="zh-CN" sz="2600" dirty="0">
                <a:cs typeface="+mn-cs"/>
              </a:rPr>
              <a:t>#include &lt;stdio.h&gt;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#define SUM 100000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int main()</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float amount,aver,total;   int i;</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for (i=1,total=0;i&lt;=</a:t>
            </a:r>
            <a:r>
              <a:rPr kumimoji="1" lang="en-US" altLang="zh-CN" sz="2600" dirty="0">
                <a:solidFill>
                  <a:srgbClr val="9D138D"/>
                </a:solidFill>
                <a:cs typeface="+mn-cs"/>
              </a:rPr>
              <a:t>1000</a:t>
            </a:r>
            <a:r>
              <a:rPr kumimoji="1" lang="en-US" altLang="zh-CN" sz="2600" dirty="0">
                <a:cs typeface="+mn-cs"/>
              </a:rPr>
              <a:t>;i++)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     printf("please enter 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scanf("%f",&amp;amount);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total= total+amount;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if (total&gt;=SUM) </a:t>
            </a:r>
            <a:r>
              <a:rPr kumimoji="1" lang="en-US" altLang="zh-CN" sz="2600" dirty="0">
                <a:solidFill>
                  <a:srgbClr val="00B050"/>
                </a:solidFill>
                <a:cs typeface="+mn-cs"/>
              </a:rPr>
              <a:t>break</a:t>
            </a: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aver=total / i ; </a:t>
            </a:r>
            <a:endParaRPr kumimoji="1" lang="en-US" altLang="zh-CN" sz="2600" dirty="0">
              <a:cs typeface="+mn-cs"/>
            </a:endParaRPr>
          </a:p>
          <a:p>
            <a:pPr>
              <a:lnSpc>
                <a:spcPts val="2900"/>
              </a:lnSpc>
              <a:buFont typeface="Wingdings" panose="05000000000000000000" pitchFamily="2" charset="2"/>
              <a:buNone/>
            </a:pPr>
            <a:r>
              <a:rPr kumimoji="1" lang="en-US" altLang="zh-CN" sz="2600" dirty="0">
                <a:cs typeface="+mn-cs"/>
              </a:rPr>
              <a:t>     printf(“num=%d\naver=%10.2f\n” ,i,aver);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return 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a:t>
            </a:r>
            <a:endParaRPr kumimoji="1" lang="zh-CN" altLang="zh-CN" sz="2600" dirty="0">
              <a:cs typeface="+mn-cs"/>
            </a:endParaRPr>
          </a:p>
        </p:txBody>
      </p:sp>
      <p:sp>
        <p:nvSpPr>
          <p:cNvPr id="5" name="TextBox 4"/>
          <p:cNvSpPr txBox="1"/>
          <p:nvPr/>
        </p:nvSpPr>
        <p:spPr>
          <a:xfrm>
            <a:off x="3923983" y="981075"/>
            <a:ext cx="5500687"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指定符号常量</a:t>
            </a:r>
            <a:r>
              <a:rPr lang="en-US" altLang="zh-CN" sz="2600" dirty="0">
                <a:solidFill>
                  <a:srgbClr val="4545AB"/>
                </a:solidFill>
                <a:latin typeface="Times New Roman" panose="02020603050405020304" pitchFamily="18" charset="0"/>
                <a:ea typeface="微软雅黑" panose="020B0503020204020204" pitchFamily="34" charset="-122"/>
              </a:rPr>
              <a:t>SUM</a:t>
            </a:r>
            <a:r>
              <a:rPr lang="zh-CN" altLang="zh-CN" sz="2600" dirty="0">
                <a:solidFill>
                  <a:srgbClr val="4545AB"/>
                </a:solidFill>
                <a:latin typeface="Times New Roman" panose="02020603050405020304" pitchFamily="18" charset="0"/>
                <a:ea typeface="微软雅黑" panose="020B0503020204020204" pitchFamily="34" charset="-122"/>
              </a:rPr>
              <a:t>代表</a:t>
            </a:r>
            <a:r>
              <a:rPr lang="en-US" altLang="zh-CN" sz="2600" dirty="0">
                <a:solidFill>
                  <a:srgbClr val="4545AB"/>
                </a:solidFill>
                <a:latin typeface="Times New Roman" panose="02020603050405020304" pitchFamily="18" charset="0"/>
                <a:ea typeface="微软雅黑" panose="020B0503020204020204" pitchFamily="34" charset="-122"/>
              </a:rPr>
              <a:t>100000</a:t>
            </a:r>
            <a:endParaRPr lang="en-US" altLang="zh-CN" sz="2600" dirty="0">
              <a:solidFill>
                <a:srgbClr val="4545AB"/>
              </a:solidFill>
              <a:latin typeface="Times New Roman" panose="02020603050405020304" pitchFamily="18" charset="0"/>
              <a:ea typeface="微软雅黑" panose="020B0503020204020204" pitchFamily="34" charset="-122"/>
            </a:endParaRPr>
          </a:p>
        </p:txBody>
      </p:sp>
      <p:cxnSp>
        <p:nvCxnSpPr>
          <p:cNvPr id="6" name="直接连接符 5"/>
          <p:cNvCxnSpPr/>
          <p:nvPr/>
        </p:nvCxnSpPr>
        <p:spPr>
          <a:xfrm flipV="1">
            <a:off x="323850" y="1392238"/>
            <a:ext cx="3061970" cy="20320"/>
          </a:xfrm>
          <a:prstGeom prst="line">
            <a:avLst/>
          </a:prstGeom>
          <a:ln w="38100" cap="flat" cmpd="sng">
            <a:solidFill>
              <a:srgbClr val="FF0000"/>
            </a:solidFill>
            <a:prstDash val="solid"/>
            <a:miter/>
            <a:headEnd type="none" w="med" len="med"/>
            <a:tailEnd type="none" w="med" len="med"/>
          </a:ln>
        </p:spPr>
      </p:cxnSp>
      <p:pic>
        <p:nvPicPr>
          <p:cNvPr id="39941" name="图片 6"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Left)">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a:spLocks noGrp="1"/>
          </p:cNvSpPr>
          <p:nvPr>
            <p:ph idx="1"/>
          </p:nvPr>
        </p:nvSpPr>
        <p:spPr>
          <a:xfrm>
            <a:off x="214313" y="476568"/>
            <a:ext cx="8715375" cy="6786562"/>
          </a:xfrm>
        </p:spPr>
        <p:txBody>
          <a:bodyPr vert="horz" wrap="square" lIns="91440" tIns="45720" rIns="91440" bIns="45720" anchor="t" anchorCtr="0"/>
          <a:p>
            <a:pPr>
              <a:lnSpc>
                <a:spcPts val="2900"/>
              </a:lnSpc>
              <a:buFont typeface="Wingdings" panose="05000000000000000000" pitchFamily="2" charset="2"/>
              <a:buNone/>
            </a:pPr>
            <a:r>
              <a:rPr kumimoji="1" lang="en-US" altLang="zh-CN" sz="2600" dirty="0">
                <a:cs typeface="+mn-cs"/>
              </a:rPr>
              <a:t>#include &lt;stdio.h&gt;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#define SUM 100000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int main()</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float amount,aver,total;   int i;</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for (i=1,total=0;i&lt;=</a:t>
            </a:r>
            <a:r>
              <a:rPr kumimoji="1" lang="en-US" altLang="zh-CN" sz="2600" dirty="0">
                <a:solidFill>
                  <a:srgbClr val="9D138D"/>
                </a:solidFill>
                <a:cs typeface="+mn-cs"/>
              </a:rPr>
              <a:t>1000</a:t>
            </a:r>
            <a:r>
              <a:rPr kumimoji="1" lang="en-US" altLang="zh-CN" sz="2600" dirty="0">
                <a:cs typeface="+mn-cs"/>
              </a:rPr>
              <a:t>;i++)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     printf("please enter 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scanf("%f",&amp;amount);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total= total+amount;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if (total&gt;=SUM)</a:t>
            </a:r>
            <a:r>
              <a:rPr kumimoji="1" lang="en-US" altLang="zh-CN" sz="2600" dirty="0">
                <a:solidFill>
                  <a:srgbClr val="235A67"/>
                </a:solidFill>
                <a:cs typeface="+mn-cs"/>
              </a:rPr>
              <a:t> break</a:t>
            </a: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aver=total / i ; </a:t>
            </a:r>
            <a:endParaRPr kumimoji="1" lang="en-US" altLang="zh-CN" sz="2600" dirty="0">
              <a:cs typeface="+mn-cs"/>
            </a:endParaRPr>
          </a:p>
          <a:p>
            <a:pPr>
              <a:lnSpc>
                <a:spcPts val="2900"/>
              </a:lnSpc>
              <a:buFont typeface="Wingdings" panose="05000000000000000000" pitchFamily="2" charset="2"/>
              <a:buNone/>
            </a:pPr>
            <a:r>
              <a:rPr kumimoji="1" lang="en-US" altLang="zh-CN" sz="2600" dirty="0">
                <a:cs typeface="+mn-cs"/>
              </a:rPr>
              <a:t>     printf(“num=%d\naver=%10.2f\n” ,i,aver);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return 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a:t>
            </a:r>
            <a:endParaRPr kumimoji="1" lang="zh-CN" altLang="zh-CN" sz="2600" dirty="0">
              <a:cs typeface="+mn-cs"/>
            </a:endParaRPr>
          </a:p>
        </p:txBody>
      </p:sp>
      <p:sp>
        <p:nvSpPr>
          <p:cNvPr id="5" name="TextBox 4"/>
          <p:cNvSpPr txBox="1"/>
          <p:nvPr/>
        </p:nvSpPr>
        <p:spPr>
          <a:xfrm>
            <a:off x="5580380" y="2276793"/>
            <a:ext cx="3214688"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应该执行</a:t>
            </a:r>
            <a:r>
              <a:rPr lang="en-US" altLang="zh-CN" sz="2600" dirty="0">
                <a:solidFill>
                  <a:srgbClr val="4545AB"/>
                </a:solidFill>
                <a:latin typeface="Times New Roman" panose="02020603050405020304" pitchFamily="18" charset="0"/>
                <a:ea typeface="微软雅黑" panose="020B0503020204020204" pitchFamily="34" charset="-122"/>
              </a:rPr>
              <a:t>1000</a:t>
            </a:r>
            <a:r>
              <a:rPr lang="zh-CN" altLang="en-US" sz="2600" dirty="0">
                <a:solidFill>
                  <a:srgbClr val="4545AB"/>
                </a:solidFill>
                <a:latin typeface="Times New Roman" panose="02020603050405020304" pitchFamily="18" charset="0"/>
                <a:ea typeface="微软雅黑" panose="020B0503020204020204" pitchFamily="34" charset="-122"/>
              </a:rPr>
              <a:t>次</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cxnSp>
        <p:nvCxnSpPr>
          <p:cNvPr id="6" name="直接连接符 5"/>
          <p:cNvCxnSpPr/>
          <p:nvPr/>
        </p:nvCxnSpPr>
        <p:spPr>
          <a:xfrm>
            <a:off x="2915920" y="2708910"/>
            <a:ext cx="1143000" cy="0"/>
          </a:xfrm>
          <a:prstGeom prst="line">
            <a:avLst/>
          </a:prstGeom>
          <a:ln w="38100" cap="flat" cmpd="sng">
            <a:solidFill>
              <a:srgbClr val="FF0000"/>
            </a:solidFill>
            <a:prstDash val="solid"/>
            <a:miter/>
            <a:headEnd type="none" w="med" len="med"/>
            <a:tailEnd type="none" w="med" len="med"/>
          </a:ln>
        </p:spPr>
      </p:cxnSp>
      <p:pic>
        <p:nvPicPr>
          <p:cNvPr id="40965" name="图片 6"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Left)">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3"/>
          <p:cNvSpPr>
            <a:spLocks noGrp="1"/>
          </p:cNvSpPr>
          <p:nvPr>
            <p:ph idx="1"/>
          </p:nvPr>
        </p:nvSpPr>
        <p:spPr>
          <a:xfrm>
            <a:off x="183833" y="476568"/>
            <a:ext cx="8715375" cy="6786562"/>
          </a:xfrm>
        </p:spPr>
        <p:txBody>
          <a:bodyPr vert="horz" wrap="square" lIns="91440" tIns="45720" rIns="91440" bIns="45720" anchor="t" anchorCtr="0"/>
          <a:p>
            <a:pPr>
              <a:lnSpc>
                <a:spcPts val="2900"/>
              </a:lnSpc>
              <a:buFont typeface="Wingdings" panose="05000000000000000000" pitchFamily="2" charset="2"/>
              <a:buNone/>
            </a:pPr>
            <a:r>
              <a:rPr kumimoji="1" lang="en-US" altLang="zh-CN" sz="2600" dirty="0">
                <a:cs typeface="+mn-cs"/>
              </a:rPr>
              <a:t>#include &lt;stdio.h&gt;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#define SUM 100000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int main()</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float amount,aver,total;   int i;</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for (i=1,total=0;i&lt;=</a:t>
            </a:r>
            <a:r>
              <a:rPr kumimoji="1" lang="en-US" altLang="zh-CN" sz="2600" dirty="0">
                <a:solidFill>
                  <a:srgbClr val="9D138D"/>
                </a:solidFill>
                <a:cs typeface="+mn-cs"/>
              </a:rPr>
              <a:t>1000</a:t>
            </a:r>
            <a:r>
              <a:rPr kumimoji="1" lang="en-US" altLang="zh-CN" sz="2600" dirty="0">
                <a:cs typeface="+mn-cs"/>
              </a:rPr>
              <a:t>;i++)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     printf("please enter 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scanf("%f",&amp;amount);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total= total+amount;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if (total&gt;=SUM) </a:t>
            </a:r>
            <a:r>
              <a:rPr kumimoji="1" lang="en-US" altLang="zh-CN" sz="2600" dirty="0">
                <a:solidFill>
                  <a:srgbClr val="00B050"/>
                </a:solidFill>
                <a:cs typeface="+mn-cs"/>
              </a:rPr>
              <a:t>break</a:t>
            </a: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aver=total / i ; </a:t>
            </a:r>
            <a:endParaRPr kumimoji="1" lang="en-US" altLang="zh-CN" sz="2600" dirty="0">
              <a:cs typeface="+mn-cs"/>
            </a:endParaRPr>
          </a:p>
          <a:p>
            <a:pPr>
              <a:lnSpc>
                <a:spcPts val="2900"/>
              </a:lnSpc>
              <a:buFont typeface="Wingdings" panose="05000000000000000000" pitchFamily="2" charset="2"/>
              <a:buNone/>
            </a:pPr>
            <a:r>
              <a:rPr kumimoji="1" lang="en-US" altLang="zh-CN" sz="2600" dirty="0">
                <a:cs typeface="+mn-cs"/>
              </a:rPr>
              <a:t>     printf(“num=%d\naver=%10.2f\n” ,i,aver);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return 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a:t>
            </a:r>
            <a:endParaRPr kumimoji="1" lang="zh-CN" altLang="zh-CN" sz="2600" dirty="0">
              <a:cs typeface="+mn-cs"/>
            </a:endParaRPr>
          </a:p>
        </p:txBody>
      </p:sp>
      <p:sp>
        <p:nvSpPr>
          <p:cNvPr id="5" name="TextBox 4"/>
          <p:cNvSpPr txBox="1"/>
          <p:nvPr/>
        </p:nvSpPr>
        <p:spPr>
          <a:xfrm>
            <a:off x="4572000" y="4004628"/>
            <a:ext cx="4572000"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达到</a:t>
            </a:r>
            <a:r>
              <a:rPr lang="en-US" altLang="zh-CN" sz="2600" dirty="0">
                <a:solidFill>
                  <a:srgbClr val="4545AB"/>
                </a:solidFill>
                <a:latin typeface="Times New Roman" panose="02020603050405020304" pitchFamily="18" charset="0"/>
                <a:ea typeface="微软雅黑" panose="020B0503020204020204" pitchFamily="34" charset="-122"/>
              </a:rPr>
              <a:t>10</a:t>
            </a:r>
            <a:r>
              <a:rPr lang="zh-CN" altLang="en-US" sz="2600" dirty="0">
                <a:solidFill>
                  <a:srgbClr val="4545AB"/>
                </a:solidFill>
                <a:latin typeface="Times New Roman" panose="02020603050405020304" pitchFamily="18" charset="0"/>
                <a:ea typeface="微软雅黑" panose="020B0503020204020204" pitchFamily="34" charset="-122"/>
              </a:rPr>
              <a:t>万，</a:t>
            </a:r>
            <a:r>
              <a:rPr lang="zh-CN" altLang="zh-CN" sz="2600" dirty="0">
                <a:solidFill>
                  <a:srgbClr val="4545AB"/>
                </a:solidFill>
                <a:latin typeface="Times New Roman" panose="02020603050405020304" pitchFamily="18" charset="0"/>
                <a:ea typeface="微软雅黑" panose="020B0503020204020204" pitchFamily="34" charset="-122"/>
              </a:rPr>
              <a:t>提前结束循环</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cxnSp>
        <p:nvCxnSpPr>
          <p:cNvPr id="6" name="直接连接符 5"/>
          <p:cNvCxnSpPr/>
          <p:nvPr/>
        </p:nvCxnSpPr>
        <p:spPr>
          <a:xfrm>
            <a:off x="971233" y="4508818"/>
            <a:ext cx="3743960" cy="0"/>
          </a:xfrm>
          <a:prstGeom prst="line">
            <a:avLst/>
          </a:prstGeom>
          <a:ln w="38100" cap="flat" cmpd="sng">
            <a:solidFill>
              <a:srgbClr val="FF0000"/>
            </a:solidFill>
            <a:prstDash val="solid"/>
            <a:miter/>
            <a:headEnd type="none" w="med" len="med"/>
            <a:tailEnd type="none" w="med" len="med"/>
          </a:ln>
        </p:spPr>
      </p:cxnSp>
      <p:pic>
        <p:nvPicPr>
          <p:cNvPr id="41989" name="图片 6"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Left)">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3"/>
          <p:cNvSpPr>
            <a:spLocks noGrp="1"/>
          </p:cNvSpPr>
          <p:nvPr>
            <p:ph idx="1"/>
          </p:nvPr>
        </p:nvSpPr>
        <p:spPr>
          <a:xfrm>
            <a:off x="214313" y="404813"/>
            <a:ext cx="8715375" cy="6786562"/>
          </a:xfrm>
        </p:spPr>
        <p:txBody>
          <a:bodyPr vert="horz" wrap="square" lIns="91440" tIns="45720" rIns="91440" bIns="45720" anchor="t" anchorCtr="0"/>
          <a:p>
            <a:pPr>
              <a:lnSpc>
                <a:spcPts val="2900"/>
              </a:lnSpc>
              <a:buFont typeface="Wingdings" panose="05000000000000000000" pitchFamily="2" charset="2"/>
              <a:buNone/>
            </a:pPr>
            <a:r>
              <a:rPr kumimoji="1" lang="en-US" altLang="zh-CN" sz="2600" spc="100" dirty="0">
                <a:cs typeface="+mn-cs"/>
              </a:rPr>
              <a:t>#include &lt;stdio.h&gt;</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#define SUM 100000</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int main()</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float amount,aver,total;   int i;</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for (i=1,total=0;i&lt;=</a:t>
            </a:r>
            <a:r>
              <a:rPr kumimoji="1" lang="en-US" altLang="zh-CN" sz="2600" spc="100" dirty="0">
                <a:solidFill>
                  <a:srgbClr val="9D138D"/>
                </a:solidFill>
                <a:cs typeface="+mn-cs"/>
              </a:rPr>
              <a:t>1000</a:t>
            </a:r>
            <a:r>
              <a:rPr kumimoji="1" lang="en-US" altLang="zh-CN" sz="2600" spc="100" dirty="0">
                <a:cs typeface="+mn-cs"/>
              </a:rPr>
              <a:t>;i++)                      </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     printf("please enter amount:");</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scanf("%f",&amp;amount);</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total= total+amount;                         </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if (total&gt;=SUM)</a:t>
            </a:r>
            <a:r>
              <a:rPr kumimoji="1" lang="en-US" altLang="zh-CN" sz="2600" spc="100" dirty="0">
                <a:solidFill>
                  <a:srgbClr val="235A67"/>
                </a:solidFill>
                <a:cs typeface="+mn-cs"/>
              </a:rPr>
              <a:t> break</a:t>
            </a:r>
            <a:r>
              <a:rPr kumimoji="1" lang="en-US" altLang="zh-CN" sz="2600" spc="100" dirty="0">
                <a:cs typeface="+mn-cs"/>
              </a:rPr>
              <a:t>;                                </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aver=total / i ;               </a:t>
            </a:r>
            <a:endParaRPr kumimoji="1" lang="en-US" altLang="zh-CN" sz="2600" spc="100" dirty="0">
              <a:cs typeface="+mn-cs"/>
            </a:endParaRPr>
          </a:p>
          <a:p>
            <a:pPr>
              <a:lnSpc>
                <a:spcPts val="2900"/>
              </a:lnSpc>
              <a:buFont typeface="Wingdings" panose="05000000000000000000" pitchFamily="2" charset="2"/>
              <a:buNone/>
            </a:pPr>
            <a:r>
              <a:rPr kumimoji="1" lang="en-US" altLang="zh-CN" sz="2600" spc="100" dirty="0">
                <a:cs typeface="+mn-cs"/>
              </a:rPr>
              <a:t>     printf(“num=%d\naver=%10.2f\n”,i,aver);              </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     return 0;</a:t>
            </a:r>
            <a:endParaRPr kumimoji="1" lang="zh-CN" altLang="zh-CN" sz="2600" spc="100" dirty="0">
              <a:cs typeface="+mn-cs"/>
            </a:endParaRPr>
          </a:p>
          <a:p>
            <a:pPr>
              <a:lnSpc>
                <a:spcPts val="2900"/>
              </a:lnSpc>
              <a:buFont typeface="Wingdings" panose="05000000000000000000" pitchFamily="2" charset="2"/>
              <a:buNone/>
            </a:pPr>
            <a:r>
              <a:rPr kumimoji="1" lang="en-US" altLang="zh-CN" sz="2600" spc="100" dirty="0">
                <a:cs typeface="+mn-cs"/>
              </a:rPr>
              <a:t>}</a:t>
            </a:r>
            <a:endParaRPr kumimoji="1" lang="zh-CN" altLang="zh-CN" sz="2600" spc="100" dirty="0">
              <a:cs typeface="+mn-cs"/>
            </a:endParaRPr>
          </a:p>
        </p:txBody>
      </p:sp>
      <p:sp>
        <p:nvSpPr>
          <p:cNvPr id="5" name="TextBox 4"/>
          <p:cNvSpPr txBox="1"/>
          <p:nvPr/>
        </p:nvSpPr>
        <p:spPr>
          <a:xfrm>
            <a:off x="2915603" y="4437063"/>
            <a:ext cx="2714625"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实际捐款人数</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sp>
        <p:nvSpPr>
          <p:cNvPr id="7" name="矩形 6"/>
          <p:cNvSpPr/>
          <p:nvPr/>
        </p:nvSpPr>
        <p:spPr>
          <a:xfrm>
            <a:off x="2463800" y="4869180"/>
            <a:ext cx="271780" cy="44640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50178" name="Picture 2"/>
          <p:cNvPicPr>
            <a:picLocks noChangeAspect="1"/>
          </p:cNvPicPr>
          <p:nvPr/>
        </p:nvPicPr>
        <p:blipFill>
          <a:blip r:embed="rId1"/>
          <a:stretch>
            <a:fillRect/>
          </a:stretch>
        </p:blipFill>
        <p:spPr>
          <a:xfrm>
            <a:off x="4733925" y="0"/>
            <a:ext cx="4410075" cy="3000375"/>
          </a:xfrm>
          <a:prstGeom prst="rect">
            <a:avLst/>
          </a:prstGeom>
          <a:noFill/>
          <a:ln w="9525">
            <a:noFill/>
          </a:ln>
        </p:spPr>
      </p:pic>
      <p:pic>
        <p:nvPicPr>
          <p:cNvPr id="43014" name="图片 5" descr="Untitled2.png">
            <a:hlinkClick r:id="rId2" action="ppaction://hlinksldjump"/>
          </p:cNvPr>
          <p:cNvPicPr>
            <a:picLocks noChangeAspect="1"/>
          </p:cNvPicPr>
          <p:nvPr/>
        </p:nvPicPr>
        <p:blipFill>
          <a:blip r:embed="rId3"/>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0178"/>
                                        </p:tgtEl>
                                        <p:attrNameLst>
                                          <p:attrName>style.visibility</p:attrName>
                                        </p:attrNameLst>
                                      </p:cBhvr>
                                      <p:to>
                                        <p:strVal val="visible"/>
                                      </p:to>
                                    </p:set>
                                    <p:animEffect transition="in" filter="blinds(horizontal)">
                                      <p:cBhvr>
                                        <p:cTn id="16" dur="5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p:cNvSpPr>
            <a:spLocks noGrp="1"/>
          </p:cNvSpPr>
          <p:nvPr>
            <p:ph idx="1"/>
          </p:nvPr>
        </p:nvSpPr>
        <p:spPr>
          <a:xfrm>
            <a:off x="214313" y="332423"/>
            <a:ext cx="8715375" cy="6786562"/>
          </a:xfrm>
        </p:spPr>
        <p:txBody>
          <a:bodyPr vert="horz" wrap="square" lIns="91440" tIns="45720" rIns="91440" bIns="45720" anchor="t" anchorCtr="0"/>
          <a:p>
            <a:pPr>
              <a:lnSpc>
                <a:spcPts val="2900"/>
              </a:lnSpc>
              <a:buFont typeface="Wingdings" panose="05000000000000000000" pitchFamily="2" charset="2"/>
              <a:buNone/>
            </a:pPr>
            <a:r>
              <a:rPr kumimoji="1" lang="en-US" altLang="zh-CN" sz="2600" dirty="0">
                <a:cs typeface="+mn-cs"/>
              </a:rPr>
              <a:t>#include &lt;stdio.h&gt;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#define SUM 100000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int main()</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float amount,aver,total;   int i;</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for (i=1,total=0;i&lt;=</a:t>
            </a:r>
            <a:r>
              <a:rPr kumimoji="1" lang="en-US" altLang="zh-CN" sz="2600" dirty="0">
                <a:solidFill>
                  <a:srgbClr val="9D138D"/>
                </a:solidFill>
                <a:cs typeface="+mn-cs"/>
              </a:rPr>
              <a:t>1000</a:t>
            </a:r>
            <a:r>
              <a:rPr kumimoji="1" lang="en-US" altLang="zh-CN" sz="2600" dirty="0">
                <a:cs typeface="+mn-cs"/>
              </a:rPr>
              <a:t>;i++)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     printf("please enter 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scanf("%f",&amp;amount);</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total= total+amount;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if (total&gt;=SUM) </a:t>
            </a:r>
            <a:r>
              <a:rPr kumimoji="1" lang="en-US" altLang="zh-CN" sz="2600" dirty="0">
                <a:solidFill>
                  <a:srgbClr val="235A67"/>
                </a:solidFill>
                <a:cs typeface="+mn-cs"/>
              </a:rPr>
              <a:t>break</a:t>
            </a: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aver=total / i ;  printf(“num=%d\naver=%10.2f\n”,i,aver);              </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     return 0;</a:t>
            </a:r>
            <a:endParaRPr kumimoji="1" lang="zh-CN" altLang="zh-CN" sz="2600" dirty="0">
              <a:cs typeface="+mn-cs"/>
            </a:endParaRPr>
          </a:p>
          <a:p>
            <a:pPr>
              <a:lnSpc>
                <a:spcPts val="2900"/>
              </a:lnSpc>
              <a:buFont typeface="Wingdings" panose="05000000000000000000" pitchFamily="2" charset="2"/>
              <a:buNone/>
            </a:pPr>
            <a:r>
              <a:rPr kumimoji="1" lang="en-US" altLang="zh-CN" sz="2600" dirty="0">
                <a:cs typeface="+mn-cs"/>
              </a:rPr>
              <a:t>}</a:t>
            </a:r>
            <a:endParaRPr kumimoji="1" lang="zh-CN" altLang="zh-CN" sz="2600" dirty="0">
              <a:cs typeface="+mn-cs"/>
            </a:endParaRPr>
          </a:p>
        </p:txBody>
      </p:sp>
      <p:sp>
        <p:nvSpPr>
          <p:cNvPr id="5" name="TextBox 4"/>
          <p:cNvSpPr txBox="1"/>
          <p:nvPr/>
        </p:nvSpPr>
        <p:spPr>
          <a:xfrm>
            <a:off x="4644390" y="3501390"/>
            <a:ext cx="4386580" cy="891540"/>
          </a:xfrm>
          <a:prstGeom prst="rect">
            <a:avLst/>
          </a:prstGeom>
          <a:solidFill>
            <a:srgbClr val="FFCCFF"/>
          </a:solid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只能用于循环语句和</a:t>
            </a:r>
            <a:r>
              <a:rPr lang="en-US" altLang="zh-CN" sz="2600" dirty="0">
                <a:solidFill>
                  <a:srgbClr val="4545AB"/>
                </a:solidFill>
                <a:latin typeface="Times New Roman" panose="02020603050405020304" pitchFamily="18" charset="0"/>
                <a:ea typeface="微软雅黑" panose="020B0503020204020204" pitchFamily="34" charset="-122"/>
              </a:rPr>
              <a:t>switch</a:t>
            </a:r>
            <a:endParaRPr lang="en-US" altLang="zh-CN" sz="2600" dirty="0">
              <a:solidFill>
                <a:srgbClr val="4545AB"/>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语句之中，而不能</a:t>
            </a:r>
            <a:r>
              <a:rPr lang="zh-CN" altLang="en-US" sz="2600" dirty="0">
                <a:solidFill>
                  <a:srgbClr val="4545AB"/>
                </a:solidFill>
                <a:latin typeface="Times New Roman" panose="02020603050405020304" pitchFamily="18" charset="0"/>
                <a:ea typeface="微软雅黑" panose="020B0503020204020204" pitchFamily="34" charset="-122"/>
              </a:rPr>
              <a:t>单独</a:t>
            </a:r>
            <a:r>
              <a:rPr lang="zh-CN" altLang="zh-CN" sz="2600" dirty="0">
                <a:solidFill>
                  <a:srgbClr val="4545AB"/>
                </a:solidFill>
                <a:latin typeface="Times New Roman" panose="02020603050405020304" pitchFamily="18" charset="0"/>
                <a:ea typeface="微软雅黑" panose="020B0503020204020204" pitchFamily="34" charset="-122"/>
              </a:rPr>
              <a:t>使用</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sp>
        <p:nvSpPr>
          <p:cNvPr id="7" name="矩形 6"/>
          <p:cNvSpPr/>
          <p:nvPr/>
        </p:nvSpPr>
        <p:spPr>
          <a:xfrm>
            <a:off x="3505200" y="3861435"/>
            <a:ext cx="826770"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44037" name="图片 5"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Rectangle 3"/>
          <p:cNvSpPr>
            <a:spLocks noGrp="1"/>
          </p:cNvSpPr>
          <p:nvPr>
            <p:ph idx="1"/>
          </p:nvPr>
        </p:nvSpPr>
        <p:spPr>
          <a:xfrm>
            <a:off x="323215" y="1268730"/>
            <a:ext cx="8458200" cy="2214245"/>
          </a:xfrm>
        </p:spPr>
        <p:txBody>
          <a:bodyPr vert="horz" wrap="square" lIns="91440" tIns="45720" rIns="91440" bIns="45720" anchor="t" anchorCtr="0"/>
          <a:p>
            <a:r>
              <a:rPr kumimoji="1" lang="zh-CN" altLang="zh-CN" sz="2600" dirty="0">
                <a:cs typeface="+mn-cs"/>
              </a:rPr>
              <a:t>有时并不希望终止整个循环的操作，而只希望提前结束本次循环，而接着执行下次循环。这时可以用</a:t>
            </a:r>
            <a:r>
              <a:rPr kumimoji="1" lang="en-US" altLang="zh-CN" sz="2600" dirty="0">
                <a:cs typeface="+mn-cs"/>
              </a:rPr>
              <a:t>continue</a:t>
            </a:r>
            <a:r>
              <a:rPr kumimoji="1" lang="zh-CN" altLang="zh-CN" sz="2600" dirty="0">
                <a:cs typeface="+mn-cs"/>
              </a:rPr>
              <a:t>语句</a:t>
            </a:r>
            <a:endParaRPr kumimoji="1" lang="en-US" altLang="zh-CN" sz="2600" dirty="0">
              <a:cs typeface="+mn-cs"/>
            </a:endParaRPr>
          </a:p>
        </p:txBody>
      </p:sp>
      <p:pic>
        <p:nvPicPr>
          <p:cNvPr id="45060"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noProof="0" dirty="0" smtClean="0">
                <a:ln>
                  <a:noFill/>
                </a:ln>
                <a:uLnTx/>
                <a:sym typeface="+mn-ea"/>
              </a:rPr>
              <a:t>5.7.2 </a:t>
            </a:r>
            <a:r>
              <a:rPr lang="zh-CN" altLang="zh-CN" noProof="0" dirty="0" smtClean="0">
                <a:ln>
                  <a:noFill/>
                </a:ln>
                <a:uLnTx/>
                <a:sym typeface="+mn-ea"/>
              </a:rPr>
              <a:t>用</a:t>
            </a:r>
            <a:r>
              <a:rPr lang="en-US" altLang="zh-CN" noProof="0" dirty="0" smtClean="0">
                <a:ln>
                  <a:noFill/>
                </a:ln>
                <a:uLnTx/>
                <a:sym typeface="+mn-ea"/>
              </a:rPr>
              <a:t>continue</a:t>
            </a:r>
            <a:r>
              <a:rPr lang="zh-CN" altLang="zh-CN" noProof="0" dirty="0" smtClean="0">
                <a:ln>
                  <a:noFill/>
                </a:ln>
                <a:uLnTx/>
                <a:sym typeface="+mn-ea"/>
              </a:rPr>
              <a:t>语句提前结束本次循环</a:t>
            </a:r>
            <a:endParaRPr lang="zh-CN" altLang="zh-CN" dirty="0">
              <a:solidFill>
                <a:srgbClr val="235A67"/>
              </a:solidFill>
            </a:endParaRPr>
          </a:p>
        </p:txBody>
      </p:sp>
    </p:spTree>
  </p:cSld>
  <p:clrMapOvr>
    <a:masterClrMapping/>
  </p:clrMapOvr>
  <p:transition spd="med">
    <p:blinds/>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Rectangle 3"/>
          <p:cNvSpPr>
            <a:spLocks noGrp="1"/>
          </p:cNvSpPr>
          <p:nvPr>
            <p:ph idx="1"/>
          </p:nvPr>
        </p:nvSpPr>
        <p:spPr>
          <a:xfrm>
            <a:off x="251460" y="1193800"/>
            <a:ext cx="8647430" cy="4643755"/>
          </a:xfrm>
        </p:spPr>
        <p:txBody>
          <a:bodyPr vert="horz" wrap="square" lIns="91440" tIns="45720" rIns="91440" bIns="45720" anchor="t" anchorCtr="0"/>
          <a:p>
            <a:pPr>
              <a:lnSpc>
                <a:spcPct val="140000"/>
              </a:lnSpc>
              <a:buFont typeface="Wingdings" panose="05000000000000000000" pitchFamily="2" charset="2"/>
              <a:buNone/>
            </a:pPr>
            <a:r>
              <a:rPr kumimoji="1" lang="en-US" altLang="zh-CN" dirty="0">
                <a:cs typeface="+mn-cs"/>
              </a:rPr>
              <a:t> </a:t>
            </a:r>
            <a:r>
              <a:rPr kumimoji="1" lang="zh-CN" altLang="zh-CN" dirty="0">
                <a:solidFill>
                  <a:srgbClr val="0000CC"/>
                </a:solidFill>
                <a:cs typeface="+mn-cs"/>
              </a:rPr>
              <a:t>例</a:t>
            </a:r>
            <a:r>
              <a:rPr kumimoji="1" lang="en-US" altLang="zh-CN" dirty="0">
                <a:solidFill>
                  <a:srgbClr val="0000CC"/>
                </a:solidFill>
                <a:cs typeface="+mn-cs"/>
              </a:rPr>
              <a:t>5.5 </a:t>
            </a:r>
            <a:r>
              <a:rPr kumimoji="1" lang="zh-CN" altLang="zh-CN" spc="100" dirty="0">
                <a:solidFill>
                  <a:schemeClr val="tx1"/>
                </a:solidFill>
                <a:uFillTx/>
                <a:cs typeface="+mn-cs"/>
              </a:rPr>
              <a:t>要求输出</a:t>
            </a:r>
            <a:r>
              <a:rPr kumimoji="1" lang="en-US" altLang="zh-CN" spc="100" dirty="0">
                <a:solidFill>
                  <a:schemeClr val="tx1"/>
                </a:solidFill>
                <a:uFillTx/>
                <a:cs typeface="+mn-cs"/>
              </a:rPr>
              <a:t>100</a:t>
            </a:r>
            <a:r>
              <a:rPr kumimoji="1" lang="zh-CN" altLang="zh-CN" spc="100" dirty="0">
                <a:solidFill>
                  <a:schemeClr val="tx1"/>
                </a:solidFill>
                <a:uFillTx/>
                <a:cs typeface="+mn-cs"/>
              </a:rPr>
              <a:t>～</a:t>
            </a:r>
            <a:r>
              <a:rPr kumimoji="1" lang="en-US" altLang="zh-CN" spc="100" dirty="0">
                <a:solidFill>
                  <a:schemeClr val="tx1"/>
                </a:solidFill>
                <a:uFillTx/>
                <a:cs typeface="+mn-cs"/>
              </a:rPr>
              <a:t>200</a:t>
            </a:r>
            <a:r>
              <a:rPr kumimoji="1" lang="zh-CN" altLang="zh-CN" spc="100" dirty="0">
                <a:solidFill>
                  <a:schemeClr val="tx1"/>
                </a:solidFill>
                <a:uFillTx/>
                <a:cs typeface="+mn-cs"/>
              </a:rPr>
              <a:t>之间的不能被</a:t>
            </a:r>
            <a:r>
              <a:rPr kumimoji="1" lang="en-US" altLang="zh-CN" spc="100" dirty="0">
                <a:solidFill>
                  <a:schemeClr val="tx1"/>
                </a:solidFill>
                <a:uFillTx/>
                <a:cs typeface="+mn-cs"/>
              </a:rPr>
              <a:t>3</a:t>
            </a:r>
            <a:r>
              <a:rPr kumimoji="1" lang="zh-CN" altLang="zh-CN" spc="100" dirty="0">
                <a:solidFill>
                  <a:schemeClr val="tx1"/>
                </a:solidFill>
                <a:uFillTx/>
                <a:cs typeface="+mn-cs"/>
              </a:rPr>
              <a:t>整除的数。</a:t>
            </a:r>
            <a:endParaRPr kumimoji="1" lang="en-US" altLang="zh-CN" spc="100" dirty="0">
              <a:solidFill>
                <a:schemeClr val="tx1"/>
              </a:solidFill>
              <a:uFillTx/>
              <a:cs typeface="+mn-cs"/>
            </a:endParaRPr>
          </a:p>
          <a:p>
            <a:pPr>
              <a:lnSpc>
                <a:spcPct val="140000"/>
              </a:lnSpc>
            </a:pPr>
            <a:r>
              <a:rPr kumimoji="1" lang="zh-CN" altLang="zh-CN" spc="100" dirty="0">
                <a:solidFill>
                  <a:srgbClr val="235A67"/>
                </a:solidFill>
                <a:uFillTx/>
                <a:cs typeface="+mn-cs"/>
              </a:rPr>
              <a:t>编程思路：</a:t>
            </a:r>
            <a:endParaRPr kumimoji="1" lang="en-US" altLang="zh-CN" spc="100" dirty="0">
              <a:solidFill>
                <a:srgbClr val="235A67"/>
              </a:solidFill>
              <a:uFillTx/>
              <a:cs typeface="+mn-cs"/>
            </a:endParaRPr>
          </a:p>
          <a:p>
            <a:pPr lvl="1">
              <a:lnSpc>
                <a:spcPct val="140000"/>
              </a:lnSpc>
            </a:pPr>
            <a:r>
              <a:rPr kumimoji="1" lang="zh-CN" altLang="zh-CN" sz="2600" spc="100" dirty="0">
                <a:solidFill>
                  <a:srgbClr val="235A67"/>
                </a:solidFill>
                <a:uFillTx/>
              </a:rPr>
              <a:t>对</a:t>
            </a:r>
            <a:r>
              <a:rPr kumimoji="1" lang="en-US" altLang="zh-CN" sz="2600" spc="100" dirty="0">
                <a:solidFill>
                  <a:srgbClr val="235A67"/>
                </a:solidFill>
                <a:uFillTx/>
              </a:rPr>
              <a:t>100</a:t>
            </a:r>
            <a:r>
              <a:rPr kumimoji="1" lang="zh-CN" altLang="zh-CN" sz="2600" spc="100" dirty="0">
                <a:solidFill>
                  <a:srgbClr val="235A67"/>
                </a:solidFill>
                <a:uFillTx/>
              </a:rPr>
              <a:t>到</a:t>
            </a:r>
            <a:r>
              <a:rPr kumimoji="1" lang="en-US" altLang="zh-CN" sz="2600" spc="100" dirty="0">
                <a:solidFill>
                  <a:srgbClr val="235A67"/>
                </a:solidFill>
                <a:uFillTx/>
              </a:rPr>
              <a:t>200</a:t>
            </a:r>
            <a:r>
              <a:rPr kumimoji="1" lang="zh-CN" altLang="zh-CN" sz="2600" spc="100" dirty="0">
                <a:solidFill>
                  <a:srgbClr val="235A67"/>
                </a:solidFill>
                <a:uFillTx/>
              </a:rPr>
              <a:t>之间的每一个整数进行检查</a:t>
            </a:r>
            <a:endParaRPr kumimoji="1" lang="en-US" altLang="zh-CN" sz="2600" spc="100" dirty="0">
              <a:solidFill>
                <a:srgbClr val="235A67"/>
              </a:solidFill>
              <a:uFillTx/>
            </a:endParaRPr>
          </a:p>
          <a:p>
            <a:pPr lvl="1">
              <a:lnSpc>
                <a:spcPct val="140000"/>
              </a:lnSpc>
            </a:pPr>
            <a:r>
              <a:rPr kumimoji="1" lang="zh-CN" altLang="zh-CN" sz="2600" spc="100" dirty="0">
                <a:solidFill>
                  <a:srgbClr val="235A67"/>
                </a:solidFill>
                <a:uFillTx/>
              </a:rPr>
              <a:t>如果不能被</a:t>
            </a:r>
            <a:r>
              <a:rPr kumimoji="1" lang="en-US" altLang="zh-CN" sz="2600" spc="100" dirty="0">
                <a:solidFill>
                  <a:srgbClr val="235A67"/>
                </a:solidFill>
                <a:uFillTx/>
              </a:rPr>
              <a:t>3</a:t>
            </a:r>
            <a:r>
              <a:rPr kumimoji="1" lang="zh-CN" altLang="zh-CN" sz="2600" spc="100" dirty="0">
                <a:solidFill>
                  <a:srgbClr val="235A67"/>
                </a:solidFill>
                <a:uFillTx/>
              </a:rPr>
              <a:t>整除，输出，</a:t>
            </a:r>
            <a:r>
              <a:rPr kumimoji="1" lang="zh-CN" altLang="en-US" sz="2600" spc="100" dirty="0">
                <a:solidFill>
                  <a:srgbClr val="235A67"/>
                </a:solidFill>
                <a:uFillTx/>
              </a:rPr>
              <a:t>否则</a:t>
            </a:r>
            <a:r>
              <a:rPr kumimoji="1" lang="zh-CN" altLang="zh-CN" sz="2600" spc="100" dirty="0">
                <a:solidFill>
                  <a:srgbClr val="235A67"/>
                </a:solidFill>
                <a:uFillTx/>
              </a:rPr>
              <a:t>不输出</a:t>
            </a:r>
            <a:endParaRPr kumimoji="1" lang="en-US" altLang="zh-CN" sz="2600" spc="100" dirty="0">
              <a:solidFill>
                <a:srgbClr val="235A67"/>
              </a:solidFill>
              <a:uFillTx/>
            </a:endParaRPr>
          </a:p>
          <a:p>
            <a:pPr lvl="1">
              <a:lnSpc>
                <a:spcPct val="140000"/>
              </a:lnSpc>
            </a:pPr>
            <a:r>
              <a:rPr kumimoji="1" lang="zh-CN" altLang="zh-CN" sz="2600" spc="100" dirty="0">
                <a:solidFill>
                  <a:srgbClr val="235A67"/>
                </a:solidFill>
                <a:uFillTx/>
              </a:rPr>
              <a:t>无论是否输出此数，都要接着检查下一个数</a:t>
            </a:r>
            <a:r>
              <a:rPr kumimoji="1" lang="en-US" altLang="zh-CN" sz="2600" spc="100" dirty="0">
                <a:solidFill>
                  <a:srgbClr val="235A67"/>
                </a:solidFill>
                <a:uFillTx/>
              </a:rPr>
              <a:t>(</a:t>
            </a:r>
            <a:r>
              <a:rPr kumimoji="1" lang="zh-CN" altLang="zh-CN" sz="2600" spc="100" dirty="0">
                <a:solidFill>
                  <a:srgbClr val="235A67"/>
                </a:solidFill>
                <a:uFillTx/>
              </a:rPr>
              <a:t>直到</a:t>
            </a:r>
            <a:r>
              <a:rPr kumimoji="1" lang="en-US" altLang="zh-CN" sz="2600" spc="100" dirty="0">
                <a:solidFill>
                  <a:srgbClr val="235A67"/>
                </a:solidFill>
                <a:uFillTx/>
              </a:rPr>
              <a:t>200</a:t>
            </a:r>
            <a:r>
              <a:rPr kumimoji="1" lang="zh-CN" altLang="zh-CN" sz="2600" spc="100" dirty="0">
                <a:solidFill>
                  <a:srgbClr val="235A67"/>
                </a:solidFill>
                <a:uFillTx/>
              </a:rPr>
              <a:t>为止</a:t>
            </a:r>
            <a:r>
              <a:rPr kumimoji="1" lang="en-US" altLang="zh-CN" sz="2600" spc="100" dirty="0">
                <a:solidFill>
                  <a:srgbClr val="235A67"/>
                </a:solidFill>
                <a:uFillTx/>
              </a:rPr>
              <a:t>)</a:t>
            </a:r>
            <a:r>
              <a:rPr kumimoji="1" lang="zh-CN" altLang="zh-CN" sz="2600" spc="100" dirty="0">
                <a:solidFill>
                  <a:srgbClr val="235A67"/>
                </a:solidFill>
                <a:uFillTx/>
              </a:rPr>
              <a:t>。</a:t>
            </a:r>
            <a:endParaRPr kumimoji="1" lang="zh-CN" altLang="zh-CN" sz="2600" spc="100" dirty="0">
              <a:solidFill>
                <a:srgbClr val="235A67"/>
              </a:solidFill>
              <a:uFillTx/>
            </a:endParaRPr>
          </a:p>
        </p:txBody>
      </p:sp>
      <p:pic>
        <p:nvPicPr>
          <p:cNvPr id="46084"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noProof="0" dirty="0" smtClean="0">
                <a:ln>
                  <a:noFill/>
                </a:ln>
                <a:uLnTx/>
                <a:sym typeface="+mn-ea"/>
              </a:rPr>
              <a:t>5.7.2 </a:t>
            </a:r>
            <a:r>
              <a:rPr lang="zh-CN" altLang="zh-CN" noProof="0" dirty="0" smtClean="0">
                <a:ln>
                  <a:noFill/>
                </a:ln>
                <a:uLnTx/>
                <a:sym typeface="+mn-ea"/>
              </a:rPr>
              <a:t>用</a:t>
            </a:r>
            <a:r>
              <a:rPr lang="en-US" altLang="zh-CN" noProof="0" dirty="0" smtClean="0">
                <a:ln>
                  <a:noFill/>
                </a:ln>
                <a:uLnTx/>
                <a:sym typeface="+mn-ea"/>
              </a:rPr>
              <a:t>continue</a:t>
            </a:r>
            <a:r>
              <a:rPr lang="zh-CN" altLang="zh-CN" noProof="0" dirty="0" smtClean="0">
                <a:ln>
                  <a:noFill/>
                </a:ln>
                <a:uLnTx/>
                <a:sym typeface="+mn-ea"/>
              </a:rPr>
              <a:t>语句提前结束本次循环</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linds(horizontal)">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blinds(horizontal)">
                                      <p:cBhvr>
                                        <p:cTn id="12" dur="500"/>
                                        <p:tgtEl>
                                          <p:spTgt spid="4710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animEffect transition="in" filter="blinds(horizontal)">
                                      <p:cBhvr>
                                        <p:cTn id="15" dur="500"/>
                                        <p:tgtEl>
                                          <p:spTgt spid="4710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7107">
                                            <p:txEl>
                                              <p:pRg st="3" end="3"/>
                                            </p:txEl>
                                          </p:spTgt>
                                        </p:tgtEl>
                                        <p:attrNameLst>
                                          <p:attrName>style.visibility</p:attrName>
                                        </p:attrNameLst>
                                      </p:cBhvr>
                                      <p:to>
                                        <p:strVal val="visible"/>
                                      </p:to>
                                    </p:set>
                                    <p:animEffect transition="in" filter="blinds(horizontal)">
                                      <p:cBhvr>
                                        <p:cTn id="18" dur="500"/>
                                        <p:tgtEl>
                                          <p:spTgt spid="4710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7107">
                                            <p:txEl>
                                              <p:pRg st="4" end="4"/>
                                            </p:txEl>
                                          </p:spTgt>
                                        </p:tgtEl>
                                        <p:attrNameLst>
                                          <p:attrName>style.visibility</p:attrName>
                                        </p:attrNameLst>
                                      </p:cBhvr>
                                      <p:to>
                                        <p:strVal val="visible"/>
                                      </p:to>
                                    </p:set>
                                    <p:animEffect transition="in" filter="blinds(horizontal)">
                                      <p:cBhvr>
                                        <p:cTn id="21" dur="500"/>
                                        <p:tgtEl>
                                          <p:spTgt spid="47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Box 6"/>
          <p:cNvSpPr txBox="1"/>
          <p:nvPr/>
        </p:nvSpPr>
        <p:spPr>
          <a:xfrm>
            <a:off x="3857625" y="2476500"/>
            <a:ext cx="500063"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endParaRPr lang="en-US" altLang="zh-CN" sz="2800" dirty="0">
              <a:latin typeface="Times New Roman" panose="02020603050405020304" pitchFamily="18" charset="0"/>
              <a:ea typeface="微软雅黑" panose="020B0503020204020204" pitchFamily="34" charset="-122"/>
            </a:endParaRPr>
          </a:p>
        </p:txBody>
      </p:sp>
      <p:cxnSp>
        <p:nvCxnSpPr>
          <p:cNvPr id="12" name="直接箭头连接符 11"/>
          <p:cNvCxnSpPr/>
          <p:nvPr/>
        </p:nvCxnSpPr>
        <p:spPr>
          <a:xfrm rot="-5400000" flipH="1">
            <a:off x="2286000" y="6572250"/>
            <a:ext cx="428625" cy="0"/>
          </a:xfrm>
          <a:prstGeom prst="straightConnector1">
            <a:avLst/>
          </a:prstGeom>
          <a:ln w="38100" cap="flat" cmpd="sng">
            <a:solidFill>
              <a:schemeClr val="tx1"/>
            </a:solidFill>
            <a:prstDash val="solid"/>
            <a:miter/>
            <a:headEnd type="none" w="med" len="med"/>
            <a:tailEnd type="arrow" w="med" len="med"/>
          </a:ln>
        </p:spPr>
      </p:cxnSp>
      <p:cxnSp>
        <p:nvCxnSpPr>
          <p:cNvPr id="14" name="直接箭头连接符 13"/>
          <p:cNvCxnSpPr/>
          <p:nvPr/>
        </p:nvCxnSpPr>
        <p:spPr>
          <a:xfrm>
            <a:off x="142875" y="1928813"/>
            <a:ext cx="2438400" cy="1587"/>
          </a:xfrm>
          <a:prstGeom prst="straightConnector1">
            <a:avLst/>
          </a:prstGeom>
          <a:ln w="38100" cap="flat" cmpd="sng">
            <a:solidFill>
              <a:schemeClr val="tx1"/>
            </a:solidFill>
            <a:prstDash val="solid"/>
            <a:miter/>
            <a:headEnd type="none" w="med" len="med"/>
            <a:tailEnd type="arrow" w="med" len="med"/>
          </a:ln>
        </p:spPr>
      </p:cxnSp>
      <p:cxnSp>
        <p:nvCxnSpPr>
          <p:cNvPr id="20" name="直接连接符 19"/>
          <p:cNvCxnSpPr/>
          <p:nvPr/>
        </p:nvCxnSpPr>
        <p:spPr>
          <a:xfrm rot="5400000">
            <a:off x="3429000" y="4429125"/>
            <a:ext cx="3857625" cy="0"/>
          </a:xfrm>
          <a:prstGeom prst="line">
            <a:avLst/>
          </a:prstGeom>
          <a:ln w="38100" cap="flat" cmpd="sng">
            <a:solidFill>
              <a:schemeClr val="tx1"/>
            </a:solidFill>
            <a:prstDash val="solid"/>
            <a:miter/>
            <a:headEnd type="none" w="med" len="med"/>
            <a:tailEnd type="none" w="med" len="med"/>
          </a:ln>
        </p:spPr>
      </p:cxnSp>
      <p:cxnSp>
        <p:nvCxnSpPr>
          <p:cNvPr id="21" name="直接连接符 20"/>
          <p:cNvCxnSpPr/>
          <p:nvPr/>
        </p:nvCxnSpPr>
        <p:spPr>
          <a:xfrm rot="-10800000" flipV="1">
            <a:off x="2500313" y="6357938"/>
            <a:ext cx="2857500" cy="0"/>
          </a:xfrm>
          <a:prstGeom prst="line">
            <a:avLst/>
          </a:prstGeom>
          <a:ln w="38100" cap="flat" cmpd="sng">
            <a:solidFill>
              <a:schemeClr val="tx1"/>
            </a:solidFill>
            <a:prstDash val="solid"/>
            <a:miter/>
            <a:headEnd type="none" w="med" len="med"/>
            <a:tailEnd type="none" w="med" len="med"/>
          </a:ln>
        </p:spPr>
      </p:cxnSp>
      <p:cxnSp>
        <p:nvCxnSpPr>
          <p:cNvPr id="22" name="直接连接符 21"/>
          <p:cNvCxnSpPr>
            <a:endCxn id="25" idx="3"/>
          </p:cNvCxnSpPr>
          <p:nvPr/>
        </p:nvCxnSpPr>
        <p:spPr>
          <a:xfrm rot="10800000">
            <a:off x="3954463" y="2500313"/>
            <a:ext cx="1423987" cy="12700"/>
          </a:xfrm>
          <a:prstGeom prst="line">
            <a:avLst/>
          </a:prstGeom>
          <a:ln w="38100" cap="flat" cmpd="sng">
            <a:solidFill>
              <a:schemeClr val="tx1"/>
            </a:solidFill>
            <a:prstDash val="solid"/>
            <a:miter/>
            <a:headEnd type="none" w="med" len="med"/>
            <a:tailEnd type="none" w="med" len="med"/>
          </a:ln>
        </p:spPr>
      </p:cxnSp>
      <p:sp>
        <p:nvSpPr>
          <p:cNvPr id="23" name="流程图: 过程 22"/>
          <p:cNvSpPr/>
          <p:nvPr/>
        </p:nvSpPr>
        <p:spPr>
          <a:xfrm>
            <a:off x="1811338" y="1285875"/>
            <a:ext cx="1463675" cy="500063"/>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n=100</a:t>
            </a:r>
            <a:endParaRPr lang="en-US" altLang="zh-CN" sz="2800" dirty="0">
              <a:latin typeface="Times New Roman" panose="02020603050405020304" pitchFamily="18" charset="0"/>
              <a:ea typeface="微软雅黑" panose="020B0503020204020204" pitchFamily="34" charset="-122"/>
            </a:endParaRPr>
          </a:p>
        </p:txBody>
      </p:sp>
      <p:cxnSp>
        <p:nvCxnSpPr>
          <p:cNvPr id="24" name="直接箭头连接符 23"/>
          <p:cNvCxnSpPr/>
          <p:nvPr/>
        </p:nvCxnSpPr>
        <p:spPr>
          <a:xfrm rot="-5400000" flipH="1">
            <a:off x="2320925" y="1071563"/>
            <a:ext cx="428625" cy="0"/>
          </a:xfrm>
          <a:prstGeom prst="straightConnector1">
            <a:avLst/>
          </a:prstGeom>
          <a:ln w="38100" cap="flat" cmpd="sng">
            <a:solidFill>
              <a:schemeClr val="tx1"/>
            </a:solidFill>
            <a:prstDash val="solid"/>
            <a:miter/>
            <a:headEnd type="none" w="med" len="med"/>
            <a:tailEnd type="arrow" w="med" len="med"/>
          </a:ln>
        </p:spPr>
      </p:cxnSp>
      <p:sp>
        <p:nvSpPr>
          <p:cNvPr id="25" name="流程图: 决策 24"/>
          <p:cNvSpPr/>
          <p:nvPr/>
        </p:nvSpPr>
        <p:spPr>
          <a:xfrm>
            <a:off x="1096963" y="2143125"/>
            <a:ext cx="2857500"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r>
              <a:rPr lang="zh-CN" altLang="zh-CN" sz="2800" dirty="0">
                <a:latin typeface="Times New Roman" panose="02020603050405020304" pitchFamily="18" charset="0"/>
                <a:ea typeface="微软雅黑" panose="020B0503020204020204" pitchFamily="34" charset="-122"/>
              </a:rPr>
              <a:t>≤</a:t>
            </a:r>
            <a:r>
              <a:rPr lang="en-US" altLang="zh-CN" sz="2800" dirty="0">
                <a:latin typeface="Times New Roman" panose="02020603050405020304" pitchFamily="18" charset="0"/>
                <a:ea typeface="微软雅黑" panose="020B0503020204020204" pitchFamily="34" charset="-122"/>
              </a:rPr>
              <a:t>200</a:t>
            </a:r>
            <a:endParaRPr lang="zh-CN" altLang="en-US" sz="2800" dirty="0">
              <a:latin typeface="Times New Roman" panose="02020603050405020304" pitchFamily="18" charset="0"/>
              <a:ea typeface="微软雅黑" panose="020B0503020204020204" pitchFamily="34" charset="-122"/>
            </a:endParaRPr>
          </a:p>
        </p:txBody>
      </p:sp>
      <p:cxnSp>
        <p:nvCxnSpPr>
          <p:cNvPr id="26" name="直接箭头连接符 25"/>
          <p:cNvCxnSpPr/>
          <p:nvPr/>
        </p:nvCxnSpPr>
        <p:spPr>
          <a:xfrm rot="-5400000" flipH="1">
            <a:off x="2311400" y="1974850"/>
            <a:ext cx="428625" cy="0"/>
          </a:xfrm>
          <a:prstGeom prst="straightConnector1">
            <a:avLst/>
          </a:prstGeom>
          <a:ln w="38100" cap="flat" cmpd="sng">
            <a:solidFill>
              <a:schemeClr val="tx1"/>
            </a:solidFill>
            <a:prstDash val="solid"/>
            <a:miter/>
            <a:headEnd type="none" w="med" len="med"/>
            <a:tailEnd type="arrow" w="med" len="med"/>
          </a:ln>
        </p:spPr>
      </p:cxnSp>
      <p:sp>
        <p:nvSpPr>
          <p:cNvPr id="27" name="TextBox 26"/>
          <p:cNvSpPr txBox="1"/>
          <p:nvPr/>
        </p:nvSpPr>
        <p:spPr>
          <a:xfrm>
            <a:off x="2597150" y="2786063"/>
            <a:ext cx="500063"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cxnSp>
        <p:nvCxnSpPr>
          <p:cNvPr id="28" name="直接箭头连接符 27"/>
          <p:cNvCxnSpPr/>
          <p:nvPr/>
        </p:nvCxnSpPr>
        <p:spPr>
          <a:xfrm rot="-5400000" flipH="1">
            <a:off x="2311400" y="3033713"/>
            <a:ext cx="428625" cy="0"/>
          </a:xfrm>
          <a:prstGeom prst="straightConnector1">
            <a:avLst/>
          </a:prstGeom>
          <a:ln w="38100" cap="flat" cmpd="sng">
            <a:solidFill>
              <a:schemeClr val="tx1"/>
            </a:solidFill>
            <a:prstDash val="solid"/>
            <a:miter/>
            <a:headEnd type="none" w="med" len="med"/>
            <a:tailEnd type="arrow" w="med" len="med"/>
          </a:ln>
        </p:spPr>
      </p:cxnSp>
      <p:sp>
        <p:nvSpPr>
          <p:cNvPr id="29" name="流程图: 决策 28"/>
          <p:cNvSpPr/>
          <p:nvPr/>
        </p:nvSpPr>
        <p:spPr>
          <a:xfrm>
            <a:off x="428625" y="3214688"/>
            <a:ext cx="4214813" cy="857250"/>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r>
              <a:rPr lang="zh-CN" altLang="en-US" sz="2800" dirty="0">
                <a:latin typeface="Times New Roman" panose="02020603050405020304" pitchFamily="18" charset="0"/>
                <a:ea typeface="微软雅黑" panose="020B0503020204020204" pitchFamily="34" charset="-122"/>
              </a:rPr>
              <a:t>能被</a:t>
            </a:r>
            <a:r>
              <a:rPr lang="en-US" altLang="zh-CN" sz="2800" dirty="0">
                <a:latin typeface="Times New Roman" panose="02020603050405020304" pitchFamily="18" charset="0"/>
                <a:ea typeface="微软雅黑" panose="020B0503020204020204" pitchFamily="34" charset="-122"/>
              </a:rPr>
              <a:t>3</a:t>
            </a:r>
            <a:r>
              <a:rPr lang="zh-CN" altLang="en-US" sz="2800" dirty="0">
                <a:latin typeface="Times New Roman" panose="02020603050405020304" pitchFamily="18" charset="0"/>
                <a:ea typeface="微软雅黑" panose="020B0503020204020204" pitchFamily="34" charset="-122"/>
              </a:rPr>
              <a:t>整除</a:t>
            </a:r>
            <a:endParaRPr lang="zh-CN" altLang="en-US" sz="2800" dirty="0">
              <a:latin typeface="Times New Roman" panose="02020603050405020304" pitchFamily="18" charset="0"/>
              <a:ea typeface="微软雅黑" panose="020B0503020204020204" pitchFamily="34" charset="-122"/>
            </a:endParaRPr>
          </a:p>
        </p:txBody>
      </p:sp>
      <p:sp>
        <p:nvSpPr>
          <p:cNvPr id="30" name="TextBox 29"/>
          <p:cNvSpPr txBox="1"/>
          <p:nvPr/>
        </p:nvSpPr>
        <p:spPr>
          <a:xfrm>
            <a:off x="2597150" y="4000500"/>
            <a:ext cx="500063"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endParaRPr lang="en-US" altLang="zh-CN" sz="2800" dirty="0">
              <a:latin typeface="Times New Roman" panose="02020603050405020304" pitchFamily="18" charset="0"/>
              <a:ea typeface="微软雅黑" panose="020B0503020204020204" pitchFamily="34" charset="-122"/>
            </a:endParaRPr>
          </a:p>
        </p:txBody>
      </p:sp>
      <p:cxnSp>
        <p:nvCxnSpPr>
          <p:cNvPr id="31" name="直接箭头连接符 30"/>
          <p:cNvCxnSpPr/>
          <p:nvPr/>
        </p:nvCxnSpPr>
        <p:spPr>
          <a:xfrm rot="-5400000" flipH="1">
            <a:off x="2311400" y="4286250"/>
            <a:ext cx="428625" cy="0"/>
          </a:xfrm>
          <a:prstGeom prst="straightConnector1">
            <a:avLst/>
          </a:prstGeom>
          <a:ln w="38100" cap="flat" cmpd="sng">
            <a:solidFill>
              <a:schemeClr val="tx1"/>
            </a:solidFill>
            <a:prstDash val="solid"/>
            <a:miter/>
            <a:headEnd type="none" w="med" len="med"/>
            <a:tailEnd type="arrow" w="med" len="med"/>
          </a:ln>
        </p:spPr>
      </p:cxnSp>
      <p:sp>
        <p:nvSpPr>
          <p:cNvPr id="32" name="流程图: 过程 31"/>
          <p:cNvSpPr/>
          <p:nvPr/>
        </p:nvSpPr>
        <p:spPr>
          <a:xfrm>
            <a:off x="1651000" y="5373688"/>
            <a:ext cx="1714500" cy="5000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n=n+1</a:t>
            </a:r>
            <a:endParaRPr lang="en-US" altLang="zh-CN" sz="2800" dirty="0">
              <a:latin typeface="Times New Roman" panose="02020603050405020304" pitchFamily="18" charset="0"/>
              <a:ea typeface="微软雅黑" panose="020B0503020204020204" pitchFamily="34" charset="-122"/>
            </a:endParaRPr>
          </a:p>
        </p:txBody>
      </p:sp>
      <p:cxnSp>
        <p:nvCxnSpPr>
          <p:cNvPr id="33" name="直接连接符 32"/>
          <p:cNvCxnSpPr/>
          <p:nvPr/>
        </p:nvCxnSpPr>
        <p:spPr>
          <a:xfrm rot="10800000">
            <a:off x="142875" y="6143625"/>
            <a:ext cx="2365375" cy="15875"/>
          </a:xfrm>
          <a:prstGeom prst="line">
            <a:avLst/>
          </a:prstGeom>
          <a:ln w="38100" cap="flat" cmpd="sng">
            <a:solidFill>
              <a:schemeClr val="tx1"/>
            </a:solidFill>
            <a:prstDash val="solid"/>
            <a:miter/>
            <a:headEnd type="none" w="med" len="med"/>
            <a:tailEnd type="none" w="med" len="med"/>
          </a:ln>
        </p:spPr>
      </p:cxnSp>
      <p:cxnSp>
        <p:nvCxnSpPr>
          <p:cNvPr id="34" name="直接连接符 33"/>
          <p:cNvCxnSpPr/>
          <p:nvPr/>
        </p:nvCxnSpPr>
        <p:spPr>
          <a:xfrm rot="-5400000" flipV="1">
            <a:off x="-1971675" y="4043363"/>
            <a:ext cx="4230688" cy="0"/>
          </a:xfrm>
          <a:prstGeom prst="line">
            <a:avLst/>
          </a:prstGeom>
          <a:ln w="38100" cap="flat" cmpd="sng">
            <a:solidFill>
              <a:schemeClr val="tx1"/>
            </a:solidFill>
            <a:prstDash val="solid"/>
            <a:miter/>
            <a:headEnd type="none" w="med" len="med"/>
            <a:tailEnd type="none" w="med" len="med"/>
          </a:ln>
        </p:spPr>
      </p:cxnSp>
      <p:sp>
        <p:nvSpPr>
          <p:cNvPr id="35" name="平行四边形 34"/>
          <p:cNvSpPr/>
          <p:nvPr/>
        </p:nvSpPr>
        <p:spPr>
          <a:xfrm>
            <a:off x="1651000" y="4478338"/>
            <a:ext cx="1714500" cy="500062"/>
          </a:xfrm>
          <a:prstGeom prst="parallelogram">
            <a:avLst>
              <a:gd name="adj" fmla="val 25001"/>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Times New Roman" panose="02020603050405020304" pitchFamily="18" charset="0"/>
                <a:ea typeface="微软雅黑" panose="020B0503020204020204" pitchFamily="34" charset="-122"/>
              </a:rPr>
              <a:t>输出</a:t>
            </a:r>
            <a:r>
              <a:rPr lang="en-US" altLang="zh-CN" sz="2800" dirty="0">
                <a:latin typeface="Times New Roman" panose="02020603050405020304" pitchFamily="18" charset="0"/>
                <a:ea typeface="微软雅黑" panose="020B0503020204020204" pitchFamily="34" charset="-122"/>
              </a:rPr>
              <a:t>n</a:t>
            </a:r>
            <a:endParaRPr lang="zh-CN" altLang="en-US" sz="2800" dirty="0">
              <a:latin typeface="Times New Roman" panose="02020603050405020304" pitchFamily="18" charset="0"/>
              <a:ea typeface="微软雅黑" panose="020B0503020204020204" pitchFamily="34" charset="-122"/>
            </a:endParaRPr>
          </a:p>
        </p:txBody>
      </p:sp>
      <p:cxnSp>
        <p:nvCxnSpPr>
          <p:cNvPr id="36" name="直接箭头连接符 35"/>
          <p:cNvCxnSpPr/>
          <p:nvPr/>
        </p:nvCxnSpPr>
        <p:spPr>
          <a:xfrm rot="-5400000" flipH="1">
            <a:off x="2293938" y="5184775"/>
            <a:ext cx="428625" cy="0"/>
          </a:xfrm>
          <a:prstGeom prst="straightConnector1">
            <a:avLst/>
          </a:prstGeom>
          <a:ln w="38100" cap="flat" cmpd="sng">
            <a:solidFill>
              <a:schemeClr val="tx1"/>
            </a:solidFill>
            <a:prstDash val="solid"/>
            <a:miter/>
            <a:headEnd type="none" w="med" len="med"/>
            <a:tailEnd type="arrow" w="med" len="med"/>
          </a:ln>
        </p:spPr>
      </p:cxnSp>
      <p:cxnSp>
        <p:nvCxnSpPr>
          <p:cNvPr id="37" name="直接连接符 36"/>
          <p:cNvCxnSpPr>
            <a:stCxn id="32" idx="2"/>
          </p:cNvCxnSpPr>
          <p:nvPr/>
        </p:nvCxnSpPr>
        <p:spPr>
          <a:xfrm rot="5400000">
            <a:off x="2365375" y="6016625"/>
            <a:ext cx="285750" cy="0"/>
          </a:xfrm>
          <a:prstGeom prst="line">
            <a:avLst/>
          </a:prstGeom>
          <a:ln w="38100" cap="flat" cmpd="sng">
            <a:solidFill>
              <a:schemeClr val="tx1"/>
            </a:solidFill>
            <a:prstDash val="solid"/>
            <a:miter/>
            <a:headEnd type="none" w="med" len="med"/>
            <a:tailEnd type="none" w="med" len="med"/>
          </a:ln>
        </p:spPr>
      </p:cxnSp>
      <p:cxnSp>
        <p:nvCxnSpPr>
          <p:cNvPr id="46" name="直接连接符 45"/>
          <p:cNvCxnSpPr/>
          <p:nvPr/>
        </p:nvCxnSpPr>
        <p:spPr>
          <a:xfrm rot="10800000">
            <a:off x="4643438" y="3643313"/>
            <a:ext cx="428625" cy="0"/>
          </a:xfrm>
          <a:prstGeom prst="line">
            <a:avLst/>
          </a:prstGeom>
          <a:ln w="38100" cap="flat" cmpd="sng">
            <a:solidFill>
              <a:schemeClr val="tx1"/>
            </a:solidFill>
            <a:prstDash val="solid"/>
            <a:miter/>
            <a:headEnd type="none" w="med" len="med"/>
            <a:tailEnd type="none" w="med" len="med"/>
          </a:ln>
        </p:spPr>
      </p:cxnSp>
      <p:cxnSp>
        <p:nvCxnSpPr>
          <p:cNvPr id="47" name="直接连接符 46"/>
          <p:cNvCxnSpPr/>
          <p:nvPr/>
        </p:nvCxnSpPr>
        <p:spPr>
          <a:xfrm rot="5400000">
            <a:off x="4321175" y="4392613"/>
            <a:ext cx="1500188" cy="0"/>
          </a:xfrm>
          <a:prstGeom prst="line">
            <a:avLst/>
          </a:prstGeom>
          <a:ln w="38100" cap="flat" cmpd="sng">
            <a:solidFill>
              <a:schemeClr val="tx1"/>
            </a:solidFill>
            <a:prstDash val="solid"/>
            <a:miter/>
            <a:headEnd type="none" w="med" len="med"/>
            <a:tailEnd type="none" w="med" len="med"/>
          </a:ln>
        </p:spPr>
      </p:cxnSp>
      <p:cxnSp>
        <p:nvCxnSpPr>
          <p:cNvPr id="49" name="直接箭头连接符 48"/>
          <p:cNvCxnSpPr/>
          <p:nvPr/>
        </p:nvCxnSpPr>
        <p:spPr>
          <a:xfrm rot="10800000">
            <a:off x="2500313" y="5143500"/>
            <a:ext cx="2571750" cy="1588"/>
          </a:xfrm>
          <a:prstGeom prst="straightConnector1">
            <a:avLst/>
          </a:prstGeom>
          <a:ln w="38100" cap="flat" cmpd="sng">
            <a:solidFill>
              <a:schemeClr val="tx1"/>
            </a:solidFill>
            <a:prstDash val="solid"/>
            <a:miter/>
            <a:headEnd type="none" w="med" len="med"/>
            <a:tailEnd type="arrow" w="med" len="med"/>
          </a:ln>
        </p:spPr>
      </p:cxnSp>
      <p:sp>
        <p:nvSpPr>
          <p:cNvPr id="51" name="TextBox 50"/>
          <p:cNvSpPr txBox="1"/>
          <p:nvPr/>
        </p:nvSpPr>
        <p:spPr>
          <a:xfrm>
            <a:off x="4449763" y="3143250"/>
            <a:ext cx="449262"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sp>
        <p:nvSpPr>
          <p:cNvPr id="56" name="Rectangle 3"/>
          <p:cNvSpPr txBox="1">
            <a:spLocks noChangeArrowheads="1"/>
          </p:cNvSpPr>
          <p:nvPr/>
        </p:nvSpPr>
        <p:spPr bwMode="auto">
          <a:xfrm>
            <a:off x="3786188" y="0"/>
            <a:ext cx="5357813" cy="2214563"/>
          </a:xfrm>
          <a:prstGeom prst="rect">
            <a:avLst/>
          </a:prstGeom>
          <a:solidFill>
            <a:srgbClr val="FFFFCC"/>
          </a:solidFill>
          <a:ln w="9525">
            <a:noFill/>
            <a:miter lim="800000"/>
          </a:ln>
        </p:spPr>
        <p:txBody>
          <a:bodyPr/>
          <a:lstStyle/>
          <a:p>
            <a:pPr marR="0" defTabSz="914400" eaLnBrk="1" hangingPunct="1">
              <a:buClrTx/>
              <a:buSzTx/>
              <a:buFontTx/>
              <a:buNone/>
              <a:defRPr/>
            </a:pPr>
            <a:r>
              <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for(n=100;n&lt;=200;n++)</a:t>
            </a:r>
            <a:endParaRPr kumimoji="1" lang="zh-CN"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endParaRPr>
          </a:p>
          <a:p>
            <a:pPr marR="0" defTabSz="914400" eaLnBrk="1" hangingPunct="1">
              <a:buClrTx/>
              <a:buSzTx/>
              <a:buFontTx/>
              <a:buNone/>
              <a:defRPr/>
            </a:pPr>
            <a:r>
              <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     {    if (n%3==0)</a:t>
            </a:r>
            <a:endParaRPr kumimoji="1" lang="zh-CN"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endParaRPr>
          </a:p>
          <a:p>
            <a:pPr marR="0" defTabSz="914400" eaLnBrk="1" hangingPunct="1">
              <a:buClrTx/>
              <a:buSzTx/>
              <a:buFontTx/>
              <a:buNone/>
              <a:defRPr/>
            </a:pPr>
            <a:r>
              <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               </a:t>
            </a:r>
            <a:r>
              <a:rPr kumimoji="1" lang="en-US" altLang="zh-CN" sz="2800" kern="0" cap="none" spc="0" normalizeH="0" baseline="0" noProof="0" dirty="0">
                <a:solidFill>
                  <a:srgbClr val="235A67"/>
                </a:solidFill>
                <a:latin typeface="Times New Roman" panose="02020603050405020304" pitchFamily="18" charset="0"/>
                <a:ea typeface="微软雅黑" panose="020B0503020204020204" pitchFamily="34" charset="-122"/>
                <a:cs typeface="+mn-cs"/>
              </a:rPr>
              <a:t>continue;</a:t>
            </a:r>
            <a:endParaRPr kumimoji="1" lang="zh-CN" altLang="zh-CN" sz="2800" kern="0" cap="none" spc="0" normalizeH="0" baseline="0" noProof="0" dirty="0">
              <a:solidFill>
                <a:srgbClr val="235A67"/>
              </a:solidFill>
              <a:latin typeface="Times New Roman" panose="02020603050405020304" pitchFamily="18" charset="0"/>
              <a:ea typeface="微软雅黑" panose="020B0503020204020204" pitchFamily="34" charset="-122"/>
              <a:cs typeface="+mn-cs"/>
            </a:endParaRPr>
          </a:p>
          <a:p>
            <a:pPr marR="0" defTabSz="914400" eaLnBrk="1" hangingPunct="1">
              <a:buClrTx/>
              <a:buSzTx/>
              <a:buFontTx/>
              <a:buNone/>
              <a:defRPr/>
            </a:pPr>
            <a:r>
              <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           </a:t>
            </a:r>
            <a:r>
              <a:rPr kumimoji="1" lang="en-US" altLang="zh-CN" sz="2800" kern="0" cap="none" spc="0" normalizeH="0" baseline="0" noProof="0" dirty="0" err="1">
                <a:solidFill>
                  <a:srgbClr val="C00000"/>
                </a:solidFill>
                <a:latin typeface="Times New Roman" panose="02020603050405020304" pitchFamily="18" charset="0"/>
                <a:ea typeface="微软雅黑" panose="020B0503020204020204" pitchFamily="34" charset="-122"/>
                <a:cs typeface="+mn-cs"/>
              </a:rPr>
              <a:t>printf</a:t>
            </a:r>
            <a:r>
              <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("%d  ",n);</a:t>
            </a:r>
            <a:endParaRPr kumimoji="1" lang="zh-CN"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endParaRPr>
          </a:p>
          <a:p>
            <a:pPr marR="0" defTabSz="914400" eaLnBrk="1" hangingPunct="1">
              <a:buClrTx/>
              <a:buSzTx/>
              <a:buFontTx/>
              <a:buNone/>
              <a:defRPr/>
            </a:pPr>
            <a:r>
              <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rPr>
              <a:t>      }</a:t>
            </a:r>
            <a:endParaRPr kumimoji="1" lang="en-US" altLang="zh-CN" sz="2800" kern="0" cap="none" spc="0" normalizeH="0" baseline="0" noProof="0" dirty="0">
              <a:solidFill>
                <a:srgbClr val="C00000"/>
              </a:solidFill>
              <a:latin typeface="Times New Roman" panose="02020603050405020304" pitchFamily="18" charset="0"/>
              <a:ea typeface="微软雅黑" panose="020B0503020204020204" pitchFamily="34" charset="-122"/>
              <a:cs typeface="+mn-cs"/>
            </a:endParaRPr>
          </a:p>
        </p:txBody>
      </p:sp>
      <p:pic>
        <p:nvPicPr>
          <p:cNvPr id="60418" name="Picture 2" descr="pic5-5"/>
          <p:cNvPicPr>
            <a:picLocks noChangeAspect="1"/>
          </p:cNvPicPr>
          <p:nvPr/>
        </p:nvPicPr>
        <p:blipFill>
          <a:blip r:embed="rId1"/>
          <a:stretch>
            <a:fillRect/>
          </a:stretch>
        </p:blipFill>
        <p:spPr>
          <a:xfrm>
            <a:off x="107950" y="2413000"/>
            <a:ext cx="8929688" cy="1169988"/>
          </a:xfrm>
          <a:prstGeom prst="rect">
            <a:avLst/>
          </a:prstGeom>
          <a:noFill/>
          <a:ln w="9525">
            <a:noFill/>
          </a:ln>
        </p:spPr>
      </p:pic>
      <p:pic>
        <p:nvPicPr>
          <p:cNvPr id="47133" name="图片 37" descr="Untitled2.png">
            <a:hlinkClick r:id="rId2" action="ppaction://hlinksldjump"/>
          </p:cNvPr>
          <p:cNvPicPr>
            <a:picLocks noChangeAspect="1"/>
          </p:cNvPicPr>
          <p:nvPr/>
        </p:nvPicPr>
        <p:blipFill>
          <a:blip r:embed="rId3"/>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linds(horizontal)">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blinds(horizontal)">
                                      <p:cBhvr>
                                        <p:cTn id="16" dur="500"/>
                                        <p:tgtEl>
                                          <p:spTgt spid="2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blinds(horizontal)">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blinds(horizontal)">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blinds(horizontal)">
                                      <p:cBhvr>
                                        <p:cTn id="29" dur="500"/>
                                        <p:tgtEl>
                                          <p:spTgt spid="2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blinds(horizontal)">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linds(horizontal)">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linds(horizontal)">
                                      <p:cBhvr>
                                        <p:cTn id="42" dur="500"/>
                                        <p:tgtEl>
                                          <p:spTgt spid="31"/>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blinds(horizontal)">
                                      <p:cBhvr>
                                        <p:cTn id="45" dur="5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blinds(horizontal)">
                                      <p:cBhvr>
                                        <p:cTn id="50" dur="500"/>
                                        <p:tgtEl>
                                          <p:spTgt spid="36"/>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blinds(horizontal)">
                                      <p:cBhvr>
                                        <p:cTn id="53" dur="5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blinds(horizontal)">
                                      <p:cBhvr>
                                        <p:cTn id="58" dur="500"/>
                                        <p:tgtEl>
                                          <p:spTgt spid="51"/>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8"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slide(fromLeft)">
                                      <p:cBhvr>
                                        <p:cTn id="63" dur="500"/>
                                        <p:tgtEl>
                                          <p:spTgt spid="46"/>
                                        </p:tgtEl>
                                      </p:cBhvr>
                                    </p:animEffect>
                                  </p:childTnLst>
                                </p:cTn>
                              </p:par>
                            </p:childTnLst>
                          </p:cTn>
                        </p:par>
                        <p:par>
                          <p:cTn id="64" fill="hold">
                            <p:stCondLst>
                              <p:cond delay="500"/>
                            </p:stCondLst>
                            <p:childTnLst>
                              <p:par>
                                <p:cTn id="65" presetID="12" presetClass="entr" presetSubtype="1" fill="hold" nodeType="after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slide(fromTop)">
                                      <p:cBhvr>
                                        <p:cTn id="67" dur="500"/>
                                        <p:tgtEl>
                                          <p:spTgt spid="47"/>
                                        </p:tgtEl>
                                      </p:cBhvr>
                                    </p:animEffect>
                                  </p:childTnLst>
                                </p:cTn>
                              </p:par>
                            </p:childTnLst>
                          </p:cTn>
                        </p:par>
                        <p:par>
                          <p:cTn id="68" fill="hold">
                            <p:stCondLst>
                              <p:cond delay="1000"/>
                            </p:stCondLst>
                            <p:childTnLst>
                              <p:par>
                                <p:cTn id="69" presetID="12" presetClass="entr" presetSubtype="2" fill="hold" nodeType="after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slide(fromRight)">
                                      <p:cBhvr>
                                        <p:cTn id="71" dur="500"/>
                                        <p:tgtEl>
                                          <p:spTgt spid="49"/>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1" fill="hold" nodeType="click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slide(fromTop)">
                                      <p:cBhvr>
                                        <p:cTn id="76" dur="500"/>
                                        <p:tgtEl>
                                          <p:spTgt spid="37"/>
                                        </p:tgtEl>
                                      </p:cBhvr>
                                    </p:animEffect>
                                  </p:childTnLst>
                                </p:cTn>
                              </p:par>
                            </p:childTnLst>
                          </p:cTn>
                        </p:par>
                        <p:par>
                          <p:cTn id="77" fill="hold">
                            <p:stCondLst>
                              <p:cond delay="500"/>
                            </p:stCondLst>
                            <p:childTnLst>
                              <p:par>
                                <p:cTn id="78" presetID="12" presetClass="entr" presetSubtype="2" fill="hold" nodeType="after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slide(fromRight)">
                                      <p:cBhvr>
                                        <p:cTn id="80" dur="500"/>
                                        <p:tgtEl>
                                          <p:spTgt spid="33"/>
                                        </p:tgtEl>
                                      </p:cBhvr>
                                    </p:animEffect>
                                  </p:childTnLst>
                                </p:cTn>
                              </p:par>
                            </p:childTnLst>
                          </p:cTn>
                        </p:par>
                        <p:par>
                          <p:cTn id="81" fill="hold">
                            <p:stCondLst>
                              <p:cond delay="1000"/>
                            </p:stCondLst>
                            <p:childTnLst>
                              <p:par>
                                <p:cTn id="82" presetID="12" presetClass="entr" presetSubtype="4"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slide(fromBottom)">
                                      <p:cBhvr>
                                        <p:cTn id="84" dur="500"/>
                                        <p:tgtEl>
                                          <p:spTgt spid="34"/>
                                        </p:tgtEl>
                                      </p:cBhvr>
                                    </p:animEffect>
                                  </p:childTnLst>
                                </p:cTn>
                              </p:par>
                            </p:childTnLst>
                          </p:cTn>
                        </p:par>
                        <p:par>
                          <p:cTn id="85" fill="hold">
                            <p:stCondLst>
                              <p:cond delay="1500"/>
                            </p:stCondLst>
                            <p:childTnLst>
                              <p:par>
                                <p:cTn id="86" presetID="12" presetClass="entr" presetSubtype="8" fill="hold" nodeType="afterEffect">
                                  <p:stCondLst>
                                    <p:cond delay="0"/>
                                  </p:stCondLst>
                                  <p:childTnLst>
                                    <p:set>
                                      <p:cBhvr>
                                        <p:cTn id="87" dur="1" fill="hold">
                                          <p:stCondLst>
                                            <p:cond delay="0"/>
                                          </p:stCondLst>
                                        </p:cTn>
                                        <p:tgtEl>
                                          <p:spTgt spid="14"/>
                                        </p:tgtEl>
                                        <p:attrNameLst>
                                          <p:attrName>style.visibility</p:attrName>
                                        </p:attrNameLst>
                                      </p:cBhvr>
                                      <p:to>
                                        <p:strVal val="visible"/>
                                      </p:to>
                                    </p:set>
                                    <p:animEffect transition="in" filter="slide(fromLeft)">
                                      <p:cBhvr>
                                        <p:cTn id="88" dur="500"/>
                                        <p:tgtEl>
                                          <p:spTgt spid="14"/>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7"/>
                                        </p:tgtEl>
                                        <p:attrNameLst>
                                          <p:attrName>style.visibility</p:attrName>
                                        </p:attrNameLst>
                                      </p:cBhvr>
                                      <p:to>
                                        <p:strVal val="visible"/>
                                      </p:to>
                                    </p:set>
                                    <p:animEffect transition="in" filter="blinds(horizontal)">
                                      <p:cBhvr>
                                        <p:cTn id="93" dur="500"/>
                                        <p:tgtEl>
                                          <p:spTgt spid="7"/>
                                        </p:tgtEl>
                                      </p:cBhvr>
                                    </p:animEffect>
                                  </p:childTnLst>
                                </p:cTn>
                              </p:par>
                            </p:childTnLst>
                          </p:cTn>
                        </p:par>
                      </p:childTnLst>
                    </p:cTn>
                  </p:par>
                  <p:par>
                    <p:cTn id="94" fill="hold">
                      <p:stCondLst>
                        <p:cond delay="indefinite"/>
                      </p:stCondLst>
                      <p:childTnLst>
                        <p:par>
                          <p:cTn id="95" fill="hold">
                            <p:stCondLst>
                              <p:cond delay="0"/>
                            </p:stCondLst>
                            <p:childTnLst>
                              <p:par>
                                <p:cTn id="96" presetID="12" presetClass="entr" presetSubtype="8" fill="hold" nodeType="click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slide(fromLeft)">
                                      <p:cBhvr>
                                        <p:cTn id="98" dur="500"/>
                                        <p:tgtEl>
                                          <p:spTgt spid="22"/>
                                        </p:tgtEl>
                                      </p:cBhvr>
                                    </p:animEffect>
                                  </p:childTnLst>
                                </p:cTn>
                              </p:par>
                            </p:childTnLst>
                          </p:cTn>
                        </p:par>
                        <p:par>
                          <p:cTn id="99" fill="hold">
                            <p:stCondLst>
                              <p:cond delay="500"/>
                            </p:stCondLst>
                            <p:childTnLst>
                              <p:par>
                                <p:cTn id="100" presetID="12" presetClass="entr" presetSubtype="1" fill="hold" nodeType="after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slide(fromTop)">
                                      <p:cBhvr>
                                        <p:cTn id="102" dur="500"/>
                                        <p:tgtEl>
                                          <p:spTgt spid="20"/>
                                        </p:tgtEl>
                                      </p:cBhvr>
                                    </p:animEffect>
                                  </p:childTnLst>
                                </p:cTn>
                              </p:par>
                            </p:childTnLst>
                          </p:cTn>
                        </p:par>
                        <p:par>
                          <p:cTn id="103" fill="hold">
                            <p:stCondLst>
                              <p:cond delay="1000"/>
                            </p:stCondLst>
                            <p:childTnLst>
                              <p:par>
                                <p:cTn id="104" presetID="12" presetClass="entr" presetSubtype="2" fill="hold"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slide(fromRight)">
                                      <p:cBhvr>
                                        <p:cTn id="106" dur="500"/>
                                        <p:tgtEl>
                                          <p:spTgt spid="21"/>
                                        </p:tgtEl>
                                      </p:cBhvr>
                                    </p:animEffect>
                                  </p:childTnLst>
                                </p:cTn>
                              </p:par>
                            </p:childTnLst>
                          </p:cTn>
                        </p:par>
                        <p:par>
                          <p:cTn id="107" fill="hold">
                            <p:stCondLst>
                              <p:cond delay="1500"/>
                            </p:stCondLst>
                            <p:childTnLst>
                              <p:par>
                                <p:cTn id="108" presetID="12" presetClass="entr" presetSubtype="1" fill="hold" nodeType="afterEffect">
                                  <p:stCondLst>
                                    <p:cond delay="0"/>
                                  </p:stCondLst>
                                  <p:childTnLst>
                                    <p:set>
                                      <p:cBhvr>
                                        <p:cTn id="109" dur="1" fill="hold">
                                          <p:stCondLst>
                                            <p:cond delay="0"/>
                                          </p:stCondLst>
                                        </p:cTn>
                                        <p:tgtEl>
                                          <p:spTgt spid="12"/>
                                        </p:tgtEl>
                                        <p:attrNameLst>
                                          <p:attrName>style.visibility</p:attrName>
                                        </p:attrNameLst>
                                      </p:cBhvr>
                                      <p:to>
                                        <p:strVal val="visible"/>
                                      </p:to>
                                    </p:set>
                                    <p:animEffect transition="in" filter="slide(fromTop)">
                                      <p:cBhvr>
                                        <p:cTn id="110" dur="500"/>
                                        <p:tgtEl>
                                          <p:spTgt spid="12"/>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blinds(horizontal)">
                                      <p:cBhvr>
                                        <p:cTn id="115" dur="500"/>
                                        <p:tgtEl>
                                          <p:spTgt spid="56"/>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60418"/>
                                        </p:tgtEl>
                                        <p:attrNameLst>
                                          <p:attrName>style.visibility</p:attrName>
                                        </p:attrNameLst>
                                      </p:cBhvr>
                                      <p:to>
                                        <p:strVal val="visible"/>
                                      </p:to>
                                    </p:set>
                                    <p:animEffect transition="in" filter="blinds(horizontal)">
                                      <p:cBhvr>
                                        <p:cTn id="120" dur="500"/>
                                        <p:tgtEl>
                                          <p:spTgt spid="60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3" grpId="0" animBg="1"/>
      <p:bldP spid="25" grpId="0" animBg="1"/>
      <p:bldP spid="27" grpId="0"/>
      <p:bldP spid="29" grpId="0" animBg="1"/>
      <p:bldP spid="30" grpId="0"/>
      <p:bldP spid="32" grpId="0" animBg="1"/>
      <p:bldP spid="35" grpId="0" animBg="1"/>
      <p:bldP spid="51" grpId="0"/>
      <p:bldP spid="5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Rectangle 3"/>
          <p:cNvSpPr>
            <a:spLocks noGrp="1"/>
          </p:cNvSpPr>
          <p:nvPr>
            <p:ph idx="1"/>
          </p:nvPr>
        </p:nvSpPr>
        <p:spPr>
          <a:xfrm>
            <a:off x="323215" y="1268730"/>
            <a:ext cx="8468360" cy="3000375"/>
          </a:xfrm>
        </p:spPr>
        <p:txBody>
          <a:bodyPr vert="horz" wrap="square" lIns="91440" tIns="45720" rIns="91440" bIns="45720" anchor="t" anchorCtr="0"/>
          <a:p>
            <a:r>
              <a:rPr kumimoji="1" lang="en-US" altLang="zh-CN" dirty="0">
                <a:solidFill>
                  <a:srgbClr val="C00000"/>
                </a:solidFill>
                <a:cs typeface="+mn-cs"/>
              </a:rPr>
              <a:t>continue</a:t>
            </a:r>
            <a:r>
              <a:rPr kumimoji="1" lang="zh-CN" altLang="zh-CN" dirty="0">
                <a:cs typeface="+mn-cs"/>
              </a:rPr>
              <a:t>语句只结束本次循环，而不是终止整个循</a:t>
            </a:r>
            <a:endParaRPr kumimoji="1" lang="zh-CN" altLang="zh-CN" dirty="0">
              <a:cs typeface="+mn-cs"/>
            </a:endParaRPr>
          </a:p>
          <a:p>
            <a:pPr marL="0" indent="0">
              <a:buNone/>
            </a:pPr>
            <a:r>
              <a:rPr kumimoji="1" lang="en-US" altLang="zh-CN" dirty="0">
                <a:cs typeface="+mn-cs"/>
              </a:rPr>
              <a:t>    </a:t>
            </a:r>
            <a:r>
              <a:rPr kumimoji="1" lang="zh-CN" altLang="zh-CN" dirty="0">
                <a:cs typeface="+mn-cs"/>
              </a:rPr>
              <a:t>环的执行</a:t>
            </a:r>
            <a:endParaRPr kumimoji="1" lang="en-US" altLang="zh-CN" dirty="0">
              <a:cs typeface="+mn-cs"/>
            </a:endParaRPr>
          </a:p>
          <a:p>
            <a:r>
              <a:rPr kumimoji="1" lang="en-US" altLang="zh-CN" dirty="0">
                <a:solidFill>
                  <a:srgbClr val="C00000"/>
                </a:solidFill>
                <a:cs typeface="+mn-cs"/>
              </a:rPr>
              <a:t>break</a:t>
            </a:r>
            <a:r>
              <a:rPr kumimoji="1" lang="zh-CN" altLang="zh-CN" dirty="0">
                <a:cs typeface="+mn-cs"/>
              </a:rPr>
              <a:t>语句结束整个循环过程，不再判断执行循环的条件是否成立</a:t>
            </a:r>
            <a:endParaRPr kumimoji="1" lang="en-US" altLang="zh-CN" dirty="0">
              <a:cs typeface="+mn-cs"/>
            </a:endParaRPr>
          </a:p>
        </p:txBody>
      </p:sp>
      <p:pic>
        <p:nvPicPr>
          <p:cNvPr id="48132" name="图片 3"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5.7.3 break</a:t>
            </a:r>
            <a:r>
              <a:rPr lang="zh-CN" altLang="zh-CN" dirty="0">
                <a:sym typeface="+mn-ea"/>
              </a:rPr>
              <a:t>语句和</a:t>
            </a:r>
            <a:r>
              <a:rPr lang="en-US" altLang="zh-CN" dirty="0">
                <a:sym typeface="+mn-ea"/>
              </a:rPr>
              <a:t>continue</a:t>
            </a:r>
            <a:r>
              <a:rPr lang="zh-CN" altLang="zh-CN" dirty="0">
                <a:sym typeface="+mn-ea"/>
              </a:rPr>
              <a:t>语句的区别</a:t>
            </a:r>
            <a:endParaRPr lang="zh-CN" altLang="zh-CN" dirty="0">
              <a:solidFill>
                <a:srgbClr val="235A67"/>
              </a:solidFill>
            </a:endParaRPr>
          </a:p>
        </p:txBody>
      </p:sp>
    </p:spTree>
  </p:cSld>
  <p:clrMapOvr>
    <a:masterClrMapping/>
  </p:clrMapOvr>
  <p:transition spd="med">
    <p:blinds/>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Box 5"/>
          <p:cNvSpPr txBox="1"/>
          <p:nvPr/>
        </p:nvSpPr>
        <p:spPr>
          <a:xfrm>
            <a:off x="7715250" y="1143000"/>
            <a:ext cx="500063"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endParaRPr lang="en-US" altLang="zh-CN" sz="2800" dirty="0">
              <a:latin typeface="Times New Roman" panose="02020603050405020304" pitchFamily="18" charset="0"/>
              <a:ea typeface="微软雅黑" panose="020B0503020204020204" pitchFamily="34" charset="-122"/>
            </a:endParaRPr>
          </a:p>
        </p:txBody>
      </p:sp>
      <p:cxnSp>
        <p:nvCxnSpPr>
          <p:cNvPr id="49155" name="直接箭头连接符 6"/>
          <p:cNvCxnSpPr/>
          <p:nvPr/>
        </p:nvCxnSpPr>
        <p:spPr>
          <a:xfrm rot="-5400000" flipH="1">
            <a:off x="6551613" y="6572250"/>
            <a:ext cx="428625" cy="0"/>
          </a:xfrm>
          <a:prstGeom prst="straightConnector1">
            <a:avLst/>
          </a:prstGeom>
          <a:ln w="38100" cap="flat" cmpd="sng">
            <a:solidFill>
              <a:schemeClr val="tx1"/>
            </a:solidFill>
            <a:prstDash val="solid"/>
            <a:miter/>
            <a:headEnd type="none" w="med" len="med"/>
            <a:tailEnd type="arrow" w="med" len="med"/>
          </a:ln>
        </p:spPr>
      </p:cxnSp>
      <p:cxnSp>
        <p:nvCxnSpPr>
          <p:cNvPr id="49156" name="直接箭头连接符 7"/>
          <p:cNvCxnSpPr/>
          <p:nvPr/>
        </p:nvCxnSpPr>
        <p:spPr>
          <a:xfrm>
            <a:off x="4500563" y="1071563"/>
            <a:ext cx="1917700" cy="26987"/>
          </a:xfrm>
          <a:prstGeom prst="straightConnector1">
            <a:avLst/>
          </a:prstGeom>
          <a:ln w="38100" cap="flat" cmpd="sng">
            <a:solidFill>
              <a:schemeClr val="tx1"/>
            </a:solidFill>
            <a:prstDash val="solid"/>
            <a:miter/>
            <a:headEnd type="none" w="med" len="med"/>
            <a:tailEnd type="arrow" w="med" len="med"/>
          </a:ln>
        </p:spPr>
      </p:cxnSp>
      <p:cxnSp>
        <p:nvCxnSpPr>
          <p:cNvPr id="49157" name="直接连接符 8"/>
          <p:cNvCxnSpPr/>
          <p:nvPr/>
        </p:nvCxnSpPr>
        <p:spPr>
          <a:xfrm rot="5400000">
            <a:off x="6035675" y="4035425"/>
            <a:ext cx="4643438" cy="0"/>
          </a:xfrm>
          <a:prstGeom prst="line">
            <a:avLst/>
          </a:prstGeom>
          <a:ln w="38100" cap="flat" cmpd="sng">
            <a:solidFill>
              <a:schemeClr val="tx1"/>
            </a:solidFill>
            <a:prstDash val="solid"/>
            <a:miter/>
            <a:headEnd type="none" w="med" len="med"/>
            <a:tailEnd type="none" w="med" len="med"/>
          </a:ln>
        </p:spPr>
      </p:cxnSp>
      <p:cxnSp>
        <p:nvCxnSpPr>
          <p:cNvPr id="49158" name="直接连接符 9"/>
          <p:cNvCxnSpPr/>
          <p:nvPr/>
        </p:nvCxnSpPr>
        <p:spPr>
          <a:xfrm rot="-10800000" flipV="1">
            <a:off x="6337300" y="6357938"/>
            <a:ext cx="2020888" cy="0"/>
          </a:xfrm>
          <a:prstGeom prst="line">
            <a:avLst/>
          </a:prstGeom>
          <a:ln w="38100" cap="flat" cmpd="sng">
            <a:solidFill>
              <a:schemeClr val="tx1"/>
            </a:solidFill>
            <a:prstDash val="solid"/>
            <a:miter/>
            <a:headEnd type="none" w="med" len="med"/>
            <a:tailEnd type="none" w="med" len="med"/>
          </a:ln>
        </p:spPr>
      </p:cxnSp>
      <p:cxnSp>
        <p:nvCxnSpPr>
          <p:cNvPr id="49159" name="直接连接符 10"/>
          <p:cNvCxnSpPr>
            <a:endCxn id="49160" idx="3"/>
          </p:cNvCxnSpPr>
          <p:nvPr/>
        </p:nvCxnSpPr>
        <p:spPr>
          <a:xfrm rot="10800000">
            <a:off x="7791450" y="1668463"/>
            <a:ext cx="566738" cy="4762"/>
          </a:xfrm>
          <a:prstGeom prst="line">
            <a:avLst/>
          </a:prstGeom>
          <a:ln w="38100" cap="flat" cmpd="sng">
            <a:solidFill>
              <a:schemeClr val="tx1"/>
            </a:solidFill>
            <a:prstDash val="solid"/>
            <a:miter/>
            <a:headEnd type="none" w="med" len="med"/>
            <a:tailEnd type="none" w="med" len="med"/>
          </a:ln>
        </p:spPr>
      </p:cxnSp>
      <p:sp>
        <p:nvSpPr>
          <p:cNvPr id="49160" name="流程图: 决策 13"/>
          <p:cNvSpPr/>
          <p:nvPr/>
        </p:nvSpPr>
        <p:spPr>
          <a:xfrm>
            <a:off x="4933950" y="1311275"/>
            <a:ext cx="2857500"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1</a:t>
            </a:r>
            <a:endParaRPr lang="zh-CN" altLang="en-US" sz="2600" dirty="0">
              <a:latin typeface="Times New Roman" panose="02020603050405020304" pitchFamily="18" charset="0"/>
              <a:ea typeface="微软雅黑" panose="020B0503020204020204" pitchFamily="34" charset="-122"/>
            </a:endParaRPr>
          </a:p>
        </p:txBody>
      </p:sp>
      <p:cxnSp>
        <p:nvCxnSpPr>
          <p:cNvPr id="49161" name="直接箭头连接符 14"/>
          <p:cNvCxnSpPr/>
          <p:nvPr/>
        </p:nvCxnSpPr>
        <p:spPr>
          <a:xfrm rot="-5400000" flipH="1">
            <a:off x="6148388" y="1143000"/>
            <a:ext cx="428625" cy="0"/>
          </a:xfrm>
          <a:prstGeom prst="straightConnector1">
            <a:avLst/>
          </a:prstGeom>
          <a:ln w="38100" cap="flat" cmpd="sng">
            <a:solidFill>
              <a:schemeClr val="tx1"/>
            </a:solidFill>
            <a:prstDash val="solid"/>
            <a:miter/>
            <a:headEnd type="none" w="med" len="med"/>
            <a:tailEnd type="arrow" w="med" len="med"/>
          </a:ln>
        </p:spPr>
      </p:cxnSp>
      <p:sp>
        <p:nvSpPr>
          <p:cNvPr id="49162" name="TextBox 15"/>
          <p:cNvSpPr txBox="1"/>
          <p:nvPr/>
        </p:nvSpPr>
        <p:spPr>
          <a:xfrm>
            <a:off x="6434138" y="1954213"/>
            <a:ext cx="500062"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cxnSp>
        <p:nvCxnSpPr>
          <p:cNvPr id="49163" name="直接箭头连接符 16"/>
          <p:cNvCxnSpPr/>
          <p:nvPr/>
        </p:nvCxnSpPr>
        <p:spPr>
          <a:xfrm rot="-5400000" flipH="1">
            <a:off x="6148388" y="2201863"/>
            <a:ext cx="428625" cy="0"/>
          </a:xfrm>
          <a:prstGeom prst="straightConnector1">
            <a:avLst/>
          </a:prstGeom>
          <a:ln w="38100" cap="flat" cmpd="sng">
            <a:solidFill>
              <a:schemeClr val="tx1"/>
            </a:solidFill>
            <a:prstDash val="solid"/>
            <a:miter/>
            <a:headEnd type="none" w="med" len="med"/>
            <a:tailEnd type="arrow" w="med" len="med"/>
          </a:ln>
        </p:spPr>
      </p:cxnSp>
      <p:sp>
        <p:nvSpPr>
          <p:cNvPr id="49164" name="流程图: 决策 17"/>
          <p:cNvSpPr/>
          <p:nvPr/>
        </p:nvSpPr>
        <p:spPr>
          <a:xfrm>
            <a:off x="4857750" y="3357563"/>
            <a:ext cx="3000375"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2</a:t>
            </a:r>
            <a:endParaRPr lang="zh-CN" altLang="en-US" sz="2600" dirty="0">
              <a:latin typeface="Times New Roman" panose="02020603050405020304" pitchFamily="18" charset="0"/>
              <a:ea typeface="微软雅黑" panose="020B0503020204020204" pitchFamily="34" charset="-122"/>
            </a:endParaRPr>
          </a:p>
        </p:txBody>
      </p:sp>
      <p:sp>
        <p:nvSpPr>
          <p:cNvPr id="49165" name="TextBox 18"/>
          <p:cNvSpPr txBox="1"/>
          <p:nvPr/>
        </p:nvSpPr>
        <p:spPr>
          <a:xfrm>
            <a:off x="6434138" y="4000500"/>
            <a:ext cx="500062"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endParaRPr lang="en-US" altLang="zh-CN" sz="2800" dirty="0">
              <a:latin typeface="Times New Roman" panose="02020603050405020304" pitchFamily="18" charset="0"/>
              <a:ea typeface="微软雅黑" panose="020B0503020204020204" pitchFamily="34" charset="-122"/>
            </a:endParaRPr>
          </a:p>
        </p:txBody>
      </p:sp>
      <p:cxnSp>
        <p:nvCxnSpPr>
          <p:cNvPr id="49166" name="直接箭头连接符 19"/>
          <p:cNvCxnSpPr/>
          <p:nvPr/>
        </p:nvCxnSpPr>
        <p:spPr>
          <a:xfrm rot="-5400000" flipH="1">
            <a:off x="6148388" y="4286250"/>
            <a:ext cx="428625" cy="0"/>
          </a:xfrm>
          <a:prstGeom prst="straightConnector1">
            <a:avLst/>
          </a:prstGeom>
          <a:ln w="38100" cap="flat" cmpd="sng">
            <a:solidFill>
              <a:schemeClr val="tx1"/>
            </a:solidFill>
            <a:prstDash val="solid"/>
            <a:miter/>
            <a:headEnd type="none" w="med" len="med"/>
            <a:tailEnd type="arrow" w="med" len="med"/>
          </a:ln>
        </p:spPr>
      </p:cxnSp>
      <p:sp>
        <p:nvSpPr>
          <p:cNvPr id="49167" name="流程图: 过程 20"/>
          <p:cNvSpPr/>
          <p:nvPr/>
        </p:nvSpPr>
        <p:spPr>
          <a:xfrm>
            <a:off x="5487988" y="5373688"/>
            <a:ext cx="1714500" cy="5000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a:t>
            </a:r>
            <a:endParaRPr lang="en-US" altLang="zh-CN" sz="2800" dirty="0">
              <a:latin typeface="Times New Roman" panose="02020603050405020304" pitchFamily="18" charset="0"/>
              <a:ea typeface="微软雅黑" panose="020B0503020204020204" pitchFamily="34" charset="-122"/>
            </a:endParaRPr>
          </a:p>
        </p:txBody>
      </p:sp>
      <p:cxnSp>
        <p:nvCxnSpPr>
          <p:cNvPr id="49168" name="直接连接符 21"/>
          <p:cNvCxnSpPr/>
          <p:nvPr/>
        </p:nvCxnSpPr>
        <p:spPr>
          <a:xfrm rot="10800000">
            <a:off x="4500563" y="6143625"/>
            <a:ext cx="1844675" cy="15875"/>
          </a:xfrm>
          <a:prstGeom prst="line">
            <a:avLst/>
          </a:prstGeom>
          <a:ln w="38100" cap="flat" cmpd="sng">
            <a:solidFill>
              <a:schemeClr val="tx1"/>
            </a:solidFill>
            <a:prstDash val="solid"/>
            <a:miter/>
            <a:headEnd type="none" w="med" len="med"/>
            <a:tailEnd type="none" w="med" len="med"/>
          </a:ln>
        </p:spPr>
      </p:cxnSp>
      <p:cxnSp>
        <p:nvCxnSpPr>
          <p:cNvPr id="49169" name="直接连接符 22"/>
          <p:cNvCxnSpPr/>
          <p:nvPr/>
        </p:nvCxnSpPr>
        <p:spPr>
          <a:xfrm rot="5400000" flipH="1" flipV="1">
            <a:off x="1955800" y="3614738"/>
            <a:ext cx="5087938" cy="0"/>
          </a:xfrm>
          <a:prstGeom prst="line">
            <a:avLst/>
          </a:prstGeom>
          <a:ln w="38100" cap="flat" cmpd="sng">
            <a:solidFill>
              <a:schemeClr val="tx1"/>
            </a:solidFill>
            <a:prstDash val="solid"/>
            <a:miter/>
            <a:headEnd type="none" w="med" len="med"/>
            <a:tailEnd type="none" w="med" len="med"/>
          </a:ln>
        </p:spPr>
      </p:cxnSp>
      <p:cxnSp>
        <p:nvCxnSpPr>
          <p:cNvPr id="49170" name="直接箭头连接符 24"/>
          <p:cNvCxnSpPr/>
          <p:nvPr/>
        </p:nvCxnSpPr>
        <p:spPr>
          <a:xfrm rot="-5400000" flipH="1">
            <a:off x="6130925" y="5184775"/>
            <a:ext cx="428625" cy="0"/>
          </a:xfrm>
          <a:prstGeom prst="straightConnector1">
            <a:avLst/>
          </a:prstGeom>
          <a:ln w="38100" cap="flat" cmpd="sng">
            <a:solidFill>
              <a:schemeClr val="tx1"/>
            </a:solidFill>
            <a:prstDash val="solid"/>
            <a:miter/>
            <a:headEnd type="none" w="med" len="med"/>
            <a:tailEnd type="arrow" w="med" len="med"/>
          </a:ln>
        </p:spPr>
      </p:cxnSp>
      <p:cxnSp>
        <p:nvCxnSpPr>
          <p:cNvPr id="49171" name="直接连接符 25"/>
          <p:cNvCxnSpPr>
            <a:stCxn id="49167" idx="2"/>
          </p:cNvCxnSpPr>
          <p:nvPr/>
        </p:nvCxnSpPr>
        <p:spPr>
          <a:xfrm rot="5400000">
            <a:off x="6202363" y="6016625"/>
            <a:ext cx="285750" cy="0"/>
          </a:xfrm>
          <a:prstGeom prst="line">
            <a:avLst/>
          </a:prstGeom>
          <a:ln w="38100" cap="flat" cmpd="sng">
            <a:solidFill>
              <a:schemeClr val="tx1"/>
            </a:solidFill>
            <a:prstDash val="solid"/>
            <a:miter/>
            <a:headEnd type="none" w="med" len="med"/>
            <a:tailEnd type="none" w="med" len="med"/>
          </a:ln>
        </p:spPr>
      </p:cxnSp>
      <p:cxnSp>
        <p:nvCxnSpPr>
          <p:cNvPr id="49172" name="直接连接符 26"/>
          <p:cNvCxnSpPr/>
          <p:nvPr/>
        </p:nvCxnSpPr>
        <p:spPr>
          <a:xfrm rot="10800000">
            <a:off x="7929563" y="3714750"/>
            <a:ext cx="142875" cy="0"/>
          </a:xfrm>
          <a:prstGeom prst="line">
            <a:avLst/>
          </a:prstGeom>
          <a:ln w="38100" cap="flat" cmpd="sng">
            <a:solidFill>
              <a:schemeClr val="tx1"/>
            </a:solidFill>
            <a:prstDash val="solid"/>
            <a:miter/>
            <a:headEnd type="none" w="med" len="med"/>
            <a:tailEnd type="none" w="med" len="med"/>
          </a:ln>
        </p:spPr>
      </p:cxnSp>
      <p:cxnSp>
        <p:nvCxnSpPr>
          <p:cNvPr id="49173" name="直接连接符 27"/>
          <p:cNvCxnSpPr/>
          <p:nvPr/>
        </p:nvCxnSpPr>
        <p:spPr>
          <a:xfrm rot="5400000">
            <a:off x="7358063" y="4429125"/>
            <a:ext cx="1428750" cy="0"/>
          </a:xfrm>
          <a:prstGeom prst="line">
            <a:avLst/>
          </a:prstGeom>
          <a:ln w="38100" cap="flat" cmpd="sng">
            <a:solidFill>
              <a:schemeClr val="tx1"/>
            </a:solidFill>
            <a:prstDash val="solid"/>
            <a:miter/>
            <a:headEnd type="none" w="med" len="med"/>
            <a:tailEnd type="none" w="med" len="med"/>
          </a:ln>
        </p:spPr>
      </p:cxnSp>
      <p:cxnSp>
        <p:nvCxnSpPr>
          <p:cNvPr id="49174" name="直接箭头连接符 28"/>
          <p:cNvCxnSpPr/>
          <p:nvPr/>
        </p:nvCxnSpPr>
        <p:spPr>
          <a:xfrm rot="-10800000" flipV="1">
            <a:off x="6350000" y="5143500"/>
            <a:ext cx="1722438" cy="12700"/>
          </a:xfrm>
          <a:prstGeom prst="straightConnector1">
            <a:avLst/>
          </a:prstGeom>
          <a:ln w="38100" cap="flat" cmpd="sng">
            <a:solidFill>
              <a:schemeClr val="tx1"/>
            </a:solidFill>
            <a:prstDash val="solid"/>
            <a:miter/>
            <a:headEnd type="none" w="med" len="med"/>
            <a:tailEnd type="arrow" w="med" len="med"/>
          </a:ln>
        </p:spPr>
      </p:cxnSp>
      <p:sp>
        <p:nvSpPr>
          <p:cNvPr id="49175" name="TextBox 29"/>
          <p:cNvSpPr txBox="1"/>
          <p:nvPr/>
        </p:nvSpPr>
        <p:spPr>
          <a:xfrm>
            <a:off x="7715250" y="3190875"/>
            <a:ext cx="449263"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sp>
        <p:nvSpPr>
          <p:cNvPr id="49176" name="流程图: 过程 30"/>
          <p:cNvSpPr/>
          <p:nvPr/>
        </p:nvSpPr>
        <p:spPr>
          <a:xfrm>
            <a:off x="5534025" y="2420938"/>
            <a:ext cx="1714500" cy="5000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a:t>
            </a:r>
            <a:endParaRPr lang="en-US" altLang="zh-CN" sz="2800" dirty="0">
              <a:latin typeface="Times New Roman" panose="02020603050405020304" pitchFamily="18" charset="0"/>
              <a:ea typeface="微软雅黑" panose="020B0503020204020204" pitchFamily="34" charset="-122"/>
            </a:endParaRPr>
          </a:p>
        </p:txBody>
      </p:sp>
      <p:cxnSp>
        <p:nvCxnSpPr>
          <p:cNvPr id="49177" name="直接箭头连接符 31"/>
          <p:cNvCxnSpPr/>
          <p:nvPr/>
        </p:nvCxnSpPr>
        <p:spPr>
          <a:xfrm rot="-5400000" flipH="1">
            <a:off x="6143625" y="3143250"/>
            <a:ext cx="428625" cy="0"/>
          </a:xfrm>
          <a:prstGeom prst="straightConnector1">
            <a:avLst/>
          </a:prstGeom>
          <a:ln w="38100" cap="flat" cmpd="sng">
            <a:solidFill>
              <a:schemeClr val="tx1"/>
            </a:solidFill>
            <a:prstDash val="solid"/>
            <a:miter/>
            <a:headEnd type="none" w="med" len="med"/>
            <a:tailEnd type="arrow" w="med" len="med"/>
          </a:ln>
        </p:spPr>
      </p:cxnSp>
      <p:sp>
        <p:nvSpPr>
          <p:cNvPr id="49178" name="流程图: 过程 34"/>
          <p:cNvSpPr/>
          <p:nvPr/>
        </p:nvSpPr>
        <p:spPr>
          <a:xfrm>
            <a:off x="5521325" y="4467225"/>
            <a:ext cx="1714500" cy="500063"/>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a:t>
            </a:r>
            <a:endParaRPr lang="en-US" altLang="zh-CN" sz="2800" dirty="0">
              <a:latin typeface="Times New Roman" panose="02020603050405020304" pitchFamily="18" charset="0"/>
              <a:ea typeface="微软雅黑" panose="020B0503020204020204" pitchFamily="34" charset="-122"/>
            </a:endParaRPr>
          </a:p>
        </p:txBody>
      </p:sp>
      <p:sp>
        <p:nvSpPr>
          <p:cNvPr id="49179" name="TextBox 46"/>
          <p:cNvSpPr txBox="1"/>
          <p:nvPr/>
        </p:nvSpPr>
        <p:spPr>
          <a:xfrm>
            <a:off x="3571875" y="1071563"/>
            <a:ext cx="500063"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endParaRPr lang="en-US" altLang="zh-CN" sz="2800" dirty="0">
              <a:latin typeface="Times New Roman" panose="02020603050405020304" pitchFamily="18" charset="0"/>
              <a:ea typeface="微软雅黑" panose="020B0503020204020204" pitchFamily="34" charset="-122"/>
            </a:endParaRPr>
          </a:p>
        </p:txBody>
      </p:sp>
      <p:cxnSp>
        <p:nvCxnSpPr>
          <p:cNvPr id="49180" name="直接箭头连接符 47"/>
          <p:cNvCxnSpPr/>
          <p:nvPr/>
        </p:nvCxnSpPr>
        <p:spPr>
          <a:xfrm rot="-5400000" flipH="1">
            <a:off x="1979613" y="5643563"/>
            <a:ext cx="428625" cy="0"/>
          </a:xfrm>
          <a:prstGeom prst="straightConnector1">
            <a:avLst/>
          </a:prstGeom>
          <a:ln w="38100" cap="flat" cmpd="sng">
            <a:solidFill>
              <a:schemeClr val="tx1"/>
            </a:solidFill>
            <a:prstDash val="solid"/>
            <a:miter/>
            <a:headEnd type="none" w="med" len="med"/>
            <a:tailEnd type="arrow" w="med" len="med"/>
          </a:ln>
        </p:spPr>
      </p:cxnSp>
      <p:cxnSp>
        <p:nvCxnSpPr>
          <p:cNvPr id="49181" name="直接箭头连接符 48"/>
          <p:cNvCxnSpPr/>
          <p:nvPr/>
        </p:nvCxnSpPr>
        <p:spPr>
          <a:xfrm>
            <a:off x="357188" y="1000125"/>
            <a:ext cx="1917700" cy="26988"/>
          </a:xfrm>
          <a:prstGeom prst="straightConnector1">
            <a:avLst/>
          </a:prstGeom>
          <a:ln w="38100" cap="flat" cmpd="sng">
            <a:solidFill>
              <a:schemeClr val="tx1"/>
            </a:solidFill>
            <a:prstDash val="solid"/>
            <a:miter/>
            <a:headEnd type="none" w="med" len="med"/>
            <a:tailEnd type="arrow" w="med" len="med"/>
          </a:ln>
        </p:spPr>
      </p:cxnSp>
      <p:cxnSp>
        <p:nvCxnSpPr>
          <p:cNvPr id="49182" name="直接连接符 49"/>
          <p:cNvCxnSpPr/>
          <p:nvPr/>
        </p:nvCxnSpPr>
        <p:spPr>
          <a:xfrm rot="5400000">
            <a:off x="2320925" y="3535363"/>
            <a:ext cx="3786188" cy="0"/>
          </a:xfrm>
          <a:prstGeom prst="line">
            <a:avLst/>
          </a:prstGeom>
          <a:ln w="38100" cap="flat" cmpd="sng">
            <a:solidFill>
              <a:schemeClr val="tx1"/>
            </a:solidFill>
            <a:prstDash val="solid"/>
            <a:miter/>
            <a:headEnd type="none" w="med" len="med"/>
            <a:tailEnd type="none" w="med" len="med"/>
          </a:ln>
        </p:spPr>
      </p:cxnSp>
      <p:cxnSp>
        <p:nvCxnSpPr>
          <p:cNvPr id="49183" name="直接连接符 50"/>
          <p:cNvCxnSpPr/>
          <p:nvPr/>
        </p:nvCxnSpPr>
        <p:spPr>
          <a:xfrm rot="-10800000" flipV="1">
            <a:off x="2193925" y="5429250"/>
            <a:ext cx="2020888" cy="0"/>
          </a:xfrm>
          <a:prstGeom prst="line">
            <a:avLst/>
          </a:prstGeom>
          <a:ln w="38100" cap="flat" cmpd="sng">
            <a:solidFill>
              <a:schemeClr val="tx1"/>
            </a:solidFill>
            <a:prstDash val="solid"/>
            <a:miter/>
            <a:headEnd type="none" w="med" len="med"/>
            <a:tailEnd type="none" w="med" len="med"/>
          </a:ln>
        </p:spPr>
      </p:cxnSp>
      <p:cxnSp>
        <p:nvCxnSpPr>
          <p:cNvPr id="49184" name="直接连接符 51"/>
          <p:cNvCxnSpPr>
            <a:endCxn id="49185" idx="3"/>
          </p:cNvCxnSpPr>
          <p:nvPr/>
        </p:nvCxnSpPr>
        <p:spPr>
          <a:xfrm rot="10800000">
            <a:off x="3648075" y="1597025"/>
            <a:ext cx="566738" cy="4763"/>
          </a:xfrm>
          <a:prstGeom prst="line">
            <a:avLst/>
          </a:prstGeom>
          <a:ln w="38100" cap="flat" cmpd="sng">
            <a:solidFill>
              <a:schemeClr val="tx1"/>
            </a:solidFill>
            <a:prstDash val="solid"/>
            <a:miter/>
            <a:headEnd type="none" w="med" len="med"/>
            <a:tailEnd type="none" w="med" len="med"/>
          </a:ln>
        </p:spPr>
      </p:cxnSp>
      <p:sp>
        <p:nvSpPr>
          <p:cNvPr id="49185" name="流程图: 决策 52"/>
          <p:cNvSpPr/>
          <p:nvPr/>
        </p:nvSpPr>
        <p:spPr>
          <a:xfrm>
            <a:off x="790575" y="1239838"/>
            <a:ext cx="2857500"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1</a:t>
            </a:r>
            <a:endParaRPr lang="zh-CN" altLang="en-US" sz="2600" dirty="0">
              <a:latin typeface="Times New Roman" panose="02020603050405020304" pitchFamily="18" charset="0"/>
              <a:ea typeface="微软雅黑" panose="020B0503020204020204" pitchFamily="34" charset="-122"/>
            </a:endParaRPr>
          </a:p>
        </p:txBody>
      </p:sp>
      <p:cxnSp>
        <p:nvCxnSpPr>
          <p:cNvPr id="49186" name="直接箭头连接符 53"/>
          <p:cNvCxnSpPr/>
          <p:nvPr/>
        </p:nvCxnSpPr>
        <p:spPr>
          <a:xfrm rot="-5400000" flipH="1">
            <a:off x="2005013" y="1071563"/>
            <a:ext cx="428625" cy="0"/>
          </a:xfrm>
          <a:prstGeom prst="straightConnector1">
            <a:avLst/>
          </a:prstGeom>
          <a:ln w="38100" cap="flat" cmpd="sng">
            <a:solidFill>
              <a:schemeClr val="tx1"/>
            </a:solidFill>
            <a:prstDash val="solid"/>
            <a:miter/>
            <a:headEnd type="none" w="med" len="med"/>
            <a:tailEnd type="arrow" w="med" len="med"/>
          </a:ln>
        </p:spPr>
      </p:cxnSp>
      <p:sp>
        <p:nvSpPr>
          <p:cNvPr id="49187" name="TextBox 54"/>
          <p:cNvSpPr txBox="1"/>
          <p:nvPr/>
        </p:nvSpPr>
        <p:spPr>
          <a:xfrm>
            <a:off x="2290763" y="1882775"/>
            <a:ext cx="500062"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cxnSp>
        <p:nvCxnSpPr>
          <p:cNvPr id="49188" name="直接箭头连接符 55"/>
          <p:cNvCxnSpPr/>
          <p:nvPr/>
        </p:nvCxnSpPr>
        <p:spPr>
          <a:xfrm rot="-5400000" flipH="1">
            <a:off x="2005013" y="2130425"/>
            <a:ext cx="428625" cy="0"/>
          </a:xfrm>
          <a:prstGeom prst="straightConnector1">
            <a:avLst/>
          </a:prstGeom>
          <a:ln w="38100" cap="flat" cmpd="sng">
            <a:solidFill>
              <a:schemeClr val="tx1"/>
            </a:solidFill>
            <a:prstDash val="solid"/>
            <a:miter/>
            <a:headEnd type="none" w="med" len="med"/>
            <a:tailEnd type="arrow" w="med" len="med"/>
          </a:ln>
        </p:spPr>
      </p:cxnSp>
      <p:sp>
        <p:nvSpPr>
          <p:cNvPr id="49189" name="流程图: 决策 56"/>
          <p:cNvSpPr/>
          <p:nvPr/>
        </p:nvSpPr>
        <p:spPr>
          <a:xfrm>
            <a:off x="714375" y="3286125"/>
            <a:ext cx="3000375"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latin typeface="Times New Roman" panose="02020603050405020304" pitchFamily="18" charset="0"/>
                <a:ea typeface="微软雅黑" panose="020B0503020204020204" pitchFamily="34" charset="-122"/>
              </a:rPr>
              <a:t>表达式</a:t>
            </a:r>
            <a:r>
              <a:rPr lang="en-US" altLang="zh-CN" sz="2600" dirty="0">
                <a:latin typeface="Times New Roman" panose="02020603050405020304" pitchFamily="18" charset="0"/>
                <a:ea typeface="微软雅黑" panose="020B0503020204020204" pitchFamily="34" charset="-122"/>
              </a:rPr>
              <a:t>2</a:t>
            </a:r>
            <a:endParaRPr lang="zh-CN" altLang="en-US" sz="2600" dirty="0">
              <a:latin typeface="Times New Roman" panose="02020603050405020304" pitchFamily="18" charset="0"/>
              <a:ea typeface="微软雅黑" panose="020B0503020204020204" pitchFamily="34" charset="-122"/>
            </a:endParaRPr>
          </a:p>
        </p:txBody>
      </p:sp>
      <p:sp>
        <p:nvSpPr>
          <p:cNvPr id="49190" name="TextBox 57"/>
          <p:cNvSpPr txBox="1"/>
          <p:nvPr/>
        </p:nvSpPr>
        <p:spPr>
          <a:xfrm>
            <a:off x="2290763" y="3929063"/>
            <a:ext cx="500062"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a:t>
            </a:r>
            <a:endParaRPr lang="en-US" altLang="zh-CN" sz="2800" dirty="0">
              <a:latin typeface="Times New Roman" panose="02020603050405020304" pitchFamily="18" charset="0"/>
              <a:ea typeface="微软雅黑" panose="020B0503020204020204" pitchFamily="34" charset="-122"/>
            </a:endParaRPr>
          </a:p>
        </p:txBody>
      </p:sp>
      <p:cxnSp>
        <p:nvCxnSpPr>
          <p:cNvPr id="49191" name="直接箭头连接符 58"/>
          <p:cNvCxnSpPr/>
          <p:nvPr/>
        </p:nvCxnSpPr>
        <p:spPr>
          <a:xfrm rot="-5400000" flipH="1">
            <a:off x="2005013" y="4214813"/>
            <a:ext cx="428625" cy="0"/>
          </a:xfrm>
          <a:prstGeom prst="straightConnector1">
            <a:avLst/>
          </a:prstGeom>
          <a:ln w="38100" cap="flat" cmpd="sng">
            <a:solidFill>
              <a:schemeClr val="tx1"/>
            </a:solidFill>
            <a:prstDash val="solid"/>
            <a:miter/>
            <a:headEnd type="none" w="med" len="med"/>
            <a:tailEnd type="arrow" w="med" len="med"/>
          </a:ln>
        </p:spPr>
      </p:cxnSp>
      <p:cxnSp>
        <p:nvCxnSpPr>
          <p:cNvPr id="49192" name="直接连接符 60"/>
          <p:cNvCxnSpPr/>
          <p:nvPr/>
        </p:nvCxnSpPr>
        <p:spPr>
          <a:xfrm rot="10800000">
            <a:off x="357188" y="5199063"/>
            <a:ext cx="1844675" cy="15875"/>
          </a:xfrm>
          <a:prstGeom prst="line">
            <a:avLst/>
          </a:prstGeom>
          <a:ln w="38100" cap="flat" cmpd="sng">
            <a:solidFill>
              <a:schemeClr val="tx1"/>
            </a:solidFill>
            <a:prstDash val="solid"/>
            <a:miter/>
            <a:headEnd type="none" w="med" len="med"/>
            <a:tailEnd type="none" w="med" len="med"/>
          </a:ln>
        </p:spPr>
      </p:cxnSp>
      <p:cxnSp>
        <p:nvCxnSpPr>
          <p:cNvPr id="49193" name="直接连接符 61"/>
          <p:cNvCxnSpPr/>
          <p:nvPr/>
        </p:nvCxnSpPr>
        <p:spPr>
          <a:xfrm rot="-5400000" flipV="1">
            <a:off x="-1749425" y="3106738"/>
            <a:ext cx="4214813" cy="0"/>
          </a:xfrm>
          <a:prstGeom prst="line">
            <a:avLst/>
          </a:prstGeom>
          <a:ln w="38100" cap="flat" cmpd="sng">
            <a:solidFill>
              <a:schemeClr val="tx1"/>
            </a:solidFill>
            <a:prstDash val="solid"/>
            <a:miter/>
            <a:headEnd type="none" w="med" len="med"/>
            <a:tailEnd type="none" w="med" len="med"/>
          </a:ln>
        </p:spPr>
      </p:cxnSp>
      <p:cxnSp>
        <p:nvCxnSpPr>
          <p:cNvPr id="49194" name="直接连接符 63"/>
          <p:cNvCxnSpPr/>
          <p:nvPr/>
        </p:nvCxnSpPr>
        <p:spPr>
          <a:xfrm rot="5400000">
            <a:off x="2058988" y="5072063"/>
            <a:ext cx="285750" cy="0"/>
          </a:xfrm>
          <a:prstGeom prst="line">
            <a:avLst/>
          </a:prstGeom>
          <a:ln w="38100" cap="flat" cmpd="sng">
            <a:solidFill>
              <a:schemeClr val="tx1"/>
            </a:solidFill>
            <a:prstDash val="solid"/>
            <a:miter/>
            <a:headEnd type="none" w="med" len="med"/>
            <a:tailEnd type="none" w="med" len="med"/>
          </a:ln>
        </p:spPr>
      </p:cxnSp>
      <p:cxnSp>
        <p:nvCxnSpPr>
          <p:cNvPr id="49195" name="直接连接符 64"/>
          <p:cNvCxnSpPr/>
          <p:nvPr/>
        </p:nvCxnSpPr>
        <p:spPr>
          <a:xfrm rot="10800000">
            <a:off x="3786188" y="3643313"/>
            <a:ext cx="428625" cy="0"/>
          </a:xfrm>
          <a:prstGeom prst="line">
            <a:avLst/>
          </a:prstGeom>
          <a:ln w="38100" cap="flat" cmpd="sng">
            <a:solidFill>
              <a:schemeClr val="tx1"/>
            </a:solidFill>
            <a:prstDash val="solid"/>
            <a:miter/>
            <a:headEnd type="none" w="med" len="med"/>
            <a:tailEnd type="none" w="med" len="med"/>
          </a:ln>
        </p:spPr>
      </p:cxnSp>
      <p:sp>
        <p:nvSpPr>
          <p:cNvPr id="49196" name="TextBox 67"/>
          <p:cNvSpPr txBox="1"/>
          <p:nvPr/>
        </p:nvSpPr>
        <p:spPr>
          <a:xfrm>
            <a:off x="3643313" y="3143250"/>
            <a:ext cx="449262"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Y</a:t>
            </a:r>
            <a:endParaRPr lang="en-US" altLang="zh-CN" sz="2800" dirty="0">
              <a:latin typeface="Times New Roman" panose="02020603050405020304" pitchFamily="18" charset="0"/>
              <a:ea typeface="微软雅黑" panose="020B0503020204020204" pitchFamily="34" charset="-122"/>
            </a:endParaRPr>
          </a:p>
        </p:txBody>
      </p:sp>
      <p:sp>
        <p:nvSpPr>
          <p:cNvPr id="49197" name="流程图: 过程 68"/>
          <p:cNvSpPr/>
          <p:nvPr/>
        </p:nvSpPr>
        <p:spPr>
          <a:xfrm>
            <a:off x="1390650" y="2349500"/>
            <a:ext cx="1714500" cy="500063"/>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a:t>
            </a:r>
            <a:endParaRPr lang="en-US" altLang="zh-CN" sz="2800" dirty="0">
              <a:latin typeface="Times New Roman" panose="02020603050405020304" pitchFamily="18" charset="0"/>
              <a:ea typeface="微软雅黑" panose="020B0503020204020204" pitchFamily="34" charset="-122"/>
            </a:endParaRPr>
          </a:p>
        </p:txBody>
      </p:sp>
      <p:cxnSp>
        <p:nvCxnSpPr>
          <p:cNvPr id="49198" name="直接箭头连接符 69"/>
          <p:cNvCxnSpPr/>
          <p:nvPr/>
        </p:nvCxnSpPr>
        <p:spPr>
          <a:xfrm rot="-5400000" flipH="1">
            <a:off x="2000250" y="3071813"/>
            <a:ext cx="428625" cy="0"/>
          </a:xfrm>
          <a:prstGeom prst="straightConnector1">
            <a:avLst/>
          </a:prstGeom>
          <a:ln w="38100" cap="flat" cmpd="sng">
            <a:solidFill>
              <a:schemeClr val="tx1"/>
            </a:solidFill>
            <a:prstDash val="solid"/>
            <a:miter/>
            <a:headEnd type="none" w="med" len="med"/>
            <a:tailEnd type="arrow" w="med" len="med"/>
          </a:ln>
        </p:spPr>
      </p:cxnSp>
      <p:sp>
        <p:nvSpPr>
          <p:cNvPr id="49199" name="流程图: 过程 70"/>
          <p:cNvSpPr/>
          <p:nvPr/>
        </p:nvSpPr>
        <p:spPr>
          <a:xfrm>
            <a:off x="1377950" y="4395788"/>
            <a:ext cx="1714500" cy="5000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a:t>
            </a:r>
            <a:endParaRPr lang="en-US" altLang="zh-CN" sz="2800" dirty="0">
              <a:latin typeface="Times New Roman" panose="02020603050405020304" pitchFamily="18" charset="0"/>
              <a:ea typeface="微软雅黑" panose="020B0503020204020204" pitchFamily="34" charset="-122"/>
            </a:endParaRPr>
          </a:p>
        </p:txBody>
      </p:sp>
      <p:sp>
        <p:nvSpPr>
          <p:cNvPr id="75" name="TextBox 74"/>
          <p:cNvSpPr txBox="1"/>
          <p:nvPr/>
        </p:nvSpPr>
        <p:spPr>
          <a:xfrm>
            <a:off x="1071563" y="142875"/>
            <a:ext cx="2500312" cy="491490"/>
          </a:xfrm>
          <a:prstGeom prst="rect">
            <a:avLst/>
          </a:prstGeom>
          <a:solidFill>
            <a:srgbClr val="FFFFCC"/>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solidFill>
                  <a:srgbClr val="FF0000"/>
                </a:solidFill>
                <a:latin typeface="Times New Roman" panose="02020603050405020304" pitchFamily="18" charset="0"/>
                <a:ea typeface="微软雅黑" panose="020B0503020204020204" pitchFamily="34" charset="-122"/>
              </a:rPr>
              <a:t>break</a:t>
            </a:r>
            <a:r>
              <a:rPr lang="zh-CN" altLang="zh-CN" sz="2600" dirty="0">
                <a:solidFill>
                  <a:srgbClr val="FF0000"/>
                </a:solidFill>
                <a:latin typeface="Times New Roman" panose="02020603050405020304" pitchFamily="18" charset="0"/>
                <a:ea typeface="微软雅黑" panose="020B0503020204020204" pitchFamily="34" charset="-122"/>
              </a:rPr>
              <a:t>语句</a:t>
            </a:r>
            <a:endParaRPr lang="zh-CN" altLang="en-US" sz="2600" dirty="0">
              <a:solidFill>
                <a:srgbClr val="FF0000"/>
              </a:solidFill>
              <a:latin typeface="Times New Roman" panose="02020603050405020304" pitchFamily="18" charset="0"/>
              <a:ea typeface="微软雅黑" panose="020B0503020204020204" pitchFamily="34" charset="-122"/>
            </a:endParaRPr>
          </a:p>
        </p:txBody>
      </p:sp>
      <p:sp>
        <p:nvSpPr>
          <p:cNvPr id="76" name="TextBox 75"/>
          <p:cNvSpPr txBox="1"/>
          <p:nvPr/>
        </p:nvSpPr>
        <p:spPr>
          <a:xfrm>
            <a:off x="5286375" y="142875"/>
            <a:ext cx="2928938" cy="491490"/>
          </a:xfrm>
          <a:prstGeom prst="rect">
            <a:avLst/>
          </a:prstGeom>
          <a:solidFill>
            <a:srgbClr val="FFFFCC"/>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600" dirty="0">
                <a:solidFill>
                  <a:srgbClr val="FF0000"/>
                </a:solidFill>
                <a:latin typeface="Times New Roman" panose="02020603050405020304" pitchFamily="18" charset="0"/>
                <a:ea typeface="微软雅黑" panose="020B0503020204020204" pitchFamily="34" charset="-122"/>
              </a:rPr>
              <a:t>continue</a:t>
            </a:r>
            <a:r>
              <a:rPr lang="zh-CN" altLang="zh-CN" sz="2600" dirty="0">
                <a:solidFill>
                  <a:srgbClr val="FF0000"/>
                </a:solidFill>
                <a:latin typeface="Times New Roman" panose="02020603050405020304" pitchFamily="18" charset="0"/>
                <a:ea typeface="微软雅黑" panose="020B0503020204020204" pitchFamily="34" charset="-122"/>
              </a:rPr>
              <a:t>语句</a:t>
            </a:r>
            <a:endParaRPr lang="zh-CN" altLang="en-US" sz="2600" dirty="0">
              <a:solidFill>
                <a:srgbClr val="FF0000"/>
              </a:solidFill>
              <a:latin typeface="Times New Roman" panose="02020603050405020304" pitchFamily="18" charset="0"/>
              <a:ea typeface="微软雅黑" panose="020B0503020204020204" pitchFamily="34" charset="-122"/>
            </a:endParaRPr>
          </a:p>
        </p:txBody>
      </p:sp>
      <p:sp>
        <p:nvSpPr>
          <p:cNvPr id="77" name="圆角矩形标注 76"/>
          <p:cNvSpPr/>
          <p:nvPr/>
        </p:nvSpPr>
        <p:spPr>
          <a:xfrm>
            <a:off x="1547178" y="5948680"/>
            <a:ext cx="2571750" cy="571500"/>
          </a:xfrm>
          <a:prstGeom prst="wedgeRoundRectCallout">
            <a:avLst>
              <a:gd name="adj1" fmla="val 42292"/>
              <a:gd name="adj2" fmla="val -445116"/>
              <a:gd name="adj3" fmla="val 16667"/>
            </a:avLst>
          </a:prstGeom>
          <a:solidFill>
            <a:srgbClr val="FFCCFF"/>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solidFill>
                  <a:srgbClr val="FF0000"/>
                </a:solidFill>
                <a:latin typeface="Times New Roman" panose="02020603050405020304" pitchFamily="18" charset="0"/>
                <a:ea typeface="微软雅黑" panose="020B0503020204020204" pitchFamily="34" charset="-122"/>
              </a:rPr>
              <a:t>强行退出循环</a:t>
            </a:r>
            <a:endParaRPr lang="zh-CN" altLang="en-US" sz="2600" dirty="0">
              <a:solidFill>
                <a:srgbClr val="FF0000"/>
              </a:solidFill>
              <a:latin typeface="Times New Roman" panose="02020603050405020304" pitchFamily="18" charset="0"/>
              <a:ea typeface="微软雅黑" panose="020B0503020204020204" pitchFamily="34" charset="-122"/>
            </a:endParaRPr>
          </a:p>
        </p:txBody>
      </p:sp>
      <p:sp>
        <p:nvSpPr>
          <p:cNvPr id="78" name="圆角矩形标注 77"/>
          <p:cNvSpPr/>
          <p:nvPr/>
        </p:nvSpPr>
        <p:spPr>
          <a:xfrm>
            <a:off x="5072063" y="6072188"/>
            <a:ext cx="2786062" cy="571500"/>
          </a:xfrm>
          <a:prstGeom prst="wedgeRoundRectCallout">
            <a:avLst>
              <a:gd name="adj1" fmla="val 26361"/>
              <a:gd name="adj2" fmla="val -212787"/>
              <a:gd name="adj3" fmla="val 16667"/>
            </a:avLst>
          </a:prstGeom>
          <a:solidFill>
            <a:srgbClr val="FFCCFF"/>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600" dirty="0">
                <a:solidFill>
                  <a:srgbClr val="FF0000"/>
                </a:solidFill>
                <a:latin typeface="Times New Roman" panose="02020603050405020304" pitchFamily="18" charset="0"/>
                <a:ea typeface="微软雅黑" panose="020B0503020204020204" pitchFamily="34" charset="-122"/>
              </a:rPr>
              <a:t>只结束本次循环</a:t>
            </a:r>
            <a:endParaRPr lang="zh-CN" altLang="en-US" sz="2600" dirty="0">
              <a:solidFill>
                <a:srgbClr val="FF0000"/>
              </a:solidFill>
              <a:latin typeface="Times New Roman" panose="02020603050405020304" pitchFamily="18" charset="0"/>
              <a:ea typeface="微软雅黑" panose="020B0503020204020204" pitchFamily="34" charset="-122"/>
            </a:endParaRPr>
          </a:p>
        </p:txBody>
      </p:sp>
      <p:pic>
        <p:nvPicPr>
          <p:cNvPr id="49204" name="图片 51"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linds(horizontal)">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blinds(horizontal)">
                                      <p:cBhvr>
                                        <p:cTn id="12" dur="5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blinds(horizontal)">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blinds(horizontal)">
                                      <p:cBhvr>
                                        <p:cTn id="2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bldLvl="0" animBg="1"/>
      <p:bldP spid="76" grpId="0" bldLvl="0" animBg="1"/>
      <p:bldP spid="77" grpId="0" bldLvl="0" animBg="1"/>
      <p:bldP spid="7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3"/>
          <p:cNvSpPr>
            <a:spLocks noGrp="1"/>
          </p:cNvSpPr>
          <p:nvPr>
            <p:ph idx="1"/>
          </p:nvPr>
        </p:nvSpPr>
        <p:spPr>
          <a:xfrm>
            <a:off x="322898" y="692785"/>
            <a:ext cx="6215062" cy="3714750"/>
          </a:xfrm>
        </p:spPr>
        <p:txBody>
          <a:bodyPr vert="horz" wrap="square" lIns="91440" tIns="45720" rIns="91440" bIns="45720" anchor="t" anchorCtr="0"/>
          <a:p>
            <a:pPr>
              <a:buFont typeface="Wingdings" panose="05000000000000000000" pitchFamily="2" charset="2"/>
              <a:buNone/>
            </a:pPr>
            <a:r>
              <a:rPr kumimoji="1" lang="zh-CN" altLang="zh-CN" dirty="0">
                <a:solidFill>
                  <a:srgbClr val="0000CC"/>
                </a:solidFill>
                <a:cs typeface="+mn-cs"/>
              </a:rPr>
              <a:t>例</a:t>
            </a:r>
            <a:r>
              <a:rPr kumimoji="1" lang="en-US" altLang="zh-CN" dirty="0">
                <a:solidFill>
                  <a:srgbClr val="0000CC"/>
                </a:solidFill>
                <a:cs typeface="+mn-cs"/>
              </a:rPr>
              <a:t>5.6    </a:t>
            </a:r>
            <a:r>
              <a:rPr kumimoji="1" lang="zh-CN" altLang="zh-CN" dirty="0">
                <a:cs typeface="+mn-cs"/>
              </a:rPr>
              <a:t>输出以下</a:t>
            </a:r>
            <a:r>
              <a:rPr kumimoji="1" lang="en-US" altLang="zh-CN" dirty="0">
                <a:cs typeface="+mn-cs"/>
              </a:rPr>
              <a:t>4*5</a:t>
            </a:r>
            <a:r>
              <a:rPr kumimoji="1" lang="zh-CN" altLang="zh-CN" dirty="0">
                <a:cs typeface="+mn-cs"/>
              </a:rPr>
              <a:t>的矩阵。</a:t>
            </a:r>
            <a:endParaRPr kumimoji="1" lang="zh-CN" altLang="zh-CN" dirty="0">
              <a:cs typeface="+mn-cs"/>
            </a:endParaRPr>
          </a:p>
          <a:p>
            <a:pPr>
              <a:buFont typeface="Wingdings" panose="05000000000000000000" pitchFamily="2" charset="2"/>
              <a:buNone/>
            </a:pPr>
            <a:r>
              <a:rPr kumimoji="1" lang="en-US" altLang="zh-CN" dirty="0">
                <a:cs typeface="+mn-cs"/>
              </a:rPr>
              <a:t>                1    2    3    4   5</a:t>
            </a:r>
            <a:endParaRPr kumimoji="1" lang="zh-CN" altLang="zh-CN" dirty="0">
              <a:cs typeface="+mn-cs"/>
            </a:endParaRPr>
          </a:p>
          <a:p>
            <a:pPr>
              <a:buFont typeface="Wingdings" panose="05000000000000000000" pitchFamily="2" charset="2"/>
              <a:buNone/>
            </a:pPr>
            <a:r>
              <a:rPr kumimoji="1" lang="en-US" altLang="zh-CN" dirty="0">
                <a:cs typeface="+mn-cs"/>
              </a:rPr>
              <a:t>                2    4    6    8  10</a:t>
            </a:r>
            <a:endParaRPr kumimoji="1" lang="zh-CN" altLang="zh-CN" dirty="0">
              <a:cs typeface="+mn-cs"/>
            </a:endParaRPr>
          </a:p>
          <a:p>
            <a:pPr>
              <a:buFont typeface="Wingdings" panose="05000000000000000000" pitchFamily="2" charset="2"/>
              <a:buNone/>
            </a:pPr>
            <a:r>
              <a:rPr kumimoji="1" lang="en-US" altLang="zh-CN" dirty="0">
                <a:cs typeface="+mn-cs"/>
              </a:rPr>
              <a:t>                3    6    9  12  15</a:t>
            </a:r>
            <a:endParaRPr kumimoji="1" lang="zh-CN" altLang="zh-CN" dirty="0">
              <a:cs typeface="+mn-cs"/>
            </a:endParaRPr>
          </a:p>
          <a:p>
            <a:pPr>
              <a:buFont typeface="Wingdings" panose="05000000000000000000" pitchFamily="2" charset="2"/>
              <a:buNone/>
            </a:pPr>
            <a:r>
              <a:rPr kumimoji="1" lang="en-US" altLang="zh-CN" dirty="0">
                <a:cs typeface="+mn-cs"/>
              </a:rPr>
              <a:t>                4    8  12  16  20</a:t>
            </a:r>
            <a:endParaRPr kumimoji="1" lang="zh-CN" altLang="zh-CN" dirty="0">
              <a:cs typeface="+mn-cs"/>
            </a:endParaRPr>
          </a:p>
        </p:txBody>
      </p:sp>
      <p:pic>
        <p:nvPicPr>
          <p:cNvPr id="50179" name="图片 2"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3"/>
          <p:cNvSpPr>
            <a:spLocks noGrp="1"/>
          </p:cNvSpPr>
          <p:nvPr>
            <p:ph idx="1"/>
          </p:nvPr>
        </p:nvSpPr>
        <p:spPr>
          <a:xfrm>
            <a:off x="251143" y="548640"/>
            <a:ext cx="7429500" cy="4143375"/>
          </a:xfrm>
        </p:spPr>
        <p:txBody>
          <a:bodyPr vert="horz" wrap="square" lIns="91440" tIns="45720" rIns="91440" bIns="45720" anchor="t" anchorCtr="0"/>
          <a:p>
            <a:pPr>
              <a:lnSpc>
                <a:spcPct val="140000"/>
              </a:lnSpc>
            </a:pPr>
            <a:r>
              <a:rPr kumimoji="1" lang="zh-CN" altLang="zh-CN" spc="200" dirty="0">
                <a:solidFill>
                  <a:srgbClr val="235A67"/>
                </a:solidFill>
                <a:uFillTx/>
                <a:cs typeface="+mn-cs"/>
              </a:rPr>
              <a:t>解题思路：</a:t>
            </a:r>
            <a:endParaRPr kumimoji="1" lang="en-US" altLang="zh-CN" spc="200" dirty="0">
              <a:solidFill>
                <a:srgbClr val="235A67"/>
              </a:solidFill>
              <a:uFillTx/>
              <a:cs typeface="+mn-cs"/>
            </a:endParaRPr>
          </a:p>
          <a:p>
            <a:pPr lvl="1">
              <a:lnSpc>
                <a:spcPct val="140000"/>
              </a:lnSpc>
            </a:pPr>
            <a:r>
              <a:rPr kumimoji="1" lang="zh-CN" altLang="zh-CN" spc="200" dirty="0">
                <a:solidFill>
                  <a:srgbClr val="235A67"/>
                </a:solidFill>
                <a:uFillTx/>
              </a:rPr>
              <a:t>可以用循环的嵌套来处理此问题</a:t>
            </a:r>
            <a:endParaRPr kumimoji="1" lang="en-US" altLang="zh-CN" spc="200" dirty="0">
              <a:solidFill>
                <a:srgbClr val="235A67"/>
              </a:solidFill>
              <a:uFillTx/>
            </a:endParaRPr>
          </a:p>
          <a:p>
            <a:pPr lvl="1">
              <a:lnSpc>
                <a:spcPct val="140000"/>
              </a:lnSpc>
            </a:pPr>
            <a:r>
              <a:rPr kumimoji="1" lang="zh-CN" altLang="zh-CN" spc="200" dirty="0">
                <a:solidFill>
                  <a:srgbClr val="235A67"/>
                </a:solidFill>
                <a:uFillTx/>
              </a:rPr>
              <a:t>用外循环来输出一行数据</a:t>
            </a:r>
            <a:endParaRPr kumimoji="1" lang="en-US" altLang="zh-CN" spc="200" dirty="0">
              <a:solidFill>
                <a:srgbClr val="235A67"/>
              </a:solidFill>
              <a:uFillTx/>
            </a:endParaRPr>
          </a:p>
          <a:p>
            <a:pPr lvl="1">
              <a:lnSpc>
                <a:spcPct val="140000"/>
              </a:lnSpc>
            </a:pPr>
            <a:r>
              <a:rPr kumimoji="1" lang="zh-CN" altLang="zh-CN" spc="200" dirty="0">
                <a:solidFill>
                  <a:srgbClr val="235A67"/>
                </a:solidFill>
                <a:uFillTx/>
              </a:rPr>
              <a:t>用内循环来输出一列数据</a:t>
            </a:r>
            <a:endParaRPr kumimoji="1" lang="en-US" altLang="zh-CN" spc="200" dirty="0">
              <a:solidFill>
                <a:srgbClr val="235A67"/>
              </a:solidFill>
              <a:uFillTx/>
            </a:endParaRPr>
          </a:p>
          <a:p>
            <a:pPr lvl="1">
              <a:lnSpc>
                <a:spcPct val="140000"/>
              </a:lnSpc>
            </a:pPr>
            <a:r>
              <a:rPr kumimoji="1" lang="zh-CN" altLang="en-US" spc="200" dirty="0">
                <a:solidFill>
                  <a:srgbClr val="235A67"/>
                </a:solidFill>
                <a:uFillTx/>
              </a:rPr>
              <a:t>按</a:t>
            </a:r>
            <a:r>
              <a:rPr kumimoji="1" lang="zh-CN" altLang="zh-CN" spc="200" dirty="0">
                <a:solidFill>
                  <a:srgbClr val="235A67"/>
                </a:solidFill>
                <a:uFillTx/>
              </a:rPr>
              <a:t>矩阵的格式</a:t>
            </a:r>
            <a:r>
              <a:rPr kumimoji="1" lang="en-US" altLang="zh-CN" spc="200" dirty="0">
                <a:solidFill>
                  <a:srgbClr val="235A67"/>
                </a:solidFill>
                <a:uFillTx/>
              </a:rPr>
              <a:t>(</a:t>
            </a:r>
            <a:r>
              <a:rPr kumimoji="1" lang="zh-CN" altLang="zh-CN" spc="200" dirty="0">
                <a:solidFill>
                  <a:srgbClr val="235A67"/>
                </a:solidFill>
                <a:uFillTx/>
              </a:rPr>
              <a:t>每行</a:t>
            </a:r>
            <a:r>
              <a:rPr kumimoji="1" lang="en-US" altLang="zh-CN" spc="200" dirty="0">
                <a:solidFill>
                  <a:srgbClr val="235A67"/>
                </a:solidFill>
                <a:uFillTx/>
              </a:rPr>
              <a:t>5</a:t>
            </a:r>
            <a:r>
              <a:rPr kumimoji="1" lang="zh-CN" altLang="zh-CN" spc="200" dirty="0">
                <a:solidFill>
                  <a:srgbClr val="235A67"/>
                </a:solidFill>
                <a:uFillTx/>
              </a:rPr>
              <a:t>个数据</a:t>
            </a:r>
            <a:r>
              <a:rPr kumimoji="1" lang="en-US" altLang="zh-CN" spc="200" dirty="0">
                <a:solidFill>
                  <a:srgbClr val="235A67"/>
                </a:solidFill>
                <a:uFillTx/>
              </a:rPr>
              <a:t>)</a:t>
            </a:r>
            <a:r>
              <a:rPr kumimoji="1" lang="zh-CN" altLang="zh-CN" spc="200" dirty="0">
                <a:solidFill>
                  <a:srgbClr val="235A67"/>
                </a:solidFill>
                <a:uFillTx/>
              </a:rPr>
              <a:t>输出</a:t>
            </a:r>
            <a:endParaRPr kumimoji="1" lang="zh-CN" altLang="zh-CN" spc="200" dirty="0">
              <a:solidFill>
                <a:srgbClr val="235A67"/>
              </a:solidFill>
              <a:uFillTx/>
            </a:endParaRPr>
          </a:p>
        </p:txBody>
      </p:sp>
      <p:pic>
        <p:nvPicPr>
          <p:cNvPr id="51203" name="图片 2"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3"/>
          <p:cNvSpPr>
            <a:spLocks noGrp="1"/>
          </p:cNvSpPr>
          <p:nvPr>
            <p:ph idx="1"/>
          </p:nvPr>
        </p:nvSpPr>
        <p:spPr>
          <a:xfrm>
            <a:off x="322898" y="621030"/>
            <a:ext cx="7429500" cy="5786438"/>
          </a:xfrm>
        </p:spPr>
        <p:txBody>
          <a:bodyPr vert="horz" wrap="square" lIns="91440" tIns="45720" rIns="91440" bIns="45720" anchor="t" anchorCtr="0"/>
          <a:p>
            <a:pPr>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if (n%5==0) printf (“\n”);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3" name="TextBox 2"/>
          <p:cNvSpPr txBox="1"/>
          <p:nvPr/>
        </p:nvSpPr>
        <p:spPr>
          <a:xfrm>
            <a:off x="4785995" y="2493010"/>
            <a:ext cx="3643313"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累计输出数据的个数</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sp>
        <p:nvSpPr>
          <p:cNvPr id="4" name="矩形 3"/>
          <p:cNvSpPr/>
          <p:nvPr/>
        </p:nvSpPr>
        <p:spPr>
          <a:xfrm>
            <a:off x="3836035" y="2708910"/>
            <a:ext cx="685165" cy="42862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5" name="矩形 4"/>
          <p:cNvSpPr/>
          <p:nvPr/>
        </p:nvSpPr>
        <p:spPr>
          <a:xfrm>
            <a:off x="1475740" y="3141345"/>
            <a:ext cx="4018280" cy="57150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 name="圆角矩形标注 6"/>
          <p:cNvSpPr/>
          <p:nvPr/>
        </p:nvSpPr>
        <p:spPr>
          <a:xfrm>
            <a:off x="3563620" y="4293235"/>
            <a:ext cx="3831590" cy="645160"/>
          </a:xfrm>
          <a:prstGeom prst="wedgeRoundRectCallout">
            <a:avLst>
              <a:gd name="adj1" fmla="val 745"/>
              <a:gd name="adj2" fmla="val -122562"/>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C00000"/>
                </a:solidFill>
                <a:latin typeface="Times New Roman" panose="02020603050405020304" pitchFamily="18" charset="0"/>
                <a:ea typeface="微软雅黑" panose="020B0503020204020204" pitchFamily="34" charset="-122"/>
              </a:rPr>
              <a:t>控制</a:t>
            </a:r>
            <a:r>
              <a:rPr lang="zh-CN" altLang="en-US" sz="2600" dirty="0">
                <a:solidFill>
                  <a:srgbClr val="C00000"/>
                </a:solidFill>
                <a:latin typeface="Times New Roman" panose="02020603050405020304" pitchFamily="18" charset="0"/>
                <a:ea typeface="微软雅黑" panose="020B0503020204020204" pitchFamily="34" charset="-122"/>
              </a:rPr>
              <a:t>一行内</a:t>
            </a:r>
            <a:r>
              <a:rPr lang="zh-CN" altLang="zh-CN" sz="2600" dirty="0">
                <a:solidFill>
                  <a:srgbClr val="C00000"/>
                </a:solidFill>
                <a:latin typeface="Times New Roman" panose="02020603050405020304" pitchFamily="18" charset="0"/>
                <a:ea typeface="微软雅黑" panose="020B0503020204020204" pitchFamily="34" charset="-122"/>
              </a:rPr>
              <a:t>输出</a:t>
            </a:r>
            <a:r>
              <a:rPr lang="en-US" altLang="zh-CN" sz="2600" dirty="0">
                <a:solidFill>
                  <a:srgbClr val="C00000"/>
                </a:solidFill>
                <a:latin typeface="Times New Roman" panose="02020603050405020304" pitchFamily="18" charset="0"/>
                <a:ea typeface="微软雅黑" panose="020B0503020204020204" pitchFamily="34" charset="-122"/>
              </a:rPr>
              <a:t>5</a:t>
            </a:r>
            <a:r>
              <a:rPr lang="zh-CN" altLang="zh-CN" sz="2600" dirty="0">
                <a:solidFill>
                  <a:srgbClr val="C00000"/>
                </a:solidFill>
                <a:latin typeface="Times New Roman" panose="02020603050405020304" pitchFamily="18" charset="0"/>
                <a:ea typeface="微软雅黑" panose="020B0503020204020204" pitchFamily="34" charset="-122"/>
              </a:rPr>
              <a:t>个数据</a:t>
            </a:r>
            <a:endParaRPr lang="zh-CN" altLang="zh-CN" sz="2600" dirty="0">
              <a:solidFill>
                <a:srgbClr val="C00000"/>
              </a:solidFill>
              <a:latin typeface="Times New Roman" panose="02020603050405020304" pitchFamily="18" charset="0"/>
              <a:ea typeface="微软雅黑" panose="020B0503020204020204" pitchFamily="34" charset="-122"/>
            </a:endParaRPr>
          </a:p>
        </p:txBody>
      </p:sp>
      <p:pic>
        <p:nvPicPr>
          <p:cNvPr id="52231" name="图片 7"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P spid="5" grpId="0" bldLvl="0" animBg="1"/>
      <p:bldP spid="7"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3"/>
          <p:cNvSpPr>
            <a:spLocks noGrp="1"/>
          </p:cNvSpPr>
          <p:nvPr>
            <p:ph idx="1"/>
          </p:nvPr>
        </p:nvSpPr>
        <p:spPr>
          <a:xfrm>
            <a:off x="251143" y="571500"/>
            <a:ext cx="7429500" cy="5786438"/>
          </a:xfrm>
        </p:spPr>
        <p:txBody>
          <a:bodyPr vert="horz" wrap="square" lIns="91440" tIns="45720" rIns="91440" bIns="45720" anchor="t" anchorCtr="0"/>
          <a:p>
            <a:pPr>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if (n%5==0) printf (“\n”);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3" name="TextBox 2"/>
          <p:cNvSpPr txBox="1"/>
          <p:nvPr/>
        </p:nvSpPr>
        <p:spPr>
          <a:xfrm>
            <a:off x="4143375" y="1357313"/>
            <a:ext cx="2143125"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双重循环</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sp>
        <p:nvSpPr>
          <p:cNvPr id="4" name="矩形 3"/>
          <p:cNvSpPr/>
          <p:nvPr/>
        </p:nvSpPr>
        <p:spPr>
          <a:xfrm>
            <a:off x="395605" y="2061210"/>
            <a:ext cx="5765165" cy="257175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53253"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3"/>
          <p:cNvSpPr>
            <a:spLocks noGrp="1"/>
          </p:cNvSpPr>
          <p:nvPr>
            <p:ph idx="1"/>
          </p:nvPr>
        </p:nvSpPr>
        <p:spPr>
          <a:xfrm>
            <a:off x="251143" y="571500"/>
            <a:ext cx="7429500" cy="5786438"/>
          </a:xfrm>
        </p:spPr>
        <p:txBody>
          <a:bodyPr vert="horz" wrap="square" lIns="91440" tIns="45720" rIns="91440" bIns="45720" anchor="t" anchorCtr="0"/>
          <a:p>
            <a:pPr indent="-342900">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if (n%5==0) printf (“\n”);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3" name="TextBox 2"/>
          <p:cNvSpPr txBox="1"/>
          <p:nvPr/>
        </p:nvSpPr>
        <p:spPr>
          <a:xfrm>
            <a:off x="5003800" y="2121218"/>
            <a:ext cx="2500313"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4545AB"/>
                </a:solidFill>
                <a:latin typeface="Times New Roman" panose="02020603050405020304" pitchFamily="18" charset="0"/>
                <a:ea typeface="微软雅黑" panose="020B0503020204020204" pitchFamily="34" charset="-122"/>
              </a:rPr>
              <a:t>控制输出</a:t>
            </a:r>
            <a:r>
              <a:rPr lang="en-US" altLang="zh-CN" sz="2600" dirty="0">
                <a:solidFill>
                  <a:srgbClr val="4545AB"/>
                </a:solidFill>
                <a:latin typeface="Times New Roman" panose="02020603050405020304" pitchFamily="18" charset="0"/>
                <a:ea typeface="微软雅黑" panose="020B0503020204020204" pitchFamily="34" charset="-122"/>
              </a:rPr>
              <a:t>4</a:t>
            </a:r>
            <a:r>
              <a:rPr lang="zh-CN" altLang="zh-CN" sz="2600" dirty="0">
                <a:solidFill>
                  <a:srgbClr val="4545AB"/>
                </a:solidFill>
                <a:latin typeface="Times New Roman" panose="02020603050405020304" pitchFamily="18" charset="0"/>
                <a:ea typeface="微软雅黑" panose="020B0503020204020204" pitchFamily="34" charset="-122"/>
              </a:rPr>
              <a:t>行</a:t>
            </a:r>
            <a:endParaRPr lang="zh-CN" altLang="zh-CN" sz="2600" dirty="0">
              <a:solidFill>
                <a:srgbClr val="4545AB"/>
              </a:solidFill>
              <a:latin typeface="Times New Roman" panose="02020603050405020304" pitchFamily="18" charset="0"/>
              <a:ea typeface="微软雅黑" panose="020B0503020204020204" pitchFamily="34" charset="-122"/>
            </a:endParaRPr>
          </a:p>
        </p:txBody>
      </p:sp>
      <p:sp>
        <p:nvSpPr>
          <p:cNvPr id="4" name="矩形 3"/>
          <p:cNvSpPr/>
          <p:nvPr/>
        </p:nvSpPr>
        <p:spPr>
          <a:xfrm>
            <a:off x="755650" y="2143125"/>
            <a:ext cx="2783840" cy="500380"/>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54277"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3"/>
          <p:cNvSpPr>
            <a:spLocks noGrp="1"/>
          </p:cNvSpPr>
          <p:nvPr>
            <p:ph idx="1"/>
          </p:nvPr>
        </p:nvSpPr>
        <p:spPr>
          <a:xfrm>
            <a:off x="259080" y="548640"/>
            <a:ext cx="7566025" cy="5786755"/>
          </a:xfrm>
        </p:spPr>
        <p:txBody>
          <a:bodyPr vert="horz" wrap="square" lIns="91440" tIns="45720" rIns="91440" bIns="45720" anchor="t" anchorCtr="0"/>
          <a:p>
            <a:pPr indent="-342900">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if (n%5==0) printf (“\n”);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3" name="TextBox 2"/>
          <p:cNvSpPr txBox="1"/>
          <p:nvPr/>
        </p:nvSpPr>
        <p:spPr>
          <a:xfrm>
            <a:off x="4922520" y="2637155"/>
            <a:ext cx="4057650" cy="521970"/>
          </a:xfrm>
          <a:prstGeom prst="rect">
            <a:avLst/>
          </a:prstGeom>
          <a:no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800" dirty="0">
                <a:solidFill>
                  <a:srgbClr val="4545AB"/>
                </a:solidFill>
                <a:latin typeface="Times New Roman" panose="02020603050405020304" pitchFamily="18" charset="0"/>
                <a:ea typeface="微软雅黑" panose="020B0503020204020204" pitchFamily="34" charset="-122"/>
              </a:rPr>
              <a:t>控制每行中输出</a:t>
            </a:r>
            <a:r>
              <a:rPr lang="en-US" altLang="zh-CN" sz="2800" dirty="0">
                <a:solidFill>
                  <a:srgbClr val="4545AB"/>
                </a:solidFill>
                <a:latin typeface="Times New Roman" panose="02020603050405020304" pitchFamily="18" charset="0"/>
                <a:ea typeface="微软雅黑" panose="020B0503020204020204" pitchFamily="34" charset="-122"/>
              </a:rPr>
              <a:t>5</a:t>
            </a:r>
            <a:r>
              <a:rPr lang="zh-CN" altLang="zh-CN" sz="2800" dirty="0">
                <a:solidFill>
                  <a:srgbClr val="4545AB"/>
                </a:solidFill>
                <a:latin typeface="Times New Roman" panose="02020603050405020304" pitchFamily="18" charset="0"/>
                <a:ea typeface="微软雅黑" panose="020B0503020204020204" pitchFamily="34" charset="-122"/>
              </a:rPr>
              <a:t>个数据</a:t>
            </a:r>
            <a:endParaRPr lang="zh-CN" altLang="zh-CN" sz="2800" dirty="0">
              <a:solidFill>
                <a:srgbClr val="4545AB"/>
              </a:solidFill>
              <a:latin typeface="Times New Roman" panose="02020603050405020304" pitchFamily="18" charset="0"/>
              <a:ea typeface="微软雅黑" panose="020B0503020204020204" pitchFamily="34" charset="-122"/>
            </a:endParaRPr>
          </a:p>
        </p:txBody>
      </p:sp>
      <p:sp>
        <p:nvSpPr>
          <p:cNvPr id="4" name="矩形 3"/>
          <p:cNvSpPr/>
          <p:nvPr/>
        </p:nvSpPr>
        <p:spPr>
          <a:xfrm>
            <a:off x="1043305" y="2637155"/>
            <a:ext cx="3579495" cy="49974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55301"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3"/>
          <p:cNvSpPr>
            <a:spLocks noGrp="1"/>
          </p:cNvSpPr>
          <p:nvPr>
            <p:ph idx="1"/>
          </p:nvPr>
        </p:nvSpPr>
        <p:spPr>
          <a:xfrm>
            <a:off x="161925" y="571500"/>
            <a:ext cx="8053705" cy="5786755"/>
          </a:xfrm>
        </p:spPr>
        <p:txBody>
          <a:bodyPr vert="horz" wrap="square" lIns="91440" tIns="45720" rIns="91440" bIns="45720" anchor="t" anchorCtr="0"/>
          <a:p>
            <a:pPr indent="-228600">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    if (n%5==0) printf (“\n”); </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indent="-228600">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3" name="TextBox 2"/>
          <p:cNvSpPr txBox="1"/>
          <p:nvPr/>
        </p:nvSpPr>
        <p:spPr>
          <a:xfrm>
            <a:off x="5500688" y="2071688"/>
            <a:ext cx="1285875"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i=1</a:t>
            </a:r>
            <a:r>
              <a:rPr lang="zh-CN" altLang="en-US" sz="2800" dirty="0">
                <a:solidFill>
                  <a:srgbClr val="4545AB"/>
                </a:solidFill>
                <a:latin typeface="Times New Roman" panose="02020603050405020304" pitchFamily="18" charset="0"/>
                <a:ea typeface="微软雅黑" panose="020B0503020204020204" pitchFamily="34" charset="-122"/>
              </a:rPr>
              <a:t>时</a:t>
            </a:r>
            <a:endParaRPr lang="zh-CN" altLang="en-US" sz="2800" dirty="0">
              <a:solidFill>
                <a:srgbClr val="4545AB"/>
              </a:solidFill>
              <a:latin typeface="Times New Roman" panose="02020603050405020304" pitchFamily="18" charset="0"/>
              <a:ea typeface="微软雅黑" panose="020B0503020204020204" pitchFamily="34" charset="-122"/>
            </a:endParaRPr>
          </a:p>
        </p:txBody>
      </p:sp>
      <p:sp>
        <p:nvSpPr>
          <p:cNvPr id="5" name="TextBox 4"/>
          <p:cNvSpPr txBox="1"/>
          <p:nvPr/>
        </p:nvSpPr>
        <p:spPr>
          <a:xfrm>
            <a:off x="5501005" y="3644900"/>
            <a:ext cx="3500438" cy="95313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j</a:t>
            </a:r>
            <a:r>
              <a:rPr lang="zh-CN" altLang="zh-CN" sz="2800" dirty="0">
                <a:solidFill>
                  <a:srgbClr val="4545AB"/>
                </a:solidFill>
                <a:latin typeface="Times New Roman" panose="02020603050405020304" pitchFamily="18" charset="0"/>
                <a:ea typeface="微软雅黑" panose="020B0503020204020204" pitchFamily="34" charset="-122"/>
              </a:rPr>
              <a:t>由</a:t>
            </a:r>
            <a:r>
              <a:rPr lang="en-US" altLang="zh-CN" sz="2800" dirty="0">
                <a:solidFill>
                  <a:srgbClr val="4545AB"/>
                </a:solidFill>
                <a:latin typeface="Times New Roman" panose="02020603050405020304" pitchFamily="18" charset="0"/>
                <a:ea typeface="微软雅黑" panose="020B0503020204020204" pitchFamily="34" charset="-122"/>
              </a:rPr>
              <a:t>1</a:t>
            </a:r>
            <a:r>
              <a:rPr lang="zh-CN" altLang="zh-CN" sz="2800" dirty="0">
                <a:solidFill>
                  <a:srgbClr val="4545AB"/>
                </a:solidFill>
                <a:latin typeface="Times New Roman" panose="02020603050405020304" pitchFamily="18" charset="0"/>
                <a:ea typeface="微软雅黑" panose="020B0503020204020204" pitchFamily="34" charset="-122"/>
              </a:rPr>
              <a:t>变到</a:t>
            </a:r>
            <a:r>
              <a:rPr lang="en-US" altLang="zh-CN" sz="2800" dirty="0">
                <a:solidFill>
                  <a:srgbClr val="4545AB"/>
                </a:solidFill>
                <a:latin typeface="Times New Roman" panose="02020603050405020304" pitchFamily="18" charset="0"/>
                <a:ea typeface="微软雅黑" panose="020B0503020204020204" pitchFamily="34" charset="-122"/>
              </a:rPr>
              <a:t>5</a:t>
            </a:r>
            <a:endParaRPr lang="en-US" altLang="zh-CN" sz="2800" dirty="0">
              <a:solidFill>
                <a:srgbClr val="4545AB"/>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i*j</a:t>
            </a:r>
            <a:r>
              <a:rPr lang="zh-CN" altLang="zh-CN" sz="2800" dirty="0">
                <a:solidFill>
                  <a:srgbClr val="4545AB"/>
                </a:solidFill>
                <a:latin typeface="Times New Roman" panose="02020603050405020304" pitchFamily="18" charset="0"/>
                <a:ea typeface="微软雅黑" panose="020B0503020204020204" pitchFamily="34" charset="-122"/>
              </a:rPr>
              <a:t>的值是</a:t>
            </a:r>
            <a:r>
              <a:rPr lang="en-US" altLang="zh-CN" sz="2800" dirty="0">
                <a:solidFill>
                  <a:srgbClr val="4545AB"/>
                </a:solidFill>
                <a:latin typeface="Times New Roman" panose="02020603050405020304" pitchFamily="18" charset="0"/>
                <a:ea typeface="微软雅黑" panose="020B0503020204020204" pitchFamily="34" charset="-122"/>
              </a:rPr>
              <a:t>1,2,3,4,5</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pic>
        <p:nvPicPr>
          <p:cNvPr id="56325" name="图片 5"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3"/>
          <p:cNvSpPr>
            <a:spLocks noGrp="1"/>
          </p:cNvSpPr>
          <p:nvPr>
            <p:ph idx="1"/>
          </p:nvPr>
        </p:nvSpPr>
        <p:spPr>
          <a:xfrm>
            <a:off x="142875" y="571500"/>
            <a:ext cx="8072755" cy="5786755"/>
          </a:xfrm>
        </p:spPr>
        <p:txBody>
          <a:bodyPr vert="horz" wrap="square" lIns="91440" tIns="45720" rIns="91440" bIns="45720" anchor="t" anchorCtr="0"/>
          <a:p>
            <a:pPr indent="-259080">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    if (n%5==0) printf (“\n”); </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indent="-259080">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3" name="TextBox 2"/>
          <p:cNvSpPr txBox="1"/>
          <p:nvPr/>
        </p:nvSpPr>
        <p:spPr>
          <a:xfrm>
            <a:off x="5500688" y="2071688"/>
            <a:ext cx="1285875"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a:t>
            </a:r>
            <a:r>
              <a:rPr lang="en-US" altLang="zh-CN" sz="2800" dirty="0">
                <a:solidFill>
                  <a:srgbClr val="C00000"/>
                </a:solidFill>
                <a:latin typeface="Times New Roman" panose="02020603050405020304" pitchFamily="18" charset="0"/>
                <a:ea typeface="微软雅黑" panose="020B0503020204020204" pitchFamily="34" charset="-122"/>
              </a:rPr>
              <a:t>2</a:t>
            </a:r>
            <a:r>
              <a:rPr lang="zh-CN" altLang="en-US" sz="2800" dirty="0">
                <a:solidFill>
                  <a:srgbClr val="4545AB"/>
                </a:solidFill>
                <a:latin typeface="Times New Roman" panose="02020603050405020304" pitchFamily="18" charset="0"/>
                <a:ea typeface="微软雅黑" panose="020B0503020204020204" pitchFamily="34" charset="-122"/>
              </a:rPr>
              <a:t>时</a:t>
            </a:r>
            <a:endParaRPr lang="zh-CN" altLang="en-US" sz="2800" dirty="0">
              <a:solidFill>
                <a:srgbClr val="4545AB"/>
              </a:solidFill>
              <a:latin typeface="Times New Roman" panose="02020603050405020304" pitchFamily="18" charset="0"/>
              <a:ea typeface="微软雅黑" panose="020B0503020204020204" pitchFamily="34" charset="-122"/>
            </a:endParaRPr>
          </a:p>
        </p:txBody>
      </p:sp>
      <p:sp>
        <p:nvSpPr>
          <p:cNvPr id="5" name="TextBox 4"/>
          <p:cNvSpPr txBox="1"/>
          <p:nvPr/>
        </p:nvSpPr>
        <p:spPr>
          <a:xfrm>
            <a:off x="5501005" y="3717290"/>
            <a:ext cx="3500438" cy="95313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j</a:t>
            </a:r>
            <a:r>
              <a:rPr lang="zh-CN" altLang="en-US" sz="2800" dirty="0">
                <a:solidFill>
                  <a:srgbClr val="4545AB"/>
                </a:solidFill>
                <a:latin typeface="Times New Roman" panose="02020603050405020304" pitchFamily="18" charset="0"/>
                <a:ea typeface="微软雅黑" panose="020B0503020204020204" pitchFamily="34" charset="-122"/>
              </a:rPr>
              <a:t>也</a:t>
            </a:r>
            <a:r>
              <a:rPr lang="zh-CN" altLang="zh-CN" sz="2800" dirty="0">
                <a:solidFill>
                  <a:srgbClr val="4545AB"/>
                </a:solidFill>
                <a:latin typeface="Times New Roman" panose="02020603050405020304" pitchFamily="18" charset="0"/>
                <a:ea typeface="微软雅黑" panose="020B0503020204020204" pitchFamily="34" charset="-122"/>
              </a:rPr>
              <a:t>由</a:t>
            </a:r>
            <a:r>
              <a:rPr lang="en-US" altLang="zh-CN" sz="2800" dirty="0">
                <a:solidFill>
                  <a:srgbClr val="4545AB"/>
                </a:solidFill>
                <a:latin typeface="Times New Roman" panose="02020603050405020304" pitchFamily="18" charset="0"/>
                <a:ea typeface="微软雅黑" panose="020B0503020204020204" pitchFamily="34" charset="-122"/>
              </a:rPr>
              <a:t>1</a:t>
            </a:r>
            <a:r>
              <a:rPr lang="zh-CN" altLang="zh-CN" sz="2800" dirty="0">
                <a:solidFill>
                  <a:srgbClr val="4545AB"/>
                </a:solidFill>
                <a:latin typeface="Times New Roman" panose="02020603050405020304" pitchFamily="18" charset="0"/>
                <a:ea typeface="微软雅黑" panose="020B0503020204020204" pitchFamily="34" charset="-122"/>
              </a:rPr>
              <a:t>变到</a:t>
            </a:r>
            <a:r>
              <a:rPr lang="en-US" altLang="zh-CN" sz="2800" dirty="0">
                <a:solidFill>
                  <a:srgbClr val="4545AB"/>
                </a:solidFill>
                <a:latin typeface="Times New Roman" panose="02020603050405020304" pitchFamily="18" charset="0"/>
                <a:ea typeface="微软雅黑" panose="020B0503020204020204" pitchFamily="34" charset="-122"/>
              </a:rPr>
              <a:t>5</a:t>
            </a:r>
            <a:endParaRPr lang="en-US" altLang="zh-CN" sz="2800" dirty="0">
              <a:solidFill>
                <a:srgbClr val="4545AB"/>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i*j</a:t>
            </a:r>
            <a:r>
              <a:rPr lang="zh-CN" altLang="zh-CN" sz="2800" dirty="0">
                <a:solidFill>
                  <a:srgbClr val="4545AB"/>
                </a:solidFill>
                <a:latin typeface="Times New Roman" panose="02020603050405020304" pitchFamily="18" charset="0"/>
                <a:ea typeface="微软雅黑" panose="020B0503020204020204" pitchFamily="34" charset="-122"/>
              </a:rPr>
              <a:t>的值是</a:t>
            </a:r>
            <a:r>
              <a:rPr lang="en-US" altLang="zh-CN" sz="2800" dirty="0">
                <a:solidFill>
                  <a:srgbClr val="4545AB"/>
                </a:solidFill>
                <a:latin typeface="Times New Roman" panose="02020603050405020304" pitchFamily="18" charset="0"/>
                <a:ea typeface="微软雅黑" panose="020B0503020204020204" pitchFamily="34" charset="-122"/>
              </a:rPr>
              <a:t>2,4,6,8,10</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pic>
        <p:nvPicPr>
          <p:cNvPr id="2" name="Picture 2" descr="pic5-6-1"/>
          <p:cNvPicPr>
            <a:picLocks noChangeAspect="1"/>
          </p:cNvPicPr>
          <p:nvPr/>
        </p:nvPicPr>
        <p:blipFill>
          <a:blip r:embed="rId1"/>
          <a:stretch>
            <a:fillRect/>
          </a:stretch>
        </p:blipFill>
        <p:spPr>
          <a:xfrm>
            <a:off x="2268538" y="0"/>
            <a:ext cx="6875462" cy="1785938"/>
          </a:xfrm>
          <a:prstGeom prst="rect">
            <a:avLst/>
          </a:prstGeom>
          <a:noFill/>
          <a:ln w="9525">
            <a:noFill/>
          </a:ln>
        </p:spPr>
      </p:pic>
      <p:pic>
        <p:nvPicPr>
          <p:cNvPr id="57350" name="图片 6" descr="Untitled2.png">
            <a:hlinkClick r:id="rId2" action="ppaction://hlinksldjump"/>
          </p:cNvPr>
          <p:cNvPicPr>
            <a:picLocks noChangeAspect="1"/>
          </p:cNvPicPr>
          <p:nvPr/>
        </p:nvPicPr>
        <p:blipFill>
          <a:blip r:embed="rId3"/>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a:spLocks noGrp="1"/>
          </p:cNvSpPr>
          <p:nvPr>
            <p:ph idx="1"/>
          </p:nvPr>
        </p:nvSpPr>
        <p:spPr>
          <a:xfrm>
            <a:off x="69850" y="571500"/>
            <a:ext cx="8145780" cy="6143625"/>
          </a:xfrm>
        </p:spPr>
        <p:txBody>
          <a:bodyPr vert="horz" wrap="square" lIns="91440" tIns="45720" rIns="91440" bIns="45720" anchor="t" anchorCtr="0"/>
          <a:p>
            <a:pPr indent="-205740">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    if (n%5==0) printf (“\n”);</a:t>
            </a:r>
            <a:endParaRPr kumimoji="1" lang="en-US" altLang="zh-CN" dirty="0">
              <a:cs typeface="+mn-cs"/>
            </a:endParaRPr>
          </a:p>
          <a:p>
            <a:pPr indent="-205740">
              <a:lnSpc>
                <a:spcPct val="100000"/>
              </a:lnSpc>
              <a:buFont typeface="Wingdings" panose="05000000000000000000" pitchFamily="2" charset="2"/>
              <a:buNone/>
            </a:pPr>
            <a:r>
              <a:rPr kumimoji="1" lang="en-US" altLang="zh-CN" dirty="0">
                <a:cs typeface="+mn-cs"/>
              </a:rPr>
              <a:t>   </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indent="-205740">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6" name="TextBox 5"/>
          <p:cNvSpPr txBox="1"/>
          <p:nvPr/>
        </p:nvSpPr>
        <p:spPr>
          <a:xfrm>
            <a:off x="2051685" y="3643313"/>
            <a:ext cx="5214938"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9D138D"/>
                </a:solidFill>
                <a:latin typeface="Times New Roman" panose="02020603050405020304" pitchFamily="18" charset="0"/>
                <a:ea typeface="微软雅黑" panose="020B0503020204020204" pitchFamily="34" charset="-122"/>
              </a:rPr>
              <a:t>if (i==3 &amp;&amp; j==1) break; </a:t>
            </a:r>
            <a:endParaRPr lang="en-US" altLang="zh-CN" sz="2800" dirty="0">
              <a:solidFill>
                <a:srgbClr val="9D138D"/>
              </a:solidFill>
              <a:latin typeface="Times New Roman" panose="02020603050405020304" pitchFamily="18" charset="0"/>
              <a:ea typeface="微软雅黑" panose="020B0503020204020204" pitchFamily="34" charset="-122"/>
            </a:endParaRPr>
          </a:p>
        </p:txBody>
      </p:sp>
      <p:sp>
        <p:nvSpPr>
          <p:cNvPr id="7" name="圆角矩形标注 6"/>
          <p:cNvSpPr/>
          <p:nvPr/>
        </p:nvSpPr>
        <p:spPr>
          <a:xfrm>
            <a:off x="4427538" y="4797108"/>
            <a:ext cx="3249612" cy="1000125"/>
          </a:xfrm>
          <a:prstGeom prst="wedgeRoundRectCallout">
            <a:avLst>
              <a:gd name="adj1" fmla="val -23866"/>
              <a:gd name="adj2" fmla="val -111269"/>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C00000"/>
                </a:solidFill>
                <a:latin typeface="Times New Roman" panose="02020603050405020304" pitchFamily="18" charset="0"/>
                <a:ea typeface="微软雅黑" panose="020B0503020204020204" pitchFamily="34" charset="-122"/>
              </a:rPr>
              <a:t>遇到第</a:t>
            </a:r>
            <a:r>
              <a:rPr lang="en-US" altLang="zh-CN" sz="2600" dirty="0">
                <a:solidFill>
                  <a:srgbClr val="C00000"/>
                </a:solidFill>
                <a:latin typeface="Times New Roman" panose="02020603050405020304" pitchFamily="18" charset="0"/>
                <a:ea typeface="微软雅黑" panose="020B0503020204020204" pitchFamily="34" charset="-122"/>
              </a:rPr>
              <a:t>3</a:t>
            </a:r>
            <a:r>
              <a:rPr lang="zh-CN" altLang="zh-CN" sz="2600" dirty="0">
                <a:solidFill>
                  <a:srgbClr val="C00000"/>
                </a:solidFill>
                <a:latin typeface="Times New Roman" panose="02020603050405020304" pitchFamily="18" charset="0"/>
                <a:ea typeface="微软雅黑" panose="020B0503020204020204" pitchFamily="34" charset="-122"/>
              </a:rPr>
              <a:t>行第</a:t>
            </a:r>
            <a:r>
              <a:rPr lang="en-US" altLang="zh-CN" sz="2600" dirty="0">
                <a:solidFill>
                  <a:srgbClr val="C00000"/>
                </a:solidFill>
                <a:latin typeface="Times New Roman" panose="02020603050405020304" pitchFamily="18" charset="0"/>
                <a:ea typeface="微软雅黑" panose="020B0503020204020204" pitchFamily="34" charset="-122"/>
              </a:rPr>
              <a:t>1</a:t>
            </a:r>
            <a:r>
              <a:rPr lang="zh-CN" altLang="zh-CN" sz="2600" dirty="0">
                <a:solidFill>
                  <a:srgbClr val="C00000"/>
                </a:solidFill>
                <a:latin typeface="Times New Roman" panose="02020603050405020304" pitchFamily="18" charset="0"/>
                <a:ea typeface="微软雅黑" panose="020B0503020204020204" pitchFamily="34" charset="-122"/>
              </a:rPr>
              <a:t>列，终止内循环</a:t>
            </a:r>
            <a:endParaRPr lang="zh-CN" altLang="zh-CN" sz="2600" dirty="0">
              <a:solidFill>
                <a:srgbClr val="C00000"/>
              </a:solidFill>
              <a:latin typeface="Times New Roman" panose="02020603050405020304" pitchFamily="18" charset="0"/>
              <a:ea typeface="微软雅黑" panose="020B0503020204020204" pitchFamily="34" charset="-122"/>
            </a:endParaRPr>
          </a:p>
        </p:txBody>
      </p:sp>
      <p:pic>
        <p:nvPicPr>
          <p:cNvPr id="2" name="Picture 2" descr="pic5-6-2"/>
          <p:cNvPicPr>
            <a:picLocks noChangeAspect="1"/>
          </p:cNvPicPr>
          <p:nvPr/>
        </p:nvPicPr>
        <p:blipFill>
          <a:blip r:embed="rId1"/>
          <a:stretch>
            <a:fillRect/>
          </a:stretch>
        </p:blipFill>
        <p:spPr>
          <a:xfrm>
            <a:off x="2936875" y="0"/>
            <a:ext cx="6207125" cy="1571625"/>
          </a:xfrm>
          <a:prstGeom prst="rect">
            <a:avLst/>
          </a:prstGeom>
          <a:noFill/>
          <a:ln w="9525">
            <a:noFill/>
          </a:ln>
        </p:spPr>
      </p:pic>
      <p:pic>
        <p:nvPicPr>
          <p:cNvPr id="58374" name="图片 7" descr="Untitled2.png">
            <a:hlinkClick r:id="rId2" action="ppaction://hlinksldjump"/>
          </p:cNvPr>
          <p:cNvPicPr>
            <a:picLocks noChangeAspect="1"/>
          </p:cNvPicPr>
          <p:nvPr/>
        </p:nvPicPr>
        <p:blipFill>
          <a:blip r:embed="rId3"/>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3"/>
          <p:cNvSpPr>
            <a:spLocks noGrp="1"/>
          </p:cNvSpPr>
          <p:nvPr>
            <p:ph idx="1"/>
          </p:nvPr>
        </p:nvSpPr>
        <p:spPr>
          <a:xfrm>
            <a:off x="153035" y="571500"/>
            <a:ext cx="8062595" cy="6143625"/>
          </a:xfrm>
        </p:spPr>
        <p:txBody>
          <a:bodyPr vert="horz" wrap="square" lIns="91440" tIns="45720" rIns="91440" bIns="45720" anchor="t" anchorCtr="0"/>
          <a:p>
            <a:pPr indent="-271780">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int i,j,n=0;</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for (i=1;i&lt;=4;i++)                      </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for (j=1;j&lt;=5;j++,n++) </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    if (n%5==0) printf (“\n”);</a:t>
            </a:r>
            <a:endParaRPr kumimoji="1" lang="en-US" altLang="zh-CN" dirty="0">
              <a:cs typeface="+mn-cs"/>
            </a:endParaRPr>
          </a:p>
          <a:p>
            <a:pPr indent="-271780">
              <a:lnSpc>
                <a:spcPct val="100000"/>
              </a:lnSpc>
              <a:buFont typeface="Wingdings" panose="05000000000000000000" pitchFamily="2" charset="2"/>
              <a:buNone/>
            </a:pPr>
            <a:r>
              <a:rPr kumimoji="1" lang="en-US" altLang="zh-CN" dirty="0">
                <a:cs typeface="+mn-cs"/>
              </a:rPr>
              <a:t> </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printf ("%d\t",i*j);</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  </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printf("\n");	</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indent="-271780">
              <a:lnSpc>
                <a:spcPct val="10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6" name="TextBox 5"/>
          <p:cNvSpPr txBox="1"/>
          <p:nvPr/>
        </p:nvSpPr>
        <p:spPr>
          <a:xfrm>
            <a:off x="2286000" y="3643313"/>
            <a:ext cx="5214938"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235A67"/>
                </a:solidFill>
                <a:latin typeface="Times New Roman" panose="02020603050405020304" pitchFamily="18" charset="0"/>
                <a:ea typeface="微软雅黑" panose="020B0503020204020204" pitchFamily="34" charset="-122"/>
              </a:rPr>
              <a:t>if (i==3 &amp;&amp; j==1) continue; </a:t>
            </a:r>
            <a:endParaRPr lang="en-US" altLang="zh-CN" sz="2800" dirty="0">
              <a:solidFill>
                <a:srgbClr val="235A67"/>
              </a:solidFill>
              <a:latin typeface="Times New Roman" panose="02020603050405020304" pitchFamily="18" charset="0"/>
              <a:ea typeface="微软雅黑" panose="020B0503020204020204" pitchFamily="34" charset="-122"/>
            </a:endParaRPr>
          </a:p>
        </p:txBody>
      </p:sp>
      <p:sp>
        <p:nvSpPr>
          <p:cNvPr id="7" name="圆角矩形标注 6"/>
          <p:cNvSpPr/>
          <p:nvPr/>
        </p:nvSpPr>
        <p:spPr>
          <a:xfrm>
            <a:off x="35560" y="2205355"/>
            <a:ext cx="3071813" cy="1000125"/>
          </a:xfrm>
          <a:prstGeom prst="wedgeRoundRectCallout">
            <a:avLst>
              <a:gd name="adj1" fmla="val 33093"/>
              <a:gd name="adj2" fmla="val -98815"/>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dist" eaLnBrk="1" hangingPunct="1">
              <a:lnSpc>
                <a:spcPct val="100000"/>
              </a:lnSpc>
              <a:spcBef>
                <a:spcPct val="0"/>
              </a:spcBef>
              <a:buFontTx/>
              <a:buNone/>
            </a:pPr>
            <a:r>
              <a:rPr lang="zh-CN" altLang="zh-CN" sz="2800" dirty="0">
                <a:solidFill>
                  <a:srgbClr val="C00000"/>
                </a:solidFill>
                <a:latin typeface="Times New Roman" panose="02020603050405020304" pitchFamily="18" charset="0"/>
                <a:ea typeface="微软雅黑" panose="020B0503020204020204" pitchFamily="34" charset="-122"/>
              </a:rPr>
              <a:t>原来第</a:t>
            </a:r>
            <a:r>
              <a:rPr lang="en-US" altLang="zh-CN" sz="2800" dirty="0">
                <a:solidFill>
                  <a:srgbClr val="C00000"/>
                </a:solidFill>
                <a:latin typeface="Times New Roman" panose="02020603050405020304" pitchFamily="18" charset="0"/>
                <a:ea typeface="微软雅黑" panose="020B0503020204020204" pitchFamily="34" charset="-122"/>
              </a:rPr>
              <a:t>3</a:t>
            </a:r>
            <a:r>
              <a:rPr lang="zh-CN" altLang="zh-CN" sz="2800" dirty="0">
                <a:solidFill>
                  <a:srgbClr val="C00000"/>
                </a:solidFill>
                <a:latin typeface="Times New Roman" panose="02020603050405020304" pitchFamily="18" charset="0"/>
                <a:ea typeface="微软雅黑" panose="020B0503020204020204" pitchFamily="34" charset="-122"/>
              </a:rPr>
              <a:t>行第</a:t>
            </a:r>
            <a:r>
              <a:rPr lang="en-US" altLang="zh-CN" sz="2800" dirty="0">
                <a:solidFill>
                  <a:srgbClr val="C00000"/>
                </a:solidFill>
                <a:latin typeface="Times New Roman" panose="02020603050405020304" pitchFamily="18" charset="0"/>
                <a:ea typeface="微软雅黑" panose="020B0503020204020204" pitchFamily="34" charset="-122"/>
              </a:rPr>
              <a:t>1</a:t>
            </a:r>
            <a:r>
              <a:rPr lang="zh-CN" altLang="zh-CN" sz="2800" dirty="0">
                <a:solidFill>
                  <a:srgbClr val="C00000"/>
                </a:solidFill>
                <a:latin typeface="Times New Roman" panose="02020603050405020304" pitchFamily="18" charset="0"/>
                <a:ea typeface="微软雅黑" panose="020B0503020204020204" pitchFamily="34" charset="-122"/>
              </a:rPr>
              <a:t>个数据</a:t>
            </a:r>
            <a:r>
              <a:rPr lang="en-US" altLang="zh-CN" sz="2800" dirty="0">
                <a:solidFill>
                  <a:srgbClr val="C00000"/>
                </a:solidFill>
                <a:latin typeface="Times New Roman" panose="02020603050405020304" pitchFamily="18" charset="0"/>
                <a:ea typeface="微软雅黑" panose="020B0503020204020204" pitchFamily="34" charset="-122"/>
              </a:rPr>
              <a:t>3</a:t>
            </a:r>
            <a:r>
              <a:rPr lang="zh-CN" altLang="zh-CN" sz="2800" dirty="0">
                <a:solidFill>
                  <a:srgbClr val="C00000"/>
                </a:solidFill>
                <a:latin typeface="Times New Roman" panose="02020603050405020304" pitchFamily="18" charset="0"/>
                <a:ea typeface="微软雅黑" panose="020B0503020204020204" pitchFamily="34" charset="-122"/>
              </a:rPr>
              <a:t>没有输出</a:t>
            </a:r>
            <a:endParaRPr lang="zh-CN" altLang="zh-CN" sz="2800" dirty="0">
              <a:solidFill>
                <a:srgbClr val="C00000"/>
              </a:solidFill>
              <a:latin typeface="Times New Roman" panose="02020603050405020304" pitchFamily="18" charset="0"/>
              <a:ea typeface="微软雅黑" panose="020B0503020204020204" pitchFamily="34" charset="-122"/>
            </a:endParaRPr>
          </a:p>
        </p:txBody>
      </p:sp>
      <p:pic>
        <p:nvPicPr>
          <p:cNvPr id="2" name="Picture 2" descr="pic5-6-3"/>
          <p:cNvPicPr>
            <a:picLocks noChangeAspect="1"/>
          </p:cNvPicPr>
          <p:nvPr/>
        </p:nvPicPr>
        <p:blipFill>
          <a:blip r:embed="rId1"/>
          <a:stretch>
            <a:fillRect/>
          </a:stretch>
        </p:blipFill>
        <p:spPr>
          <a:xfrm>
            <a:off x="2571750" y="0"/>
            <a:ext cx="6572250" cy="1643063"/>
          </a:xfrm>
          <a:prstGeom prst="rect">
            <a:avLst/>
          </a:prstGeom>
          <a:noFill/>
          <a:ln w="9525">
            <a:noFill/>
          </a:ln>
        </p:spPr>
      </p:pic>
      <p:pic>
        <p:nvPicPr>
          <p:cNvPr id="59398" name="图片 7" descr="Untitled2.png">
            <a:hlinkClick r:id="rId2" action="ppaction://hlinksldjump"/>
          </p:cNvPr>
          <p:cNvPicPr>
            <a:picLocks noChangeAspect="1"/>
          </p:cNvPicPr>
          <p:nvPr/>
        </p:nvPicPr>
        <p:blipFill>
          <a:blip r:embed="rId3"/>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9" name="Rectangle 3"/>
          <p:cNvSpPr>
            <a:spLocks noGrp="1"/>
          </p:cNvSpPr>
          <p:nvPr>
            <p:ph idx="1"/>
          </p:nvPr>
        </p:nvSpPr>
        <p:spPr>
          <a:xfrm>
            <a:off x="309880" y="1341120"/>
            <a:ext cx="8447405" cy="2357120"/>
          </a:xfrm>
        </p:spPr>
        <p:txBody>
          <a:bodyPr vert="horz" wrap="square" lIns="91440" tIns="45720" rIns="91440" bIns="45720" anchor="t" anchorCtr="0"/>
          <a:p>
            <a:pPr lvl="0">
              <a:lnSpc>
                <a:spcPct val="150000"/>
              </a:lnSpc>
              <a:buFont typeface="Wingdings" panose="05000000000000000000" pitchFamily="2" charset="2"/>
              <a:buNone/>
            </a:pPr>
            <a:r>
              <a:rPr kumimoji="1" lang="zh-CN" altLang="zh-CN" sz="2600" spc="200" dirty="0">
                <a:solidFill>
                  <a:srgbClr val="0000CC"/>
                </a:solidFill>
                <a:cs typeface="+mn-cs"/>
              </a:rPr>
              <a:t>例</a:t>
            </a:r>
            <a:r>
              <a:rPr kumimoji="1" lang="en-US" altLang="zh-CN" sz="2600" spc="200" dirty="0">
                <a:solidFill>
                  <a:srgbClr val="0000CC"/>
                </a:solidFill>
                <a:cs typeface="+mn-cs"/>
              </a:rPr>
              <a:t>5.7  </a:t>
            </a:r>
            <a:r>
              <a:rPr kumimoji="1" lang="zh-CN" altLang="zh-CN" sz="2600" spc="200" dirty="0">
                <a:cs typeface="+mn-cs"/>
              </a:rPr>
              <a:t>用</a:t>
            </a:r>
            <a:r>
              <a:rPr kumimoji="1" lang="en-US" altLang="zh-CN" sz="2600" spc="200" dirty="0">
                <a:cs typeface="+mn-cs"/>
              </a:rPr>
              <a:t>                    </a:t>
            </a:r>
            <a:r>
              <a:rPr kumimoji="1" lang="zh-CN" altLang="zh-CN" sz="2600" spc="200" dirty="0">
                <a:cs typeface="+mn-cs"/>
              </a:rPr>
              <a:t>公</a:t>
            </a:r>
            <a:r>
              <a:rPr kumimoji="1" lang="en-US" altLang="zh-CN" sz="2600" spc="200" dirty="0">
                <a:cs typeface="+mn-cs"/>
              </a:rPr>
              <a:t> </a:t>
            </a:r>
            <a:r>
              <a:rPr kumimoji="1" lang="zh-CN" altLang="zh-CN" sz="2600" spc="200" dirty="0">
                <a:cs typeface="+mn-cs"/>
              </a:rPr>
              <a:t>式求</a:t>
            </a:r>
            <a:r>
              <a:rPr kumimoji="1" lang="en-US" altLang="zh-CN" sz="2600" spc="200" dirty="0">
                <a:cs typeface="+mn-cs"/>
              </a:rPr>
              <a:t>    </a:t>
            </a:r>
            <a:r>
              <a:rPr kumimoji="1" lang="zh-CN" altLang="zh-CN" sz="2600" spc="200" dirty="0">
                <a:cs typeface="+mn-cs"/>
              </a:rPr>
              <a:t>的近似值，直到</a:t>
            </a:r>
            <a:r>
              <a:rPr kumimoji="1" lang="en-US" altLang="zh-CN" sz="2600" spc="200" dirty="0">
                <a:cs typeface="+mn-cs"/>
              </a:rPr>
              <a:t>     </a:t>
            </a:r>
            <a:endParaRPr kumimoji="1" lang="en-US" altLang="zh-CN" sz="2600" spc="200" dirty="0">
              <a:cs typeface="+mn-cs"/>
            </a:endParaRPr>
          </a:p>
          <a:p>
            <a:pPr lvl="0">
              <a:lnSpc>
                <a:spcPct val="150000"/>
              </a:lnSpc>
              <a:buFont typeface="Wingdings" panose="05000000000000000000" pitchFamily="2" charset="2"/>
              <a:buNone/>
            </a:pPr>
            <a:r>
              <a:rPr kumimoji="1" lang="en-US" altLang="zh-CN" sz="2600" spc="200" dirty="0">
                <a:cs typeface="+mn-cs"/>
              </a:rPr>
              <a:t>          </a:t>
            </a:r>
            <a:r>
              <a:rPr kumimoji="1" lang="zh-CN" altLang="zh-CN" sz="2600" spc="200" dirty="0">
                <a:cs typeface="+mn-cs"/>
              </a:rPr>
              <a:t>发现某一项的绝对值小于</a:t>
            </a:r>
            <a:r>
              <a:rPr kumimoji="1" lang="en-US" altLang="zh-CN" sz="2600" spc="200" dirty="0">
                <a:cs typeface="+mn-cs"/>
              </a:rPr>
              <a:t>10</a:t>
            </a:r>
            <a:r>
              <a:rPr kumimoji="1" lang="en-US" altLang="zh-CN" sz="2600" spc="200" baseline="30000" dirty="0">
                <a:cs typeface="+mn-cs"/>
              </a:rPr>
              <a:t>-6</a:t>
            </a:r>
            <a:r>
              <a:rPr kumimoji="1" lang="en-US" altLang="zh-CN" sz="2600" spc="200" dirty="0">
                <a:cs typeface="+mn-cs"/>
              </a:rPr>
              <a:t> </a:t>
            </a:r>
            <a:r>
              <a:rPr kumimoji="1" lang="zh-CN" altLang="zh-CN" sz="2600" spc="200" dirty="0">
                <a:cs typeface="+mn-cs"/>
              </a:rPr>
              <a:t>为止</a:t>
            </a:r>
            <a:r>
              <a:rPr kumimoji="1" lang="en-US" altLang="zh-CN" sz="2600" spc="200" dirty="0">
                <a:cs typeface="+mn-cs"/>
              </a:rPr>
              <a:t>(</a:t>
            </a:r>
            <a:r>
              <a:rPr kumimoji="1" lang="zh-CN" altLang="zh-CN" sz="2600" spc="200" dirty="0">
                <a:cs typeface="+mn-cs"/>
              </a:rPr>
              <a:t>该项不</a:t>
            </a:r>
            <a:r>
              <a:rPr kumimoji="1" lang="en-US" altLang="zh-CN" sz="2600" spc="200" dirty="0">
                <a:cs typeface="+mn-cs"/>
              </a:rPr>
              <a:t>   </a:t>
            </a:r>
            <a:endParaRPr kumimoji="1" lang="en-US" altLang="zh-CN" sz="2600" spc="200" dirty="0">
              <a:cs typeface="+mn-cs"/>
            </a:endParaRPr>
          </a:p>
          <a:p>
            <a:pPr lvl="0">
              <a:lnSpc>
                <a:spcPct val="150000"/>
              </a:lnSpc>
              <a:buFont typeface="Wingdings" panose="05000000000000000000" pitchFamily="2" charset="2"/>
              <a:buNone/>
            </a:pPr>
            <a:r>
              <a:rPr kumimoji="1" lang="en-US" altLang="zh-CN" sz="2600" spc="200" dirty="0">
                <a:cs typeface="+mn-cs"/>
              </a:rPr>
              <a:t>          </a:t>
            </a:r>
            <a:r>
              <a:rPr kumimoji="1" lang="zh-CN" altLang="zh-CN" sz="2600" spc="200" dirty="0">
                <a:cs typeface="+mn-cs"/>
              </a:rPr>
              <a:t>累计加</a:t>
            </a:r>
            <a:r>
              <a:rPr kumimoji="1" lang="en-US" altLang="zh-CN" sz="2600" spc="200" dirty="0">
                <a:cs typeface="+mn-cs"/>
              </a:rPr>
              <a:t>)</a:t>
            </a:r>
            <a:r>
              <a:rPr kumimoji="1" lang="zh-CN" altLang="zh-CN" sz="2600" spc="200" dirty="0">
                <a:cs typeface="+mn-cs"/>
              </a:rPr>
              <a:t>。</a:t>
            </a:r>
            <a:endParaRPr kumimoji="1" lang="en-US" altLang="zh-CN" sz="2600" spc="200" dirty="0">
              <a:cs typeface="+mn-cs"/>
            </a:endParaRPr>
          </a:p>
        </p:txBody>
      </p:sp>
      <p:sp>
        <p:nvSpPr>
          <p:cNvPr id="60420"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0421"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0422" name="Object 1"/>
          <p:cNvGraphicFramePr>
            <a:graphicFrameLocks noChangeAspect="1"/>
          </p:cNvGraphicFramePr>
          <p:nvPr/>
        </p:nvGraphicFramePr>
        <p:xfrm>
          <a:off x="5148104" y="1485265"/>
          <a:ext cx="454660" cy="492125"/>
        </p:xfrm>
        <a:graphic>
          <a:graphicData uri="http://schemas.openxmlformats.org/presentationml/2006/ole">
            <mc:AlternateContent xmlns:mc="http://schemas.openxmlformats.org/markup-compatibility/2006">
              <mc:Choice xmlns:v="urn:schemas-microsoft-com:vml" Requires="v">
                <p:oleObj spid="_x0000_s3078" name="" r:id="rId1" imgW="127000" imgH="139700" progId="Equation.3">
                  <p:embed/>
                </p:oleObj>
              </mc:Choice>
              <mc:Fallback>
                <p:oleObj name="" r:id="rId1" imgW="127000" imgH="139700" progId="Equation.3">
                  <p:embed/>
                  <p:pic>
                    <p:nvPicPr>
                      <p:cNvPr id="0" name="图片 3077"/>
                      <p:cNvPicPr/>
                      <p:nvPr/>
                    </p:nvPicPr>
                    <p:blipFill>
                      <a:blip r:embed="rId2"/>
                      <a:stretch>
                        <a:fillRect/>
                      </a:stretch>
                    </p:blipFill>
                    <p:spPr>
                      <a:xfrm>
                        <a:off x="5148104" y="1485265"/>
                        <a:ext cx="454660" cy="492125"/>
                      </a:xfrm>
                      <a:prstGeom prst="rect">
                        <a:avLst/>
                      </a:prstGeom>
                      <a:noFill/>
                      <a:ln w="38100">
                        <a:noFill/>
                        <a:miter/>
                      </a:ln>
                    </p:spPr>
                  </p:pic>
                </p:oleObj>
              </mc:Fallback>
            </mc:AlternateContent>
          </a:graphicData>
        </a:graphic>
      </p:graphicFrame>
      <p:sp>
        <p:nvSpPr>
          <p:cNvPr id="6042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0424" name="Rectangle 1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0425" name="Object 11"/>
          <p:cNvGraphicFramePr>
            <a:graphicFrameLocks noChangeAspect="1"/>
          </p:cNvGraphicFramePr>
          <p:nvPr/>
        </p:nvGraphicFramePr>
        <p:xfrm>
          <a:off x="1907540" y="1268730"/>
          <a:ext cx="2042795" cy="892175"/>
        </p:xfrm>
        <a:graphic>
          <a:graphicData uri="http://schemas.openxmlformats.org/presentationml/2006/ole">
            <mc:AlternateContent xmlns:mc="http://schemas.openxmlformats.org/markup-compatibility/2006">
              <mc:Choice xmlns:v="urn:schemas-microsoft-com:vml" Requires="v">
                <p:oleObj spid="_x0000_s3077" name="" r:id="rId3" imgW="1371600" imgH="393700" progId="Equation.3">
                  <p:embed/>
                </p:oleObj>
              </mc:Choice>
              <mc:Fallback>
                <p:oleObj name="" r:id="rId3" imgW="1371600" imgH="393700" progId="Equation.3">
                  <p:embed/>
                  <p:pic>
                    <p:nvPicPr>
                      <p:cNvPr id="0" name="图片 3076"/>
                      <p:cNvPicPr/>
                      <p:nvPr/>
                    </p:nvPicPr>
                    <p:blipFill>
                      <a:blip r:embed="rId4"/>
                      <a:stretch>
                        <a:fillRect/>
                      </a:stretch>
                    </p:blipFill>
                    <p:spPr>
                      <a:xfrm>
                        <a:off x="1907540" y="1268730"/>
                        <a:ext cx="2042795" cy="892175"/>
                      </a:xfrm>
                      <a:prstGeom prst="rect">
                        <a:avLst/>
                      </a:prstGeom>
                      <a:noFill/>
                      <a:ln w="38100">
                        <a:noFill/>
                        <a:miter/>
                      </a:ln>
                    </p:spPr>
                  </p:pic>
                </p:oleObj>
              </mc:Fallback>
            </mc:AlternateContent>
          </a:graphicData>
        </a:graphic>
      </p:graphicFrame>
      <p:pic>
        <p:nvPicPr>
          <p:cNvPr id="60426" name="图片 9" descr="Untitled.png">
            <a:hlinkClick r:id="rId5" action="ppaction://hlinksldjump"/>
          </p:cNvPr>
          <p:cNvPicPr>
            <a:picLocks noChangeAspect="1"/>
          </p:cNvPicPr>
          <p:nvPr/>
        </p:nvPicPr>
        <p:blipFill>
          <a:blip r:embed="rId6"/>
          <a:stretch>
            <a:fillRect/>
          </a:stretch>
        </p:blipFill>
        <p:spPr>
          <a:xfrm>
            <a:off x="8216900" y="5937250"/>
            <a:ext cx="927100" cy="920750"/>
          </a:xfrm>
          <a:prstGeom prst="rect">
            <a:avLst/>
          </a:prstGeom>
          <a:noFill/>
          <a:ln w="9525">
            <a:noFill/>
          </a:ln>
        </p:spPr>
      </p:pic>
      <p:sp>
        <p:nvSpPr>
          <p:cNvPr id="2" name="Rectangle 2"/>
          <p:cNvSpPr>
            <a:spLocks noGrp="1"/>
          </p:cNvSpPr>
          <p:nvPr>
            <p:custDataLst>
              <p:tags r:id="rId7"/>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5.8 循环程序举例</a:t>
            </a:r>
            <a:endParaRPr lang="zh-CN" altLang="zh-CN" dirty="0">
              <a:solidFill>
                <a:srgbClr val="235A67"/>
              </a:solidFill>
            </a:endParaRPr>
          </a:p>
        </p:txBody>
      </p:sp>
    </p:spTree>
  </p:cSld>
  <p:clrMapOvr>
    <a:masterClrMapping/>
  </p:clrMapOvr>
  <p:transition spd="med">
    <p:blinds/>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Rectangle 3"/>
          <p:cNvSpPr>
            <a:spLocks noGrp="1"/>
          </p:cNvSpPr>
          <p:nvPr>
            <p:ph idx="1"/>
          </p:nvPr>
        </p:nvSpPr>
        <p:spPr>
          <a:xfrm>
            <a:off x="309563" y="1268730"/>
            <a:ext cx="8001000" cy="3000375"/>
          </a:xfrm>
        </p:spPr>
        <p:txBody>
          <a:bodyPr vert="horz" wrap="square" lIns="91440" tIns="45720" rIns="91440" bIns="45720" anchor="t" anchorCtr="0"/>
          <a:p>
            <a:r>
              <a:rPr kumimoji="1" lang="zh-CN" altLang="zh-CN" dirty="0">
                <a:solidFill>
                  <a:srgbClr val="235A67"/>
                </a:solidFill>
                <a:cs typeface="+mn-cs"/>
              </a:rPr>
              <a:t>解题思路：</a:t>
            </a:r>
            <a:endParaRPr kumimoji="1" lang="en-US" altLang="zh-CN" dirty="0">
              <a:cs typeface="+mn-cs"/>
            </a:endParaRPr>
          </a:p>
          <a:p>
            <a:pPr lvl="1"/>
            <a:r>
              <a:rPr kumimoji="1" lang="zh-CN" altLang="en-US" dirty="0">
                <a:solidFill>
                  <a:srgbClr val="235A67"/>
                </a:solidFill>
              </a:rPr>
              <a:t>求   </a:t>
            </a:r>
            <a:r>
              <a:rPr kumimoji="1" lang="en-US" altLang="zh-CN" dirty="0">
                <a:solidFill>
                  <a:srgbClr val="235A67"/>
                </a:solidFill>
              </a:rPr>
              <a:t>  </a:t>
            </a:r>
            <a:r>
              <a:rPr kumimoji="1" lang="zh-CN" altLang="zh-CN" dirty="0">
                <a:solidFill>
                  <a:srgbClr val="235A67"/>
                </a:solidFill>
              </a:rPr>
              <a:t>近似</a:t>
            </a:r>
            <a:r>
              <a:rPr kumimoji="1" lang="zh-CN" altLang="en-US" dirty="0">
                <a:solidFill>
                  <a:srgbClr val="235A67"/>
                </a:solidFill>
              </a:rPr>
              <a:t>值的</a:t>
            </a:r>
            <a:r>
              <a:rPr kumimoji="1" lang="zh-CN" altLang="zh-CN" dirty="0">
                <a:solidFill>
                  <a:srgbClr val="235A67"/>
                </a:solidFill>
              </a:rPr>
              <a:t>方法</a:t>
            </a:r>
            <a:r>
              <a:rPr kumimoji="1" lang="zh-CN" altLang="en-US" dirty="0">
                <a:solidFill>
                  <a:srgbClr val="235A67"/>
                </a:solidFill>
              </a:rPr>
              <a:t>很多，本题是</a:t>
            </a:r>
            <a:r>
              <a:rPr kumimoji="1" lang="zh-CN" altLang="zh-CN" dirty="0">
                <a:solidFill>
                  <a:srgbClr val="235A67"/>
                </a:solidFill>
              </a:rPr>
              <a:t>一种</a:t>
            </a:r>
            <a:endParaRPr kumimoji="1" lang="en-US" altLang="zh-CN" dirty="0">
              <a:solidFill>
                <a:srgbClr val="235A67"/>
              </a:solidFill>
            </a:endParaRPr>
          </a:p>
          <a:p>
            <a:pPr lvl="1"/>
            <a:r>
              <a:rPr kumimoji="1" lang="zh-CN" altLang="en-US" dirty="0">
                <a:solidFill>
                  <a:srgbClr val="235A67"/>
                </a:solidFill>
              </a:rPr>
              <a:t>其他方法：</a:t>
            </a:r>
            <a:endParaRPr kumimoji="1" lang="zh-CN" altLang="en-US" dirty="0">
              <a:solidFill>
                <a:srgbClr val="235A67"/>
              </a:solidFill>
            </a:endParaRPr>
          </a:p>
        </p:txBody>
      </p:sp>
      <p:sp>
        <p:nvSpPr>
          <p:cNvPr id="61444"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1445"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1446" name="Object 1"/>
          <p:cNvGraphicFramePr>
            <a:graphicFrameLocks noChangeAspect="1"/>
          </p:cNvGraphicFramePr>
          <p:nvPr/>
        </p:nvGraphicFramePr>
        <p:xfrm>
          <a:off x="1547813" y="1916748"/>
          <a:ext cx="500062" cy="492125"/>
        </p:xfrm>
        <a:graphic>
          <a:graphicData uri="http://schemas.openxmlformats.org/presentationml/2006/ole">
            <mc:AlternateContent xmlns:mc="http://schemas.openxmlformats.org/markup-compatibility/2006">
              <mc:Choice xmlns:v="urn:schemas-microsoft-com:vml" Requires="v">
                <p:oleObj spid="_x0000_s3083" name="" r:id="rId1" imgW="139700" imgH="139700" progId="Equation.3">
                  <p:embed/>
                </p:oleObj>
              </mc:Choice>
              <mc:Fallback>
                <p:oleObj name="" r:id="rId1" imgW="139700" imgH="139700" progId="Equation.3">
                  <p:embed/>
                  <p:pic>
                    <p:nvPicPr>
                      <p:cNvPr id="0" name="图片 3082"/>
                      <p:cNvPicPr/>
                      <p:nvPr/>
                    </p:nvPicPr>
                    <p:blipFill>
                      <a:blip r:embed="rId2"/>
                      <a:stretch>
                        <a:fillRect/>
                      </a:stretch>
                    </p:blipFill>
                    <p:spPr>
                      <a:xfrm>
                        <a:off x="1547813" y="1916748"/>
                        <a:ext cx="500062" cy="492125"/>
                      </a:xfrm>
                      <a:prstGeom prst="rect">
                        <a:avLst/>
                      </a:prstGeom>
                      <a:noFill/>
                      <a:ln w="38100">
                        <a:noFill/>
                        <a:miter/>
                      </a:ln>
                    </p:spPr>
                  </p:pic>
                </p:oleObj>
              </mc:Fallback>
            </mc:AlternateContent>
          </a:graphicData>
        </a:graphic>
      </p:graphicFrame>
      <p:sp>
        <p:nvSpPr>
          <p:cNvPr id="6144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1448"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1449" name="Object 8"/>
          <p:cNvGraphicFramePr>
            <a:graphicFrameLocks noChangeAspect="1"/>
          </p:cNvGraphicFramePr>
          <p:nvPr/>
        </p:nvGraphicFramePr>
        <p:xfrm>
          <a:off x="2123758" y="4004628"/>
          <a:ext cx="3929062" cy="955675"/>
        </p:xfrm>
        <a:graphic>
          <a:graphicData uri="http://schemas.openxmlformats.org/presentationml/2006/ole">
            <mc:AlternateContent xmlns:mc="http://schemas.openxmlformats.org/markup-compatibility/2006">
              <mc:Choice xmlns:v="urn:schemas-microsoft-com:vml" Requires="v">
                <p:oleObj spid="_x0000_s3084" name="" r:id="rId3" imgW="1727200" imgH="419100" progId="Equation.3">
                  <p:embed/>
                </p:oleObj>
              </mc:Choice>
              <mc:Fallback>
                <p:oleObj name="" r:id="rId3" imgW="1727200" imgH="419100" progId="Equation.3">
                  <p:embed/>
                  <p:pic>
                    <p:nvPicPr>
                      <p:cNvPr id="0" name="图片 3083"/>
                      <p:cNvPicPr/>
                      <p:nvPr/>
                    </p:nvPicPr>
                    <p:blipFill>
                      <a:blip r:embed="rId4"/>
                      <a:stretch>
                        <a:fillRect/>
                      </a:stretch>
                    </p:blipFill>
                    <p:spPr>
                      <a:xfrm>
                        <a:off x="2123758" y="4004628"/>
                        <a:ext cx="3929062" cy="955675"/>
                      </a:xfrm>
                      <a:prstGeom prst="rect">
                        <a:avLst/>
                      </a:prstGeom>
                      <a:noFill/>
                      <a:ln w="38100">
                        <a:noFill/>
                        <a:miter/>
                      </a:ln>
                    </p:spPr>
                  </p:pic>
                </p:oleObj>
              </mc:Fallback>
            </mc:AlternateContent>
          </a:graphicData>
        </a:graphic>
      </p:graphicFrame>
      <p:sp>
        <p:nvSpPr>
          <p:cNvPr id="61450"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1451" name="Object 10"/>
          <p:cNvGraphicFramePr>
            <a:graphicFrameLocks noChangeAspect="1"/>
          </p:cNvGraphicFramePr>
          <p:nvPr/>
        </p:nvGraphicFramePr>
        <p:xfrm>
          <a:off x="2195195" y="3361690"/>
          <a:ext cx="1000125" cy="803275"/>
        </p:xfrm>
        <a:graphic>
          <a:graphicData uri="http://schemas.openxmlformats.org/presentationml/2006/ole">
            <mc:AlternateContent xmlns:mc="http://schemas.openxmlformats.org/markup-compatibility/2006">
              <mc:Choice xmlns:v="urn:schemas-microsoft-com:vml" Requires="v">
                <p:oleObj spid="_x0000_s3082" name="" r:id="rId5" imgW="482600" imgH="393700" progId="Equation.3">
                  <p:embed/>
                </p:oleObj>
              </mc:Choice>
              <mc:Fallback>
                <p:oleObj name="" r:id="rId5" imgW="482600" imgH="393700" progId="Equation.3">
                  <p:embed/>
                  <p:pic>
                    <p:nvPicPr>
                      <p:cNvPr id="0" name="图片 3081"/>
                      <p:cNvPicPr/>
                      <p:nvPr/>
                    </p:nvPicPr>
                    <p:blipFill>
                      <a:blip r:embed="rId6"/>
                      <a:stretch>
                        <a:fillRect/>
                      </a:stretch>
                    </p:blipFill>
                    <p:spPr>
                      <a:xfrm>
                        <a:off x="2195195" y="3361690"/>
                        <a:ext cx="1000125" cy="803275"/>
                      </a:xfrm>
                      <a:prstGeom prst="rect">
                        <a:avLst/>
                      </a:prstGeom>
                      <a:noFill/>
                      <a:ln w="38100">
                        <a:noFill/>
                        <a:miter/>
                      </a:ln>
                    </p:spPr>
                  </p:pic>
                </p:oleObj>
              </mc:Fallback>
            </mc:AlternateContent>
          </a:graphicData>
        </a:graphic>
      </p:graphicFrame>
      <p:sp>
        <p:nvSpPr>
          <p:cNvPr id="61452"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1453" name="Object 12"/>
          <p:cNvGraphicFramePr>
            <a:graphicFrameLocks noChangeAspect="1"/>
          </p:cNvGraphicFramePr>
          <p:nvPr/>
        </p:nvGraphicFramePr>
        <p:xfrm>
          <a:off x="2052320" y="5004753"/>
          <a:ext cx="5618163" cy="1000125"/>
        </p:xfrm>
        <a:graphic>
          <a:graphicData uri="http://schemas.openxmlformats.org/presentationml/2006/ole">
            <mc:AlternateContent xmlns:mc="http://schemas.openxmlformats.org/markup-compatibility/2006">
              <mc:Choice xmlns:v="urn:schemas-microsoft-com:vml" Requires="v">
                <p:oleObj spid="_x0000_s3085" name="" r:id="rId7" imgW="2514600" imgH="444500" progId="Equation.3">
                  <p:embed/>
                </p:oleObj>
              </mc:Choice>
              <mc:Fallback>
                <p:oleObj name="" r:id="rId7" imgW="2514600" imgH="444500" progId="Equation.3">
                  <p:embed/>
                  <p:pic>
                    <p:nvPicPr>
                      <p:cNvPr id="0" name="图片 3084"/>
                      <p:cNvPicPr/>
                      <p:nvPr/>
                    </p:nvPicPr>
                    <p:blipFill>
                      <a:blip r:embed="rId8"/>
                      <a:stretch>
                        <a:fillRect/>
                      </a:stretch>
                    </p:blipFill>
                    <p:spPr>
                      <a:xfrm>
                        <a:off x="2052320" y="5004753"/>
                        <a:ext cx="5618163" cy="1000125"/>
                      </a:xfrm>
                      <a:prstGeom prst="rect">
                        <a:avLst/>
                      </a:prstGeom>
                      <a:noFill/>
                      <a:ln w="38100">
                        <a:noFill/>
                        <a:miter/>
                      </a:ln>
                    </p:spPr>
                  </p:pic>
                </p:oleObj>
              </mc:Fallback>
            </mc:AlternateContent>
          </a:graphicData>
        </a:graphic>
      </p:graphicFrame>
      <p:pic>
        <p:nvPicPr>
          <p:cNvPr id="61454" name="图片 13" descr="Untitled.png">
            <a:hlinkClick r:id="rId9" action="ppaction://hlinksldjump"/>
          </p:cNvPr>
          <p:cNvPicPr>
            <a:picLocks noChangeAspect="1"/>
          </p:cNvPicPr>
          <p:nvPr/>
        </p:nvPicPr>
        <p:blipFill>
          <a:blip r:embed="rId10"/>
          <a:stretch>
            <a:fillRect/>
          </a:stretch>
        </p:blipFill>
        <p:spPr>
          <a:xfrm>
            <a:off x="8216900" y="5937250"/>
            <a:ext cx="927100" cy="920750"/>
          </a:xfrm>
          <a:prstGeom prst="rect">
            <a:avLst/>
          </a:prstGeom>
          <a:noFill/>
          <a:ln w="9525">
            <a:noFill/>
          </a:ln>
        </p:spPr>
      </p:pic>
      <p:sp>
        <p:nvSpPr>
          <p:cNvPr id="3" name="Rectangle 2"/>
          <p:cNvSpPr>
            <a:spLocks noGrp="1"/>
          </p:cNvSpPr>
          <p:nvPr>
            <p:custDataLst>
              <p:tags r:id="rId11"/>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5.8 循环程序举例</a:t>
            </a:r>
            <a:endParaRPr lang="zh-CN" altLang="zh-CN" dirty="0">
              <a:solidFill>
                <a:srgbClr val="235A67"/>
              </a:solidFill>
            </a:endParaRPr>
          </a:p>
        </p:txBody>
      </p:sp>
    </p:spTree>
  </p:cSld>
  <p:clrMapOvr>
    <a:masterClrMapping/>
  </p:clrMapOvr>
  <p:transition spd="med">
    <p:blinds/>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9" name="Rectangle 3"/>
          <p:cNvSpPr>
            <a:spLocks noGrp="1"/>
          </p:cNvSpPr>
          <p:nvPr>
            <p:ph idx="1"/>
          </p:nvPr>
        </p:nvSpPr>
        <p:spPr>
          <a:xfrm>
            <a:off x="323533" y="2420938"/>
            <a:ext cx="7643812" cy="2357437"/>
          </a:xfrm>
        </p:spPr>
        <p:txBody>
          <a:bodyPr vert="horz" wrap="square" lIns="91440" tIns="45720" rIns="91440" bIns="45720" anchor="t" anchorCtr="0"/>
          <a:p>
            <a:r>
              <a:rPr kumimoji="1" lang="zh-CN" altLang="zh-CN" dirty="0">
                <a:cs typeface="+mn-cs"/>
              </a:rPr>
              <a:t>每项的分子都是</a:t>
            </a:r>
            <a:r>
              <a:rPr kumimoji="1" lang="en-US" altLang="zh-CN" dirty="0">
                <a:cs typeface="+mn-cs"/>
              </a:rPr>
              <a:t>1</a:t>
            </a:r>
            <a:endParaRPr kumimoji="1" lang="en-US" altLang="zh-CN" dirty="0">
              <a:cs typeface="+mn-cs"/>
            </a:endParaRPr>
          </a:p>
          <a:p>
            <a:r>
              <a:rPr kumimoji="1" lang="zh-CN" altLang="zh-CN" dirty="0">
                <a:cs typeface="+mn-cs"/>
              </a:rPr>
              <a:t>后一项的分母是前一项的分母加</a:t>
            </a:r>
            <a:r>
              <a:rPr kumimoji="1" lang="en-US" altLang="zh-CN" dirty="0">
                <a:cs typeface="+mn-cs"/>
              </a:rPr>
              <a:t>2</a:t>
            </a:r>
            <a:endParaRPr kumimoji="1" lang="en-US" altLang="zh-CN" dirty="0">
              <a:cs typeface="+mn-cs"/>
            </a:endParaRPr>
          </a:p>
          <a:p>
            <a:r>
              <a:rPr kumimoji="1" lang="zh-CN" altLang="zh-CN" dirty="0">
                <a:cs typeface="+mn-cs"/>
              </a:rPr>
              <a:t>第</a:t>
            </a:r>
            <a:r>
              <a:rPr kumimoji="1" lang="en-US" altLang="zh-CN" dirty="0">
                <a:cs typeface="+mn-cs"/>
              </a:rPr>
              <a:t>1</a:t>
            </a:r>
            <a:r>
              <a:rPr kumimoji="1" lang="zh-CN" altLang="zh-CN" dirty="0">
                <a:cs typeface="+mn-cs"/>
              </a:rPr>
              <a:t>项的符号为正，从第</a:t>
            </a:r>
            <a:r>
              <a:rPr kumimoji="1" lang="en-US" altLang="zh-CN" dirty="0">
                <a:cs typeface="+mn-cs"/>
              </a:rPr>
              <a:t>2</a:t>
            </a:r>
            <a:r>
              <a:rPr kumimoji="1" lang="zh-CN" altLang="zh-CN" dirty="0">
                <a:cs typeface="+mn-cs"/>
              </a:rPr>
              <a:t>项起，每一项的符号与前一项的符号相反</a:t>
            </a:r>
            <a:endParaRPr kumimoji="1" lang="en-US" altLang="zh-CN" dirty="0">
              <a:cs typeface="+mn-cs"/>
            </a:endParaRPr>
          </a:p>
        </p:txBody>
      </p:sp>
      <p:sp>
        <p:nvSpPr>
          <p:cNvPr id="62468"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2469"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2470"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2471" name="Rectangle 1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2472" name="Object 11"/>
          <p:cNvGraphicFramePr>
            <a:graphicFrameLocks noChangeAspect="1"/>
          </p:cNvGraphicFramePr>
          <p:nvPr/>
        </p:nvGraphicFramePr>
        <p:xfrm>
          <a:off x="309880" y="1268413"/>
          <a:ext cx="3513138" cy="1000125"/>
        </p:xfrm>
        <a:graphic>
          <a:graphicData uri="http://schemas.openxmlformats.org/presentationml/2006/ole">
            <mc:AlternateContent xmlns:mc="http://schemas.openxmlformats.org/markup-compatibility/2006">
              <mc:Choice xmlns:v="urn:schemas-microsoft-com:vml" Requires="v">
                <p:oleObj spid="_x0000_s2" name="" r:id="rId1" imgW="1371600" imgH="393700" progId="Equation.3">
                  <p:embed/>
                </p:oleObj>
              </mc:Choice>
              <mc:Fallback>
                <p:oleObj name="" r:id="rId1" imgW="1371600" imgH="393700" progId="Equation.3">
                  <p:embed/>
                  <p:pic>
                    <p:nvPicPr>
                      <p:cNvPr id="0" name="图片 1"/>
                      <p:cNvPicPr/>
                      <p:nvPr/>
                    </p:nvPicPr>
                    <p:blipFill>
                      <a:blip r:embed="rId2"/>
                      <a:stretch>
                        <a:fillRect/>
                      </a:stretch>
                    </p:blipFill>
                    <p:spPr>
                      <a:xfrm>
                        <a:off x="309880" y="1268413"/>
                        <a:ext cx="3513138" cy="1000125"/>
                      </a:xfrm>
                      <a:prstGeom prst="rect">
                        <a:avLst/>
                      </a:prstGeom>
                      <a:noFill/>
                      <a:ln w="38100">
                        <a:noFill/>
                        <a:miter/>
                      </a:ln>
                    </p:spPr>
                  </p:pic>
                </p:oleObj>
              </mc:Fallback>
            </mc:AlternateContent>
          </a:graphicData>
        </a:graphic>
      </p:graphicFrame>
      <p:sp>
        <p:nvSpPr>
          <p:cNvPr id="62473"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90117" name="Object 5"/>
          <p:cNvGraphicFramePr>
            <a:graphicFrameLocks noChangeAspect="1"/>
          </p:cNvGraphicFramePr>
          <p:nvPr/>
        </p:nvGraphicFramePr>
        <p:xfrm>
          <a:off x="2214563" y="5072063"/>
          <a:ext cx="428625" cy="1098550"/>
        </p:xfrm>
        <a:graphic>
          <a:graphicData uri="http://schemas.openxmlformats.org/presentationml/2006/ole">
            <mc:AlternateContent xmlns:mc="http://schemas.openxmlformats.org/markup-compatibility/2006">
              <mc:Choice xmlns:v="urn:schemas-microsoft-com:vml" Requires="v">
                <p:oleObj spid="_x0000_s3080" name="" r:id="rId3" imgW="152400" imgH="393700" progId="Equation.3">
                  <p:embed/>
                </p:oleObj>
              </mc:Choice>
              <mc:Fallback>
                <p:oleObj name="" r:id="rId3" imgW="152400" imgH="393700" progId="Equation.3">
                  <p:embed/>
                  <p:pic>
                    <p:nvPicPr>
                      <p:cNvPr id="0" name="图片 3079"/>
                      <p:cNvPicPr/>
                      <p:nvPr/>
                    </p:nvPicPr>
                    <p:blipFill>
                      <a:blip r:embed="rId4"/>
                      <a:stretch>
                        <a:fillRect/>
                      </a:stretch>
                    </p:blipFill>
                    <p:spPr>
                      <a:xfrm>
                        <a:off x="2214563" y="5072063"/>
                        <a:ext cx="428625" cy="1098550"/>
                      </a:xfrm>
                      <a:prstGeom prst="rect">
                        <a:avLst/>
                      </a:prstGeom>
                      <a:noFill/>
                      <a:ln w="38100">
                        <a:noFill/>
                        <a:miter/>
                      </a:ln>
                    </p:spPr>
                  </p:pic>
                </p:oleObj>
              </mc:Fallback>
            </mc:AlternateContent>
          </a:graphicData>
        </a:graphic>
      </p:graphicFrame>
      <p:sp>
        <p:nvSpPr>
          <p:cNvPr id="13" name="右箭头 12"/>
          <p:cNvSpPr/>
          <p:nvPr/>
        </p:nvSpPr>
        <p:spPr>
          <a:xfrm>
            <a:off x="3000375" y="5500688"/>
            <a:ext cx="1071563" cy="428625"/>
          </a:xfrm>
          <a:prstGeom prst="rightArrow">
            <a:avLst>
              <a:gd name="adj1" fmla="val 50000"/>
              <a:gd name="adj2" fmla="val 50000"/>
            </a:avLst>
          </a:prstGeom>
          <a:solidFill>
            <a:schemeClr val="accent1"/>
          </a:solid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2476" name="Rectangle 8"/>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90119" name="Object 7"/>
          <p:cNvGraphicFramePr>
            <a:graphicFrameLocks noChangeAspect="1"/>
          </p:cNvGraphicFramePr>
          <p:nvPr/>
        </p:nvGraphicFramePr>
        <p:xfrm>
          <a:off x="4214813" y="5143500"/>
          <a:ext cx="1357312" cy="1090613"/>
        </p:xfrm>
        <a:graphic>
          <a:graphicData uri="http://schemas.openxmlformats.org/presentationml/2006/ole">
            <mc:AlternateContent xmlns:mc="http://schemas.openxmlformats.org/markup-compatibility/2006">
              <mc:Choice xmlns:v="urn:schemas-microsoft-com:vml" Requires="v">
                <p:oleObj spid="_x0000_s3081" name="" r:id="rId5" imgW="482600" imgH="393700" progId="Equation.3">
                  <p:embed/>
                </p:oleObj>
              </mc:Choice>
              <mc:Fallback>
                <p:oleObj name="" r:id="rId5" imgW="482600" imgH="393700" progId="Equation.3">
                  <p:embed/>
                  <p:pic>
                    <p:nvPicPr>
                      <p:cNvPr id="0" name="图片 3080"/>
                      <p:cNvPicPr/>
                      <p:nvPr/>
                    </p:nvPicPr>
                    <p:blipFill>
                      <a:blip r:embed="rId6"/>
                      <a:stretch>
                        <a:fillRect/>
                      </a:stretch>
                    </p:blipFill>
                    <p:spPr>
                      <a:xfrm>
                        <a:off x="4214813" y="5143500"/>
                        <a:ext cx="1357312" cy="1090613"/>
                      </a:xfrm>
                      <a:prstGeom prst="rect">
                        <a:avLst/>
                      </a:prstGeom>
                      <a:noFill/>
                      <a:ln w="38100">
                        <a:noFill/>
                        <a:miter/>
                      </a:ln>
                    </p:spPr>
                  </p:pic>
                </p:oleObj>
              </mc:Fallback>
            </mc:AlternateContent>
          </a:graphicData>
        </a:graphic>
      </p:graphicFrame>
      <p:pic>
        <p:nvPicPr>
          <p:cNvPr id="62478" name="图片 13" descr="Untitled.png">
            <a:hlinkClick r:id="rId7" action="ppaction://hlinksldjump"/>
          </p:cNvPr>
          <p:cNvPicPr>
            <a:picLocks noChangeAspect="1"/>
          </p:cNvPicPr>
          <p:nvPr/>
        </p:nvPicPr>
        <p:blipFill>
          <a:blip r:embed="rId8"/>
          <a:stretch>
            <a:fillRect/>
          </a:stretch>
        </p:blipFill>
        <p:spPr>
          <a:xfrm>
            <a:off x="8216900" y="5937250"/>
            <a:ext cx="927100" cy="920750"/>
          </a:xfrm>
          <a:prstGeom prst="rect">
            <a:avLst/>
          </a:prstGeom>
          <a:noFill/>
          <a:ln w="9525">
            <a:noFill/>
          </a:ln>
        </p:spPr>
      </p:pic>
      <p:sp>
        <p:nvSpPr>
          <p:cNvPr id="4" name="Rectangle 2"/>
          <p:cNvSpPr>
            <a:spLocks noGrp="1"/>
          </p:cNvSpPr>
          <p:nvPr>
            <p:custDataLst>
              <p:tags r:id="rId9"/>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5.8 循环程序举例</a:t>
            </a:r>
            <a:endParaRPr lang="zh-CN" altLang="zh-CN" dirty="0">
              <a:solidFill>
                <a:srgbClr val="235A67"/>
              </a:solidFill>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9">
                                            <p:txEl>
                                              <p:charRg st="0" end="9"/>
                                            </p:txEl>
                                          </p:spTgt>
                                        </p:tgtEl>
                                        <p:attrNameLst>
                                          <p:attrName>style.visibility</p:attrName>
                                        </p:attrNameLst>
                                      </p:cBhvr>
                                      <p:to>
                                        <p:strVal val="visible"/>
                                      </p:to>
                                    </p:set>
                                    <p:animEffect transition="in" filter="blinds(horizontal)">
                                      <p:cBhvr>
                                        <p:cTn id="7" dur="500"/>
                                        <p:tgtEl>
                                          <p:spTgt spid="3079">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9">
                                            <p:txEl>
                                              <p:charRg st="9" end="25"/>
                                            </p:txEl>
                                          </p:spTgt>
                                        </p:tgtEl>
                                        <p:attrNameLst>
                                          <p:attrName>style.visibility</p:attrName>
                                        </p:attrNameLst>
                                      </p:cBhvr>
                                      <p:to>
                                        <p:strVal val="visible"/>
                                      </p:to>
                                    </p:set>
                                    <p:animEffect transition="in" filter="blinds(horizontal)">
                                      <p:cBhvr>
                                        <p:cTn id="12" dur="500"/>
                                        <p:tgtEl>
                                          <p:spTgt spid="3079">
                                            <p:txEl>
                                              <p:charRg st="9"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9">
                                            <p:txEl>
                                              <p:charRg st="25" end="56"/>
                                            </p:txEl>
                                          </p:spTgt>
                                        </p:tgtEl>
                                        <p:attrNameLst>
                                          <p:attrName>style.visibility</p:attrName>
                                        </p:attrNameLst>
                                      </p:cBhvr>
                                      <p:to>
                                        <p:strVal val="visible"/>
                                      </p:to>
                                    </p:set>
                                    <p:animEffect transition="in" filter="blinds(horizontal)">
                                      <p:cBhvr>
                                        <p:cTn id="17" dur="500"/>
                                        <p:tgtEl>
                                          <p:spTgt spid="3079">
                                            <p:txEl>
                                              <p:charRg st="25"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0117"/>
                                        </p:tgtEl>
                                        <p:attrNameLst>
                                          <p:attrName>style.visibility</p:attrName>
                                        </p:attrNameLst>
                                      </p:cBhvr>
                                      <p:to>
                                        <p:strVal val="visible"/>
                                      </p:to>
                                    </p:set>
                                    <p:animEffect transition="in" filter="blinds(horizontal)">
                                      <p:cBhvr>
                                        <p:cTn id="22" dur="500"/>
                                        <p:tgtEl>
                                          <p:spTgt spid="90117"/>
                                        </p:tgtEl>
                                      </p:cBhvr>
                                    </p:animEffect>
                                  </p:childTnLst>
                                </p:cTn>
                              </p:par>
                            </p:childTnLst>
                          </p:cTn>
                        </p:par>
                        <p:par>
                          <p:cTn id="23" fill="hold">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par>
                          <p:cTn id="27" fill="hold">
                            <p:stCondLst>
                              <p:cond delay="1000"/>
                            </p:stCondLst>
                            <p:childTnLst>
                              <p:par>
                                <p:cTn id="28" presetID="3" presetClass="entr" presetSubtype="10" fill="hold" nodeType="afterEffect">
                                  <p:stCondLst>
                                    <p:cond delay="0"/>
                                  </p:stCondLst>
                                  <p:childTnLst>
                                    <p:set>
                                      <p:cBhvr>
                                        <p:cTn id="29" dur="1" fill="hold">
                                          <p:stCondLst>
                                            <p:cond delay="0"/>
                                          </p:stCondLst>
                                        </p:cTn>
                                        <p:tgtEl>
                                          <p:spTgt spid="90119"/>
                                        </p:tgtEl>
                                        <p:attrNameLst>
                                          <p:attrName>style.visibility</p:attrName>
                                        </p:attrNameLst>
                                      </p:cBhvr>
                                      <p:to>
                                        <p:strVal val="visible"/>
                                      </p:to>
                                    </p:set>
                                    <p:animEffect transition="in" filter="blinds(horizontal)">
                                      <p:cBhvr>
                                        <p:cTn id="30" dur="500"/>
                                        <p:tgtEl>
                                          <p:spTgt spid="90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492"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49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494" name="Rectangle 1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495"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496" name="Rectangle 8"/>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pSp>
        <p:nvGrpSpPr>
          <p:cNvPr id="63497" name="组合 24"/>
          <p:cNvGrpSpPr/>
          <p:nvPr/>
        </p:nvGrpSpPr>
        <p:grpSpPr>
          <a:xfrm>
            <a:off x="1714500" y="1500188"/>
            <a:ext cx="5143500" cy="5000625"/>
            <a:chOff x="1714480" y="1500174"/>
            <a:chExt cx="5143536" cy="5000660"/>
          </a:xfrm>
        </p:grpSpPr>
        <p:sp>
          <p:nvSpPr>
            <p:cNvPr id="63499" name="流程图: 过程 14"/>
            <p:cNvSpPr/>
            <p:nvPr/>
          </p:nvSpPr>
          <p:spPr>
            <a:xfrm>
              <a:off x="1714480" y="1500174"/>
              <a:ext cx="5143536" cy="5000660"/>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500" name="矩形 15"/>
            <p:cNvSpPr/>
            <p:nvPr/>
          </p:nvSpPr>
          <p:spPr>
            <a:xfrm>
              <a:off x="1714480" y="1500174"/>
              <a:ext cx="5143536" cy="571504"/>
            </a:xfrm>
            <a:prstGeom prst="rect">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sign=1,pi=0,n=1,term=1</a:t>
              </a:r>
              <a:endParaRPr lang="en-US" altLang="zh-CN" sz="2800" dirty="0">
                <a:latin typeface="Times New Roman" panose="02020603050405020304" pitchFamily="18" charset="0"/>
                <a:ea typeface="微软雅黑" panose="020B0503020204020204" pitchFamily="34" charset="-122"/>
              </a:endParaRPr>
            </a:p>
          </p:txBody>
        </p:sp>
        <p:sp>
          <p:nvSpPr>
            <p:cNvPr id="63501" name="矩形 16"/>
            <p:cNvSpPr/>
            <p:nvPr/>
          </p:nvSpPr>
          <p:spPr>
            <a:xfrm>
              <a:off x="1714480" y="2071678"/>
              <a:ext cx="5143536" cy="3143272"/>
            </a:xfrm>
            <a:prstGeom prst="rect">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dirty="0">
                  <a:latin typeface="Times New Roman" panose="02020603050405020304" pitchFamily="18" charset="0"/>
                  <a:ea typeface="微软雅黑" panose="020B0503020204020204" pitchFamily="34" charset="-122"/>
                </a:rPr>
                <a:t>当</a:t>
              </a:r>
              <a:r>
                <a:rPr lang="en-US" altLang="zh-CN" sz="2800" dirty="0">
                  <a:latin typeface="Times New Roman" panose="02020603050405020304" pitchFamily="18" charset="0"/>
                  <a:ea typeface="微软雅黑" panose="020B0503020204020204" pitchFamily="34" charset="-122"/>
                </a:rPr>
                <a:t>term ≥10</a:t>
              </a:r>
              <a:r>
                <a:rPr lang="en-US" altLang="zh-CN" sz="2800" baseline="30000" dirty="0">
                  <a:latin typeface="Times New Roman" panose="02020603050405020304" pitchFamily="18" charset="0"/>
                  <a:ea typeface="微软雅黑" panose="020B0503020204020204" pitchFamily="34" charset="-122"/>
                </a:rPr>
                <a:t>-6</a:t>
              </a:r>
              <a:endParaRPr lang="zh-CN" altLang="en-US" sz="2800" baseline="30000" dirty="0">
                <a:latin typeface="Times New Roman" panose="02020603050405020304" pitchFamily="18" charset="0"/>
                <a:ea typeface="微软雅黑" panose="020B0503020204020204" pitchFamily="34" charset="-122"/>
              </a:endParaRPr>
            </a:p>
          </p:txBody>
        </p:sp>
        <p:sp>
          <p:nvSpPr>
            <p:cNvPr id="63502" name="流程图: 过程 17"/>
            <p:cNvSpPr/>
            <p:nvPr/>
          </p:nvSpPr>
          <p:spPr>
            <a:xfrm>
              <a:off x="2786050" y="2643182"/>
              <a:ext cx="4071966" cy="2571768"/>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en-US"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en-US"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en-US"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3503" name="流程图: 过程 18"/>
            <p:cNvSpPr/>
            <p:nvPr/>
          </p:nvSpPr>
          <p:spPr>
            <a:xfrm>
              <a:off x="2786050" y="2643182"/>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pi=pi+term</a:t>
              </a:r>
              <a:endParaRPr lang="en-US" altLang="zh-CN" sz="2800" dirty="0">
                <a:latin typeface="Times New Roman" panose="02020603050405020304" pitchFamily="18" charset="0"/>
                <a:ea typeface="微软雅黑" panose="020B0503020204020204" pitchFamily="34" charset="-122"/>
              </a:endParaRPr>
            </a:p>
          </p:txBody>
        </p:sp>
        <p:sp>
          <p:nvSpPr>
            <p:cNvPr id="63504" name="流程图: 过程 19"/>
            <p:cNvSpPr/>
            <p:nvPr/>
          </p:nvSpPr>
          <p:spPr>
            <a:xfrm>
              <a:off x="2786050" y="3286124"/>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n=n+2</a:t>
              </a:r>
              <a:endParaRPr lang="en-US" altLang="zh-CN" sz="2800" dirty="0">
                <a:latin typeface="Times New Roman" panose="02020603050405020304" pitchFamily="18" charset="0"/>
                <a:ea typeface="微软雅黑" panose="020B0503020204020204" pitchFamily="34" charset="-122"/>
              </a:endParaRPr>
            </a:p>
          </p:txBody>
        </p:sp>
        <p:sp>
          <p:nvSpPr>
            <p:cNvPr id="63505" name="流程图: 过程 20"/>
            <p:cNvSpPr/>
            <p:nvPr/>
          </p:nvSpPr>
          <p:spPr>
            <a:xfrm>
              <a:off x="2786050" y="3929066"/>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sing=-sign</a:t>
              </a:r>
              <a:endParaRPr lang="en-US" altLang="zh-CN" sz="2800" dirty="0">
                <a:latin typeface="Times New Roman" panose="02020603050405020304" pitchFamily="18" charset="0"/>
                <a:ea typeface="微软雅黑" panose="020B0503020204020204" pitchFamily="34" charset="-122"/>
              </a:endParaRPr>
            </a:p>
          </p:txBody>
        </p:sp>
        <p:sp>
          <p:nvSpPr>
            <p:cNvPr id="63506" name="流程图: 过程 21"/>
            <p:cNvSpPr/>
            <p:nvPr/>
          </p:nvSpPr>
          <p:spPr>
            <a:xfrm>
              <a:off x="2786050" y="4572008"/>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term=sign/n</a:t>
              </a:r>
              <a:endParaRPr lang="en-US" altLang="zh-CN" sz="2800" dirty="0">
                <a:latin typeface="Times New Roman" panose="02020603050405020304" pitchFamily="18" charset="0"/>
                <a:ea typeface="微软雅黑" panose="020B0503020204020204" pitchFamily="34" charset="-122"/>
              </a:endParaRPr>
            </a:p>
          </p:txBody>
        </p:sp>
        <p:sp>
          <p:nvSpPr>
            <p:cNvPr id="63507" name="流程图: 过程 22"/>
            <p:cNvSpPr/>
            <p:nvPr/>
          </p:nvSpPr>
          <p:spPr>
            <a:xfrm>
              <a:off x="1714480" y="5214950"/>
              <a:ext cx="514353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pi=pi*4</a:t>
              </a:r>
              <a:endParaRPr lang="en-US" altLang="zh-CN" sz="2800" dirty="0">
                <a:latin typeface="Times New Roman" panose="02020603050405020304" pitchFamily="18" charset="0"/>
                <a:ea typeface="微软雅黑" panose="020B0503020204020204" pitchFamily="34" charset="-122"/>
              </a:endParaRPr>
            </a:p>
          </p:txBody>
        </p:sp>
        <p:sp>
          <p:nvSpPr>
            <p:cNvPr id="63508" name="流程图: 过程 23"/>
            <p:cNvSpPr/>
            <p:nvPr/>
          </p:nvSpPr>
          <p:spPr>
            <a:xfrm>
              <a:off x="1714480" y="5857892"/>
              <a:ext cx="514353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Times New Roman" panose="02020603050405020304" pitchFamily="18" charset="0"/>
                  <a:ea typeface="微软雅黑" panose="020B0503020204020204" pitchFamily="34" charset="-122"/>
                </a:rPr>
                <a:t>输出</a:t>
              </a:r>
              <a:r>
                <a:rPr lang="en-US" altLang="zh-CN" sz="2800" dirty="0">
                  <a:latin typeface="Times New Roman" panose="02020603050405020304" pitchFamily="18" charset="0"/>
                  <a:ea typeface="微软雅黑" panose="020B0503020204020204" pitchFamily="34" charset="-122"/>
                </a:rPr>
                <a:t>pi</a:t>
              </a:r>
              <a:endParaRPr lang="zh-CN" altLang="en-US" sz="2800" dirty="0">
                <a:latin typeface="Times New Roman" panose="02020603050405020304" pitchFamily="18" charset="0"/>
                <a:ea typeface="微软雅黑" panose="020B0503020204020204" pitchFamily="34" charset="-122"/>
              </a:endParaRPr>
            </a:p>
          </p:txBody>
        </p:sp>
      </p:grpSp>
      <p:pic>
        <p:nvPicPr>
          <p:cNvPr id="63498" name="图片 19"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3" name="Rectangle 2"/>
          <p:cNvSpPr>
            <a:spLocks noGrp="1"/>
          </p:cNvSpPr>
          <p:nvPr>
            <p:custDataLst>
              <p:tags r:id="rId3"/>
            </p:custDataLst>
          </p:nvPr>
        </p:nvSpPr>
        <p:spPr>
          <a:xfrm>
            <a:off x="251143" y="548481"/>
            <a:ext cx="8001000" cy="645160"/>
          </a:xfrm>
          <a:prstGeom prst="rect">
            <a:avLst/>
          </a:prstGeom>
          <a:noFill/>
          <a:ln w="9525">
            <a:noFill/>
          </a:ln>
          <a:effectLst>
            <a:outerShdw dist="45791" dir="3378595" algn="ctr" rotWithShape="0">
              <a:schemeClr val="accent2"/>
            </a:outerShdw>
          </a:effectLst>
        </p:spPr>
        <p:txBody>
          <a:bodyPr vert="horz" wrap="square" lIns="91440" tIns="45720" rIns="91440" bIns="45720" anchor="ctr" anchorCtr="0">
            <a:spAutoFit/>
          </a:bodyPr>
          <a:lstStyle>
            <a:lvl1pPr algn="l" rtl="0" eaLnBrk="0" fontAlgn="base" hangingPunct="0">
              <a:spcBef>
                <a:spcPct val="0"/>
              </a:spcBef>
              <a:spcAft>
                <a:spcPct val="0"/>
              </a:spcAft>
              <a:defRPr kumimoji="1" sz="3600" b="1" u="none" strike="noStrike" kern="0" cap="none" spc="0" normalizeH="0">
                <a:solidFill>
                  <a:srgbClr val="235A67"/>
                </a:solidFill>
                <a:effectLst/>
                <a:uFillTx/>
                <a:latin typeface="Times New Roman" panose="02020603050405020304" pitchFamily="18" charset="0"/>
                <a:ea typeface="黑体" panose="02010609060101010101" pitchFamily="2" charset="-122"/>
                <a:cs typeface="+mj-cs"/>
              </a:defRPr>
            </a:lvl1pPr>
            <a:lvl2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algn="l" eaLnBrk="1" hangingPunct="1">
              <a:buNone/>
            </a:pPr>
            <a:r>
              <a:rPr lang="en-US" altLang="zh-CN" dirty="0">
                <a:sym typeface="+mn-ea"/>
              </a:rPr>
              <a:t>5.8 循环程序举例</a:t>
            </a:r>
            <a:endParaRPr lang="zh-CN" altLang="zh-CN" dirty="0">
              <a:solidFill>
                <a:srgbClr val="235A67"/>
              </a:solidFill>
            </a:endParaRPr>
          </a:p>
        </p:txBody>
      </p:sp>
    </p:spTree>
  </p:cSld>
  <p:clrMapOvr>
    <a:masterClrMapping/>
  </p:clrMapOvr>
  <p:transition spd="med">
    <p:blinds/>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a:spLocks noGrp="1"/>
          </p:cNvSpPr>
          <p:nvPr>
            <p:ph idx="1"/>
          </p:nvPr>
        </p:nvSpPr>
        <p:spPr>
          <a:xfrm>
            <a:off x="309880" y="548640"/>
            <a:ext cx="8572500" cy="6357938"/>
          </a:xfrm>
        </p:spPr>
        <p:txBody>
          <a:bodyPr vert="horz" wrap="square" lIns="91440" tIns="45720" rIns="91440" bIns="45720" anchor="t" anchorCtr="0"/>
          <a:p>
            <a:pPr>
              <a:lnSpc>
                <a:spcPts val="29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#include &lt;math.h&gt;</a:t>
            </a:r>
            <a:endParaRPr kumimoji="1" lang="en-US" altLang="zh-CN" dirty="0">
              <a:cs typeface="+mn-cs"/>
            </a:endParaRPr>
          </a:p>
          <a:p>
            <a:pPr>
              <a:lnSpc>
                <a:spcPts val="29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int sign=1; double pi=0,n=1,term=1;</a:t>
            </a:r>
            <a:endParaRPr kumimoji="1" lang="en-US" altLang="zh-CN" dirty="0">
              <a:cs typeface="+mn-cs"/>
            </a:endParaRPr>
          </a:p>
          <a:p>
            <a:pPr>
              <a:lnSpc>
                <a:spcPts val="2900"/>
              </a:lnSpc>
              <a:buFont typeface="Wingdings" panose="05000000000000000000" pitchFamily="2" charset="2"/>
              <a:buNone/>
            </a:pPr>
            <a:r>
              <a:rPr kumimoji="1" lang="en-US" altLang="zh-CN" dirty="0">
                <a:cs typeface="+mn-cs"/>
              </a:rPr>
              <a:t>      while(fabs(term)&gt;=1e-6)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    pi=pi+term;</a:t>
            </a:r>
            <a:endParaRPr kumimoji="1" lang="en-US" altLang="zh-CN" dirty="0">
              <a:cs typeface="+mn-cs"/>
            </a:endParaRPr>
          </a:p>
          <a:p>
            <a:pPr>
              <a:lnSpc>
                <a:spcPts val="2900"/>
              </a:lnSpc>
              <a:buFont typeface="Wingdings" panose="05000000000000000000" pitchFamily="2" charset="2"/>
              <a:buNone/>
            </a:pPr>
            <a:r>
              <a:rPr kumimoji="1" lang="en-US" altLang="zh-CN" dirty="0">
                <a:cs typeface="+mn-cs"/>
              </a:rPr>
              <a:t>           n=n+2;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sign=-sign;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term=sign/n;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pi=pi*4;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printf("pi=%10.8f\n",pi);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a:t>
            </a:r>
            <a:endParaRPr kumimoji="1" lang="zh-CN" altLang="zh-CN" dirty="0">
              <a:cs typeface="+mn-cs"/>
            </a:endParaRPr>
          </a:p>
          <a:p>
            <a:pPr>
              <a:lnSpc>
                <a:spcPts val="2900"/>
              </a:lnSpc>
              <a:buFont typeface="Wingdings" panose="05000000000000000000" pitchFamily="2" charset="2"/>
              <a:buNone/>
            </a:pPr>
            <a:endParaRPr kumimoji="1" lang="en-US" altLang="zh-CN" dirty="0">
              <a:cs typeface="+mn-cs"/>
            </a:endParaRPr>
          </a:p>
        </p:txBody>
      </p:sp>
      <p:sp>
        <p:nvSpPr>
          <p:cNvPr id="64515"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4516"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451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4518"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4519"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4520"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6" name="TextBox 15"/>
          <p:cNvSpPr txBox="1"/>
          <p:nvPr/>
        </p:nvSpPr>
        <p:spPr>
          <a:xfrm>
            <a:off x="4931728" y="2348548"/>
            <a:ext cx="2928937"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求绝对值的函数</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sp>
        <p:nvSpPr>
          <p:cNvPr id="17" name="矩形 16"/>
          <p:cNvSpPr/>
          <p:nvPr/>
        </p:nvSpPr>
        <p:spPr>
          <a:xfrm>
            <a:off x="1764030" y="2348865"/>
            <a:ext cx="1532255" cy="49974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92167" name="Picture 7"/>
          <p:cNvPicPr>
            <a:picLocks noChangeAspect="1"/>
          </p:cNvPicPr>
          <p:nvPr/>
        </p:nvPicPr>
        <p:blipFill>
          <a:blip r:embed="rId1"/>
          <a:stretch>
            <a:fillRect/>
          </a:stretch>
        </p:blipFill>
        <p:spPr>
          <a:xfrm>
            <a:off x="4857750" y="3786188"/>
            <a:ext cx="3894138" cy="785812"/>
          </a:xfrm>
          <a:prstGeom prst="rect">
            <a:avLst/>
          </a:prstGeom>
          <a:noFill/>
          <a:ln w="9525">
            <a:noFill/>
          </a:ln>
        </p:spPr>
      </p:pic>
      <p:sp>
        <p:nvSpPr>
          <p:cNvPr id="13" name="矩形 12"/>
          <p:cNvSpPr/>
          <p:nvPr/>
        </p:nvSpPr>
        <p:spPr>
          <a:xfrm>
            <a:off x="4786313" y="3714750"/>
            <a:ext cx="2928937" cy="928688"/>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4" name="TextBox 13"/>
          <p:cNvSpPr txBox="1"/>
          <p:nvPr/>
        </p:nvSpPr>
        <p:spPr>
          <a:xfrm>
            <a:off x="4745990" y="4869180"/>
            <a:ext cx="4136390" cy="491490"/>
          </a:xfrm>
          <a:prstGeom prst="rect">
            <a:avLst/>
          </a:prstGeom>
          <a:no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只保证前</a:t>
            </a:r>
            <a:r>
              <a:rPr lang="en-US" altLang="zh-CN" sz="2600" dirty="0">
                <a:solidFill>
                  <a:srgbClr val="4545AB"/>
                </a:solidFill>
                <a:latin typeface="Times New Roman" panose="02020603050405020304" pitchFamily="18" charset="0"/>
                <a:ea typeface="微软雅黑" panose="020B0503020204020204" pitchFamily="34" charset="-122"/>
              </a:rPr>
              <a:t>5</a:t>
            </a:r>
            <a:r>
              <a:rPr lang="zh-CN" altLang="en-US" sz="2600" dirty="0">
                <a:solidFill>
                  <a:srgbClr val="4545AB"/>
                </a:solidFill>
                <a:latin typeface="Times New Roman" panose="02020603050405020304" pitchFamily="18" charset="0"/>
                <a:ea typeface="微软雅黑" panose="020B0503020204020204" pitchFamily="34" charset="-122"/>
              </a:rPr>
              <a:t>位小数是准确的</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pic>
        <p:nvPicPr>
          <p:cNvPr id="64526" name="图片 14" descr="Untitled.png">
            <a:hlinkClick r:id="rId2" action="ppaction://hlinksldjump"/>
          </p:cNvPr>
          <p:cNvPicPr>
            <a:picLocks noChangeAspect="1"/>
          </p:cNvPicPr>
          <p:nvPr/>
        </p:nvPicPr>
        <p:blipFill>
          <a:blip r:embed="rId3"/>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92167"/>
                                        </p:tgtEl>
                                        <p:attrNameLst>
                                          <p:attrName>style.visibility</p:attrName>
                                        </p:attrNameLst>
                                      </p:cBhvr>
                                      <p:to>
                                        <p:strVal val="visible"/>
                                      </p:to>
                                    </p:set>
                                    <p:animEffect transition="in" filter="blinds(horizontal)">
                                      <p:cBhvr>
                                        <p:cTn id="16" dur="500"/>
                                        <p:tgtEl>
                                          <p:spTgt spid="9216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P spid="13" grpId="0" animBg="1"/>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3"/>
          <p:cNvSpPr>
            <a:spLocks noGrp="1"/>
          </p:cNvSpPr>
          <p:nvPr>
            <p:ph idx="1"/>
          </p:nvPr>
        </p:nvSpPr>
        <p:spPr>
          <a:xfrm>
            <a:off x="285750" y="476885"/>
            <a:ext cx="8572500" cy="6357938"/>
          </a:xfrm>
        </p:spPr>
        <p:txBody>
          <a:bodyPr vert="horz" wrap="square" lIns="91440" tIns="45720" rIns="91440" bIns="45720" anchor="t" anchorCtr="0"/>
          <a:p>
            <a:pPr>
              <a:lnSpc>
                <a:spcPts val="29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#include &lt;math.h&gt;</a:t>
            </a:r>
            <a:endParaRPr kumimoji="1" lang="en-US" altLang="zh-CN" dirty="0">
              <a:cs typeface="+mn-cs"/>
            </a:endParaRPr>
          </a:p>
          <a:p>
            <a:pPr>
              <a:lnSpc>
                <a:spcPts val="29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int sign=1; double pi=0,n=1,term=1;</a:t>
            </a:r>
            <a:endParaRPr kumimoji="1" lang="en-US" altLang="zh-CN" dirty="0">
              <a:cs typeface="+mn-cs"/>
            </a:endParaRPr>
          </a:p>
          <a:p>
            <a:pPr>
              <a:lnSpc>
                <a:spcPts val="2900"/>
              </a:lnSpc>
              <a:buFont typeface="Wingdings" panose="05000000000000000000" pitchFamily="2" charset="2"/>
              <a:buNone/>
            </a:pPr>
            <a:r>
              <a:rPr kumimoji="1" lang="en-US" altLang="zh-CN" dirty="0">
                <a:cs typeface="+mn-cs"/>
              </a:rPr>
              <a:t>      while(fabs(term)&gt;=1e-6)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    pi=pi+term;</a:t>
            </a:r>
            <a:endParaRPr kumimoji="1" lang="en-US" altLang="zh-CN" dirty="0">
              <a:cs typeface="+mn-cs"/>
            </a:endParaRPr>
          </a:p>
          <a:p>
            <a:pPr>
              <a:lnSpc>
                <a:spcPts val="2900"/>
              </a:lnSpc>
              <a:buFont typeface="Wingdings" panose="05000000000000000000" pitchFamily="2" charset="2"/>
              <a:buNone/>
            </a:pPr>
            <a:r>
              <a:rPr kumimoji="1" lang="en-US" altLang="zh-CN" dirty="0">
                <a:cs typeface="+mn-cs"/>
              </a:rPr>
              <a:t>            n=n+2;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sign=-sign;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term=sign/n;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pi=pi*4;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printf("pi=%10.8f\n",pi);  </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ts val="2900"/>
              </a:lnSpc>
              <a:buFont typeface="Wingdings" panose="05000000000000000000" pitchFamily="2" charset="2"/>
              <a:buNone/>
            </a:pPr>
            <a:r>
              <a:rPr kumimoji="1" lang="en-US" altLang="zh-CN" dirty="0">
                <a:cs typeface="+mn-cs"/>
              </a:rPr>
              <a:t>}</a:t>
            </a:r>
            <a:endParaRPr kumimoji="1" lang="zh-CN" altLang="zh-CN" dirty="0">
              <a:cs typeface="+mn-cs"/>
            </a:endParaRPr>
          </a:p>
          <a:p>
            <a:pPr>
              <a:lnSpc>
                <a:spcPts val="2900"/>
              </a:lnSpc>
              <a:buFont typeface="Wingdings" panose="05000000000000000000" pitchFamily="2" charset="2"/>
              <a:buNone/>
            </a:pPr>
            <a:endParaRPr kumimoji="1" lang="en-US" altLang="zh-CN" dirty="0">
              <a:cs typeface="+mn-cs"/>
            </a:endParaRPr>
          </a:p>
        </p:txBody>
      </p:sp>
      <p:sp>
        <p:nvSpPr>
          <p:cNvPr id="6553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5540"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554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5542"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5543"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5544"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92166" name="Picture 6"/>
          <p:cNvPicPr>
            <a:picLocks noChangeAspect="1"/>
          </p:cNvPicPr>
          <p:nvPr/>
        </p:nvPicPr>
        <p:blipFill>
          <a:blip r:embed="rId1"/>
          <a:stretch>
            <a:fillRect/>
          </a:stretch>
        </p:blipFill>
        <p:spPr>
          <a:xfrm>
            <a:off x="4857750" y="4643438"/>
            <a:ext cx="3911600" cy="714375"/>
          </a:xfrm>
          <a:prstGeom prst="rect">
            <a:avLst/>
          </a:prstGeom>
          <a:noFill/>
          <a:ln w="9525">
            <a:noFill/>
          </a:ln>
        </p:spPr>
      </p:pic>
      <p:sp>
        <p:nvSpPr>
          <p:cNvPr id="16" name="TextBox 15"/>
          <p:cNvSpPr txBox="1"/>
          <p:nvPr/>
        </p:nvSpPr>
        <p:spPr>
          <a:xfrm>
            <a:off x="5075555" y="2205038"/>
            <a:ext cx="2000250"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dirty="0">
                <a:solidFill>
                  <a:srgbClr val="C00000"/>
                </a:solidFill>
                <a:latin typeface="Times New Roman" panose="02020603050405020304" pitchFamily="18" charset="0"/>
                <a:ea typeface="微软雅黑" panose="020B0503020204020204" pitchFamily="34" charset="-122"/>
              </a:rPr>
              <a:t>改为</a:t>
            </a:r>
            <a:r>
              <a:rPr lang="en-US" altLang="zh-CN" sz="2800" dirty="0">
                <a:solidFill>
                  <a:srgbClr val="C00000"/>
                </a:solidFill>
                <a:latin typeface="Times New Roman" panose="02020603050405020304" pitchFamily="18" charset="0"/>
                <a:ea typeface="微软雅黑" panose="020B0503020204020204" pitchFamily="34" charset="-122"/>
              </a:rPr>
              <a:t>1e-8</a:t>
            </a:r>
            <a:endParaRPr lang="en-US" altLang="zh-CN" sz="2800" dirty="0">
              <a:solidFill>
                <a:srgbClr val="C00000"/>
              </a:solidFill>
              <a:latin typeface="Times New Roman" panose="02020603050405020304" pitchFamily="18" charset="0"/>
              <a:ea typeface="微软雅黑" panose="020B0503020204020204" pitchFamily="34" charset="-122"/>
            </a:endParaRPr>
          </a:p>
        </p:txBody>
      </p:sp>
      <p:sp>
        <p:nvSpPr>
          <p:cNvPr id="17" name="矩形 16"/>
          <p:cNvSpPr/>
          <p:nvPr/>
        </p:nvSpPr>
        <p:spPr>
          <a:xfrm>
            <a:off x="3636010" y="2277110"/>
            <a:ext cx="881380" cy="49974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65548" name="Picture 7"/>
          <p:cNvPicPr>
            <a:picLocks noChangeAspect="1"/>
          </p:cNvPicPr>
          <p:nvPr/>
        </p:nvPicPr>
        <p:blipFill>
          <a:blip r:embed="rId2"/>
          <a:stretch>
            <a:fillRect/>
          </a:stretch>
        </p:blipFill>
        <p:spPr>
          <a:xfrm>
            <a:off x="4857750" y="3786188"/>
            <a:ext cx="3894138" cy="785812"/>
          </a:xfrm>
          <a:prstGeom prst="rect">
            <a:avLst/>
          </a:prstGeom>
          <a:noFill/>
          <a:ln w="9525">
            <a:noFill/>
          </a:ln>
        </p:spPr>
      </p:pic>
      <p:pic>
        <p:nvPicPr>
          <p:cNvPr id="65549" name="图片 12"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92166"/>
                                        </p:tgtEl>
                                        <p:attrNameLst>
                                          <p:attrName>style.visibility</p:attrName>
                                        </p:attrNameLst>
                                      </p:cBhvr>
                                      <p:to>
                                        <p:strVal val="visible"/>
                                      </p:to>
                                    </p:set>
                                    <p:animEffect transition="in" filter="blinds(horizontal)">
                                      <p:cBhvr>
                                        <p:cTn id="16" dur="500"/>
                                        <p:tgtEl>
                                          <p:spTgt spid="92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3"/>
          <p:cNvSpPr>
            <a:spLocks noGrp="1"/>
          </p:cNvSpPr>
          <p:nvPr>
            <p:ph idx="1"/>
          </p:nvPr>
        </p:nvSpPr>
        <p:spPr>
          <a:xfrm>
            <a:off x="309880" y="621030"/>
            <a:ext cx="8503285" cy="2571750"/>
          </a:xfrm>
        </p:spPr>
        <p:txBody>
          <a:bodyPr vert="horz" wrap="square" lIns="91440" tIns="45720" rIns="91440" bIns="45720" anchor="t" anchorCtr="0"/>
          <a:p>
            <a:pPr marL="938530" indent="-938530" algn="just" defTabSz="0">
              <a:lnSpc>
                <a:spcPct val="140000"/>
              </a:lnSpc>
              <a:buFont typeface="Wingdings" panose="05000000000000000000" pitchFamily="2" charset="2"/>
              <a:buNone/>
              <a:tabLst>
                <a:tab pos="895350" algn="l"/>
              </a:tabLst>
            </a:pPr>
            <a:r>
              <a:rPr kumimoji="1" lang="zh-CN" altLang="zh-CN" dirty="0">
                <a:solidFill>
                  <a:srgbClr val="0000CC"/>
                </a:solidFill>
                <a:cs typeface="+mn-cs"/>
              </a:rPr>
              <a:t>例</a:t>
            </a:r>
            <a:r>
              <a:rPr kumimoji="1" lang="en-US" altLang="zh-CN" dirty="0">
                <a:solidFill>
                  <a:srgbClr val="0000CC"/>
                </a:solidFill>
                <a:cs typeface="+mn-cs"/>
              </a:rPr>
              <a:t>5.8</a:t>
            </a:r>
            <a:r>
              <a:rPr kumimoji="1" lang="en-US" altLang="zh-CN" dirty="0">
                <a:cs typeface="+mn-cs"/>
              </a:rPr>
              <a:t> </a:t>
            </a:r>
            <a:r>
              <a:rPr kumimoji="1" lang="zh-CN" altLang="zh-CN" dirty="0">
                <a:cs typeface="+mn-cs"/>
              </a:rPr>
              <a:t>求费波那西</a:t>
            </a:r>
            <a:r>
              <a:rPr kumimoji="1" lang="en-US" altLang="zh-CN" dirty="0">
                <a:cs typeface="+mn-cs"/>
              </a:rPr>
              <a:t>(Fibonacci)</a:t>
            </a:r>
            <a:r>
              <a:rPr kumimoji="1" lang="zh-CN" altLang="zh-CN" dirty="0">
                <a:cs typeface="+mn-cs"/>
              </a:rPr>
              <a:t>数列的前</a:t>
            </a:r>
            <a:r>
              <a:rPr kumimoji="1" lang="en-US" altLang="zh-CN" dirty="0">
                <a:cs typeface="+mn-cs"/>
              </a:rPr>
              <a:t>40</a:t>
            </a:r>
            <a:r>
              <a:rPr kumimoji="1" lang="zh-CN" altLang="zh-CN" dirty="0">
                <a:cs typeface="+mn-cs"/>
              </a:rPr>
              <a:t>个数。这个数列有如下特点：第</a:t>
            </a:r>
            <a:r>
              <a:rPr kumimoji="1" lang="en-US" altLang="zh-CN" dirty="0">
                <a:cs typeface="+mn-cs"/>
              </a:rPr>
              <a:t>1</a:t>
            </a:r>
            <a:r>
              <a:rPr kumimoji="1" lang="zh-CN" altLang="zh-CN" dirty="0">
                <a:cs typeface="+mn-cs"/>
              </a:rPr>
              <a:t>、</a:t>
            </a:r>
            <a:r>
              <a:rPr kumimoji="1" lang="en-US" altLang="zh-CN" dirty="0">
                <a:cs typeface="+mn-cs"/>
              </a:rPr>
              <a:t>2</a:t>
            </a:r>
            <a:r>
              <a:rPr kumimoji="1" lang="zh-CN" altLang="zh-CN" dirty="0">
                <a:cs typeface="+mn-cs"/>
              </a:rPr>
              <a:t>两个数为</a:t>
            </a:r>
            <a:r>
              <a:rPr kumimoji="1" lang="en-US" altLang="zh-CN" dirty="0">
                <a:cs typeface="+mn-cs"/>
              </a:rPr>
              <a:t>1</a:t>
            </a:r>
            <a:r>
              <a:rPr kumimoji="1" lang="zh-CN" altLang="zh-CN" dirty="0">
                <a:cs typeface="+mn-cs"/>
              </a:rPr>
              <a:t>、</a:t>
            </a:r>
            <a:r>
              <a:rPr kumimoji="1" lang="en-US" altLang="zh-CN" dirty="0">
                <a:cs typeface="+mn-cs"/>
              </a:rPr>
              <a:t>1</a:t>
            </a:r>
            <a:r>
              <a:rPr kumimoji="1" lang="zh-CN" altLang="zh-CN" dirty="0">
                <a:cs typeface="+mn-cs"/>
              </a:rPr>
              <a:t>。从第</a:t>
            </a:r>
            <a:r>
              <a:rPr kumimoji="1" lang="en-US" altLang="zh-CN" dirty="0">
                <a:cs typeface="+mn-cs"/>
              </a:rPr>
              <a:t>3</a:t>
            </a:r>
            <a:r>
              <a:rPr kumimoji="1" lang="zh-CN" altLang="zh-CN" dirty="0">
                <a:cs typeface="+mn-cs"/>
              </a:rPr>
              <a:t>个数开始，该数是其前面两个数之和。即</a:t>
            </a:r>
            <a:r>
              <a:rPr kumimoji="1" lang="en-US" altLang="zh-CN" dirty="0">
                <a:cs typeface="+mn-cs"/>
              </a:rPr>
              <a:t>:</a:t>
            </a:r>
            <a:endParaRPr kumimoji="1" lang="en-US" altLang="zh-CN" dirty="0">
              <a:cs typeface="+mn-cs"/>
            </a:endParaRPr>
          </a:p>
        </p:txBody>
      </p:sp>
      <p:sp>
        <p:nvSpPr>
          <p:cNvPr id="6656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6564"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656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6566"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6567"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6568"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656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66570" name="Object 6"/>
          <p:cNvGraphicFramePr>
            <a:graphicFrameLocks noChangeAspect="1"/>
          </p:cNvGraphicFramePr>
          <p:nvPr/>
        </p:nvGraphicFramePr>
        <p:xfrm>
          <a:off x="2373630" y="3212783"/>
          <a:ext cx="4397375" cy="1928812"/>
        </p:xfrm>
        <a:graphic>
          <a:graphicData uri="http://schemas.openxmlformats.org/presentationml/2006/ole">
            <mc:AlternateContent xmlns:mc="http://schemas.openxmlformats.org/markup-compatibility/2006">
              <mc:Choice xmlns:v="urn:schemas-microsoft-com:vml" Requires="v">
                <p:oleObj spid="_x0000_s3086" name="" r:id="rId1" imgW="1625600" imgH="711200" progId="Equation.3">
                  <p:embed/>
                </p:oleObj>
              </mc:Choice>
              <mc:Fallback>
                <p:oleObj name="" r:id="rId1" imgW="1625600" imgH="711200" progId="Equation.3">
                  <p:embed/>
                  <p:pic>
                    <p:nvPicPr>
                      <p:cNvPr id="0" name="图片 3085"/>
                      <p:cNvPicPr/>
                      <p:nvPr/>
                    </p:nvPicPr>
                    <p:blipFill>
                      <a:blip r:embed="rId2"/>
                      <a:stretch>
                        <a:fillRect/>
                      </a:stretch>
                    </p:blipFill>
                    <p:spPr>
                      <a:xfrm>
                        <a:off x="2373630" y="3212783"/>
                        <a:ext cx="4397375" cy="1928812"/>
                      </a:xfrm>
                      <a:prstGeom prst="rect">
                        <a:avLst/>
                      </a:prstGeom>
                      <a:noFill/>
                      <a:ln w="38100">
                        <a:noFill/>
                        <a:miter/>
                      </a:ln>
                    </p:spPr>
                  </p:pic>
                </p:oleObj>
              </mc:Fallback>
            </mc:AlternateContent>
          </a:graphicData>
        </a:graphic>
      </p:graphicFrame>
      <p:pic>
        <p:nvPicPr>
          <p:cNvPr id="66571" name="图片 10"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3"/>
          <p:cNvSpPr>
            <a:spLocks noGrp="1"/>
          </p:cNvSpPr>
          <p:nvPr>
            <p:ph idx="1"/>
          </p:nvPr>
        </p:nvSpPr>
        <p:spPr>
          <a:xfrm>
            <a:off x="309563" y="692468"/>
            <a:ext cx="8215312" cy="4000500"/>
          </a:xfrm>
        </p:spPr>
        <p:txBody>
          <a:bodyPr vert="horz" wrap="square" lIns="91440" tIns="45720" rIns="91440" bIns="45720" anchor="t" anchorCtr="0"/>
          <a:p>
            <a:r>
              <a:rPr kumimoji="1" lang="zh-CN" altLang="zh-CN" dirty="0">
                <a:cs typeface="+mn-cs"/>
              </a:rPr>
              <a:t>这是一个有趣的古典数学问题：</a:t>
            </a:r>
            <a:endParaRPr kumimoji="1" lang="en-US" altLang="zh-CN" dirty="0">
              <a:cs typeface="+mn-cs"/>
            </a:endParaRPr>
          </a:p>
          <a:p>
            <a:pPr lvl="1">
              <a:lnSpc>
                <a:spcPct val="140000"/>
              </a:lnSpc>
            </a:pPr>
            <a:r>
              <a:rPr kumimoji="1" lang="zh-CN" altLang="zh-CN" dirty="0"/>
              <a:t>有一对兔子，从出生后第</a:t>
            </a:r>
            <a:r>
              <a:rPr kumimoji="1" lang="en-US" altLang="zh-CN" dirty="0"/>
              <a:t>3</a:t>
            </a:r>
            <a:r>
              <a:rPr kumimoji="1" lang="zh-CN" altLang="zh-CN" dirty="0"/>
              <a:t>个月起每个月都生一对兔子。</a:t>
            </a:r>
            <a:endParaRPr kumimoji="1" lang="en-US" altLang="zh-CN" dirty="0"/>
          </a:p>
          <a:p>
            <a:pPr lvl="1">
              <a:lnSpc>
                <a:spcPct val="140000"/>
              </a:lnSpc>
            </a:pPr>
            <a:r>
              <a:rPr kumimoji="1" lang="zh-CN" altLang="zh-CN" dirty="0"/>
              <a:t>小兔子长到第</a:t>
            </a:r>
            <a:r>
              <a:rPr kumimoji="1" lang="en-US" altLang="zh-CN" dirty="0"/>
              <a:t>3</a:t>
            </a:r>
            <a:r>
              <a:rPr kumimoji="1" lang="zh-CN" altLang="zh-CN" dirty="0"/>
              <a:t>个月后每个月又生一对兔子。</a:t>
            </a:r>
            <a:endParaRPr kumimoji="1" lang="en-US" altLang="zh-CN" dirty="0"/>
          </a:p>
          <a:p>
            <a:pPr lvl="1">
              <a:lnSpc>
                <a:spcPct val="140000"/>
              </a:lnSpc>
            </a:pPr>
            <a:r>
              <a:rPr kumimoji="1" lang="zh-CN" altLang="zh-CN" dirty="0"/>
              <a:t>假设所有兔子都不死，问每个月的兔子总数为多少？</a:t>
            </a:r>
            <a:endParaRPr kumimoji="1" lang="en-US" altLang="zh-CN" dirty="0"/>
          </a:p>
        </p:txBody>
      </p:sp>
      <p:sp>
        <p:nvSpPr>
          <p:cNvPr id="67587"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7588"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758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7590"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7591"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7592"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759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67594" name="图片 9"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8611"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8612"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8613"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8614"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8615"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8616"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11" name="表格 10"/>
          <p:cNvGraphicFramePr>
            <a:graphicFrameLocks noGrp="1"/>
          </p:cNvGraphicFramePr>
          <p:nvPr/>
        </p:nvGraphicFramePr>
        <p:xfrm>
          <a:off x="1027113" y="1143635"/>
          <a:ext cx="7089377" cy="4726940"/>
        </p:xfrm>
        <a:graphic>
          <a:graphicData uri="http://schemas.openxmlformats.org/drawingml/2006/table">
            <a:tbl>
              <a:tblPr/>
              <a:tblGrid>
                <a:gridCol w="1625600"/>
                <a:gridCol w="1391840"/>
                <a:gridCol w="1500187"/>
                <a:gridCol w="1428750"/>
                <a:gridCol w="1143000"/>
              </a:tblGrid>
              <a:tr h="484191">
                <a:tc>
                  <a:txBody>
                    <a:bodyPr/>
                    <a:lstStyle/>
                    <a:p>
                      <a:pPr algn="ctr">
                        <a:spcAft>
                          <a:spcPts val="0"/>
                        </a:spcAft>
                      </a:pPr>
                      <a:r>
                        <a:rPr lang="zh-CN" sz="2800" b="0" kern="100" dirty="0">
                          <a:latin typeface="Times New Roman" panose="02020603050405020304" pitchFamily="18" charset="0"/>
                          <a:ea typeface="微软雅黑" panose="020B0503020204020204" pitchFamily="34" charset="-122"/>
                          <a:cs typeface="Times New Roman" panose="02020603050405020304"/>
                        </a:rPr>
                        <a:t>第几个月</a:t>
                      </a:r>
                      <a:endParaRPr lang="zh-CN"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dirty="0">
                          <a:latin typeface="Times New Roman" panose="02020603050405020304" pitchFamily="18" charset="0"/>
                          <a:ea typeface="微软雅黑" panose="020B0503020204020204" pitchFamily="34" charset="-122"/>
                          <a:cs typeface="Times New Roman" panose="02020603050405020304"/>
                        </a:rPr>
                        <a:t>小兔子对数</a:t>
                      </a:r>
                      <a:endParaRPr lang="zh-CN"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中兔子对数</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老兔子对数</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兔子总数</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1</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0</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0</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1</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2</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0</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0</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1</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3</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0</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2</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4</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1</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1</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3</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5</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2</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2</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5</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6</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3</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2</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3</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8</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7</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5</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3</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a:latin typeface="Times New Roman" panose="02020603050405020304" pitchFamily="18" charset="0"/>
                          <a:ea typeface="微软雅黑" panose="020B0503020204020204" pitchFamily="34" charset="-122"/>
                          <a:cs typeface="Times New Roman" panose="02020603050405020304"/>
                        </a:rPr>
                        <a:t>5</a:t>
                      </a:r>
                      <a:endParaRPr lang="en-US"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0" kern="100" dirty="0">
                          <a:latin typeface="Times New Roman" panose="02020603050405020304" pitchFamily="18" charset="0"/>
                          <a:ea typeface="微软雅黑" panose="020B0503020204020204" pitchFamily="34" charset="-122"/>
                          <a:cs typeface="Times New Roman" panose="02020603050405020304"/>
                        </a:rPr>
                        <a:t>13</a:t>
                      </a:r>
                      <a:endParaRPr lang="en-US"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191">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a:latin typeface="Times New Roman" panose="02020603050405020304" pitchFamily="18" charset="0"/>
                          <a:ea typeface="微软雅黑" panose="020B0503020204020204" pitchFamily="34" charset="-122"/>
                          <a:cs typeface="Times New Roman" panose="02020603050405020304"/>
                        </a:rPr>
                        <a:t>┇</a:t>
                      </a:r>
                      <a:endParaRPr lang="zh-CN" sz="2800" b="0" kern="10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800" b="0" kern="100" dirty="0">
                          <a:latin typeface="Times New Roman" panose="02020603050405020304" pitchFamily="18" charset="0"/>
                          <a:ea typeface="微软雅黑" panose="020B0503020204020204" pitchFamily="34" charset="-122"/>
                          <a:cs typeface="Times New Roman" panose="02020603050405020304"/>
                        </a:rPr>
                        <a:t>┇</a:t>
                      </a:r>
                      <a:endParaRPr lang="zh-CN" sz="2800" b="0" kern="100" dirty="0">
                        <a:latin typeface="Times New Roman" panose="02020603050405020304" pitchFamily="18" charset="0"/>
                        <a:ea typeface="微软雅黑" panose="020B0503020204020204" pitchFamily="34"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矩形 11"/>
          <p:cNvSpPr/>
          <p:nvPr/>
        </p:nvSpPr>
        <p:spPr>
          <a:xfrm>
            <a:off x="7164070" y="2018030"/>
            <a:ext cx="757555" cy="385254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68680" name="图片 12"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35"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36"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37" name="Rectangle 1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38" name="Rectangle 6"/>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39" name="Rectangle 8"/>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pSp>
        <p:nvGrpSpPr>
          <p:cNvPr id="69640" name="组合 26"/>
          <p:cNvGrpSpPr/>
          <p:nvPr/>
        </p:nvGrpSpPr>
        <p:grpSpPr>
          <a:xfrm>
            <a:off x="1979295" y="1143000"/>
            <a:ext cx="5143500" cy="4286250"/>
            <a:chOff x="1714480" y="928670"/>
            <a:chExt cx="5143536" cy="4286280"/>
          </a:xfrm>
        </p:grpSpPr>
        <p:sp>
          <p:nvSpPr>
            <p:cNvPr id="69642" name="流程图: 过程 14"/>
            <p:cNvSpPr/>
            <p:nvPr/>
          </p:nvSpPr>
          <p:spPr>
            <a:xfrm>
              <a:off x="1714480" y="928670"/>
              <a:ext cx="5143536" cy="4286280"/>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43" name="矩形 15"/>
            <p:cNvSpPr/>
            <p:nvPr/>
          </p:nvSpPr>
          <p:spPr>
            <a:xfrm>
              <a:off x="1714480" y="1500174"/>
              <a:ext cx="5143536" cy="571504"/>
            </a:xfrm>
            <a:prstGeom prst="rect">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Times New Roman" panose="02020603050405020304" pitchFamily="18" charset="0"/>
                  <a:ea typeface="微软雅黑" panose="020B0503020204020204" pitchFamily="34" charset="-122"/>
                </a:rPr>
                <a:t>输出</a:t>
              </a:r>
              <a:r>
                <a:rPr lang="en-US" altLang="zh-CN" sz="2800" dirty="0">
                  <a:latin typeface="Times New Roman" panose="02020603050405020304" pitchFamily="18" charset="0"/>
                  <a:ea typeface="微软雅黑" panose="020B0503020204020204" pitchFamily="34" charset="-122"/>
                </a:rPr>
                <a:t>f1,f2</a:t>
              </a:r>
              <a:endParaRPr lang="zh-CN" altLang="en-US" sz="2800" dirty="0">
                <a:latin typeface="Times New Roman" panose="02020603050405020304" pitchFamily="18" charset="0"/>
                <a:ea typeface="微软雅黑" panose="020B0503020204020204" pitchFamily="34" charset="-122"/>
              </a:endParaRPr>
            </a:p>
          </p:txBody>
        </p:sp>
        <p:sp>
          <p:nvSpPr>
            <p:cNvPr id="69644" name="矩形 16"/>
            <p:cNvSpPr/>
            <p:nvPr/>
          </p:nvSpPr>
          <p:spPr>
            <a:xfrm>
              <a:off x="1714480" y="2071678"/>
              <a:ext cx="5143536" cy="3143272"/>
            </a:xfrm>
            <a:prstGeom prst="rect">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For i=1 to 38</a:t>
              </a:r>
              <a:endParaRPr lang="en-US" altLang="zh-CN" sz="2800" baseline="30000" dirty="0">
                <a:latin typeface="Times New Roman" panose="02020603050405020304" pitchFamily="18" charset="0"/>
                <a:ea typeface="微软雅黑" panose="020B0503020204020204" pitchFamily="34" charset="-122"/>
              </a:endParaRPr>
            </a:p>
          </p:txBody>
        </p:sp>
        <p:sp>
          <p:nvSpPr>
            <p:cNvPr id="69645" name="流程图: 过程 17"/>
            <p:cNvSpPr/>
            <p:nvPr/>
          </p:nvSpPr>
          <p:spPr>
            <a:xfrm>
              <a:off x="2786050" y="2643182"/>
              <a:ext cx="4071966" cy="2571768"/>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en-US"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en-US"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en-US" altLang="zh-CN" sz="280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69646" name="流程图: 过程 18"/>
            <p:cNvSpPr/>
            <p:nvPr/>
          </p:nvSpPr>
          <p:spPr>
            <a:xfrm>
              <a:off x="2786050" y="2643182"/>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f3=f1+f2</a:t>
              </a:r>
              <a:endParaRPr lang="en-US" altLang="zh-CN" sz="2800" dirty="0">
                <a:latin typeface="Times New Roman" panose="02020603050405020304" pitchFamily="18" charset="0"/>
                <a:ea typeface="微软雅黑" panose="020B0503020204020204" pitchFamily="34" charset="-122"/>
              </a:endParaRPr>
            </a:p>
          </p:txBody>
        </p:sp>
        <p:sp>
          <p:nvSpPr>
            <p:cNvPr id="69647" name="流程图: 过程 19"/>
            <p:cNvSpPr/>
            <p:nvPr/>
          </p:nvSpPr>
          <p:spPr>
            <a:xfrm>
              <a:off x="2786050" y="3286124"/>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dirty="0">
                  <a:latin typeface="Times New Roman" panose="02020603050405020304" pitchFamily="18" charset="0"/>
                  <a:ea typeface="微软雅黑" panose="020B0503020204020204" pitchFamily="34" charset="-122"/>
                </a:rPr>
                <a:t>输出</a:t>
              </a:r>
              <a:r>
                <a:rPr lang="en-US" altLang="zh-CN" sz="2800" dirty="0">
                  <a:latin typeface="Times New Roman" panose="02020603050405020304" pitchFamily="18" charset="0"/>
                  <a:ea typeface="微软雅黑" panose="020B0503020204020204" pitchFamily="34" charset="-122"/>
                </a:rPr>
                <a:t>f3</a:t>
              </a:r>
              <a:endParaRPr lang="zh-CN" altLang="en-US" sz="2800" dirty="0">
                <a:latin typeface="Times New Roman" panose="02020603050405020304" pitchFamily="18" charset="0"/>
                <a:ea typeface="微软雅黑" panose="020B0503020204020204" pitchFamily="34" charset="-122"/>
              </a:endParaRPr>
            </a:p>
          </p:txBody>
        </p:sp>
        <p:sp>
          <p:nvSpPr>
            <p:cNvPr id="69648" name="流程图: 过程 20"/>
            <p:cNvSpPr/>
            <p:nvPr/>
          </p:nvSpPr>
          <p:spPr>
            <a:xfrm>
              <a:off x="2786050" y="3929066"/>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f1=f2</a:t>
              </a:r>
              <a:endParaRPr lang="en-US" altLang="zh-CN" sz="2800" dirty="0">
                <a:latin typeface="Times New Roman" panose="02020603050405020304" pitchFamily="18" charset="0"/>
                <a:ea typeface="微软雅黑" panose="020B0503020204020204" pitchFamily="34" charset="-122"/>
              </a:endParaRPr>
            </a:p>
          </p:txBody>
        </p:sp>
        <p:sp>
          <p:nvSpPr>
            <p:cNvPr id="69649" name="流程图: 过程 21"/>
            <p:cNvSpPr/>
            <p:nvPr/>
          </p:nvSpPr>
          <p:spPr>
            <a:xfrm>
              <a:off x="2786050" y="4572008"/>
              <a:ext cx="4071966" cy="642942"/>
            </a:xfrm>
            <a:prstGeom prst="flowChartProcess">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f2=f3</a:t>
              </a:r>
              <a:endParaRPr lang="en-US" altLang="zh-CN" sz="2800" dirty="0">
                <a:latin typeface="Times New Roman" panose="02020603050405020304" pitchFamily="18" charset="0"/>
                <a:ea typeface="微软雅黑" panose="020B0503020204020204" pitchFamily="34" charset="-122"/>
              </a:endParaRPr>
            </a:p>
          </p:txBody>
        </p:sp>
        <p:sp>
          <p:nvSpPr>
            <p:cNvPr id="69650" name="矩形 25"/>
            <p:cNvSpPr/>
            <p:nvPr/>
          </p:nvSpPr>
          <p:spPr>
            <a:xfrm>
              <a:off x="1714480" y="928670"/>
              <a:ext cx="5143536" cy="571504"/>
            </a:xfrm>
            <a:prstGeom prst="rect">
              <a:avLst/>
            </a:prstGeom>
            <a:solidFill>
              <a:schemeClr val="accent1"/>
            </a:solidFill>
            <a:ln w="38100" cap="flat" cmpd="sng">
              <a:solidFill>
                <a:srgbClr val="0000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latin typeface="Times New Roman" panose="02020603050405020304" pitchFamily="18" charset="0"/>
                  <a:ea typeface="微软雅黑" panose="020B0503020204020204" pitchFamily="34" charset="-122"/>
                </a:rPr>
                <a:t>f1=1,f2=1</a:t>
              </a:r>
              <a:endParaRPr lang="en-US" altLang="zh-CN" sz="2800" dirty="0">
                <a:latin typeface="Times New Roman" panose="02020603050405020304" pitchFamily="18" charset="0"/>
                <a:ea typeface="微软雅黑" panose="020B0503020204020204" pitchFamily="34" charset="-122"/>
              </a:endParaRPr>
            </a:p>
          </p:txBody>
        </p:sp>
      </p:grpSp>
      <p:pic>
        <p:nvPicPr>
          <p:cNvPr id="69641" name="图片 17"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3"/>
          <p:cNvSpPr>
            <a:spLocks noGrp="1"/>
          </p:cNvSpPr>
          <p:nvPr>
            <p:ph idx="1"/>
          </p:nvPr>
        </p:nvSpPr>
        <p:spPr>
          <a:xfrm>
            <a:off x="309563" y="260668"/>
            <a:ext cx="7715250" cy="6215062"/>
          </a:xfrm>
        </p:spPr>
        <p:txBody>
          <a:bodyPr vert="horz" wrap="square" lIns="91440" tIns="45720" rIns="91440" bIns="45720" anchor="t" anchorCtr="0"/>
          <a:p>
            <a:pPr>
              <a:lnSpc>
                <a:spcPct val="11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int main()</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   int f1=1,f2=1,f3;  int i;</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printf("%12d\n%12d\n",f1,f2);</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for(i=1; i&lt;=38; i++)</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    f3=f1+f2;</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printf("%12d\n",f3);</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f1=f2;</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f2=f3;</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a:t>
            </a:r>
            <a:endParaRPr kumimoji="1" lang="zh-CN" altLang="zh-CN" dirty="0">
              <a:cs typeface="+mn-cs"/>
            </a:endParaRPr>
          </a:p>
          <a:p>
            <a:pPr algn="just">
              <a:lnSpc>
                <a:spcPct val="1100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ct val="110000"/>
              </a:lnSpc>
              <a:buFont typeface="Wingdings" panose="05000000000000000000" pitchFamily="2" charset="2"/>
              <a:buNone/>
            </a:pPr>
            <a:r>
              <a:rPr kumimoji="1" lang="en-US" altLang="zh-CN" dirty="0">
                <a:cs typeface="+mn-cs"/>
              </a:rPr>
              <a:t>}</a:t>
            </a:r>
            <a:endParaRPr kumimoji="1" lang="zh-CN" altLang="zh-CN" dirty="0">
              <a:cs typeface="+mn-cs"/>
            </a:endParaRPr>
          </a:p>
        </p:txBody>
      </p:sp>
      <p:sp>
        <p:nvSpPr>
          <p:cNvPr id="7065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0660"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066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0662"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0663"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0664"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066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pSp>
        <p:nvGrpSpPr>
          <p:cNvPr id="2" name="组合 11"/>
          <p:cNvGrpSpPr/>
          <p:nvPr/>
        </p:nvGrpSpPr>
        <p:grpSpPr>
          <a:xfrm>
            <a:off x="6072188" y="2643188"/>
            <a:ext cx="2500312" cy="3191093"/>
            <a:chOff x="6215074" y="3000372"/>
            <a:chExt cx="2500330" cy="3190859"/>
          </a:xfrm>
        </p:grpSpPr>
        <p:pic>
          <p:nvPicPr>
            <p:cNvPr id="70669" name="Picture 2" descr="pic5-8-1"/>
            <p:cNvPicPr>
              <a:picLocks noChangeAspect="1"/>
            </p:cNvPicPr>
            <p:nvPr/>
          </p:nvPicPr>
          <p:blipFill>
            <a:blip r:embed="rId1"/>
            <a:stretch>
              <a:fillRect/>
            </a:stretch>
          </p:blipFill>
          <p:spPr>
            <a:xfrm>
              <a:off x="6215074" y="3000372"/>
              <a:ext cx="2500330" cy="2714644"/>
            </a:xfrm>
            <a:prstGeom prst="rect">
              <a:avLst/>
            </a:prstGeom>
            <a:noFill/>
            <a:ln w="9525">
              <a:noFill/>
            </a:ln>
          </p:spPr>
        </p:pic>
        <p:sp>
          <p:nvSpPr>
            <p:cNvPr id="70670" name="TextBox 10"/>
            <p:cNvSpPr txBox="1"/>
            <p:nvPr/>
          </p:nvSpPr>
          <p:spPr>
            <a:xfrm>
              <a:off x="6215074" y="5715016"/>
              <a:ext cx="2500330" cy="476215"/>
            </a:xfrm>
            <a:prstGeom prst="rect">
              <a:avLst/>
            </a:prstGeom>
            <a:solidFill>
              <a:schemeClr val="tx1"/>
            </a:solidFill>
            <a:ln w="9525">
              <a:noFill/>
            </a:ln>
          </p:spPr>
          <p:txBody>
            <a:bodyPr tIns="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chemeClr val="accent1"/>
                  </a:solidFill>
                  <a:latin typeface="Times New Roman" panose="02020603050405020304" pitchFamily="18" charset="0"/>
                  <a:ea typeface="微软雅黑" panose="020B0503020204020204" pitchFamily="34" charset="-122"/>
                </a:rPr>
                <a:t>…</a:t>
              </a:r>
              <a:endParaRPr lang="en-US" altLang="zh-CN" sz="2800" dirty="0">
                <a:solidFill>
                  <a:schemeClr val="accent1"/>
                </a:solidFill>
                <a:latin typeface="Times New Roman" panose="02020603050405020304" pitchFamily="18" charset="0"/>
                <a:ea typeface="微软雅黑" panose="020B0503020204020204" pitchFamily="34" charset="-122"/>
              </a:endParaRPr>
            </a:p>
          </p:txBody>
        </p:sp>
      </p:grpSp>
      <p:sp>
        <p:nvSpPr>
          <p:cNvPr id="13" name="TextBox 12"/>
          <p:cNvSpPr txBox="1"/>
          <p:nvPr/>
        </p:nvSpPr>
        <p:spPr>
          <a:xfrm>
            <a:off x="3143250" y="4929188"/>
            <a:ext cx="2928938" cy="49149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600" dirty="0">
                <a:solidFill>
                  <a:srgbClr val="4545AB"/>
                </a:solidFill>
                <a:latin typeface="Times New Roman" panose="02020603050405020304" pitchFamily="18" charset="0"/>
                <a:ea typeface="微软雅黑" panose="020B0503020204020204" pitchFamily="34" charset="-122"/>
              </a:rPr>
              <a:t>代码可改进</a:t>
            </a:r>
            <a:endParaRPr lang="zh-CN" altLang="en-US" sz="2600" dirty="0">
              <a:solidFill>
                <a:srgbClr val="4545AB"/>
              </a:solidFill>
              <a:latin typeface="Times New Roman" panose="02020603050405020304" pitchFamily="18" charset="0"/>
              <a:ea typeface="微软雅黑" panose="020B0503020204020204" pitchFamily="34" charset="-122"/>
            </a:endParaRPr>
          </a:p>
        </p:txBody>
      </p:sp>
      <p:pic>
        <p:nvPicPr>
          <p:cNvPr id="70668" name="图片 13" descr="Untitled.png">
            <a:hlinkClick r:id="rId2" action="ppaction://hlinksldjump"/>
          </p:cNvPr>
          <p:cNvPicPr>
            <a:picLocks noChangeAspect="1"/>
          </p:cNvPicPr>
          <p:nvPr/>
        </p:nvPicPr>
        <p:blipFill>
          <a:blip r:embed="rId3"/>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3"/>
          <p:cNvSpPr>
            <a:spLocks noGrp="1"/>
          </p:cNvSpPr>
          <p:nvPr>
            <p:ph idx="1"/>
          </p:nvPr>
        </p:nvSpPr>
        <p:spPr>
          <a:xfrm>
            <a:off x="309880" y="621030"/>
            <a:ext cx="8359140" cy="5857875"/>
          </a:xfrm>
        </p:spPr>
        <p:txBody>
          <a:bodyPr vert="horz" wrap="square" lIns="91440" tIns="45720" rIns="91440" bIns="45720" anchor="t" anchorCtr="0"/>
          <a:p>
            <a:pPr>
              <a:lnSpc>
                <a:spcPct val="100000"/>
              </a:lnSpc>
              <a:buFont typeface="Wingdings" panose="05000000000000000000" pitchFamily="2" charset="2"/>
              <a:buNone/>
            </a:pPr>
            <a:r>
              <a:rPr kumimoji="1" lang="en-US" altLang="zh-CN" dirty="0">
                <a:cs typeface="+mn-cs"/>
              </a:rPr>
              <a:t>#include &lt;stdio.h&gt;</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int main()</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int f1=1,f2=1;  int i;</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for(i=1; i&lt;=</a:t>
            </a:r>
            <a:r>
              <a:rPr kumimoji="1" lang="en-US" altLang="zh-CN" dirty="0">
                <a:solidFill>
                  <a:srgbClr val="C00000"/>
                </a:solidFill>
                <a:cs typeface="+mn-cs"/>
              </a:rPr>
              <a:t>20</a:t>
            </a:r>
            <a:r>
              <a:rPr kumimoji="1" lang="en-US" altLang="zh-CN" dirty="0">
                <a:cs typeface="+mn-cs"/>
              </a:rPr>
              <a:t>; i++)</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   printf("%12d %12d ",</a:t>
            </a:r>
            <a:r>
              <a:rPr kumimoji="1" lang="en-US" altLang="zh-CN" dirty="0">
                <a:solidFill>
                  <a:srgbClr val="C00000"/>
                </a:solidFill>
                <a:cs typeface="+mn-cs"/>
              </a:rPr>
              <a:t>f1,f2</a:t>
            </a:r>
            <a:r>
              <a:rPr kumimoji="1" lang="en-US" altLang="zh-CN" dirty="0">
                <a:cs typeface="+mn-cs"/>
              </a:rPr>
              <a:t>);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if(i%2==0) printf("\n");</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f1=f1+f2;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f2=f2+f1;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return 0;</a:t>
            </a:r>
            <a:endParaRPr kumimoji="1" lang="zh-CN" altLang="zh-CN" dirty="0">
              <a:cs typeface="+mn-cs"/>
            </a:endParaRPr>
          </a:p>
          <a:p>
            <a:pPr>
              <a:lnSpc>
                <a:spcPct val="100000"/>
              </a:lnSpc>
              <a:buFont typeface="Wingdings" panose="05000000000000000000" pitchFamily="2" charset="2"/>
              <a:buNone/>
            </a:pPr>
            <a:r>
              <a:rPr kumimoji="1" lang="en-US" altLang="zh-CN" dirty="0">
                <a:cs typeface="+mn-cs"/>
              </a:rPr>
              <a:t> }</a:t>
            </a:r>
            <a:endParaRPr kumimoji="1" lang="zh-CN" altLang="zh-CN" dirty="0">
              <a:cs typeface="+mn-cs"/>
            </a:endParaRPr>
          </a:p>
        </p:txBody>
      </p:sp>
      <p:sp>
        <p:nvSpPr>
          <p:cNvPr id="7168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1684"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168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1686"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1687"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1688"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168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98306" name="Picture 2"/>
          <p:cNvPicPr>
            <a:picLocks noChangeAspect="1"/>
          </p:cNvPicPr>
          <p:nvPr/>
        </p:nvPicPr>
        <p:blipFill>
          <a:blip r:embed="rId1"/>
          <a:stretch>
            <a:fillRect/>
          </a:stretch>
        </p:blipFill>
        <p:spPr>
          <a:xfrm>
            <a:off x="828040" y="3357245"/>
            <a:ext cx="7659688" cy="2928938"/>
          </a:xfrm>
          <a:prstGeom prst="rect">
            <a:avLst/>
          </a:prstGeom>
          <a:noFill/>
          <a:ln w="9525">
            <a:noFill/>
          </a:ln>
        </p:spPr>
      </p:pic>
      <p:pic>
        <p:nvPicPr>
          <p:cNvPr id="71691" name="图片 10" descr="Untitled.png">
            <a:hlinkClick r:id="rId2" action="ppaction://hlinksldjump"/>
          </p:cNvPr>
          <p:cNvPicPr>
            <a:picLocks noChangeAspect="1"/>
          </p:cNvPicPr>
          <p:nvPr/>
        </p:nvPicPr>
        <p:blipFill>
          <a:blip r:embed="rId3"/>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06"/>
                                        </p:tgtEl>
                                        <p:attrNameLst>
                                          <p:attrName>style.visibility</p:attrName>
                                        </p:attrNameLst>
                                      </p:cBhvr>
                                      <p:to>
                                        <p:strVal val="visible"/>
                                      </p:to>
                                    </p:set>
                                    <p:animEffect transition="in" filter="blinds(horizontal)">
                                      <p:cBhvr>
                                        <p:cTn id="7" dur="500"/>
                                        <p:tgtEl>
                                          <p:spTgt spid="98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0" name="Rectangle 3"/>
          <p:cNvSpPr>
            <a:spLocks noGrp="1"/>
          </p:cNvSpPr>
          <p:nvPr>
            <p:ph idx="1"/>
          </p:nvPr>
        </p:nvSpPr>
        <p:spPr>
          <a:xfrm>
            <a:off x="309563" y="620713"/>
            <a:ext cx="8001000" cy="5000625"/>
          </a:xfrm>
        </p:spPr>
        <p:txBody>
          <a:bodyPr vert="horz" wrap="square" lIns="91440" tIns="45720" rIns="91440" bIns="45720" anchor="t" anchorCtr="0"/>
          <a:p>
            <a:pPr marL="888365" indent="-888365" defTabSz="0">
              <a:lnSpc>
                <a:spcPct val="140000"/>
              </a:lnSpc>
              <a:buFont typeface="Wingdings" panose="05000000000000000000" pitchFamily="2" charset="2"/>
              <a:buNone/>
              <a:tabLst>
                <a:tab pos="1343025" algn="l"/>
              </a:tabLst>
            </a:pPr>
            <a:r>
              <a:rPr kumimoji="1" lang="zh-CN" altLang="zh-CN" dirty="0">
                <a:solidFill>
                  <a:srgbClr val="0000CC"/>
                </a:solidFill>
                <a:cs typeface="+mn-cs"/>
              </a:rPr>
              <a:t>例</a:t>
            </a:r>
            <a:r>
              <a:rPr kumimoji="1" lang="en-US" altLang="zh-CN" dirty="0">
                <a:solidFill>
                  <a:srgbClr val="0000CC"/>
                </a:solidFill>
                <a:cs typeface="+mn-cs"/>
              </a:rPr>
              <a:t>5.9 </a:t>
            </a:r>
            <a:r>
              <a:rPr kumimoji="1" lang="zh-CN" altLang="zh-CN" kern="300" spc="100" dirty="0">
                <a:solidFill>
                  <a:schemeClr val="tx1"/>
                </a:solidFill>
                <a:uFillTx/>
                <a:cs typeface="+mn-cs"/>
              </a:rPr>
              <a:t>输入一个大于</a:t>
            </a:r>
            <a:r>
              <a:rPr kumimoji="1" lang="en-US" altLang="zh-CN" kern="300" spc="100" dirty="0">
                <a:solidFill>
                  <a:schemeClr val="tx1"/>
                </a:solidFill>
                <a:uFillTx/>
                <a:cs typeface="+mn-cs"/>
              </a:rPr>
              <a:t>3</a:t>
            </a:r>
            <a:r>
              <a:rPr kumimoji="1" lang="zh-CN" altLang="zh-CN" kern="300" spc="100" dirty="0">
                <a:solidFill>
                  <a:schemeClr val="tx1"/>
                </a:solidFill>
                <a:uFillTx/>
                <a:cs typeface="+mn-cs"/>
              </a:rPr>
              <a:t>的整数</a:t>
            </a:r>
            <a:r>
              <a:rPr kumimoji="1" lang="en-US" altLang="zh-CN" kern="300" spc="100" dirty="0">
                <a:solidFill>
                  <a:schemeClr val="tx1"/>
                </a:solidFill>
                <a:uFillTx/>
                <a:cs typeface="+mn-cs"/>
              </a:rPr>
              <a:t>n</a:t>
            </a:r>
            <a:r>
              <a:rPr kumimoji="1" lang="zh-CN" altLang="zh-CN" kern="300" spc="100" dirty="0">
                <a:solidFill>
                  <a:schemeClr val="tx1"/>
                </a:solidFill>
                <a:uFillTx/>
                <a:cs typeface="+mn-cs"/>
              </a:rPr>
              <a:t>，判定它是否素</a:t>
            </a:r>
            <a:r>
              <a:rPr kumimoji="1" lang="en-US" altLang="zh-CN" kern="300" spc="100" dirty="0">
                <a:solidFill>
                  <a:schemeClr val="tx1"/>
                </a:solidFill>
                <a:uFillTx/>
                <a:cs typeface="+mn-cs"/>
              </a:rPr>
              <a:t>    </a:t>
            </a:r>
            <a:r>
              <a:rPr kumimoji="1" lang="zh-CN" altLang="zh-CN" kern="300" spc="100" dirty="0">
                <a:solidFill>
                  <a:schemeClr val="tx1"/>
                </a:solidFill>
                <a:uFillTx/>
                <a:cs typeface="+mn-cs"/>
              </a:rPr>
              <a:t>数</a:t>
            </a:r>
            <a:r>
              <a:rPr kumimoji="1" lang="en-US" altLang="zh-CN" kern="300" spc="100" dirty="0">
                <a:solidFill>
                  <a:schemeClr val="tx1"/>
                </a:solidFill>
                <a:uFillTx/>
                <a:cs typeface="+mn-cs"/>
              </a:rPr>
              <a:t>(prime</a:t>
            </a:r>
            <a:r>
              <a:rPr kumimoji="1" lang="zh-CN" altLang="zh-CN" kern="300" spc="100" dirty="0">
                <a:solidFill>
                  <a:schemeClr val="tx1"/>
                </a:solidFill>
                <a:uFillTx/>
                <a:cs typeface="+mn-cs"/>
              </a:rPr>
              <a:t>，又称质数</a:t>
            </a:r>
            <a:r>
              <a:rPr kumimoji="1" lang="en-US" altLang="zh-CN" kern="300" spc="100" dirty="0">
                <a:solidFill>
                  <a:schemeClr val="tx1"/>
                </a:solidFill>
                <a:uFillTx/>
                <a:cs typeface="+mn-cs"/>
              </a:rPr>
              <a:t>)</a:t>
            </a:r>
            <a:r>
              <a:rPr kumimoji="1" lang="zh-CN" altLang="zh-CN" kern="300" spc="100" dirty="0">
                <a:solidFill>
                  <a:schemeClr val="tx1"/>
                </a:solidFill>
                <a:uFillTx/>
                <a:cs typeface="+mn-cs"/>
              </a:rPr>
              <a:t>。</a:t>
            </a:r>
            <a:endParaRPr kumimoji="1" lang="en-US" altLang="zh-CN" kern="300" spc="100" dirty="0">
              <a:solidFill>
                <a:schemeClr val="tx1"/>
              </a:solidFill>
              <a:uFillTx/>
              <a:cs typeface="+mn-cs"/>
            </a:endParaRPr>
          </a:p>
          <a:p>
            <a:pPr>
              <a:lnSpc>
                <a:spcPct val="140000"/>
              </a:lnSpc>
            </a:pPr>
            <a:r>
              <a:rPr kumimoji="1" lang="zh-CN" altLang="zh-CN" kern="300" spc="100" dirty="0">
                <a:solidFill>
                  <a:srgbClr val="235A67"/>
                </a:solidFill>
                <a:uFillTx/>
                <a:cs typeface="+mn-cs"/>
              </a:rPr>
              <a:t>解题思路：</a:t>
            </a:r>
            <a:endParaRPr kumimoji="1" lang="zh-CN" altLang="zh-CN" kern="300" spc="100" dirty="0">
              <a:solidFill>
                <a:srgbClr val="235A67"/>
              </a:solidFill>
              <a:uFillTx/>
              <a:cs typeface="+mn-cs"/>
            </a:endParaRPr>
          </a:p>
          <a:p>
            <a:pPr lvl="1">
              <a:lnSpc>
                <a:spcPct val="140000"/>
              </a:lnSpc>
            </a:pPr>
            <a:r>
              <a:rPr kumimoji="1" lang="zh-CN" altLang="zh-CN" kern="300" spc="100" dirty="0">
                <a:solidFill>
                  <a:srgbClr val="235A67"/>
                </a:solidFill>
                <a:uFillTx/>
              </a:rPr>
              <a:t>让</a:t>
            </a:r>
            <a:r>
              <a:rPr kumimoji="1" lang="en-US" altLang="zh-CN" kern="300" spc="100" dirty="0">
                <a:solidFill>
                  <a:srgbClr val="235A67"/>
                </a:solidFill>
                <a:uFillTx/>
              </a:rPr>
              <a:t>n</a:t>
            </a:r>
            <a:r>
              <a:rPr kumimoji="1" lang="zh-CN" altLang="zh-CN" kern="300" spc="100" dirty="0">
                <a:solidFill>
                  <a:srgbClr val="235A67"/>
                </a:solidFill>
                <a:uFillTx/>
              </a:rPr>
              <a:t>被</a:t>
            </a:r>
            <a:r>
              <a:rPr kumimoji="1" lang="en-US" altLang="zh-CN" kern="300" spc="100" dirty="0">
                <a:solidFill>
                  <a:srgbClr val="235A67"/>
                </a:solidFill>
                <a:uFillTx/>
              </a:rPr>
              <a:t>i</a:t>
            </a:r>
            <a:r>
              <a:rPr kumimoji="1" lang="zh-CN" altLang="en-US" kern="300" spc="100" dirty="0">
                <a:solidFill>
                  <a:srgbClr val="235A67"/>
                </a:solidFill>
                <a:uFillTx/>
              </a:rPr>
              <a:t>整</a:t>
            </a:r>
            <a:r>
              <a:rPr kumimoji="1" lang="zh-CN" altLang="zh-CN" kern="300" spc="100" dirty="0">
                <a:solidFill>
                  <a:srgbClr val="235A67"/>
                </a:solidFill>
                <a:uFillTx/>
              </a:rPr>
              <a:t>除</a:t>
            </a:r>
            <a:r>
              <a:rPr kumimoji="1" lang="en-US" altLang="zh-CN" kern="300" spc="100" dirty="0">
                <a:solidFill>
                  <a:srgbClr val="235A67"/>
                </a:solidFill>
                <a:uFillTx/>
              </a:rPr>
              <a:t>(i</a:t>
            </a:r>
            <a:r>
              <a:rPr kumimoji="1" lang="zh-CN" altLang="zh-CN" kern="300" spc="100" dirty="0">
                <a:solidFill>
                  <a:srgbClr val="235A67"/>
                </a:solidFill>
                <a:uFillTx/>
              </a:rPr>
              <a:t>的值从</a:t>
            </a:r>
            <a:r>
              <a:rPr kumimoji="1" lang="en-US" altLang="zh-CN" kern="300" spc="100" dirty="0">
                <a:solidFill>
                  <a:srgbClr val="235A67"/>
                </a:solidFill>
                <a:uFillTx/>
              </a:rPr>
              <a:t>2</a:t>
            </a:r>
            <a:r>
              <a:rPr kumimoji="1" lang="zh-CN" altLang="zh-CN" kern="300" spc="100" dirty="0">
                <a:solidFill>
                  <a:srgbClr val="235A67"/>
                </a:solidFill>
                <a:uFillTx/>
              </a:rPr>
              <a:t>变到</a:t>
            </a:r>
            <a:r>
              <a:rPr kumimoji="1" lang="en-US" altLang="zh-CN" kern="300" spc="100" dirty="0">
                <a:solidFill>
                  <a:srgbClr val="235A67"/>
                </a:solidFill>
                <a:uFillTx/>
              </a:rPr>
              <a:t>n-1)</a:t>
            </a:r>
            <a:endParaRPr kumimoji="1" lang="en-US" altLang="zh-CN" kern="300" spc="100" dirty="0">
              <a:solidFill>
                <a:srgbClr val="235A67"/>
              </a:solidFill>
              <a:uFillTx/>
            </a:endParaRPr>
          </a:p>
          <a:p>
            <a:pPr lvl="1">
              <a:lnSpc>
                <a:spcPct val="140000"/>
              </a:lnSpc>
            </a:pPr>
            <a:r>
              <a:rPr kumimoji="1" lang="zh-CN" altLang="zh-CN" kern="300" spc="100" dirty="0">
                <a:solidFill>
                  <a:srgbClr val="235A67"/>
                </a:solidFill>
                <a:uFillTx/>
              </a:rPr>
              <a:t>如果</a:t>
            </a:r>
            <a:r>
              <a:rPr kumimoji="1" lang="en-US" altLang="zh-CN" kern="300" spc="100" dirty="0">
                <a:solidFill>
                  <a:srgbClr val="235A67"/>
                </a:solidFill>
                <a:uFillTx/>
              </a:rPr>
              <a:t>n</a:t>
            </a:r>
            <a:r>
              <a:rPr kumimoji="1" lang="zh-CN" altLang="zh-CN" kern="300" spc="100" dirty="0">
                <a:solidFill>
                  <a:srgbClr val="235A67"/>
                </a:solidFill>
                <a:uFillTx/>
              </a:rPr>
              <a:t>能被</a:t>
            </a:r>
            <a:r>
              <a:rPr kumimoji="1" lang="en-US" altLang="zh-CN" kern="300" spc="100" dirty="0">
                <a:solidFill>
                  <a:srgbClr val="235A67"/>
                </a:solidFill>
                <a:uFillTx/>
              </a:rPr>
              <a:t>2</a:t>
            </a:r>
            <a:r>
              <a:rPr kumimoji="1" lang="zh-CN" altLang="zh-CN" kern="300" spc="100" dirty="0">
                <a:solidFill>
                  <a:srgbClr val="235A67"/>
                </a:solidFill>
                <a:uFillTx/>
              </a:rPr>
              <a:t>～</a:t>
            </a:r>
            <a:r>
              <a:rPr kumimoji="1" lang="en-US" altLang="zh-CN" kern="300" spc="100" dirty="0">
                <a:solidFill>
                  <a:srgbClr val="235A67"/>
                </a:solidFill>
                <a:uFillTx/>
              </a:rPr>
              <a:t>(n-1)</a:t>
            </a:r>
            <a:r>
              <a:rPr kumimoji="1" lang="zh-CN" altLang="zh-CN" kern="300" spc="100" dirty="0">
                <a:solidFill>
                  <a:srgbClr val="235A67"/>
                </a:solidFill>
                <a:uFillTx/>
              </a:rPr>
              <a:t>之中任何一个整数整除，则表示</a:t>
            </a:r>
            <a:r>
              <a:rPr kumimoji="1" lang="en-US" altLang="zh-CN" kern="300" spc="100" dirty="0">
                <a:solidFill>
                  <a:srgbClr val="235A67"/>
                </a:solidFill>
                <a:uFillTx/>
              </a:rPr>
              <a:t>n</a:t>
            </a:r>
            <a:r>
              <a:rPr kumimoji="1" lang="zh-CN" altLang="zh-CN" kern="300" spc="100" dirty="0">
                <a:solidFill>
                  <a:srgbClr val="235A67"/>
                </a:solidFill>
                <a:uFillTx/>
              </a:rPr>
              <a:t>肯定不是素数，不必再继续被后面的整数除，因此，可以提前结束循环</a:t>
            </a:r>
            <a:endParaRPr kumimoji="1" lang="en-US" altLang="zh-CN" kern="300" spc="100" dirty="0">
              <a:solidFill>
                <a:srgbClr val="235A67"/>
              </a:solidFill>
              <a:uFillTx/>
            </a:endParaRPr>
          </a:p>
          <a:p>
            <a:pPr lvl="1">
              <a:lnSpc>
                <a:spcPct val="140000"/>
              </a:lnSpc>
            </a:pPr>
            <a:r>
              <a:rPr kumimoji="1" lang="zh-CN" altLang="zh-CN" kern="300" spc="100" dirty="0">
                <a:solidFill>
                  <a:srgbClr val="235A67"/>
                </a:solidFill>
                <a:uFillTx/>
              </a:rPr>
              <a:t>注意：此时</a:t>
            </a:r>
            <a:r>
              <a:rPr kumimoji="1" lang="en-US" altLang="zh-CN" kern="300" spc="100" dirty="0">
                <a:solidFill>
                  <a:srgbClr val="235A67"/>
                </a:solidFill>
                <a:uFillTx/>
              </a:rPr>
              <a:t>i</a:t>
            </a:r>
            <a:r>
              <a:rPr kumimoji="1" lang="zh-CN" altLang="zh-CN" kern="300" spc="100" dirty="0">
                <a:solidFill>
                  <a:srgbClr val="235A67"/>
                </a:solidFill>
                <a:uFillTx/>
              </a:rPr>
              <a:t>的值必然小于</a:t>
            </a:r>
            <a:r>
              <a:rPr kumimoji="1" lang="en-US" altLang="zh-CN" kern="300" spc="100" dirty="0">
                <a:solidFill>
                  <a:srgbClr val="235A67"/>
                </a:solidFill>
                <a:uFillTx/>
              </a:rPr>
              <a:t>n</a:t>
            </a:r>
            <a:endParaRPr kumimoji="1" lang="en-US" altLang="zh-CN" kern="300" spc="100" dirty="0">
              <a:solidFill>
                <a:srgbClr val="235A67"/>
              </a:solidFill>
              <a:uFillTx/>
            </a:endParaRPr>
          </a:p>
        </p:txBody>
      </p:sp>
      <p:sp>
        <p:nvSpPr>
          <p:cNvPr id="72707"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2708"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270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2710"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2711"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2712"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271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72714" name="图片 9"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0">
                                            <p:txEl>
                                              <p:charRg st="40" end="46"/>
                                            </p:txEl>
                                          </p:spTgt>
                                        </p:tgtEl>
                                        <p:attrNameLst>
                                          <p:attrName>style.visibility</p:attrName>
                                        </p:attrNameLst>
                                      </p:cBhvr>
                                      <p:to>
                                        <p:strVal val="visible"/>
                                      </p:to>
                                    </p:set>
                                    <p:animEffect transition="in" filter="blinds(horizontal)">
                                      <p:cBhvr>
                                        <p:cTn id="7" dur="500"/>
                                        <p:tgtEl>
                                          <p:spTgt spid="4100">
                                            <p:txEl>
                                              <p:charRg st="40" end="4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0">
                                            <p:txEl>
                                              <p:charRg st="46" end="65"/>
                                            </p:txEl>
                                          </p:spTgt>
                                        </p:tgtEl>
                                        <p:attrNameLst>
                                          <p:attrName>style.visibility</p:attrName>
                                        </p:attrNameLst>
                                      </p:cBhvr>
                                      <p:to>
                                        <p:strVal val="visible"/>
                                      </p:to>
                                    </p:set>
                                    <p:animEffect transition="in" filter="blinds(horizontal)">
                                      <p:cBhvr>
                                        <p:cTn id="10" dur="500"/>
                                        <p:tgtEl>
                                          <p:spTgt spid="4100">
                                            <p:txEl>
                                              <p:charRg st="46" end="6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00">
                                            <p:txEl>
                                              <p:charRg st="65" end="124"/>
                                            </p:txEl>
                                          </p:spTgt>
                                        </p:tgtEl>
                                        <p:attrNameLst>
                                          <p:attrName>style.visibility</p:attrName>
                                        </p:attrNameLst>
                                      </p:cBhvr>
                                      <p:to>
                                        <p:strVal val="visible"/>
                                      </p:to>
                                    </p:set>
                                    <p:animEffect transition="in" filter="blinds(horizontal)">
                                      <p:cBhvr>
                                        <p:cTn id="13" dur="500"/>
                                        <p:tgtEl>
                                          <p:spTgt spid="4100">
                                            <p:txEl>
                                              <p:charRg st="65" end="12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00">
                                            <p:txEl>
                                              <p:charRg st="124" end="138"/>
                                            </p:txEl>
                                          </p:spTgt>
                                        </p:tgtEl>
                                        <p:attrNameLst>
                                          <p:attrName>style.visibility</p:attrName>
                                        </p:attrNameLst>
                                      </p:cBhvr>
                                      <p:to>
                                        <p:strVal val="visible"/>
                                      </p:to>
                                    </p:set>
                                    <p:animEffect transition="in" filter="blinds(horizontal)">
                                      <p:cBhvr>
                                        <p:cTn id="16" dur="500"/>
                                        <p:tgtEl>
                                          <p:spTgt spid="4100">
                                            <p:txEl>
                                              <p:charRg st="124" end="1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3731" name="Rectangle 4"/>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3732" name="Rectangle 7"/>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3733" name="Rectangle 9"/>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3734" name="Rectangle 11"/>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3735" name="Rectangle 13"/>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3736" name="Rectangle 7"/>
          <p:cNvSpPr/>
          <p:nvPr/>
        </p:nvSpPr>
        <p:spPr>
          <a:xfrm>
            <a:off x="571500" y="-403860"/>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1" name="TextBox 46"/>
          <p:cNvSpPr txBox="1"/>
          <p:nvPr/>
        </p:nvSpPr>
        <p:spPr>
          <a:xfrm>
            <a:off x="5916613" y="1609725"/>
            <a:ext cx="500062" cy="4603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N</a:t>
            </a:r>
            <a:endParaRPr lang="en-US" altLang="zh-CN" sz="2400" dirty="0">
              <a:latin typeface="Times New Roman" panose="02020603050405020304" pitchFamily="18" charset="0"/>
              <a:ea typeface="微软雅黑" panose="020B0503020204020204" pitchFamily="34" charset="-122"/>
            </a:endParaRPr>
          </a:p>
        </p:txBody>
      </p:sp>
      <p:cxnSp>
        <p:nvCxnSpPr>
          <p:cNvPr id="12" name="直接箭头连接符 47"/>
          <p:cNvCxnSpPr/>
          <p:nvPr/>
        </p:nvCxnSpPr>
        <p:spPr>
          <a:xfrm rot="-5400000" flipH="1">
            <a:off x="4411663" y="4929188"/>
            <a:ext cx="303212" cy="17462"/>
          </a:xfrm>
          <a:prstGeom prst="straightConnector1">
            <a:avLst/>
          </a:prstGeom>
          <a:ln w="38100" cap="flat" cmpd="sng">
            <a:solidFill>
              <a:schemeClr val="tx1"/>
            </a:solidFill>
            <a:prstDash val="solid"/>
            <a:miter/>
            <a:headEnd type="none" w="med" len="med"/>
            <a:tailEnd type="arrow" w="med" len="med"/>
          </a:ln>
        </p:spPr>
      </p:cxnSp>
      <p:cxnSp>
        <p:nvCxnSpPr>
          <p:cNvPr id="13" name="直接箭头连接符 48"/>
          <p:cNvCxnSpPr/>
          <p:nvPr/>
        </p:nvCxnSpPr>
        <p:spPr>
          <a:xfrm>
            <a:off x="2643188" y="642938"/>
            <a:ext cx="1857375" cy="0"/>
          </a:xfrm>
          <a:prstGeom prst="straightConnector1">
            <a:avLst/>
          </a:prstGeom>
          <a:ln w="38100" cap="flat" cmpd="sng">
            <a:solidFill>
              <a:schemeClr val="tx1"/>
            </a:solidFill>
            <a:prstDash val="solid"/>
            <a:miter/>
            <a:headEnd type="none" w="med" len="med"/>
            <a:tailEnd type="arrow" w="med" len="med"/>
          </a:ln>
        </p:spPr>
      </p:cxnSp>
      <p:cxnSp>
        <p:nvCxnSpPr>
          <p:cNvPr id="14" name="直接连接符 49"/>
          <p:cNvCxnSpPr/>
          <p:nvPr/>
        </p:nvCxnSpPr>
        <p:spPr>
          <a:xfrm rot="-5400000" flipH="1">
            <a:off x="5200650" y="3414713"/>
            <a:ext cx="2730500" cy="12700"/>
          </a:xfrm>
          <a:prstGeom prst="line">
            <a:avLst/>
          </a:prstGeom>
          <a:ln w="38100" cap="flat" cmpd="sng">
            <a:solidFill>
              <a:schemeClr val="tx1"/>
            </a:solidFill>
            <a:prstDash val="solid"/>
            <a:miter/>
            <a:headEnd type="none" w="med" len="med"/>
            <a:tailEnd type="none" w="med" len="med"/>
          </a:ln>
        </p:spPr>
      </p:cxnSp>
      <p:cxnSp>
        <p:nvCxnSpPr>
          <p:cNvPr id="15" name="直接连接符 50"/>
          <p:cNvCxnSpPr/>
          <p:nvPr/>
        </p:nvCxnSpPr>
        <p:spPr>
          <a:xfrm rot="-10800000" flipV="1">
            <a:off x="4538663" y="4786313"/>
            <a:ext cx="2020887" cy="0"/>
          </a:xfrm>
          <a:prstGeom prst="line">
            <a:avLst/>
          </a:prstGeom>
          <a:ln w="38100" cap="flat" cmpd="sng">
            <a:solidFill>
              <a:schemeClr val="tx1"/>
            </a:solidFill>
            <a:prstDash val="solid"/>
            <a:miter/>
            <a:headEnd type="none" w="med" len="med"/>
            <a:tailEnd type="none" w="med" len="med"/>
          </a:ln>
        </p:spPr>
      </p:cxnSp>
      <p:cxnSp>
        <p:nvCxnSpPr>
          <p:cNvPr id="16" name="直接连接符 51"/>
          <p:cNvCxnSpPr/>
          <p:nvPr/>
        </p:nvCxnSpPr>
        <p:spPr>
          <a:xfrm rot="10800000">
            <a:off x="5992813" y="2046288"/>
            <a:ext cx="566737" cy="4762"/>
          </a:xfrm>
          <a:prstGeom prst="line">
            <a:avLst/>
          </a:prstGeom>
          <a:ln w="38100" cap="flat" cmpd="sng">
            <a:solidFill>
              <a:schemeClr val="tx1"/>
            </a:solidFill>
            <a:prstDash val="solid"/>
            <a:miter/>
            <a:headEnd type="none" w="med" len="med"/>
            <a:tailEnd type="none" w="med" len="med"/>
          </a:ln>
        </p:spPr>
      </p:cxnSp>
      <p:sp>
        <p:nvSpPr>
          <p:cNvPr id="22" name="TextBox 57"/>
          <p:cNvSpPr txBox="1"/>
          <p:nvPr/>
        </p:nvSpPr>
        <p:spPr>
          <a:xfrm>
            <a:off x="4576763" y="3484563"/>
            <a:ext cx="500062" cy="4603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N</a:t>
            </a:r>
            <a:endParaRPr lang="en-US" altLang="zh-CN" sz="2400" dirty="0">
              <a:latin typeface="Times New Roman" panose="02020603050405020304" pitchFamily="18" charset="0"/>
              <a:ea typeface="微软雅黑" panose="020B0503020204020204" pitchFamily="34" charset="-122"/>
            </a:endParaRPr>
          </a:p>
        </p:txBody>
      </p:sp>
      <p:cxnSp>
        <p:nvCxnSpPr>
          <p:cNvPr id="23" name="直接箭头连接符 58"/>
          <p:cNvCxnSpPr/>
          <p:nvPr/>
        </p:nvCxnSpPr>
        <p:spPr>
          <a:xfrm rot="-5400000" flipH="1">
            <a:off x="4291013" y="3770313"/>
            <a:ext cx="428625" cy="0"/>
          </a:xfrm>
          <a:prstGeom prst="straightConnector1">
            <a:avLst/>
          </a:prstGeom>
          <a:ln w="38100" cap="flat" cmpd="sng">
            <a:solidFill>
              <a:schemeClr val="tx1"/>
            </a:solidFill>
            <a:prstDash val="solid"/>
            <a:miter/>
            <a:headEnd type="none" w="med" len="med"/>
            <a:tailEnd type="arrow" w="med" len="med"/>
          </a:ln>
        </p:spPr>
      </p:cxnSp>
      <p:cxnSp>
        <p:nvCxnSpPr>
          <p:cNvPr id="24" name="直接连接符 60"/>
          <p:cNvCxnSpPr/>
          <p:nvPr/>
        </p:nvCxnSpPr>
        <p:spPr>
          <a:xfrm rot="10800000">
            <a:off x="2643188" y="4643438"/>
            <a:ext cx="1844675" cy="15875"/>
          </a:xfrm>
          <a:prstGeom prst="line">
            <a:avLst/>
          </a:prstGeom>
          <a:ln w="38100" cap="flat" cmpd="sng">
            <a:solidFill>
              <a:schemeClr val="tx1"/>
            </a:solidFill>
            <a:prstDash val="solid"/>
            <a:miter/>
            <a:headEnd type="none" w="med" len="med"/>
            <a:tailEnd type="none" w="med" len="med"/>
          </a:ln>
        </p:spPr>
      </p:cxnSp>
      <p:cxnSp>
        <p:nvCxnSpPr>
          <p:cNvPr id="25" name="直接连接符 61"/>
          <p:cNvCxnSpPr/>
          <p:nvPr/>
        </p:nvCxnSpPr>
        <p:spPr>
          <a:xfrm rot="5400000" flipH="1" flipV="1">
            <a:off x="642938" y="2643188"/>
            <a:ext cx="4000500" cy="0"/>
          </a:xfrm>
          <a:prstGeom prst="line">
            <a:avLst/>
          </a:prstGeom>
          <a:ln w="38100" cap="flat" cmpd="sng">
            <a:solidFill>
              <a:schemeClr val="tx1"/>
            </a:solidFill>
            <a:prstDash val="solid"/>
            <a:miter/>
            <a:headEnd type="none" w="med" len="med"/>
            <a:tailEnd type="none" w="med" len="med"/>
          </a:ln>
        </p:spPr>
      </p:cxnSp>
      <p:cxnSp>
        <p:nvCxnSpPr>
          <p:cNvPr id="26" name="直接连接符 63"/>
          <p:cNvCxnSpPr/>
          <p:nvPr/>
        </p:nvCxnSpPr>
        <p:spPr>
          <a:xfrm rot="-5400000" flipH="1">
            <a:off x="4392613" y="4535488"/>
            <a:ext cx="201612" cy="12700"/>
          </a:xfrm>
          <a:prstGeom prst="line">
            <a:avLst/>
          </a:prstGeom>
          <a:ln w="38100" cap="flat" cmpd="sng">
            <a:solidFill>
              <a:schemeClr val="tx1"/>
            </a:solidFill>
            <a:prstDash val="solid"/>
            <a:miter/>
            <a:headEnd type="none" w="med" len="med"/>
            <a:tailEnd type="none" w="med" len="med"/>
          </a:ln>
        </p:spPr>
      </p:cxnSp>
      <p:sp>
        <p:nvSpPr>
          <p:cNvPr id="28" name="TextBox 67"/>
          <p:cNvSpPr txBox="1"/>
          <p:nvPr/>
        </p:nvSpPr>
        <p:spPr>
          <a:xfrm>
            <a:off x="6059488" y="2705100"/>
            <a:ext cx="449262" cy="4603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Y</a:t>
            </a:r>
            <a:endParaRPr lang="en-US" altLang="zh-CN" sz="2400" dirty="0">
              <a:latin typeface="Times New Roman" panose="02020603050405020304" pitchFamily="18" charset="0"/>
              <a:ea typeface="微软雅黑" panose="020B0503020204020204" pitchFamily="34" charset="-122"/>
            </a:endParaRPr>
          </a:p>
        </p:txBody>
      </p:sp>
      <p:sp>
        <p:nvSpPr>
          <p:cNvPr id="31" name="流程图: 过程 70"/>
          <p:cNvSpPr/>
          <p:nvPr/>
        </p:nvSpPr>
        <p:spPr>
          <a:xfrm>
            <a:off x="3663950" y="3951288"/>
            <a:ext cx="1714500" cy="5000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i=i+1</a:t>
            </a:r>
            <a:endParaRPr lang="en-US" altLang="zh-CN" sz="2400" dirty="0">
              <a:latin typeface="Times New Roman" panose="02020603050405020304" pitchFamily="18" charset="0"/>
              <a:ea typeface="微软雅黑" panose="020B0503020204020204" pitchFamily="34" charset="-122"/>
            </a:endParaRPr>
          </a:p>
        </p:txBody>
      </p:sp>
      <p:sp>
        <p:nvSpPr>
          <p:cNvPr id="32" name="平行四边形 31"/>
          <p:cNvSpPr/>
          <p:nvPr/>
        </p:nvSpPr>
        <p:spPr>
          <a:xfrm>
            <a:off x="3579813" y="0"/>
            <a:ext cx="1714500" cy="500063"/>
          </a:xfrm>
          <a:prstGeom prst="parallelogram">
            <a:avLst>
              <a:gd name="adj" fmla="val 25001"/>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400" dirty="0">
                <a:latin typeface="Times New Roman" panose="02020603050405020304" pitchFamily="18" charset="0"/>
                <a:ea typeface="微软雅黑" panose="020B0503020204020204" pitchFamily="34" charset="-122"/>
              </a:rPr>
              <a:t>输入</a:t>
            </a:r>
            <a:r>
              <a:rPr lang="en-US" altLang="zh-CN" sz="2400" dirty="0">
                <a:latin typeface="Times New Roman" panose="02020603050405020304" pitchFamily="18" charset="0"/>
                <a:ea typeface="微软雅黑" panose="020B0503020204020204" pitchFamily="34" charset="-122"/>
              </a:rPr>
              <a:t>n</a:t>
            </a:r>
            <a:endParaRPr lang="zh-CN" altLang="en-US" sz="2400" dirty="0">
              <a:latin typeface="Times New Roman" panose="02020603050405020304" pitchFamily="18" charset="0"/>
              <a:ea typeface="微软雅黑" panose="020B0503020204020204" pitchFamily="34" charset="-122"/>
            </a:endParaRPr>
          </a:p>
        </p:txBody>
      </p:sp>
      <p:cxnSp>
        <p:nvCxnSpPr>
          <p:cNvPr id="34" name="直接箭头连接符 55"/>
          <p:cNvCxnSpPr/>
          <p:nvPr/>
        </p:nvCxnSpPr>
        <p:spPr>
          <a:xfrm rot="-5400000" flipH="1">
            <a:off x="4265613" y="709613"/>
            <a:ext cx="428625" cy="0"/>
          </a:xfrm>
          <a:prstGeom prst="straightConnector1">
            <a:avLst/>
          </a:prstGeom>
          <a:ln w="38100" cap="flat" cmpd="sng">
            <a:solidFill>
              <a:schemeClr val="tx1"/>
            </a:solidFill>
            <a:prstDash val="solid"/>
            <a:miter/>
            <a:headEnd type="none" w="med" len="med"/>
            <a:tailEnd type="arrow" w="med" len="med"/>
          </a:ln>
        </p:spPr>
      </p:cxnSp>
      <p:sp>
        <p:nvSpPr>
          <p:cNvPr id="35" name="流程图: 过程 68"/>
          <p:cNvSpPr/>
          <p:nvPr/>
        </p:nvSpPr>
        <p:spPr>
          <a:xfrm>
            <a:off x="3651250" y="928688"/>
            <a:ext cx="1714500" cy="500062"/>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i=2</a:t>
            </a:r>
            <a:endParaRPr lang="en-US" altLang="zh-CN" sz="2400" dirty="0">
              <a:latin typeface="Times New Roman" panose="02020603050405020304" pitchFamily="18" charset="0"/>
              <a:ea typeface="微软雅黑" panose="020B0503020204020204" pitchFamily="34" charset="-122"/>
            </a:endParaRPr>
          </a:p>
        </p:txBody>
      </p:sp>
      <p:sp>
        <p:nvSpPr>
          <p:cNvPr id="36" name="流程图: 决策 52"/>
          <p:cNvSpPr/>
          <p:nvPr/>
        </p:nvSpPr>
        <p:spPr>
          <a:xfrm>
            <a:off x="3079750" y="1698625"/>
            <a:ext cx="2857500"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i ≤n-1</a:t>
            </a:r>
            <a:endParaRPr lang="en-US" altLang="zh-CN" sz="2400" dirty="0">
              <a:latin typeface="Times New Roman" panose="02020603050405020304" pitchFamily="18" charset="0"/>
              <a:ea typeface="微软雅黑" panose="020B0503020204020204" pitchFamily="34" charset="-122"/>
            </a:endParaRPr>
          </a:p>
        </p:txBody>
      </p:sp>
      <p:cxnSp>
        <p:nvCxnSpPr>
          <p:cNvPr id="37" name="直接箭头连接符 53"/>
          <p:cNvCxnSpPr/>
          <p:nvPr/>
        </p:nvCxnSpPr>
        <p:spPr>
          <a:xfrm rot="5400000">
            <a:off x="4348163" y="1554163"/>
            <a:ext cx="311150" cy="7937"/>
          </a:xfrm>
          <a:prstGeom prst="straightConnector1">
            <a:avLst/>
          </a:prstGeom>
          <a:ln w="38100" cap="flat" cmpd="sng">
            <a:solidFill>
              <a:schemeClr val="tx1"/>
            </a:solidFill>
            <a:prstDash val="solid"/>
            <a:miter/>
            <a:headEnd type="none" w="med" len="med"/>
            <a:tailEnd type="arrow" w="med" len="med"/>
          </a:ln>
        </p:spPr>
      </p:cxnSp>
      <p:sp>
        <p:nvSpPr>
          <p:cNvPr id="38" name="TextBox 54"/>
          <p:cNvSpPr txBox="1"/>
          <p:nvPr/>
        </p:nvSpPr>
        <p:spPr>
          <a:xfrm>
            <a:off x="4579938" y="2341563"/>
            <a:ext cx="500062" cy="4603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Y</a:t>
            </a:r>
            <a:endParaRPr lang="en-US" altLang="zh-CN" sz="2400" dirty="0">
              <a:latin typeface="Times New Roman" panose="02020603050405020304" pitchFamily="18" charset="0"/>
              <a:ea typeface="微软雅黑" panose="020B0503020204020204" pitchFamily="34" charset="-122"/>
            </a:endParaRPr>
          </a:p>
        </p:txBody>
      </p:sp>
      <p:cxnSp>
        <p:nvCxnSpPr>
          <p:cNvPr id="39" name="直接箭头连接符 55"/>
          <p:cNvCxnSpPr/>
          <p:nvPr/>
        </p:nvCxnSpPr>
        <p:spPr>
          <a:xfrm rot="-5400000" flipH="1">
            <a:off x="4294188" y="2627313"/>
            <a:ext cx="428625" cy="0"/>
          </a:xfrm>
          <a:prstGeom prst="straightConnector1">
            <a:avLst/>
          </a:prstGeom>
          <a:ln w="38100" cap="flat" cmpd="sng">
            <a:solidFill>
              <a:schemeClr val="tx1"/>
            </a:solidFill>
            <a:prstDash val="solid"/>
            <a:miter/>
            <a:headEnd type="none" w="med" len="med"/>
            <a:tailEnd type="arrow" w="med" len="med"/>
          </a:ln>
        </p:spPr>
      </p:cxnSp>
      <p:sp>
        <p:nvSpPr>
          <p:cNvPr id="40" name="流程图: 决策 56"/>
          <p:cNvSpPr/>
          <p:nvPr/>
        </p:nvSpPr>
        <p:spPr>
          <a:xfrm>
            <a:off x="2794000" y="2841625"/>
            <a:ext cx="3429000"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n</a:t>
            </a:r>
            <a:r>
              <a:rPr lang="zh-CN" altLang="en-US" sz="2400" dirty="0">
                <a:latin typeface="Times New Roman" panose="02020603050405020304" pitchFamily="18" charset="0"/>
                <a:ea typeface="微软雅黑" panose="020B0503020204020204" pitchFamily="34" charset="-122"/>
              </a:rPr>
              <a:t>被</a:t>
            </a:r>
            <a:r>
              <a:rPr lang="en-US" altLang="zh-CN" sz="2400" dirty="0">
                <a:latin typeface="Times New Roman" panose="02020603050405020304" pitchFamily="18" charset="0"/>
                <a:ea typeface="微软雅黑" panose="020B0503020204020204" pitchFamily="34" charset="-122"/>
              </a:rPr>
              <a:t>i</a:t>
            </a:r>
            <a:r>
              <a:rPr lang="zh-CN" altLang="en-US" sz="2400" dirty="0">
                <a:latin typeface="Times New Roman" panose="02020603050405020304" pitchFamily="18" charset="0"/>
                <a:ea typeface="微软雅黑" panose="020B0503020204020204" pitchFamily="34" charset="-122"/>
              </a:rPr>
              <a:t>整除</a:t>
            </a:r>
            <a:endParaRPr lang="zh-CN" altLang="en-US" sz="2400" dirty="0">
              <a:latin typeface="Times New Roman" panose="02020603050405020304" pitchFamily="18" charset="0"/>
              <a:ea typeface="微软雅黑" panose="020B0503020204020204" pitchFamily="34" charset="-122"/>
            </a:endParaRPr>
          </a:p>
        </p:txBody>
      </p:sp>
      <p:cxnSp>
        <p:nvCxnSpPr>
          <p:cNvPr id="45" name="直接连接符 51"/>
          <p:cNvCxnSpPr>
            <a:endCxn id="40" idx="3"/>
          </p:cNvCxnSpPr>
          <p:nvPr/>
        </p:nvCxnSpPr>
        <p:spPr>
          <a:xfrm rot="10800000">
            <a:off x="6223000" y="3198813"/>
            <a:ext cx="352425" cy="4762"/>
          </a:xfrm>
          <a:prstGeom prst="line">
            <a:avLst/>
          </a:prstGeom>
          <a:ln w="38100" cap="flat" cmpd="sng">
            <a:solidFill>
              <a:schemeClr val="tx1"/>
            </a:solidFill>
            <a:prstDash val="solid"/>
            <a:miter/>
            <a:headEnd type="none" w="med" len="med"/>
            <a:tailEnd type="none" w="med" len="med"/>
          </a:ln>
        </p:spPr>
      </p:cxnSp>
      <p:sp>
        <p:nvSpPr>
          <p:cNvPr id="48" name="流程图: 决策 52"/>
          <p:cNvSpPr/>
          <p:nvPr/>
        </p:nvSpPr>
        <p:spPr>
          <a:xfrm>
            <a:off x="3097213" y="5089525"/>
            <a:ext cx="2857500" cy="714375"/>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i ≤n</a:t>
            </a:r>
            <a:endParaRPr lang="en-US" altLang="zh-CN" sz="2400" dirty="0">
              <a:latin typeface="Times New Roman" panose="02020603050405020304" pitchFamily="18" charset="0"/>
              <a:ea typeface="微软雅黑" panose="020B0503020204020204" pitchFamily="34" charset="-122"/>
            </a:endParaRPr>
          </a:p>
        </p:txBody>
      </p:sp>
      <p:cxnSp>
        <p:nvCxnSpPr>
          <p:cNvPr id="49" name="直接连接符 51"/>
          <p:cNvCxnSpPr/>
          <p:nvPr/>
        </p:nvCxnSpPr>
        <p:spPr>
          <a:xfrm rot="10800000">
            <a:off x="2168525" y="5446713"/>
            <a:ext cx="923925" cy="4762"/>
          </a:xfrm>
          <a:prstGeom prst="line">
            <a:avLst/>
          </a:prstGeom>
          <a:ln w="38100" cap="flat" cmpd="sng">
            <a:solidFill>
              <a:schemeClr val="tx1"/>
            </a:solidFill>
            <a:prstDash val="solid"/>
            <a:miter/>
            <a:headEnd type="none" w="med" len="med"/>
            <a:tailEnd type="none" w="med" len="med"/>
          </a:ln>
        </p:spPr>
      </p:cxnSp>
      <p:cxnSp>
        <p:nvCxnSpPr>
          <p:cNvPr id="51" name="直接箭头连接符 53"/>
          <p:cNvCxnSpPr/>
          <p:nvPr/>
        </p:nvCxnSpPr>
        <p:spPr>
          <a:xfrm rot="-5400000" flipH="1">
            <a:off x="1954213" y="5661025"/>
            <a:ext cx="428625" cy="0"/>
          </a:xfrm>
          <a:prstGeom prst="straightConnector1">
            <a:avLst/>
          </a:prstGeom>
          <a:ln w="38100" cap="flat" cmpd="sng">
            <a:solidFill>
              <a:schemeClr val="tx1"/>
            </a:solidFill>
            <a:prstDash val="solid"/>
            <a:miter/>
            <a:headEnd type="none" w="med" len="med"/>
            <a:tailEnd type="arrow" w="med" len="med"/>
          </a:ln>
        </p:spPr>
      </p:cxnSp>
      <p:sp>
        <p:nvSpPr>
          <p:cNvPr id="52" name="平行四边形 51"/>
          <p:cNvSpPr/>
          <p:nvPr/>
        </p:nvSpPr>
        <p:spPr>
          <a:xfrm>
            <a:off x="811213" y="5875338"/>
            <a:ext cx="2643187" cy="500062"/>
          </a:xfrm>
          <a:prstGeom prst="parallelogram">
            <a:avLst>
              <a:gd name="adj" fmla="val 25006"/>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400" dirty="0">
                <a:latin typeface="Times New Roman" panose="02020603050405020304" pitchFamily="18" charset="0"/>
                <a:ea typeface="微软雅黑" panose="020B0503020204020204" pitchFamily="34" charset="-122"/>
              </a:rPr>
              <a:t>输出不是素数</a:t>
            </a:r>
            <a:endParaRPr lang="zh-CN" altLang="en-US" sz="2400" dirty="0">
              <a:latin typeface="Times New Roman" panose="02020603050405020304" pitchFamily="18" charset="0"/>
              <a:ea typeface="微软雅黑" panose="020B0503020204020204" pitchFamily="34" charset="-122"/>
            </a:endParaRPr>
          </a:p>
        </p:txBody>
      </p:sp>
      <p:sp>
        <p:nvSpPr>
          <p:cNvPr id="53" name="TextBox 67"/>
          <p:cNvSpPr txBox="1"/>
          <p:nvPr/>
        </p:nvSpPr>
        <p:spPr>
          <a:xfrm>
            <a:off x="2525713" y="4875213"/>
            <a:ext cx="449262" cy="4603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Y</a:t>
            </a:r>
            <a:endParaRPr lang="en-US" altLang="zh-CN" sz="2400" dirty="0">
              <a:latin typeface="Times New Roman" panose="02020603050405020304" pitchFamily="18" charset="0"/>
              <a:ea typeface="微软雅黑" panose="020B0503020204020204" pitchFamily="34" charset="-122"/>
            </a:endParaRPr>
          </a:p>
        </p:txBody>
      </p:sp>
      <p:cxnSp>
        <p:nvCxnSpPr>
          <p:cNvPr id="54" name="直接连接符 51"/>
          <p:cNvCxnSpPr/>
          <p:nvPr/>
        </p:nvCxnSpPr>
        <p:spPr>
          <a:xfrm rot="10800000">
            <a:off x="5954713" y="5446713"/>
            <a:ext cx="923925" cy="4762"/>
          </a:xfrm>
          <a:prstGeom prst="line">
            <a:avLst/>
          </a:prstGeom>
          <a:ln w="38100" cap="flat" cmpd="sng">
            <a:solidFill>
              <a:schemeClr val="tx1"/>
            </a:solidFill>
            <a:prstDash val="solid"/>
            <a:miter/>
            <a:headEnd type="none" w="med" len="med"/>
            <a:tailEnd type="none" w="med" len="med"/>
          </a:ln>
        </p:spPr>
      </p:cxnSp>
      <p:cxnSp>
        <p:nvCxnSpPr>
          <p:cNvPr id="55" name="直接箭头连接符 53"/>
          <p:cNvCxnSpPr/>
          <p:nvPr/>
        </p:nvCxnSpPr>
        <p:spPr>
          <a:xfrm rot="-5400000" flipH="1">
            <a:off x="6669088" y="5661025"/>
            <a:ext cx="428625" cy="0"/>
          </a:xfrm>
          <a:prstGeom prst="straightConnector1">
            <a:avLst/>
          </a:prstGeom>
          <a:ln w="38100" cap="flat" cmpd="sng">
            <a:solidFill>
              <a:schemeClr val="tx1"/>
            </a:solidFill>
            <a:prstDash val="solid"/>
            <a:miter/>
            <a:headEnd type="none" w="med" len="med"/>
            <a:tailEnd type="arrow" w="med" len="med"/>
          </a:ln>
        </p:spPr>
      </p:cxnSp>
      <p:sp>
        <p:nvSpPr>
          <p:cNvPr id="56" name="平行四边形 55"/>
          <p:cNvSpPr/>
          <p:nvPr/>
        </p:nvSpPr>
        <p:spPr>
          <a:xfrm>
            <a:off x="5526088" y="5875338"/>
            <a:ext cx="2643187" cy="500062"/>
          </a:xfrm>
          <a:prstGeom prst="parallelogram">
            <a:avLst>
              <a:gd name="adj" fmla="val 25006"/>
            </a:avLst>
          </a:prstGeom>
          <a:solidFill>
            <a:schemeClr val="accent1"/>
          </a:solidFill>
          <a:ln w="38100" cap="flat" cmpd="sng">
            <a:solidFill>
              <a:schemeClr val="tx1"/>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400" dirty="0">
                <a:latin typeface="Times New Roman" panose="02020603050405020304" pitchFamily="18" charset="0"/>
                <a:ea typeface="微软雅黑" panose="020B0503020204020204" pitchFamily="34" charset="-122"/>
              </a:rPr>
              <a:t>输出是素数</a:t>
            </a:r>
            <a:endParaRPr lang="zh-CN" altLang="en-US" sz="2400" dirty="0">
              <a:latin typeface="Times New Roman" panose="02020603050405020304" pitchFamily="18" charset="0"/>
              <a:ea typeface="微软雅黑" panose="020B0503020204020204" pitchFamily="34" charset="-122"/>
            </a:endParaRPr>
          </a:p>
        </p:txBody>
      </p:sp>
      <p:sp>
        <p:nvSpPr>
          <p:cNvPr id="57" name="TextBox 46"/>
          <p:cNvSpPr txBox="1"/>
          <p:nvPr/>
        </p:nvSpPr>
        <p:spPr>
          <a:xfrm>
            <a:off x="6169025" y="4946650"/>
            <a:ext cx="500063" cy="4603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400" dirty="0">
                <a:latin typeface="Times New Roman" panose="02020603050405020304" pitchFamily="18" charset="0"/>
                <a:ea typeface="微软雅黑" panose="020B0503020204020204" pitchFamily="34" charset="-122"/>
              </a:rPr>
              <a:t>N</a:t>
            </a:r>
            <a:endParaRPr lang="en-US" altLang="zh-CN" sz="2400" dirty="0">
              <a:latin typeface="Times New Roman" panose="02020603050405020304" pitchFamily="18" charset="0"/>
              <a:ea typeface="微软雅黑" panose="020B0503020204020204" pitchFamily="34" charset="-122"/>
            </a:endParaRPr>
          </a:p>
        </p:txBody>
      </p:sp>
      <p:cxnSp>
        <p:nvCxnSpPr>
          <p:cNvPr id="64" name="直接连接符 63"/>
          <p:cNvCxnSpPr/>
          <p:nvPr/>
        </p:nvCxnSpPr>
        <p:spPr>
          <a:xfrm rot="5400000">
            <a:off x="2035175" y="6480175"/>
            <a:ext cx="214313" cy="0"/>
          </a:xfrm>
          <a:prstGeom prst="line">
            <a:avLst/>
          </a:prstGeom>
          <a:ln w="38100" cap="flat" cmpd="sng">
            <a:solidFill>
              <a:schemeClr val="tx1"/>
            </a:solidFill>
            <a:prstDash val="solid"/>
            <a:miter/>
            <a:headEnd type="none" w="med" len="med"/>
            <a:tailEnd type="none" w="med" len="med"/>
          </a:ln>
        </p:spPr>
      </p:cxnSp>
      <p:cxnSp>
        <p:nvCxnSpPr>
          <p:cNvPr id="68" name="直接连接符 51"/>
          <p:cNvCxnSpPr/>
          <p:nvPr/>
        </p:nvCxnSpPr>
        <p:spPr>
          <a:xfrm rot="10800000">
            <a:off x="2143125" y="6588125"/>
            <a:ext cx="4786313" cy="0"/>
          </a:xfrm>
          <a:prstGeom prst="line">
            <a:avLst/>
          </a:prstGeom>
          <a:ln w="38100" cap="flat" cmpd="sng">
            <a:solidFill>
              <a:schemeClr val="tx1"/>
            </a:solidFill>
            <a:prstDash val="solid"/>
            <a:miter/>
            <a:headEnd type="none" w="med" len="med"/>
            <a:tailEnd type="none" w="med" len="med"/>
          </a:ln>
        </p:spPr>
      </p:cxnSp>
      <p:cxnSp>
        <p:nvCxnSpPr>
          <p:cNvPr id="71" name="直接连接符 70"/>
          <p:cNvCxnSpPr/>
          <p:nvPr/>
        </p:nvCxnSpPr>
        <p:spPr>
          <a:xfrm rot="5400000">
            <a:off x="6821488" y="6480175"/>
            <a:ext cx="214312" cy="0"/>
          </a:xfrm>
          <a:prstGeom prst="line">
            <a:avLst/>
          </a:prstGeom>
          <a:ln w="38100" cap="flat" cmpd="sng">
            <a:solidFill>
              <a:schemeClr val="tx1"/>
            </a:solidFill>
            <a:prstDash val="solid"/>
            <a:miter/>
            <a:headEnd type="none" w="med" len="med"/>
            <a:tailEnd type="none" w="med" len="med"/>
          </a:ln>
        </p:spPr>
      </p:cxnSp>
      <p:cxnSp>
        <p:nvCxnSpPr>
          <p:cNvPr id="72" name="直接箭头连接符 47"/>
          <p:cNvCxnSpPr/>
          <p:nvPr/>
        </p:nvCxnSpPr>
        <p:spPr>
          <a:xfrm rot="-5400000" flipH="1">
            <a:off x="4429125" y="6713538"/>
            <a:ext cx="303213" cy="17462"/>
          </a:xfrm>
          <a:prstGeom prst="straightConnector1">
            <a:avLst/>
          </a:prstGeom>
          <a:ln w="38100" cap="flat" cmpd="sng">
            <a:solidFill>
              <a:schemeClr val="tx1"/>
            </a:solidFill>
            <a:prstDash val="solid"/>
            <a:miter/>
            <a:headEnd type="none" w="med" len="med"/>
            <a:tailEnd type="arrow" w="med" len="med"/>
          </a:ln>
        </p:spPr>
      </p:cxnSp>
      <p:pic>
        <p:nvPicPr>
          <p:cNvPr id="73772" name="图片 43"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linds(horizontal)">
                                      <p:cBhvr>
                                        <p:cTn id="12" dur="500"/>
                                        <p:tgtEl>
                                          <p:spTgt spid="3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blinds(horizontal)">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blinds(horizontal)">
                                      <p:cBhvr>
                                        <p:cTn id="20" dur="500"/>
                                        <p:tgtEl>
                                          <p:spTgt spid="3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blinds(horizontal)">
                                      <p:cBhvr>
                                        <p:cTn id="23" dur="5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blinds(horizontal)">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blinds(horizontal)">
                                      <p:cBhvr>
                                        <p:cTn id="33" dur="500"/>
                                        <p:tgtEl>
                                          <p:spTgt spid="3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blinds(horizontal)">
                                      <p:cBhvr>
                                        <p:cTn id="36" dur="500"/>
                                        <p:tgtEl>
                                          <p:spTgt spid="40"/>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horizontal)">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linds(horizontal)">
                                      <p:cBhvr>
                                        <p:cTn id="46" dur="500"/>
                                        <p:tgtEl>
                                          <p:spTgt spid="23"/>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blinds(horizontal)">
                                      <p:cBhvr>
                                        <p:cTn id="49" dur="5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slide(fromTop)">
                                      <p:cBhvr>
                                        <p:cTn id="54" dur="500"/>
                                        <p:tgtEl>
                                          <p:spTgt spid="26"/>
                                        </p:tgtEl>
                                      </p:cBhvr>
                                    </p:animEffect>
                                  </p:childTnLst>
                                </p:cTn>
                              </p:par>
                            </p:childTnLst>
                          </p:cTn>
                        </p:par>
                        <p:par>
                          <p:cTn id="55" fill="hold">
                            <p:stCondLst>
                              <p:cond delay="500"/>
                            </p:stCondLst>
                            <p:childTnLst>
                              <p:par>
                                <p:cTn id="56" presetID="12" presetClass="entr" presetSubtype="2" fill="hold" nodeType="after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slide(fromRight)">
                                      <p:cBhvr>
                                        <p:cTn id="58" dur="500"/>
                                        <p:tgtEl>
                                          <p:spTgt spid="24"/>
                                        </p:tgtEl>
                                      </p:cBhvr>
                                    </p:animEffect>
                                  </p:childTnLst>
                                </p:cTn>
                              </p:par>
                            </p:childTnLst>
                          </p:cTn>
                        </p:par>
                        <p:par>
                          <p:cTn id="59" fill="hold">
                            <p:stCondLst>
                              <p:cond delay="1000"/>
                            </p:stCondLst>
                            <p:childTnLst>
                              <p:par>
                                <p:cTn id="60" presetID="12" presetClass="entr" presetSubtype="4" fill="hold" nodeType="after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slide(fromBottom)">
                                      <p:cBhvr>
                                        <p:cTn id="62" dur="500"/>
                                        <p:tgtEl>
                                          <p:spTgt spid="25"/>
                                        </p:tgtEl>
                                      </p:cBhvr>
                                    </p:animEffect>
                                  </p:childTnLst>
                                </p:cTn>
                              </p:par>
                            </p:childTnLst>
                          </p:cTn>
                        </p:par>
                        <p:par>
                          <p:cTn id="63" fill="hold">
                            <p:stCondLst>
                              <p:cond delay="1500"/>
                            </p:stCondLst>
                            <p:childTnLst>
                              <p:par>
                                <p:cTn id="64" presetID="12" presetClass="entr" presetSubtype="8" fill="hold"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slide(fromLef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blinds(horizontal)">
                                      <p:cBhvr>
                                        <p:cTn id="71" dur="500"/>
                                        <p:tgtEl>
                                          <p:spTgt spid="11"/>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8" fill="hold"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slide(fromLeft)">
                                      <p:cBhvr>
                                        <p:cTn id="76" dur="500"/>
                                        <p:tgtEl>
                                          <p:spTgt spid="16"/>
                                        </p:tgtEl>
                                      </p:cBhvr>
                                    </p:animEffect>
                                  </p:childTnLst>
                                </p:cTn>
                              </p:par>
                            </p:childTnLst>
                          </p:cTn>
                        </p:par>
                        <p:par>
                          <p:cTn id="77" fill="hold">
                            <p:stCondLst>
                              <p:cond delay="500"/>
                            </p:stCondLst>
                            <p:childTnLst>
                              <p:par>
                                <p:cTn id="78" presetID="12" presetClass="entr" presetSubtype="1" fill="hold"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slide(fromTop)">
                                      <p:cBhvr>
                                        <p:cTn id="80" dur="500"/>
                                        <p:tgtEl>
                                          <p:spTgt spid="14"/>
                                        </p:tgtEl>
                                      </p:cBhvr>
                                    </p:animEffect>
                                  </p:childTnLst>
                                </p:cTn>
                              </p:par>
                            </p:childTnLst>
                          </p:cTn>
                        </p:par>
                        <p:par>
                          <p:cTn id="81" fill="hold">
                            <p:stCondLst>
                              <p:cond delay="1000"/>
                            </p:stCondLst>
                            <p:childTnLst>
                              <p:par>
                                <p:cTn id="82" presetID="12" presetClass="entr" presetSubtype="2" fill="hold" nodeType="after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slide(fromRight)">
                                      <p:cBhvr>
                                        <p:cTn id="84" dur="500"/>
                                        <p:tgtEl>
                                          <p:spTgt spid="15"/>
                                        </p:tgtEl>
                                      </p:cBhvr>
                                    </p:animEffect>
                                  </p:childTnLst>
                                </p:cTn>
                              </p:par>
                            </p:childTnLst>
                          </p:cTn>
                        </p:par>
                        <p:par>
                          <p:cTn id="85" fill="hold">
                            <p:stCondLst>
                              <p:cond delay="1500"/>
                            </p:stCondLst>
                            <p:childTnLst>
                              <p:par>
                                <p:cTn id="86" presetID="12" presetClass="entr" presetSubtype="1" fill="hold" nodeType="afterEffect">
                                  <p:stCondLst>
                                    <p:cond delay="0"/>
                                  </p:stCondLst>
                                  <p:childTnLst>
                                    <p:set>
                                      <p:cBhvr>
                                        <p:cTn id="87" dur="1" fill="hold">
                                          <p:stCondLst>
                                            <p:cond delay="0"/>
                                          </p:stCondLst>
                                        </p:cTn>
                                        <p:tgtEl>
                                          <p:spTgt spid="12"/>
                                        </p:tgtEl>
                                        <p:attrNameLst>
                                          <p:attrName>style.visibility</p:attrName>
                                        </p:attrNameLst>
                                      </p:cBhvr>
                                      <p:to>
                                        <p:strVal val="visible"/>
                                      </p:to>
                                    </p:set>
                                    <p:animEffect transition="in" filter="slide(fromTop)">
                                      <p:cBhvr>
                                        <p:cTn id="88" dur="500"/>
                                        <p:tgtEl>
                                          <p:spTgt spid="12"/>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blinds(horizontal)">
                                      <p:cBhvr>
                                        <p:cTn id="93" dur="500"/>
                                        <p:tgtEl>
                                          <p:spTgt spid="28"/>
                                        </p:tgtEl>
                                      </p:cBhvr>
                                    </p:animEffect>
                                  </p:childTnLst>
                                </p:cTn>
                              </p:par>
                            </p:childTnLst>
                          </p:cTn>
                        </p:par>
                      </p:childTnLst>
                    </p:cTn>
                  </p:par>
                  <p:par>
                    <p:cTn id="94" fill="hold">
                      <p:stCondLst>
                        <p:cond delay="indefinite"/>
                      </p:stCondLst>
                      <p:childTnLst>
                        <p:par>
                          <p:cTn id="95" fill="hold">
                            <p:stCondLst>
                              <p:cond delay="0"/>
                            </p:stCondLst>
                            <p:childTnLst>
                              <p:par>
                                <p:cTn id="96" presetID="12" presetClass="entr" presetSubtype="8" fill="hold" nodeType="clickEffect">
                                  <p:stCondLst>
                                    <p:cond delay="0"/>
                                  </p:stCondLst>
                                  <p:childTnLst>
                                    <p:set>
                                      <p:cBhvr>
                                        <p:cTn id="97" dur="1" fill="hold">
                                          <p:stCondLst>
                                            <p:cond delay="0"/>
                                          </p:stCondLst>
                                        </p:cTn>
                                        <p:tgtEl>
                                          <p:spTgt spid="45"/>
                                        </p:tgtEl>
                                        <p:attrNameLst>
                                          <p:attrName>style.visibility</p:attrName>
                                        </p:attrNameLst>
                                      </p:cBhvr>
                                      <p:to>
                                        <p:strVal val="visible"/>
                                      </p:to>
                                    </p:set>
                                    <p:animEffect transition="in" filter="slide(fromLeft)">
                                      <p:cBhvr>
                                        <p:cTn id="98" dur="500"/>
                                        <p:tgtEl>
                                          <p:spTgt spid="45"/>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blinds(horizontal)">
                                      <p:cBhvr>
                                        <p:cTn id="103" dur="500"/>
                                        <p:tgtEl>
                                          <p:spTgt spid="48"/>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53"/>
                                        </p:tgtEl>
                                        <p:attrNameLst>
                                          <p:attrName>style.visibility</p:attrName>
                                        </p:attrNameLst>
                                      </p:cBhvr>
                                      <p:to>
                                        <p:strVal val="visible"/>
                                      </p:to>
                                    </p:set>
                                    <p:animEffect transition="in" filter="blinds(horizontal)">
                                      <p:cBhvr>
                                        <p:cTn id="108" dur="500"/>
                                        <p:tgtEl>
                                          <p:spTgt spid="53"/>
                                        </p:tgtEl>
                                      </p:cBhvr>
                                    </p:animEffect>
                                  </p:childTnLst>
                                </p:cTn>
                              </p:par>
                            </p:childTnLst>
                          </p:cTn>
                        </p:par>
                      </p:childTnLst>
                    </p:cTn>
                  </p:par>
                  <p:par>
                    <p:cTn id="109" fill="hold">
                      <p:stCondLst>
                        <p:cond delay="indefinite"/>
                      </p:stCondLst>
                      <p:childTnLst>
                        <p:par>
                          <p:cTn id="110" fill="hold">
                            <p:stCondLst>
                              <p:cond delay="0"/>
                            </p:stCondLst>
                            <p:childTnLst>
                              <p:par>
                                <p:cTn id="111" presetID="12" presetClass="entr" presetSubtype="2" fill="hold" nodeType="click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slide(fromRight)">
                                      <p:cBhvr>
                                        <p:cTn id="113" dur="500"/>
                                        <p:tgtEl>
                                          <p:spTgt spid="49"/>
                                        </p:tgtEl>
                                      </p:cBhvr>
                                    </p:animEffect>
                                  </p:childTnLst>
                                </p:cTn>
                              </p:par>
                            </p:childTnLst>
                          </p:cTn>
                        </p:par>
                        <p:par>
                          <p:cTn id="114" fill="hold">
                            <p:stCondLst>
                              <p:cond delay="500"/>
                            </p:stCondLst>
                            <p:childTnLst>
                              <p:par>
                                <p:cTn id="115" presetID="12" presetClass="entr" presetSubtype="1" fill="hold" nodeType="after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slide(fromTop)">
                                      <p:cBhvr>
                                        <p:cTn id="117" dur="500"/>
                                        <p:tgtEl>
                                          <p:spTgt spid="51"/>
                                        </p:tgtEl>
                                      </p:cBhvr>
                                    </p:animEffect>
                                  </p:childTnLst>
                                </p:cTn>
                              </p:par>
                            </p:childTnLst>
                          </p:cTn>
                        </p:par>
                        <p:par>
                          <p:cTn id="118" fill="hold">
                            <p:stCondLst>
                              <p:cond delay="1000"/>
                            </p:stCondLst>
                            <p:childTnLst>
                              <p:par>
                                <p:cTn id="119" presetID="3" presetClass="entr" presetSubtype="10" fill="hold" grpId="0" nodeType="after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blinds(horizontal)">
                                      <p:cBhvr>
                                        <p:cTn id="121" dur="500"/>
                                        <p:tgtEl>
                                          <p:spTgt spid="52"/>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57"/>
                                        </p:tgtEl>
                                        <p:attrNameLst>
                                          <p:attrName>style.visibility</p:attrName>
                                        </p:attrNameLst>
                                      </p:cBhvr>
                                      <p:to>
                                        <p:strVal val="visible"/>
                                      </p:to>
                                    </p:set>
                                    <p:animEffect transition="in" filter="blinds(horizontal)">
                                      <p:cBhvr>
                                        <p:cTn id="126" dur="500"/>
                                        <p:tgtEl>
                                          <p:spTgt spid="57"/>
                                        </p:tgtEl>
                                      </p:cBhvr>
                                    </p:animEffect>
                                  </p:childTnLst>
                                </p:cTn>
                              </p:par>
                            </p:childTnLst>
                          </p:cTn>
                        </p:par>
                      </p:childTnLst>
                    </p:cTn>
                  </p:par>
                  <p:par>
                    <p:cTn id="127" fill="hold">
                      <p:stCondLst>
                        <p:cond delay="indefinite"/>
                      </p:stCondLst>
                      <p:childTnLst>
                        <p:par>
                          <p:cTn id="128" fill="hold">
                            <p:stCondLst>
                              <p:cond delay="0"/>
                            </p:stCondLst>
                            <p:childTnLst>
                              <p:par>
                                <p:cTn id="129" presetID="12" presetClass="entr" presetSubtype="8" fill="hold" nodeType="click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slide(fromLeft)">
                                      <p:cBhvr>
                                        <p:cTn id="131" dur="500"/>
                                        <p:tgtEl>
                                          <p:spTgt spid="54"/>
                                        </p:tgtEl>
                                      </p:cBhvr>
                                    </p:animEffect>
                                  </p:childTnLst>
                                </p:cTn>
                              </p:par>
                            </p:childTnLst>
                          </p:cTn>
                        </p:par>
                        <p:par>
                          <p:cTn id="132" fill="hold">
                            <p:stCondLst>
                              <p:cond delay="500"/>
                            </p:stCondLst>
                            <p:childTnLst>
                              <p:par>
                                <p:cTn id="133" presetID="12" presetClass="entr" presetSubtype="1" fill="hold" nodeType="after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slide(fromTop)">
                                      <p:cBhvr>
                                        <p:cTn id="135" dur="500"/>
                                        <p:tgtEl>
                                          <p:spTgt spid="55"/>
                                        </p:tgtEl>
                                      </p:cBhvr>
                                    </p:animEffect>
                                  </p:childTnLst>
                                </p:cTn>
                              </p:par>
                            </p:childTnLst>
                          </p:cTn>
                        </p:par>
                        <p:par>
                          <p:cTn id="136" fill="hold">
                            <p:stCondLst>
                              <p:cond delay="1000"/>
                            </p:stCondLst>
                            <p:childTnLst>
                              <p:par>
                                <p:cTn id="137" presetID="3" presetClass="entr" presetSubtype="10" fill="hold" grpId="0" nodeType="afterEffect">
                                  <p:stCondLst>
                                    <p:cond delay="0"/>
                                  </p:stCondLst>
                                  <p:childTnLst>
                                    <p:set>
                                      <p:cBhvr>
                                        <p:cTn id="138" dur="1" fill="hold">
                                          <p:stCondLst>
                                            <p:cond delay="0"/>
                                          </p:stCondLst>
                                        </p:cTn>
                                        <p:tgtEl>
                                          <p:spTgt spid="56"/>
                                        </p:tgtEl>
                                        <p:attrNameLst>
                                          <p:attrName>style.visibility</p:attrName>
                                        </p:attrNameLst>
                                      </p:cBhvr>
                                      <p:to>
                                        <p:strVal val="visible"/>
                                      </p:to>
                                    </p:set>
                                    <p:animEffect transition="in" filter="blinds(horizontal)">
                                      <p:cBhvr>
                                        <p:cTn id="139" dur="500"/>
                                        <p:tgtEl>
                                          <p:spTgt spid="56"/>
                                        </p:tgtEl>
                                      </p:cBhvr>
                                    </p:animEffect>
                                  </p:childTnLst>
                                </p:cTn>
                              </p:par>
                            </p:childTnLst>
                          </p:cTn>
                        </p:par>
                      </p:childTnLst>
                    </p:cTn>
                  </p:par>
                  <p:par>
                    <p:cTn id="140" fill="hold">
                      <p:stCondLst>
                        <p:cond delay="indefinite"/>
                      </p:stCondLst>
                      <p:childTnLst>
                        <p:par>
                          <p:cTn id="141" fill="hold">
                            <p:stCondLst>
                              <p:cond delay="0"/>
                            </p:stCondLst>
                            <p:childTnLst>
                              <p:par>
                                <p:cTn id="142" presetID="3" presetClass="entr" presetSubtype="10" fill="hold" nodeType="clickEffect">
                                  <p:stCondLst>
                                    <p:cond delay="0"/>
                                  </p:stCondLst>
                                  <p:childTnLst>
                                    <p:set>
                                      <p:cBhvr>
                                        <p:cTn id="143" dur="1" fill="hold">
                                          <p:stCondLst>
                                            <p:cond delay="0"/>
                                          </p:stCondLst>
                                        </p:cTn>
                                        <p:tgtEl>
                                          <p:spTgt spid="64"/>
                                        </p:tgtEl>
                                        <p:attrNameLst>
                                          <p:attrName>style.visibility</p:attrName>
                                        </p:attrNameLst>
                                      </p:cBhvr>
                                      <p:to>
                                        <p:strVal val="visible"/>
                                      </p:to>
                                    </p:set>
                                    <p:animEffect transition="in" filter="blinds(horizontal)">
                                      <p:cBhvr>
                                        <p:cTn id="144" dur="500"/>
                                        <p:tgtEl>
                                          <p:spTgt spid="64"/>
                                        </p:tgtEl>
                                      </p:cBhvr>
                                    </p:animEffect>
                                  </p:childTnLst>
                                </p:cTn>
                              </p:par>
                              <p:par>
                                <p:cTn id="145" presetID="3" presetClass="entr" presetSubtype="10" fill="hold" nodeType="withEffect">
                                  <p:stCondLst>
                                    <p:cond delay="0"/>
                                  </p:stCondLst>
                                  <p:childTnLst>
                                    <p:set>
                                      <p:cBhvr>
                                        <p:cTn id="146" dur="1" fill="hold">
                                          <p:stCondLst>
                                            <p:cond delay="0"/>
                                          </p:stCondLst>
                                        </p:cTn>
                                        <p:tgtEl>
                                          <p:spTgt spid="71"/>
                                        </p:tgtEl>
                                        <p:attrNameLst>
                                          <p:attrName>style.visibility</p:attrName>
                                        </p:attrNameLst>
                                      </p:cBhvr>
                                      <p:to>
                                        <p:strVal val="visible"/>
                                      </p:to>
                                    </p:set>
                                    <p:animEffect transition="in" filter="blinds(horizontal)">
                                      <p:cBhvr>
                                        <p:cTn id="147" dur="500"/>
                                        <p:tgtEl>
                                          <p:spTgt spid="71"/>
                                        </p:tgtEl>
                                      </p:cBhvr>
                                    </p:animEffect>
                                  </p:childTnLst>
                                </p:cTn>
                              </p:par>
                              <p:par>
                                <p:cTn id="148" presetID="3" presetClass="entr" presetSubtype="10" fill="hold" nodeType="withEffect">
                                  <p:stCondLst>
                                    <p:cond delay="0"/>
                                  </p:stCondLst>
                                  <p:childTnLst>
                                    <p:set>
                                      <p:cBhvr>
                                        <p:cTn id="149" dur="1" fill="hold">
                                          <p:stCondLst>
                                            <p:cond delay="0"/>
                                          </p:stCondLst>
                                        </p:cTn>
                                        <p:tgtEl>
                                          <p:spTgt spid="68"/>
                                        </p:tgtEl>
                                        <p:attrNameLst>
                                          <p:attrName>style.visibility</p:attrName>
                                        </p:attrNameLst>
                                      </p:cBhvr>
                                      <p:to>
                                        <p:strVal val="visible"/>
                                      </p:to>
                                    </p:set>
                                    <p:animEffect transition="in" filter="blinds(horizontal)">
                                      <p:cBhvr>
                                        <p:cTn id="150" dur="500"/>
                                        <p:tgtEl>
                                          <p:spTgt spid="68"/>
                                        </p:tgtEl>
                                      </p:cBhvr>
                                    </p:animEffect>
                                  </p:childTnLst>
                                </p:cTn>
                              </p:par>
                              <p:par>
                                <p:cTn id="151" presetID="3" presetClass="entr" presetSubtype="10" fill="hold" nodeType="withEffect">
                                  <p:stCondLst>
                                    <p:cond delay="0"/>
                                  </p:stCondLst>
                                  <p:childTnLst>
                                    <p:set>
                                      <p:cBhvr>
                                        <p:cTn id="152" dur="1" fill="hold">
                                          <p:stCondLst>
                                            <p:cond delay="0"/>
                                          </p:stCondLst>
                                        </p:cTn>
                                        <p:tgtEl>
                                          <p:spTgt spid="72"/>
                                        </p:tgtEl>
                                        <p:attrNameLst>
                                          <p:attrName>style.visibility</p:attrName>
                                        </p:attrNameLst>
                                      </p:cBhvr>
                                      <p:to>
                                        <p:strVal val="visible"/>
                                      </p:to>
                                    </p:set>
                                    <p:animEffect transition="in" filter="blinds(horizontal)">
                                      <p:cBhvr>
                                        <p:cTn id="15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P spid="28" grpId="0"/>
      <p:bldP spid="31" grpId="0" animBg="1"/>
      <p:bldP spid="32" grpId="0" animBg="1"/>
      <p:bldP spid="35" grpId="0" animBg="1"/>
      <p:bldP spid="36" grpId="0" animBg="1"/>
      <p:bldP spid="38" grpId="0"/>
      <p:bldP spid="40" grpId="0" animBg="1"/>
      <p:bldP spid="48" grpId="0" animBg="1"/>
      <p:bldP spid="52" grpId="0" animBg="1"/>
      <p:bldP spid="53" grpId="0"/>
      <p:bldP spid="56" grpId="0" animBg="1"/>
      <p:bldP spid="5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3"/>
          <p:cNvSpPr>
            <a:spLocks noGrp="1"/>
          </p:cNvSpPr>
          <p:nvPr>
            <p:ph idx="1"/>
          </p:nvPr>
        </p:nvSpPr>
        <p:spPr>
          <a:xfrm>
            <a:off x="309563" y="621030"/>
            <a:ext cx="8001000" cy="5500688"/>
          </a:xfrm>
        </p:spPr>
        <p:txBody>
          <a:bodyPr vert="horz" wrap="square" lIns="91440" tIns="45720" rIns="91440" bIns="45720" anchor="t" anchorCtr="0"/>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#include &lt;stdio.h&gt;</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int main()</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    int n,i;</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printf(“n=?");  scanf("%d",&amp;n);</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for (i=2;i&lt;=n-1;i++)</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if(n%i==0) break;</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if(i&lt;n) printf("%d is not\n",n);</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else printf("%d is\n",n);</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       return 0;</a:t>
            </a:r>
            <a:endParaRPr kumimoji="1" lang="zh-CN" altLang="zh-CN" spc="100" dirty="0">
              <a:solidFill>
                <a:schemeClr val="tx1"/>
              </a:solidFill>
              <a:uFillTx/>
              <a:cs typeface="+mn-cs"/>
            </a:endParaRPr>
          </a:p>
          <a:p>
            <a:pPr latinLnBrk="0">
              <a:lnSpc>
                <a:spcPts val="4500"/>
              </a:lnSpc>
              <a:spcBef>
                <a:spcPts val="0"/>
              </a:spcBef>
              <a:buFont typeface="Wingdings" panose="05000000000000000000" pitchFamily="2" charset="2"/>
              <a:buNone/>
            </a:pPr>
            <a:r>
              <a:rPr kumimoji="1" lang="en-US" altLang="zh-CN" spc="100" dirty="0">
                <a:solidFill>
                  <a:schemeClr val="tx1"/>
                </a:solidFill>
                <a:uFillTx/>
                <a:cs typeface="+mn-cs"/>
              </a:rPr>
              <a:t>}</a:t>
            </a:r>
            <a:endParaRPr kumimoji="1" lang="zh-CN" altLang="zh-CN" spc="100" dirty="0">
              <a:solidFill>
                <a:schemeClr val="tx1"/>
              </a:solidFill>
              <a:uFillTx/>
              <a:cs typeface="+mn-cs"/>
            </a:endParaRPr>
          </a:p>
          <a:p>
            <a:pPr>
              <a:lnSpc>
                <a:spcPct val="100000"/>
              </a:lnSpc>
              <a:buFont typeface="Wingdings" panose="05000000000000000000" pitchFamily="2" charset="2"/>
              <a:buNone/>
            </a:pPr>
            <a:endParaRPr kumimoji="1" lang="zh-CN" altLang="zh-CN" spc="100" dirty="0">
              <a:solidFill>
                <a:schemeClr val="tx1"/>
              </a:solidFill>
              <a:uFillTx/>
              <a:cs typeface="+mn-cs"/>
            </a:endParaRPr>
          </a:p>
        </p:txBody>
      </p:sp>
      <p:sp>
        <p:nvSpPr>
          <p:cNvPr id="74755"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4756"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475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4758"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4759"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4760"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476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100354" name="Picture 2"/>
          <p:cNvPicPr>
            <a:picLocks noChangeAspect="1"/>
          </p:cNvPicPr>
          <p:nvPr/>
        </p:nvPicPr>
        <p:blipFill>
          <a:blip r:embed="rId1"/>
          <a:stretch>
            <a:fillRect/>
          </a:stretch>
        </p:blipFill>
        <p:spPr>
          <a:xfrm>
            <a:off x="3523933" y="5373370"/>
            <a:ext cx="1571625" cy="1038225"/>
          </a:xfrm>
          <a:prstGeom prst="rect">
            <a:avLst/>
          </a:prstGeom>
          <a:noFill/>
          <a:ln w="9525">
            <a:noFill/>
          </a:ln>
        </p:spPr>
      </p:pic>
      <p:pic>
        <p:nvPicPr>
          <p:cNvPr id="100355" name="Picture 3"/>
          <p:cNvPicPr>
            <a:picLocks noChangeAspect="1"/>
          </p:cNvPicPr>
          <p:nvPr/>
        </p:nvPicPr>
        <p:blipFill>
          <a:blip r:embed="rId2"/>
          <a:stretch>
            <a:fillRect/>
          </a:stretch>
        </p:blipFill>
        <p:spPr>
          <a:xfrm>
            <a:off x="5652135" y="5371783"/>
            <a:ext cx="2500313" cy="1039812"/>
          </a:xfrm>
          <a:prstGeom prst="rect">
            <a:avLst/>
          </a:prstGeom>
          <a:noFill/>
          <a:ln w="9525">
            <a:noFill/>
          </a:ln>
        </p:spPr>
      </p:pic>
      <p:pic>
        <p:nvPicPr>
          <p:cNvPr id="74764" name="图片 11"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blinds(horizontal)">
                                      <p:cBhvr>
                                        <p:cTn id="7" dur="500"/>
                                        <p:tgtEl>
                                          <p:spTgt spid="10035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0355"/>
                                        </p:tgtEl>
                                        <p:attrNameLst>
                                          <p:attrName>style.visibility</p:attrName>
                                        </p:attrNameLst>
                                      </p:cBhvr>
                                      <p:to>
                                        <p:strVal val="visible"/>
                                      </p:to>
                                    </p:set>
                                    <p:animEffect transition="in" filter="blinds(horizontal)">
                                      <p:cBhvr>
                                        <p:cTn id="12" dur="500"/>
                                        <p:tgtEl>
                                          <p:spTgt spid="100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3"/>
          <p:cNvSpPr>
            <a:spLocks noGrp="1"/>
          </p:cNvSpPr>
          <p:nvPr>
            <p:ph idx="1"/>
          </p:nvPr>
        </p:nvSpPr>
        <p:spPr>
          <a:xfrm>
            <a:off x="323533" y="548640"/>
            <a:ext cx="8001000" cy="5500688"/>
          </a:xfrm>
        </p:spPr>
        <p:txBody>
          <a:bodyPr vert="horz" wrap="square" lIns="91440" tIns="45720" rIns="91440" bIns="45720" anchor="t" anchorCtr="0"/>
          <a:p>
            <a:pPr>
              <a:lnSpc>
                <a:spcPct val="120000"/>
              </a:lnSpc>
              <a:buFont typeface="Wingdings" panose="05000000000000000000" pitchFamily="2" charset="2"/>
              <a:buNone/>
            </a:pPr>
            <a:r>
              <a:rPr kumimoji="1" lang="en-US" altLang="zh-CN" spc="100" dirty="0">
                <a:solidFill>
                  <a:schemeClr val="tx1"/>
                </a:solidFill>
                <a:uFillTx/>
                <a:cs typeface="+mn-cs"/>
              </a:rPr>
              <a:t>#include &lt;stdio.h&gt;</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int main()</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    int n,i;</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printf(“n=?");  scanf("%d",&amp;n);</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for (i=2;i&lt;=n-1;i++)</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if(n%i==0) break;</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if(i&lt;n) printf("%d is not\n",n);</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else printf("%d is\n",n);</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       return 0;</a:t>
            </a:r>
            <a:endParaRPr kumimoji="1" lang="zh-CN" altLang="zh-CN" spc="100" dirty="0">
              <a:solidFill>
                <a:schemeClr val="tx1"/>
              </a:solidFill>
              <a:uFillTx/>
              <a:cs typeface="+mn-cs"/>
            </a:endParaRPr>
          </a:p>
          <a:p>
            <a:pPr>
              <a:lnSpc>
                <a:spcPct val="120000"/>
              </a:lnSpc>
              <a:buFont typeface="Wingdings" panose="05000000000000000000" pitchFamily="2" charset="2"/>
              <a:buNone/>
            </a:pPr>
            <a:r>
              <a:rPr kumimoji="1" lang="en-US" altLang="zh-CN" spc="100" dirty="0">
                <a:solidFill>
                  <a:schemeClr val="tx1"/>
                </a:solidFill>
                <a:uFillTx/>
                <a:cs typeface="+mn-cs"/>
              </a:rPr>
              <a:t>}</a:t>
            </a:r>
            <a:endParaRPr kumimoji="1" lang="zh-CN" altLang="zh-CN" spc="100" dirty="0">
              <a:solidFill>
                <a:schemeClr val="tx1"/>
              </a:solidFill>
              <a:uFillTx/>
              <a:cs typeface="+mn-cs"/>
            </a:endParaRPr>
          </a:p>
          <a:p>
            <a:pPr>
              <a:lnSpc>
                <a:spcPct val="100000"/>
              </a:lnSpc>
              <a:buFont typeface="Wingdings" panose="05000000000000000000" pitchFamily="2" charset="2"/>
              <a:buNone/>
            </a:pPr>
            <a:endParaRPr kumimoji="1" lang="zh-CN" altLang="zh-CN" spc="100" dirty="0">
              <a:solidFill>
                <a:schemeClr val="tx1"/>
              </a:solidFill>
              <a:uFillTx/>
              <a:cs typeface="+mn-cs"/>
            </a:endParaRPr>
          </a:p>
        </p:txBody>
      </p:sp>
      <p:sp>
        <p:nvSpPr>
          <p:cNvPr id="7577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0"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2"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3"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4"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3" name="矩形 12"/>
          <p:cNvSpPr/>
          <p:nvPr/>
        </p:nvSpPr>
        <p:spPr>
          <a:xfrm>
            <a:off x="2915920" y="3071495"/>
            <a:ext cx="600710" cy="499745"/>
          </a:xfrm>
          <a:prstGeom prst="rect">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5787"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graphicFrame>
        <p:nvGraphicFramePr>
          <p:cNvPr id="101377" name="Object 1"/>
          <p:cNvGraphicFramePr>
            <a:graphicFrameLocks noChangeAspect="1"/>
          </p:cNvGraphicFramePr>
          <p:nvPr/>
        </p:nvGraphicFramePr>
        <p:xfrm>
          <a:off x="4283710" y="1628458"/>
          <a:ext cx="857250" cy="822325"/>
        </p:xfrm>
        <a:graphic>
          <a:graphicData uri="http://schemas.openxmlformats.org/presentationml/2006/ole">
            <mc:AlternateContent xmlns:mc="http://schemas.openxmlformats.org/markup-compatibility/2006">
              <mc:Choice xmlns:v="urn:schemas-microsoft-com:vml" Requires="v">
                <p:oleObj spid="_x0000_s3087" name="" r:id="rId1" imgW="241300" imgH="228600" progId="Equation.3">
                  <p:embed/>
                </p:oleObj>
              </mc:Choice>
              <mc:Fallback>
                <p:oleObj name="" r:id="rId1" imgW="241300" imgH="228600" progId="Equation.3">
                  <p:embed/>
                  <p:pic>
                    <p:nvPicPr>
                      <p:cNvPr id="0" name="图片 3086"/>
                      <p:cNvPicPr/>
                      <p:nvPr/>
                    </p:nvPicPr>
                    <p:blipFill>
                      <a:blip r:embed="rId2"/>
                      <a:stretch>
                        <a:fillRect/>
                      </a:stretch>
                    </p:blipFill>
                    <p:spPr>
                      <a:xfrm>
                        <a:off x="4283710" y="1628458"/>
                        <a:ext cx="857250" cy="822325"/>
                      </a:xfrm>
                      <a:prstGeom prst="rect">
                        <a:avLst/>
                      </a:prstGeom>
                      <a:noFill/>
                      <a:ln w="38100">
                        <a:noFill/>
                        <a:miter/>
                      </a:ln>
                    </p:spPr>
                  </p:pic>
                </p:oleObj>
              </mc:Fallback>
            </mc:AlternateContent>
          </a:graphicData>
        </a:graphic>
      </p:graphicFrame>
      <p:sp>
        <p:nvSpPr>
          <p:cNvPr id="16" name="TextBox 15"/>
          <p:cNvSpPr txBox="1"/>
          <p:nvPr/>
        </p:nvSpPr>
        <p:spPr>
          <a:xfrm>
            <a:off x="5579428" y="3285173"/>
            <a:ext cx="2357437"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k=sqrt(n);</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cxnSp>
        <p:nvCxnSpPr>
          <p:cNvPr id="18" name="直接连接符 17"/>
          <p:cNvCxnSpPr/>
          <p:nvPr/>
        </p:nvCxnSpPr>
        <p:spPr>
          <a:xfrm>
            <a:off x="5075873" y="3357245"/>
            <a:ext cx="714375" cy="571500"/>
          </a:xfrm>
          <a:prstGeom prst="line">
            <a:avLst/>
          </a:prstGeom>
          <a:ln w="38100" cap="flat" cmpd="sng">
            <a:solidFill>
              <a:srgbClr val="FF0000"/>
            </a:solidFill>
            <a:prstDash val="solid"/>
            <a:miter/>
            <a:headEnd type="none" w="med" len="med"/>
            <a:tailEnd type="none" w="med" len="med"/>
          </a:ln>
        </p:spPr>
      </p:cxnSp>
      <p:cxnSp>
        <p:nvCxnSpPr>
          <p:cNvPr id="19" name="直接连接符 18"/>
          <p:cNvCxnSpPr/>
          <p:nvPr/>
        </p:nvCxnSpPr>
        <p:spPr>
          <a:xfrm flipV="1">
            <a:off x="5075873" y="3285173"/>
            <a:ext cx="1071562" cy="71437"/>
          </a:xfrm>
          <a:prstGeom prst="line">
            <a:avLst/>
          </a:prstGeom>
          <a:ln w="38100" cap="flat" cmpd="sng">
            <a:solidFill>
              <a:srgbClr val="FF0000"/>
            </a:solidFill>
            <a:prstDash val="solid"/>
            <a:miter/>
            <a:headEnd type="none" w="med" len="med"/>
            <a:tailEnd type="none" w="med" len="med"/>
          </a:ln>
        </p:spPr>
      </p:cxnSp>
      <p:pic>
        <p:nvPicPr>
          <p:cNvPr id="75792" name="图片 16"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1377"/>
                                        </p:tgtEl>
                                        <p:attrNameLst>
                                          <p:attrName>style.visibility</p:attrName>
                                        </p:attrNameLst>
                                      </p:cBhvr>
                                      <p:to>
                                        <p:strVal val="visible"/>
                                      </p:to>
                                    </p:set>
                                    <p:animEffect transition="in" filter="blinds(horizontal)">
                                      <p:cBhvr>
                                        <p:cTn id="12" dur="500"/>
                                        <p:tgtEl>
                                          <p:spTgt spid="1013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par>
                                <p:cTn id="18" presetID="3" presetClass="entr" presetSubtype="1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linds(horizontal)">
                                      <p:cBhvr>
                                        <p:cTn id="20" dur="500"/>
                                        <p:tgtEl>
                                          <p:spTgt spid="19"/>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linds(horizontal)">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ph idx="1"/>
          </p:nvPr>
        </p:nvSpPr>
        <p:spPr>
          <a:xfrm>
            <a:off x="309880" y="530225"/>
            <a:ext cx="8001000" cy="5649595"/>
          </a:xfrm>
        </p:spPr>
        <p:txBody>
          <a:bodyPr vert="horz" wrap="square" lIns="91440" tIns="45720" rIns="91440" bIns="45720" anchor="t" anchorCtr="0"/>
          <a:p>
            <a:pPr algn="l">
              <a:lnSpc>
                <a:spcPct val="120000"/>
              </a:lnSpc>
              <a:buSzTx/>
              <a:buFont typeface="Wingdings" panose="05000000000000000000" pitchFamily="2" charset="2"/>
              <a:buNone/>
            </a:pPr>
            <a:r>
              <a:rPr kumimoji="1" lang="en-US" altLang="zh-CN" spc="100" dirty="0">
                <a:cs typeface="+mn-cs"/>
              </a:rPr>
              <a:t>#include &lt;stdio.h&gt;</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int main()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    int n,i,</a:t>
            </a:r>
            <a:r>
              <a:rPr kumimoji="1" lang="en-US" altLang="zh-CN" spc="100" dirty="0">
                <a:solidFill>
                  <a:srgbClr val="C00000"/>
                </a:solidFill>
                <a:cs typeface="+mn-cs"/>
              </a:rPr>
              <a:t>k</a:t>
            </a:r>
            <a:r>
              <a:rPr kumimoji="1" lang="en-US" altLang="zh-CN" spc="100" dirty="0">
                <a:cs typeface="+mn-cs"/>
              </a:rPr>
              <a:t>;</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printf(“n=?");  scanf("%d",&amp;n);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for (i=2; i&lt;=</a:t>
            </a:r>
            <a:r>
              <a:rPr kumimoji="1" lang="en-US" altLang="zh-CN" spc="100" dirty="0">
                <a:solidFill>
                  <a:srgbClr val="C00000"/>
                </a:solidFill>
                <a:cs typeface="+mn-cs"/>
              </a:rPr>
              <a:t>k</a:t>
            </a:r>
            <a:r>
              <a:rPr kumimoji="1" lang="en-US" altLang="zh-CN" spc="100" dirty="0">
                <a:cs typeface="+mn-cs"/>
              </a:rPr>
              <a:t>; i++)</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if(n%i==0) break;</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if(i&lt;n) printf("%d is not\n",n);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else printf("%d is\n",n);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return 0;</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a:t>
            </a:r>
            <a:endParaRPr kumimoji="1" lang="en-US" altLang="zh-CN" spc="100" dirty="0">
              <a:cs typeface="+mn-cs"/>
            </a:endParaRPr>
          </a:p>
          <a:p>
            <a:pPr algn="l">
              <a:lnSpc>
                <a:spcPct val="120000"/>
              </a:lnSpc>
              <a:buSzTx/>
              <a:buFont typeface="Wingdings" panose="05000000000000000000" pitchFamily="2" charset="2"/>
              <a:buNone/>
            </a:pPr>
            <a:endParaRPr kumimoji="1" lang="en-US" altLang="zh-CN" spc="100" dirty="0">
              <a:cs typeface="+mn-cs"/>
            </a:endParaRPr>
          </a:p>
        </p:txBody>
      </p:sp>
      <p:sp>
        <p:nvSpPr>
          <p:cNvPr id="7680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04"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0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06"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07"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08"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0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10"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6811" name="TextBox 15"/>
          <p:cNvSpPr txBox="1"/>
          <p:nvPr/>
        </p:nvSpPr>
        <p:spPr>
          <a:xfrm>
            <a:off x="5786438" y="3068638"/>
            <a:ext cx="2357437"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k=sqrt(n);</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cxnSp>
        <p:nvCxnSpPr>
          <p:cNvPr id="76812" name="直接连接符 17"/>
          <p:cNvCxnSpPr/>
          <p:nvPr/>
        </p:nvCxnSpPr>
        <p:spPr>
          <a:xfrm>
            <a:off x="5075238" y="3071495"/>
            <a:ext cx="714375" cy="571500"/>
          </a:xfrm>
          <a:prstGeom prst="line">
            <a:avLst/>
          </a:prstGeom>
          <a:ln w="38100" cap="flat" cmpd="sng">
            <a:solidFill>
              <a:srgbClr val="FF0000"/>
            </a:solidFill>
            <a:prstDash val="solid"/>
            <a:miter/>
            <a:headEnd type="none" w="med" len="med"/>
            <a:tailEnd type="none" w="med" len="med"/>
          </a:ln>
        </p:spPr>
      </p:cxnSp>
      <p:cxnSp>
        <p:nvCxnSpPr>
          <p:cNvPr id="76813" name="直接连接符 18"/>
          <p:cNvCxnSpPr/>
          <p:nvPr/>
        </p:nvCxnSpPr>
        <p:spPr>
          <a:xfrm flipV="1">
            <a:off x="5075238" y="3000058"/>
            <a:ext cx="1071562" cy="71437"/>
          </a:xfrm>
          <a:prstGeom prst="line">
            <a:avLst/>
          </a:prstGeom>
          <a:ln w="38100" cap="flat" cmpd="sng">
            <a:solidFill>
              <a:srgbClr val="FF0000"/>
            </a:solidFill>
            <a:prstDash val="solid"/>
            <a:miter/>
            <a:headEnd type="none" w="med" len="med"/>
            <a:tailEnd type="none" w="med" len="med"/>
          </a:ln>
        </p:spPr>
      </p:cxnSp>
      <p:sp>
        <p:nvSpPr>
          <p:cNvPr id="17" name="TextBox 16"/>
          <p:cNvSpPr txBox="1"/>
          <p:nvPr/>
        </p:nvSpPr>
        <p:spPr>
          <a:xfrm>
            <a:off x="3214688" y="1357313"/>
            <a:ext cx="3571875"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#include &lt;math.h&gt;</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cxnSp>
        <p:nvCxnSpPr>
          <p:cNvPr id="20" name="直接连接符 19"/>
          <p:cNvCxnSpPr/>
          <p:nvPr/>
        </p:nvCxnSpPr>
        <p:spPr>
          <a:xfrm>
            <a:off x="2786063" y="1428750"/>
            <a:ext cx="714375" cy="571500"/>
          </a:xfrm>
          <a:prstGeom prst="line">
            <a:avLst/>
          </a:prstGeom>
          <a:ln w="38100" cap="flat" cmpd="sng">
            <a:solidFill>
              <a:srgbClr val="FF0000"/>
            </a:solidFill>
            <a:prstDash val="solid"/>
            <a:miter/>
            <a:headEnd type="none" w="med" len="med"/>
            <a:tailEnd type="none" w="med" len="med"/>
          </a:ln>
        </p:spPr>
      </p:cxnSp>
      <p:cxnSp>
        <p:nvCxnSpPr>
          <p:cNvPr id="21" name="直接连接符 20"/>
          <p:cNvCxnSpPr/>
          <p:nvPr/>
        </p:nvCxnSpPr>
        <p:spPr>
          <a:xfrm flipV="1">
            <a:off x="2786063" y="1357313"/>
            <a:ext cx="1071562" cy="71437"/>
          </a:xfrm>
          <a:prstGeom prst="line">
            <a:avLst/>
          </a:prstGeom>
          <a:ln w="38100" cap="flat" cmpd="sng">
            <a:solidFill>
              <a:srgbClr val="FF0000"/>
            </a:solidFill>
            <a:prstDash val="solid"/>
            <a:miter/>
            <a:headEnd type="none" w="med" len="med"/>
            <a:tailEnd type="none" w="med" len="med"/>
          </a:ln>
        </p:spPr>
      </p:cxnSp>
      <p:pic>
        <p:nvPicPr>
          <p:cNvPr id="76817" name="图片 17"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par>
                                <p:cTn id="8" presetID="3" presetClass="entr" presetSubtype="1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linds(horizontal)">
                                      <p:cBhvr>
                                        <p:cTn id="1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3"/>
          <p:cNvSpPr>
            <a:spLocks noGrp="1"/>
          </p:cNvSpPr>
          <p:nvPr>
            <p:ph idx="1"/>
          </p:nvPr>
        </p:nvSpPr>
        <p:spPr>
          <a:xfrm>
            <a:off x="309880" y="553720"/>
            <a:ext cx="8001000" cy="5568315"/>
          </a:xfrm>
        </p:spPr>
        <p:txBody>
          <a:bodyPr vert="horz" wrap="square" lIns="91440" tIns="45720" rIns="91440" bIns="45720" anchor="t" anchorCtr="0"/>
          <a:p>
            <a:pPr algn="l">
              <a:lnSpc>
                <a:spcPct val="120000"/>
              </a:lnSpc>
              <a:buSzTx/>
              <a:buFont typeface="Wingdings" panose="05000000000000000000" pitchFamily="2" charset="2"/>
              <a:buNone/>
            </a:pPr>
            <a:r>
              <a:rPr kumimoji="1" lang="en-US" altLang="zh-CN" spc="100" dirty="0">
                <a:cs typeface="+mn-cs"/>
              </a:rPr>
              <a:t>#include &lt;stdio.h&gt;</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int main()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    int n,i,</a:t>
            </a:r>
            <a:r>
              <a:rPr kumimoji="1" lang="en-US" altLang="zh-CN" spc="100" dirty="0">
                <a:solidFill>
                  <a:srgbClr val="C00000"/>
                </a:solidFill>
                <a:cs typeface="+mn-cs"/>
              </a:rPr>
              <a:t>k</a:t>
            </a:r>
            <a:r>
              <a:rPr kumimoji="1" lang="en-US" altLang="zh-CN" spc="100" dirty="0">
                <a:cs typeface="+mn-cs"/>
              </a:rPr>
              <a:t>;</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printf(“n=?");  scanf("%d",&amp;n);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for (i=2; i&lt;=</a:t>
            </a:r>
            <a:r>
              <a:rPr kumimoji="1" lang="en-US" altLang="zh-CN" spc="100" dirty="0">
                <a:solidFill>
                  <a:srgbClr val="C00000"/>
                </a:solidFill>
                <a:cs typeface="+mn-cs"/>
              </a:rPr>
              <a:t>k</a:t>
            </a:r>
            <a:r>
              <a:rPr kumimoji="1" lang="en-US" altLang="zh-CN" spc="100" dirty="0">
                <a:cs typeface="+mn-cs"/>
              </a:rPr>
              <a:t>; i++)</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if(n%i==0) break;</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if(i&lt;=</a:t>
            </a:r>
            <a:r>
              <a:rPr kumimoji="1" lang="en-US" altLang="zh-CN" spc="100" dirty="0">
                <a:solidFill>
                  <a:srgbClr val="C00000"/>
                </a:solidFill>
                <a:cs typeface="+mn-cs"/>
              </a:rPr>
              <a:t>k</a:t>
            </a:r>
            <a:r>
              <a:rPr kumimoji="1" lang="en-US" altLang="zh-CN" spc="100" dirty="0">
                <a:cs typeface="+mn-cs"/>
              </a:rPr>
              <a:t>) printf("%d is not\n",n);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else printf("%d is\n",n);</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       return 0;</a:t>
            </a:r>
            <a:endParaRPr kumimoji="1" lang="en-US" altLang="zh-CN" spc="100" dirty="0">
              <a:cs typeface="+mn-cs"/>
            </a:endParaRPr>
          </a:p>
          <a:p>
            <a:pPr algn="l">
              <a:lnSpc>
                <a:spcPct val="120000"/>
              </a:lnSpc>
              <a:buSzTx/>
              <a:buFont typeface="Wingdings" panose="05000000000000000000" pitchFamily="2" charset="2"/>
              <a:buNone/>
            </a:pPr>
            <a:r>
              <a:rPr kumimoji="1" lang="en-US" altLang="zh-CN" spc="100" dirty="0">
                <a:cs typeface="+mn-cs"/>
              </a:rPr>
              <a:t>}</a:t>
            </a:r>
            <a:endParaRPr kumimoji="1" lang="en-US" altLang="zh-CN" spc="100" dirty="0">
              <a:cs typeface="+mn-cs"/>
            </a:endParaRPr>
          </a:p>
          <a:p>
            <a:pPr algn="l">
              <a:lnSpc>
                <a:spcPct val="120000"/>
              </a:lnSpc>
              <a:buSzTx/>
              <a:buFont typeface="Wingdings" panose="05000000000000000000" pitchFamily="2" charset="2"/>
              <a:buNone/>
            </a:pPr>
            <a:endParaRPr kumimoji="1" lang="en-US" altLang="zh-CN" spc="100" dirty="0">
              <a:cs typeface="+mn-cs"/>
            </a:endParaRPr>
          </a:p>
        </p:txBody>
      </p:sp>
      <p:sp>
        <p:nvSpPr>
          <p:cNvPr id="77827"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28"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2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30"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31"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32"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3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34"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7835" name="TextBox 15"/>
          <p:cNvSpPr txBox="1"/>
          <p:nvPr/>
        </p:nvSpPr>
        <p:spPr>
          <a:xfrm>
            <a:off x="5786438" y="2928938"/>
            <a:ext cx="2357437"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k=sqrt(n);</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cxnSp>
        <p:nvCxnSpPr>
          <p:cNvPr id="77836" name="直接连接符 17"/>
          <p:cNvCxnSpPr/>
          <p:nvPr/>
        </p:nvCxnSpPr>
        <p:spPr>
          <a:xfrm>
            <a:off x="5357813" y="3000375"/>
            <a:ext cx="714375" cy="571500"/>
          </a:xfrm>
          <a:prstGeom prst="line">
            <a:avLst/>
          </a:prstGeom>
          <a:ln w="38100" cap="flat" cmpd="sng">
            <a:solidFill>
              <a:srgbClr val="FF0000"/>
            </a:solidFill>
            <a:prstDash val="solid"/>
            <a:miter/>
            <a:headEnd type="none" w="med" len="med"/>
            <a:tailEnd type="none" w="med" len="med"/>
          </a:ln>
        </p:spPr>
      </p:cxnSp>
      <p:cxnSp>
        <p:nvCxnSpPr>
          <p:cNvPr id="77837" name="直接连接符 18"/>
          <p:cNvCxnSpPr/>
          <p:nvPr/>
        </p:nvCxnSpPr>
        <p:spPr>
          <a:xfrm flipV="1">
            <a:off x="5357813" y="2928938"/>
            <a:ext cx="1071562" cy="71437"/>
          </a:xfrm>
          <a:prstGeom prst="line">
            <a:avLst/>
          </a:prstGeom>
          <a:ln w="38100" cap="flat" cmpd="sng">
            <a:solidFill>
              <a:srgbClr val="FF0000"/>
            </a:solidFill>
            <a:prstDash val="solid"/>
            <a:miter/>
            <a:headEnd type="none" w="med" len="med"/>
            <a:tailEnd type="none" w="med" len="med"/>
          </a:ln>
        </p:spPr>
      </p:cxnSp>
      <p:sp>
        <p:nvSpPr>
          <p:cNvPr id="77838" name="TextBox 16"/>
          <p:cNvSpPr txBox="1"/>
          <p:nvPr/>
        </p:nvSpPr>
        <p:spPr>
          <a:xfrm>
            <a:off x="3214688" y="1357313"/>
            <a:ext cx="3571875"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#include &lt;math.h&gt;</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cxnSp>
        <p:nvCxnSpPr>
          <p:cNvPr id="77839" name="直接连接符 19"/>
          <p:cNvCxnSpPr/>
          <p:nvPr/>
        </p:nvCxnSpPr>
        <p:spPr>
          <a:xfrm>
            <a:off x="2786063" y="1428750"/>
            <a:ext cx="714375" cy="571500"/>
          </a:xfrm>
          <a:prstGeom prst="line">
            <a:avLst/>
          </a:prstGeom>
          <a:ln w="38100" cap="flat" cmpd="sng">
            <a:solidFill>
              <a:srgbClr val="FF0000"/>
            </a:solidFill>
            <a:prstDash val="solid"/>
            <a:miter/>
            <a:headEnd type="none" w="med" len="med"/>
            <a:tailEnd type="none" w="med" len="med"/>
          </a:ln>
        </p:spPr>
      </p:cxnSp>
      <p:cxnSp>
        <p:nvCxnSpPr>
          <p:cNvPr id="77840" name="直接连接符 20"/>
          <p:cNvCxnSpPr/>
          <p:nvPr/>
        </p:nvCxnSpPr>
        <p:spPr>
          <a:xfrm flipV="1">
            <a:off x="2786063" y="1357313"/>
            <a:ext cx="1071562" cy="71437"/>
          </a:xfrm>
          <a:prstGeom prst="line">
            <a:avLst/>
          </a:prstGeom>
          <a:ln w="38100" cap="flat" cmpd="sng">
            <a:solidFill>
              <a:srgbClr val="FF0000"/>
            </a:solidFill>
            <a:prstDash val="solid"/>
            <a:miter/>
            <a:headEnd type="none" w="med" len="med"/>
            <a:tailEnd type="none" w="med" len="med"/>
          </a:ln>
        </p:spPr>
      </p:cxnSp>
      <p:pic>
        <p:nvPicPr>
          <p:cNvPr id="77841" name="图片 16"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0" name="Rectangle 3"/>
          <p:cNvSpPr>
            <a:spLocks noGrp="1"/>
          </p:cNvSpPr>
          <p:nvPr>
            <p:ph idx="1"/>
          </p:nvPr>
        </p:nvSpPr>
        <p:spPr>
          <a:xfrm>
            <a:off x="309880" y="692785"/>
            <a:ext cx="8514715" cy="4000500"/>
          </a:xfrm>
        </p:spPr>
        <p:txBody>
          <a:bodyPr vert="horz" wrap="square" lIns="91440" tIns="45720" rIns="91440" bIns="45720" anchor="t" anchorCtr="0"/>
          <a:p>
            <a:pPr>
              <a:lnSpc>
                <a:spcPct val="140000"/>
              </a:lnSpc>
              <a:buFont typeface="Wingdings" panose="05000000000000000000" pitchFamily="2" charset="2"/>
              <a:buNone/>
            </a:pPr>
            <a:r>
              <a:rPr kumimoji="1" lang="zh-CN" altLang="zh-CN" dirty="0">
                <a:solidFill>
                  <a:srgbClr val="0000CC"/>
                </a:solidFill>
                <a:cs typeface="+mn-cs"/>
              </a:rPr>
              <a:t>例</a:t>
            </a:r>
            <a:r>
              <a:rPr kumimoji="1" lang="en-US" altLang="zh-CN" dirty="0">
                <a:solidFill>
                  <a:srgbClr val="0000CC"/>
                </a:solidFill>
                <a:cs typeface="+mn-cs"/>
              </a:rPr>
              <a:t>5.10</a:t>
            </a:r>
            <a:r>
              <a:rPr kumimoji="1" lang="en-US" altLang="zh-CN" dirty="0">
                <a:cs typeface="+mn-cs"/>
              </a:rPr>
              <a:t>   </a:t>
            </a:r>
            <a:r>
              <a:rPr kumimoji="1" lang="zh-CN" altLang="zh-CN" spc="100" dirty="0">
                <a:solidFill>
                  <a:schemeClr val="tx1"/>
                </a:solidFill>
                <a:uFillTx/>
                <a:cs typeface="+mn-cs"/>
              </a:rPr>
              <a:t>求</a:t>
            </a:r>
            <a:r>
              <a:rPr kumimoji="1" lang="en-US" altLang="zh-CN" spc="100" dirty="0">
                <a:solidFill>
                  <a:schemeClr val="tx1"/>
                </a:solidFill>
                <a:uFillTx/>
                <a:cs typeface="+mn-cs"/>
              </a:rPr>
              <a:t>100</a:t>
            </a:r>
            <a:r>
              <a:rPr kumimoji="1" lang="zh-CN" altLang="zh-CN" spc="100" dirty="0">
                <a:solidFill>
                  <a:schemeClr val="tx1"/>
                </a:solidFill>
                <a:uFillTx/>
                <a:cs typeface="+mn-cs"/>
              </a:rPr>
              <a:t>～</a:t>
            </a:r>
            <a:r>
              <a:rPr kumimoji="1" lang="en-US" altLang="zh-CN" spc="100" dirty="0">
                <a:solidFill>
                  <a:schemeClr val="tx1"/>
                </a:solidFill>
                <a:uFillTx/>
                <a:cs typeface="+mn-cs"/>
              </a:rPr>
              <a:t>200</a:t>
            </a:r>
            <a:r>
              <a:rPr kumimoji="1" lang="zh-CN" altLang="zh-CN" spc="100" dirty="0">
                <a:solidFill>
                  <a:schemeClr val="tx1"/>
                </a:solidFill>
                <a:uFillTx/>
                <a:cs typeface="+mn-cs"/>
              </a:rPr>
              <a:t>间的全部素数。</a:t>
            </a:r>
            <a:endParaRPr kumimoji="1" lang="en-US" altLang="zh-CN" spc="100" dirty="0">
              <a:solidFill>
                <a:schemeClr val="tx1"/>
              </a:solidFill>
              <a:uFillTx/>
              <a:cs typeface="+mn-cs"/>
            </a:endParaRPr>
          </a:p>
          <a:p>
            <a:pPr>
              <a:lnSpc>
                <a:spcPct val="140000"/>
              </a:lnSpc>
            </a:pPr>
            <a:r>
              <a:rPr kumimoji="1" lang="zh-CN" altLang="zh-CN" spc="100" dirty="0">
                <a:solidFill>
                  <a:srgbClr val="235A67"/>
                </a:solidFill>
                <a:uFillTx/>
                <a:cs typeface="+mn-cs"/>
              </a:rPr>
              <a:t>解题思路：</a:t>
            </a:r>
            <a:endParaRPr kumimoji="1" lang="zh-CN" altLang="zh-CN" spc="100" dirty="0">
              <a:solidFill>
                <a:schemeClr val="tx1"/>
              </a:solidFill>
              <a:uFillTx/>
              <a:cs typeface="+mn-cs"/>
            </a:endParaRPr>
          </a:p>
          <a:p>
            <a:pPr lvl="1">
              <a:lnSpc>
                <a:spcPct val="140000"/>
              </a:lnSpc>
            </a:pPr>
            <a:r>
              <a:rPr kumimoji="1" lang="zh-CN" altLang="en-US" spc="100" dirty="0">
                <a:solidFill>
                  <a:srgbClr val="235A67"/>
                </a:solidFill>
                <a:uFillTx/>
              </a:rPr>
              <a:t>使用</a:t>
            </a:r>
            <a:r>
              <a:rPr kumimoji="1" lang="zh-CN" altLang="zh-CN" spc="100" dirty="0">
                <a:solidFill>
                  <a:srgbClr val="235A67"/>
                </a:solidFill>
                <a:uFillTx/>
              </a:rPr>
              <a:t>例</a:t>
            </a:r>
            <a:r>
              <a:rPr kumimoji="1" lang="en-US" altLang="zh-CN" spc="100" dirty="0">
                <a:solidFill>
                  <a:srgbClr val="235A67"/>
                </a:solidFill>
                <a:uFillTx/>
              </a:rPr>
              <a:t>5.9</a:t>
            </a:r>
            <a:r>
              <a:rPr kumimoji="1" lang="zh-CN" altLang="zh-CN" spc="100" dirty="0">
                <a:solidFill>
                  <a:srgbClr val="235A67"/>
                </a:solidFill>
                <a:uFillTx/>
              </a:rPr>
              <a:t>的</a:t>
            </a:r>
            <a:r>
              <a:rPr kumimoji="1" lang="zh-CN" altLang="en-US" spc="100" dirty="0">
                <a:solidFill>
                  <a:srgbClr val="235A67"/>
                </a:solidFill>
                <a:uFillTx/>
              </a:rPr>
              <a:t>算法</a:t>
            </a:r>
            <a:endParaRPr kumimoji="1" lang="en-US" altLang="zh-CN" spc="100" dirty="0">
              <a:solidFill>
                <a:srgbClr val="235A67"/>
              </a:solidFill>
              <a:uFillTx/>
            </a:endParaRPr>
          </a:p>
          <a:p>
            <a:pPr lvl="1">
              <a:lnSpc>
                <a:spcPct val="140000"/>
              </a:lnSpc>
            </a:pPr>
            <a:r>
              <a:rPr kumimoji="1" lang="zh-CN" altLang="en-US" spc="100" dirty="0">
                <a:solidFill>
                  <a:srgbClr val="235A67"/>
                </a:solidFill>
                <a:uFillTx/>
              </a:rPr>
              <a:t>在</a:t>
            </a:r>
            <a:r>
              <a:rPr kumimoji="1" lang="zh-CN" altLang="zh-CN" spc="100" dirty="0">
                <a:solidFill>
                  <a:srgbClr val="235A67"/>
                </a:solidFill>
                <a:uFillTx/>
              </a:rPr>
              <a:t>例</a:t>
            </a:r>
            <a:r>
              <a:rPr kumimoji="1" lang="en-US" altLang="zh-CN" spc="100" dirty="0">
                <a:solidFill>
                  <a:srgbClr val="235A67"/>
                </a:solidFill>
                <a:uFillTx/>
              </a:rPr>
              <a:t>5.9</a:t>
            </a:r>
            <a:r>
              <a:rPr kumimoji="1" lang="zh-CN" altLang="en-US" spc="100" dirty="0">
                <a:solidFill>
                  <a:srgbClr val="235A67"/>
                </a:solidFill>
                <a:uFillTx/>
              </a:rPr>
              <a:t>程序中</a:t>
            </a:r>
            <a:r>
              <a:rPr kumimoji="1" lang="zh-CN" altLang="zh-CN" spc="100" dirty="0">
                <a:solidFill>
                  <a:srgbClr val="235A67"/>
                </a:solidFill>
                <a:uFillTx/>
              </a:rPr>
              <a:t>只要增加一个外循环，先后对</a:t>
            </a:r>
            <a:r>
              <a:rPr kumimoji="1" lang="en-US" altLang="zh-CN" spc="100" dirty="0">
                <a:solidFill>
                  <a:srgbClr val="235A67"/>
                </a:solidFill>
                <a:uFillTx/>
              </a:rPr>
              <a:t>100</a:t>
            </a:r>
            <a:r>
              <a:rPr kumimoji="1" lang="zh-CN" altLang="zh-CN" spc="100" dirty="0">
                <a:solidFill>
                  <a:srgbClr val="235A67"/>
                </a:solidFill>
                <a:uFillTx/>
              </a:rPr>
              <a:t>～</a:t>
            </a:r>
            <a:r>
              <a:rPr kumimoji="1" lang="en-US" altLang="zh-CN" spc="100" dirty="0">
                <a:solidFill>
                  <a:srgbClr val="235A67"/>
                </a:solidFill>
                <a:uFillTx/>
              </a:rPr>
              <a:t>200</a:t>
            </a:r>
            <a:r>
              <a:rPr kumimoji="1" lang="zh-CN" altLang="zh-CN" spc="100" dirty="0">
                <a:solidFill>
                  <a:srgbClr val="235A67"/>
                </a:solidFill>
                <a:uFillTx/>
              </a:rPr>
              <a:t>间的全部整数一一进行判定即可</a:t>
            </a:r>
            <a:endParaRPr kumimoji="1" lang="zh-CN" altLang="zh-CN" spc="100" dirty="0">
              <a:solidFill>
                <a:srgbClr val="235A67"/>
              </a:solidFill>
              <a:uFillTx/>
            </a:endParaRPr>
          </a:p>
        </p:txBody>
      </p:sp>
      <p:sp>
        <p:nvSpPr>
          <p:cNvPr id="78851"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8852"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885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8854"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8855"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8856"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885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78858" name="图片 9"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animEffect transition="in" filter="blinds(horizontal)">
                                      <p:cBhvr>
                                        <p:cTn id="7" dur="500"/>
                                        <p:tgtEl>
                                          <p:spTgt spid="4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00">
                                            <p:txEl>
                                              <p:pRg st="1" end="1"/>
                                            </p:txEl>
                                          </p:spTgt>
                                        </p:tgtEl>
                                        <p:attrNameLst>
                                          <p:attrName>style.visibility</p:attrName>
                                        </p:attrNameLst>
                                      </p:cBhvr>
                                      <p:to>
                                        <p:strVal val="visible"/>
                                      </p:to>
                                    </p:set>
                                    <p:animEffect transition="in" filter="blinds(horizontal)">
                                      <p:cBhvr>
                                        <p:cTn id="12" dur="500"/>
                                        <p:tgtEl>
                                          <p:spTgt spid="4100">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100">
                                            <p:txEl>
                                              <p:pRg st="2" end="2"/>
                                            </p:txEl>
                                          </p:spTgt>
                                        </p:tgtEl>
                                        <p:attrNameLst>
                                          <p:attrName>style.visibility</p:attrName>
                                        </p:attrNameLst>
                                      </p:cBhvr>
                                      <p:to>
                                        <p:strVal val="visible"/>
                                      </p:to>
                                    </p:set>
                                    <p:animEffect transition="in" filter="blinds(horizontal)">
                                      <p:cBhvr>
                                        <p:cTn id="15" dur="500"/>
                                        <p:tgtEl>
                                          <p:spTgt spid="410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00">
                                            <p:txEl>
                                              <p:pRg st="3" end="3"/>
                                            </p:txEl>
                                          </p:spTgt>
                                        </p:tgtEl>
                                        <p:attrNameLst>
                                          <p:attrName>style.visibility</p:attrName>
                                        </p:attrNameLst>
                                      </p:cBhvr>
                                      <p:to>
                                        <p:strVal val="visible"/>
                                      </p:to>
                                    </p:set>
                                    <p:animEffect transition="in" filter="blinds(horizontal)">
                                      <p:cBhvr>
                                        <p:cTn id="18" dur="500"/>
                                        <p:tgtEl>
                                          <p:spTgt spid="4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3"/>
          <p:cNvSpPr>
            <a:spLocks noGrp="1"/>
          </p:cNvSpPr>
          <p:nvPr>
            <p:ph idx="1"/>
          </p:nvPr>
        </p:nvSpPr>
        <p:spPr>
          <a:xfrm>
            <a:off x="309880" y="521970"/>
            <a:ext cx="7143750" cy="6171565"/>
          </a:xfrm>
        </p:spPr>
        <p:txBody>
          <a:bodyPr vert="horz" wrap="square" lIns="91440" tIns="45720" rIns="91440" bIns="45720" anchor="t" anchorCtr="0"/>
          <a:p>
            <a:pPr>
              <a:lnSpc>
                <a:spcPct val="100000"/>
              </a:lnSpc>
              <a:buFont typeface="Wingdings" panose="05000000000000000000" pitchFamily="2" charset="2"/>
              <a:buNone/>
            </a:pPr>
            <a:r>
              <a:rPr kumimoji="1" lang="en-US" altLang="zh-CN" dirty="0">
                <a:cs typeface="+mn-cs"/>
              </a:rPr>
              <a:t> </a:t>
            </a:r>
            <a:r>
              <a:rPr kumimoji="1" lang="en-US" altLang="zh-CN" spc="100" dirty="0">
                <a:solidFill>
                  <a:srgbClr val="FF0000"/>
                </a:solidFill>
                <a:cs typeface="+mn-cs"/>
              </a:rPr>
              <a:t>……</a:t>
            </a:r>
            <a:endParaRPr kumimoji="1" lang="en-US" altLang="zh-CN" spc="100" dirty="0">
              <a:solidFill>
                <a:srgbClr val="FF0000"/>
              </a:solidFill>
              <a:cs typeface="+mn-cs"/>
            </a:endParaRPr>
          </a:p>
          <a:p>
            <a:pPr>
              <a:lnSpc>
                <a:spcPct val="100000"/>
              </a:lnSpc>
              <a:buFont typeface="Wingdings" panose="05000000000000000000" pitchFamily="2" charset="2"/>
              <a:buNone/>
            </a:pPr>
            <a:r>
              <a:rPr kumimoji="1" lang="en-US" altLang="zh-CN" spc="100" dirty="0">
                <a:solidFill>
                  <a:srgbClr val="9D138D"/>
                </a:solidFill>
                <a:cs typeface="+mn-cs"/>
              </a:rPr>
              <a:t>for(n=101;n&lt;=200;n=n+2)</a:t>
            </a:r>
            <a:endParaRPr kumimoji="1" lang="zh-CN" altLang="zh-CN" spc="100" dirty="0">
              <a:solidFill>
                <a:srgbClr val="9D138D"/>
              </a:solidFill>
              <a:cs typeface="+mn-cs"/>
            </a:endParaRPr>
          </a:p>
          <a:p>
            <a:pPr>
              <a:lnSpc>
                <a:spcPct val="100000"/>
              </a:lnSpc>
              <a:buFont typeface="Wingdings" panose="05000000000000000000" pitchFamily="2" charset="2"/>
              <a:buNone/>
            </a:pPr>
            <a:r>
              <a:rPr kumimoji="1" lang="en-US" altLang="zh-CN" spc="100" dirty="0">
                <a:solidFill>
                  <a:srgbClr val="9D138D"/>
                </a:solidFill>
                <a:cs typeface="+mn-cs"/>
              </a:rPr>
              <a:t>{</a:t>
            </a:r>
            <a:r>
              <a:rPr kumimoji="1" lang="en-US" altLang="zh-CN" spc="100" dirty="0">
                <a:cs typeface="+mn-cs"/>
              </a:rPr>
              <a:t>    k=sqrt(n);</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for (i=2;i&lt;=k;i++)                          </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if (n%i==0) break;          </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if (i&gt;=k+1)</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    printf("%d ",n);            </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m=m+1;                    </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     </a:t>
            </a:r>
            <a:endParaRPr kumimoji="1" lang="zh-CN" altLang="zh-CN" spc="100" dirty="0">
              <a:cs typeface="+mn-cs"/>
            </a:endParaRPr>
          </a:p>
          <a:p>
            <a:pPr>
              <a:lnSpc>
                <a:spcPct val="100000"/>
              </a:lnSpc>
              <a:buFont typeface="Wingdings" panose="05000000000000000000" pitchFamily="2" charset="2"/>
              <a:buNone/>
            </a:pPr>
            <a:r>
              <a:rPr kumimoji="1" lang="en-US" altLang="zh-CN" spc="100" dirty="0">
                <a:cs typeface="+mn-cs"/>
              </a:rPr>
              <a:t>	   if(m%10==0) printf(“\n”); </a:t>
            </a:r>
            <a:endParaRPr kumimoji="1" lang="zh-CN" altLang="zh-CN" spc="100" dirty="0">
              <a:cs typeface="+mn-cs"/>
            </a:endParaRPr>
          </a:p>
          <a:p>
            <a:pPr>
              <a:lnSpc>
                <a:spcPct val="100000"/>
              </a:lnSpc>
              <a:buFont typeface="Wingdings" panose="05000000000000000000" pitchFamily="2" charset="2"/>
              <a:buNone/>
            </a:pPr>
            <a:r>
              <a:rPr kumimoji="1" lang="en-US" altLang="zh-CN" spc="100" dirty="0">
                <a:solidFill>
                  <a:srgbClr val="9D138D"/>
                </a:solidFill>
                <a:cs typeface="+mn-cs"/>
              </a:rPr>
              <a:t>}</a:t>
            </a:r>
            <a:endParaRPr kumimoji="1" lang="zh-CN" altLang="zh-CN" spc="100" dirty="0">
              <a:solidFill>
                <a:srgbClr val="9D138D"/>
              </a:solidFill>
              <a:cs typeface="+mn-cs"/>
            </a:endParaRPr>
          </a:p>
          <a:p>
            <a:pPr>
              <a:lnSpc>
                <a:spcPct val="100000"/>
              </a:lnSpc>
              <a:buFont typeface="Wingdings" panose="05000000000000000000" pitchFamily="2" charset="2"/>
              <a:buNone/>
            </a:pPr>
            <a:r>
              <a:rPr kumimoji="1" lang="en-US" altLang="zh-CN" spc="100" dirty="0">
                <a:solidFill>
                  <a:srgbClr val="FF0000"/>
                </a:solidFill>
                <a:cs typeface="+mn-cs"/>
              </a:rPr>
              <a:t>……</a:t>
            </a:r>
            <a:endParaRPr kumimoji="1" lang="en-US" altLang="zh-CN" spc="100" dirty="0">
              <a:solidFill>
                <a:srgbClr val="FF0000"/>
              </a:solidFill>
              <a:cs typeface="+mn-cs"/>
            </a:endParaRPr>
          </a:p>
        </p:txBody>
      </p:sp>
      <p:sp>
        <p:nvSpPr>
          <p:cNvPr id="79875"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9876"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987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9878"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9879"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9880"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7988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0" name="圆角矩形标注 9"/>
          <p:cNvSpPr/>
          <p:nvPr/>
        </p:nvSpPr>
        <p:spPr>
          <a:xfrm>
            <a:off x="3851593" y="1988503"/>
            <a:ext cx="3286125" cy="642937"/>
          </a:xfrm>
          <a:prstGeom prst="wedgeRoundRectCallout">
            <a:avLst>
              <a:gd name="adj1" fmla="val -35519"/>
              <a:gd name="adj2" fmla="val -109389"/>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600" dirty="0">
                <a:solidFill>
                  <a:srgbClr val="C00000"/>
                </a:solidFill>
                <a:latin typeface="Times New Roman" panose="02020603050405020304" pitchFamily="18" charset="0"/>
                <a:ea typeface="微软雅黑" panose="020B0503020204020204" pitchFamily="34" charset="-122"/>
              </a:rPr>
              <a:t>只对奇数进行检查</a:t>
            </a:r>
            <a:endParaRPr lang="zh-CN" altLang="zh-CN" sz="2600" dirty="0">
              <a:solidFill>
                <a:srgbClr val="C00000"/>
              </a:solidFill>
              <a:latin typeface="Times New Roman" panose="02020603050405020304" pitchFamily="18" charset="0"/>
              <a:ea typeface="微软雅黑" panose="020B0503020204020204" pitchFamily="34" charset="-122"/>
            </a:endParaRPr>
          </a:p>
        </p:txBody>
      </p:sp>
      <p:sp>
        <p:nvSpPr>
          <p:cNvPr id="11" name="圆角矩形标注 10"/>
          <p:cNvSpPr/>
          <p:nvPr/>
        </p:nvSpPr>
        <p:spPr>
          <a:xfrm>
            <a:off x="4067810" y="4221163"/>
            <a:ext cx="4214813" cy="642937"/>
          </a:xfrm>
          <a:prstGeom prst="wedgeRoundRectCallout">
            <a:avLst>
              <a:gd name="adj1" fmla="val -36412"/>
              <a:gd name="adj2" fmla="val 91278"/>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zh-CN" sz="2800" dirty="0">
                <a:solidFill>
                  <a:srgbClr val="C00000"/>
                </a:solidFill>
                <a:latin typeface="Times New Roman" panose="02020603050405020304" pitchFamily="18" charset="0"/>
                <a:ea typeface="微软雅黑" panose="020B0503020204020204" pitchFamily="34" charset="-122"/>
              </a:rPr>
              <a:t>控制每行输出</a:t>
            </a:r>
            <a:r>
              <a:rPr lang="en-US" altLang="zh-CN" sz="2800" dirty="0">
                <a:solidFill>
                  <a:srgbClr val="C00000"/>
                </a:solidFill>
                <a:latin typeface="Times New Roman" panose="02020603050405020304" pitchFamily="18" charset="0"/>
                <a:ea typeface="微软雅黑" panose="020B0503020204020204" pitchFamily="34" charset="-122"/>
              </a:rPr>
              <a:t>10</a:t>
            </a:r>
            <a:r>
              <a:rPr lang="zh-CN" altLang="zh-CN" sz="2800" dirty="0">
                <a:solidFill>
                  <a:srgbClr val="C00000"/>
                </a:solidFill>
                <a:latin typeface="Times New Roman" panose="02020603050405020304" pitchFamily="18" charset="0"/>
                <a:ea typeface="微软雅黑" panose="020B0503020204020204" pitchFamily="34" charset="-122"/>
              </a:rPr>
              <a:t>个数据</a:t>
            </a:r>
            <a:endParaRPr lang="zh-CN" altLang="zh-CN" sz="2800" dirty="0">
              <a:solidFill>
                <a:srgbClr val="C00000"/>
              </a:solidFill>
              <a:latin typeface="Times New Roman" panose="02020603050405020304" pitchFamily="18" charset="0"/>
              <a:ea typeface="微软雅黑" panose="020B0503020204020204" pitchFamily="34" charset="-122"/>
            </a:endParaRPr>
          </a:p>
        </p:txBody>
      </p:sp>
      <p:pic>
        <p:nvPicPr>
          <p:cNvPr id="79884" name="图片 11"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0" name="Rectangle 3"/>
          <p:cNvSpPr>
            <a:spLocks noGrp="1"/>
          </p:cNvSpPr>
          <p:nvPr>
            <p:ph idx="1"/>
          </p:nvPr>
        </p:nvSpPr>
        <p:spPr>
          <a:xfrm>
            <a:off x="322898" y="620713"/>
            <a:ext cx="8215312" cy="5500687"/>
          </a:xfrm>
        </p:spPr>
        <p:txBody>
          <a:bodyPr vert="horz" wrap="square" lIns="91440" tIns="45720" rIns="91440" bIns="45720" anchor="t" anchorCtr="0"/>
          <a:p>
            <a:pPr marL="1056640" indent="-1056640" defTabSz="0">
              <a:buFont typeface="Wingdings" panose="05000000000000000000" pitchFamily="2" charset="2"/>
              <a:buNone/>
              <a:tabLst>
                <a:tab pos="537210" algn="l"/>
                <a:tab pos="895350" algn="l"/>
              </a:tabLst>
            </a:pPr>
            <a:r>
              <a:rPr kumimoji="1" lang="zh-CN" altLang="zh-CN" dirty="0">
                <a:solidFill>
                  <a:srgbClr val="0000CC"/>
                </a:solidFill>
                <a:cs typeface="+mn-cs"/>
              </a:rPr>
              <a:t>例</a:t>
            </a:r>
            <a:r>
              <a:rPr kumimoji="1" lang="en-US" altLang="zh-CN" dirty="0">
                <a:solidFill>
                  <a:srgbClr val="0000CC"/>
                </a:solidFill>
                <a:cs typeface="+mn-cs"/>
              </a:rPr>
              <a:t>5.11 </a:t>
            </a:r>
            <a:r>
              <a:rPr kumimoji="1" lang="zh-CN" altLang="zh-CN" spc="100" dirty="0">
                <a:solidFill>
                  <a:schemeClr val="tx1"/>
                </a:solidFill>
                <a:uFillTx/>
                <a:cs typeface="+mn-cs"/>
              </a:rPr>
              <a:t>译密码。为使电文保密，往往按一定规律将其转换成密码，收报人再按约定的规律将其译回原文。</a:t>
            </a:r>
            <a:endParaRPr kumimoji="1" lang="en-US" altLang="zh-CN" spc="100" dirty="0">
              <a:solidFill>
                <a:schemeClr val="tx1"/>
              </a:solidFill>
              <a:uFillTx/>
              <a:cs typeface="+mn-cs"/>
            </a:endParaRPr>
          </a:p>
          <a:p>
            <a:pPr>
              <a:buFont typeface="Wingdings" panose="05000000000000000000" pitchFamily="2" charset="2"/>
              <a:buNone/>
            </a:pPr>
            <a:endParaRPr kumimoji="1" lang="en-US" altLang="zh-CN" spc="100" dirty="0">
              <a:solidFill>
                <a:schemeClr val="tx1"/>
              </a:solidFill>
              <a:uFillTx/>
              <a:cs typeface="+mn-cs"/>
            </a:endParaRPr>
          </a:p>
          <a:p>
            <a:pPr algn="ctr">
              <a:buFont typeface="Wingdings" panose="05000000000000000000" pitchFamily="2" charset="2"/>
              <a:buNone/>
            </a:pPr>
            <a:r>
              <a:rPr kumimoji="1" lang="en-US" altLang="zh-CN" spc="100" dirty="0">
                <a:solidFill>
                  <a:schemeClr val="tx1"/>
                </a:solidFill>
                <a:uFillTx/>
                <a:cs typeface="+mn-cs"/>
              </a:rPr>
              <a:t>A B C D E F G …… W X Y Z</a:t>
            </a:r>
            <a:endParaRPr kumimoji="1" lang="en-US" altLang="zh-CN" spc="100" dirty="0">
              <a:solidFill>
                <a:schemeClr val="tx1"/>
              </a:solidFill>
              <a:uFillTx/>
              <a:cs typeface="+mn-cs"/>
            </a:endParaRPr>
          </a:p>
          <a:p>
            <a:pPr algn="ctr">
              <a:buFont typeface="Wingdings" panose="05000000000000000000" pitchFamily="2" charset="2"/>
              <a:buNone/>
            </a:pPr>
            <a:endParaRPr kumimoji="1" lang="en-US" altLang="zh-CN" spc="100" dirty="0">
              <a:solidFill>
                <a:schemeClr val="tx1"/>
              </a:solidFill>
              <a:uFillTx/>
              <a:cs typeface="+mn-cs"/>
            </a:endParaRPr>
          </a:p>
          <a:p>
            <a:r>
              <a:rPr kumimoji="1" lang="zh-CN" altLang="zh-CN" spc="100" dirty="0">
                <a:solidFill>
                  <a:schemeClr val="tx1"/>
                </a:solidFill>
                <a:uFillTx/>
                <a:cs typeface="+mn-cs"/>
              </a:rPr>
              <a:t>非字母字符保持原状不变</a:t>
            </a:r>
            <a:endParaRPr kumimoji="1" lang="zh-CN" altLang="zh-CN" spc="100" dirty="0">
              <a:solidFill>
                <a:schemeClr val="tx1"/>
              </a:solidFill>
              <a:uFillTx/>
              <a:cs typeface="+mn-cs"/>
            </a:endParaRPr>
          </a:p>
          <a:p>
            <a:r>
              <a:rPr kumimoji="1" lang="zh-CN" altLang="zh-CN" spc="100" dirty="0">
                <a:solidFill>
                  <a:schemeClr val="tx1"/>
                </a:solidFill>
                <a:uFillTx/>
                <a:cs typeface="+mn-cs"/>
              </a:rPr>
              <a:t>输入一行字符，要求输出其相应的密码</a:t>
            </a:r>
            <a:endParaRPr kumimoji="1" lang="zh-CN" altLang="zh-CN" spc="100" dirty="0">
              <a:solidFill>
                <a:schemeClr val="tx1"/>
              </a:solidFill>
              <a:uFillTx/>
              <a:cs typeface="+mn-cs"/>
            </a:endParaRPr>
          </a:p>
          <a:p>
            <a:pPr algn="ctr">
              <a:buFont typeface="Wingdings" panose="05000000000000000000" pitchFamily="2" charset="2"/>
              <a:buNone/>
            </a:pPr>
            <a:endParaRPr kumimoji="1" lang="zh-CN" altLang="zh-CN" spc="100" dirty="0">
              <a:solidFill>
                <a:schemeClr val="tx1"/>
              </a:solidFill>
              <a:uFillTx/>
              <a:cs typeface="+mn-cs"/>
            </a:endParaRPr>
          </a:p>
        </p:txBody>
      </p:sp>
      <p:sp>
        <p:nvSpPr>
          <p:cNvPr id="8089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0900"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090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0902"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0903"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0904"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090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12" name="任意多边形 11"/>
          <p:cNvSpPr/>
          <p:nvPr/>
        </p:nvSpPr>
        <p:spPr>
          <a:xfrm>
            <a:off x="2267585" y="2493010"/>
            <a:ext cx="1251585" cy="452120"/>
          </a:xfrm>
          <a:custGeom>
            <a:avLst/>
            <a:gdLst>
              <a:gd name="txL" fmla="*/ 0 w 1803748"/>
              <a:gd name="txT" fmla="*/ 0 h 567846"/>
              <a:gd name="txR" fmla="*/ 1803748 w 1803748"/>
              <a:gd name="txB" fmla="*/ 567846 h 567846"/>
            </a:gdLst>
            <a:ahLst/>
            <a:cxnLst>
              <a:cxn ang="0">
                <a:pos x="0" y="128161"/>
              </a:cxn>
              <a:cxn ang="0">
                <a:pos x="891796" y="986"/>
              </a:cxn>
              <a:cxn ang="0">
                <a:pos x="1808714" y="134076"/>
              </a:cxn>
            </a:cxnLst>
            <a:rect l="txL" t="txT" r="txR" b="txB"/>
            <a:pathLst>
              <a:path w="1803748" h="567846">
                <a:moveTo>
                  <a:pt x="0" y="542794"/>
                </a:moveTo>
                <a:cubicBezTo>
                  <a:pt x="294361" y="271397"/>
                  <a:pt x="588723" y="0"/>
                  <a:pt x="889348" y="4175"/>
                </a:cubicBezTo>
                <a:cubicBezTo>
                  <a:pt x="1189973" y="8350"/>
                  <a:pt x="1496860" y="288098"/>
                  <a:pt x="1803748" y="567846"/>
                </a:cubicBezTo>
              </a:path>
            </a:pathLst>
          </a:custGeom>
          <a:solidFill>
            <a:schemeClr val="accent1">
              <a:alpha val="100000"/>
            </a:schemeClr>
          </a:solidFill>
          <a:ln w="38100" cap="flat" cmpd="sng">
            <a:solidFill>
              <a:srgbClr val="FF0000">
                <a:alpha val="100000"/>
              </a:srgbClr>
            </a:solidFill>
            <a:prstDash val="solid"/>
            <a:miter lim="800000"/>
            <a:headEnd type="none" w="med" len="med"/>
            <a:tailEnd type="arrow" w="med" len="med"/>
          </a:ln>
        </p:spPr>
        <p:txBody>
          <a:bodyPr/>
          <a:p>
            <a:endParaRPr lang="zh-CN" altLang="en-US"/>
          </a:p>
        </p:txBody>
      </p:sp>
      <p:sp>
        <p:nvSpPr>
          <p:cNvPr id="13" name="任意多边形 12"/>
          <p:cNvSpPr/>
          <p:nvPr/>
        </p:nvSpPr>
        <p:spPr>
          <a:xfrm>
            <a:off x="2555875" y="2493010"/>
            <a:ext cx="1329690" cy="496570"/>
          </a:xfrm>
          <a:custGeom>
            <a:avLst/>
            <a:gdLst>
              <a:gd name="txL" fmla="*/ 0 w 1803748"/>
              <a:gd name="txT" fmla="*/ 0 h 567846"/>
              <a:gd name="txR" fmla="*/ 1803748 w 1803748"/>
              <a:gd name="txB" fmla="*/ 567846 h 567846"/>
            </a:gdLst>
            <a:ahLst/>
            <a:cxnLst>
              <a:cxn ang="0">
                <a:pos x="0" y="128161"/>
              </a:cxn>
              <a:cxn ang="0">
                <a:pos x="888661" y="986"/>
              </a:cxn>
              <a:cxn ang="0">
                <a:pos x="1802356" y="134076"/>
              </a:cxn>
            </a:cxnLst>
            <a:rect l="txL" t="txT" r="txR" b="txB"/>
            <a:pathLst>
              <a:path w="1803748" h="567846">
                <a:moveTo>
                  <a:pt x="0" y="542794"/>
                </a:moveTo>
                <a:cubicBezTo>
                  <a:pt x="294361" y="271397"/>
                  <a:pt x="588723" y="0"/>
                  <a:pt x="889348" y="4175"/>
                </a:cubicBezTo>
                <a:cubicBezTo>
                  <a:pt x="1189973" y="8350"/>
                  <a:pt x="1496860" y="288098"/>
                  <a:pt x="1803748" y="567846"/>
                </a:cubicBezTo>
              </a:path>
            </a:pathLst>
          </a:custGeom>
          <a:solidFill>
            <a:schemeClr val="accent1">
              <a:alpha val="100000"/>
            </a:schemeClr>
          </a:solidFill>
          <a:ln w="38100" cap="flat" cmpd="sng">
            <a:solidFill>
              <a:srgbClr val="FF0000">
                <a:alpha val="100000"/>
              </a:srgbClr>
            </a:solidFill>
            <a:prstDash val="solid"/>
            <a:miter lim="800000"/>
            <a:headEnd type="none" w="med" len="med"/>
            <a:tailEnd type="arrow" w="med" len="med"/>
          </a:ln>
        </p:spPr>
        <p:txBody>
          <a:bodyPr/>
          <a:p>
            <a:endParaRPr lang="zh-CN" altLang="en-US"/>
          </a:p>
        </p:txBody>
      </p:sp>
      <p:sp>
        <p:nvSpPr>
          <p:cNvPr id="14" name="任意多边形 13"/>
          <p:cNvSpPr/>
          <p:nvPr/>
        </p:nvSpPr>
        <p:spPr>
          <a:xfrm>
            <a:off x="2959100" y="2519680"/>
            <a:ext cx="1310005" cy="425450"/>
          </a:xfrm>
          <a:custGeom>
            <a:avLst/>
            <a:gdLst>
              <a:gd name="txL" fmla="*/ 0 w 1803748"/>
              <a:gd name="txT" fmla="*/ 0 h 567846"/>
              <a:gd name="txR" fmla="*/ 1803748 w 1803748"/>
              <a:gd name="txB" fmla="*/ 567846 h 567846"/>
            </a:gdLst>
            <a:ahLst/>
            <a:cxnLst>
              <a:cxn ang="0">
                <a:pos x="0" y="128161"/>
              </a:cxn>
              <a:cxn ang="0">
                <a:pos x="888661" y="986"/>
              </a:cxn>
              <a:cxn ang="0">
                <a:pos x="1802356" y="134076"/>
              </a:cxn>
            </a:cxnLst>
            <a:rect l="txL" t="txT" r="txR" b="txB"/>
            <a:pathLst>
              <a:path w="1803748" h="567846">
                <a:moveTo>
                  <a:pt x="0" y="542794"/>
                </a:moveTo>
                <a:cubicBezTo>
                  <a:pt x="294361" y="271397"/>
                  <a:pt x="588723" y="0"/>
                  <a:pt x="889348" y="4175"/>
                </a:cubicBezTo>
                <a:cubicBezTo>
                  <a:pt x="1189973" y="8350"/>
                  <a:pt x="1496860" y="288098"/>
                  <a:pt x="1803748" y="567846"/>
                </a:cubicBezTo>
              </a:path>
            </a:pathLst>
          </a:custGeom>
          <a:solidFill>
            <a:schemeClr val="accent1">
              <a:alpha val="100000"/>
            </a:schemeClr>
          </a:solidFill>
          <a:ln w="38100" cap="flat" cmpd="sng">
            <a:solidFill>
              <a:srgbClr val="FF0000">
                <a:alpha val="100000"/>
              </a:srgbClr>
            </a:solidFill>
            <a:prstDash val="solid"/>
            <a:miter lim="800000"/>
            <a:headEnd type="none" w="med" len="med"/>
            <a:tailEnd type="arrow" w="med" len="med"/>
          </a:ln>
        </p:spPr>
        <p:txBody>
          <a:bodyPr/>
          <a:p>
            <a:endParaRPr lang="zh-CN" altLang="en-US"/>
          </a:p>
        </p:txBody>
      </p:sp>
      <p:sp>
        <p:nvSpPr>
          <p:cNvPr id="15" name="任意多边形 14"/>
          <p:cNvSpPr/>
          <p:nvPr/>
        </p:nvSpPr>
        <p:spPr>
          <a:xfrm rot="10800000">
            <a:off x="2237105" y="3338195"/>
            <a:ext cx="3256280" cy="519430"/>
          </a:xfrm>
          <a:custGeom>
            <a:avLst/>
            <a:gdLst>
              <a:gd name="txL" fmla="*/ 0 w 1803748"/>
              <a:gd name="txT" fmla="*/ 0 h 567846"/>
              <a:gd name="txR" fmla="*/ 1803748 w 1803748"/>
              <a:gd name="txB" fmla="*/ 567846 h 567846"/>
            </a:gdLst>
            <a:ahLst/>
            <a:cxnLst>
              <a:cxn ang="0">
                <a:pos x="0" y="128161"/>
              </a:cxn>
              <a:cxn ang="0">
                <a:pos x="53275651" y="986"/>
              </a:cxn>
              <a:cxn ang="0">
                <a:pos x="108052032" y="134076"/>
              </a:cxn>
            </a:cxnLst>
            <a:rect l="txL" t="txT" r="txR" b="txB"/>
            <a:pathLst>
              <a:path w="1803748" h="567846">
                <a:moveTo>
                  <a:pt x="0" y="542794"/>
                </a:moveTo>
                <a:cubicBezTo>
                  <a:pt x="294361" y="271397"/>
                  <a:pt x="588723" y="0"/>
                  <a:pt x="889348" y="4175"/>
                </a:cubicBezTo>
                <a:cubicBezTo>
                  <a:pt x="1189973" y="8350"/>
                  <a:pt x="1496860" y="288098"/>
                  <a:pt x="1803748" y="567846"/>
                </a:cubicBezTo>
              </a:path>
            </a:pathLst>
          </a:custGeom>
          <a:solidFill>
            <a:schemeClr val="accent1">
              <a:alpha val="100000"/>
            </a:schemeClr>
          </a:solidFill>
          <a:ln w="38100" cap="flat" cmpd="sng">
            <a:solidFill>
              <a:srgbClr val="FF0000">
                <a:alpha val="100000"/>
              </a:srgbClr>
            </a:solidFill>
            <a:prstDash val="solid"/>
            <a:miter lim="800000"/>
            <a:headEnd type="none" w="med" len="med"/>
            <a:tailEnd type="arrow" w="med" len="med"/>
          </a:ln>
        </p:spPr>
        <p:txBody>
          <a:bodyPr/>
          <a:p>
            <a:endParaRPr lang="zh-CN" altLang="en-US"/>
          </a:p>
        </p:txBody>
      </p:sp>
      <p:sp>
        <p:nvSpPr>
          <p:cNvPr id="16" name="任意多边形 15"/>
          <p:cNvSpPr/>
          <p:nvPr/>
        </p:nvSpPr>
        <p:spPr>
          <a:xfrm rot="10800000">
            <a:off x="2566035" y="3357245"/>
            <a:ext cx="3388360" cy="459740"/>
          </a:xfrm>
          <a:custGeom>
            <a:avLst/>
            <a:gdLst>
              <a:gd name="txL" fmla="*/ 0 w 1803748"/>
              <a:gd name="txT" fmla="*/ 0 h 567846"/>
              <a:gd name="txR" fmla="*/ 1803748 w 1803748"/>
              <a:gd name="txB" fmla="*/ 567846 h 567846"/>
            </a:gdLst>
            <a:ahLst/>
            <a:cxnLst>
              <a:cxn ang="0">
                <a:pos x="0" y="128161"/>
              </a:cxn>
              <a:cxn ang="0">
                <a:pos x="53275651" y="986"/>
              </a:cxn>
              <a:cxn ang="0">
                <a:pos x="108052032" y="134076"/>
              </a:cxn>
            </a:cxnLst>
            <a:rect l="txL" t="txT" r="txR" b="txB"/>
            <a:pathLst>
              <a:path w="1803748" h="567846">
                <a:moveTo>
                  <a:pt x="0" y="542794"/>
                </a:moveTo>
                <a:cubicBezTo>
                  <a:pt x="294361" y="271397"/>
                  <a:pt x="588723" y="0"/>
                  <a:pt x="889348" y="4175"/>
                </a:cubicBezTo>
                <a:cubicBezTo>
                  <a:pt x="1189973" y="8350"/>
                  <a:pt x="1496860" y="288098"/>
                  <a:pt x="1803748" y="567846"/>
                </a:cubicBezTo>
              </a:path>
            </a:pathLst>
          </a:custGeom>
          <a:solidFill>
            <a:schemeClr val="accent1">
              <a:alpha val="100000"/>
            </a:schemeClr>
          </a:solidFill>
          <a:ln w="38100" cap="flat" cmpd="sng">
            <a:solidFill>
              <a:srgbClr val="FF0000">
                <a:alpha val="100000"/>
              </a:srgbClr>
            </a:solidFill>
            <a:prstDash val="solid"/>
            <a:miter lim="800000"/>
            <a:headEnd type="none" w="med" len="med"/>
            <a:tailEnd type="arrow" w="med" len="med"/>
          </a:ln>
        </p:spPr>
        <p:txBody>
          <a:bodyPr/>
          <a:p>
            <a:endParaRPr lang="zh-CN" altLang="en-US"/>
          </a:p>
        </p:txBody>
      </p:sp>
      <p:sp>
        <p:nvSpPr>
          <p:cNvPr id="18" name="任意多边形 17"/>
          <p:cNvSpPr/>
          <p:nvPr/>
        </p:nvSpPr>
        <p:spPr>
          <a:xfrm rot="10800000">
            <a:off x="2959100" y="3357245"/>
            <a:ext cx="3360420" cy="434340"/>
          </a:xfrm>
          <a:custGeom>
            <a:avLst/>
            <a:gdLst>
              <a:gd name="txL" fmla="*/ 0 w 1803748"/>
              <a:gd name="txT" fmla="*/ 0 h 567846"/>
              <a:gd name="txR" fmla="*/ 1803748 w 1803748"/>
              <a:gd name="txB" fmla="*/ 567846 h 567846"/>
            </a:gdLst>
            <a:ahLst/>
            <a:cxnLst>
              <a:cxn ang="0">
                <a:pos x="0" y="128161"/>
              </a:cxn>
              <a:cxn ang="0">
                <a:pos x="53275651" y="986"/>
              </a:cxn>
              <a:cxn ang="0">
                <a:pos x="108052032" y="134076"/>
              </a:cxn>
            </a:cxnLst>
            <a:rect l="txL" t="txT" r="txR" b="txB"/>
            <a:pathLst>
              <a:path w="1803748" h="567846">
                <a:moveTo>
                  <a:pt x="0" y="542794"/>
                </a:moveTo>
                <a:cubicBezTo>
                  <a:pt x="294361" y="271397"/>
                  <a:pt x="588723" y="0"/>
                  <a:pt x="889348" y="4175"/>
                </a:cubicBezTo>
                <a:cubicBezTo>
                  <a:pt x="1189973" y="8350"/>
                  <a:pt x="1496860" y="288098"/>
                  <a:pt x="1803748" y="567846"/>
                </a:cubicBezTo>
              </a:path>
            </a:pathLst>
          </a:custGeom>
          <a:solidFill>
            <a:schemeClr val="accent1">
              <a:alpha val="100000"/>
            </a:schemeClr>
          </a:solidFill>
          <a:ln w="38100" cap="flat" cmpd="sng">
            <a:solidFill>
              <a:srgbClr val="FF0000">
                <a:alpha val="100000"/>
              </a:srgbClr>
            </a:solidFill>
            <a:prstDash val="solid"/>
            <a:miter lim="800000"/>
            <a:headEnd type="none" w="med" len="med"/>
            <a:tailEnd type="arrow" w="med" len="med"/>
          </a:ln>
        </p:spPr>
        <p:txBody>
          <a:bodyPr/>
          <a:p>
            <a:endParaRPr lang="zh-CN" altLang="en-US"/>
          </a:p>
        </p:txBody>
      </p:sp>
      <p:pic>
        <p:nvPicPr>
          <p:cNvPr id="80913" name="图片 18"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Left)">
                                      <p:cBhvr>
                                        <p:cTn id="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Left)">
                                      <p:cBhvr>
                                        <p:cTn id="12"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lide(fromLeft)">
                                      <p:cBhvr>
                                        <p:cTn id="17"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2" presetClass="entr" presetSubtype="2"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lide(fromRight)">
                                      <p:cBhvr>
                                        <p:cTn id="22"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2" presetClass="entr" presetSubtype="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lide(fromRight)">
                                      <p:cBhvr>
                                        <p:cTn id="27"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2" presetClass="entr" presetSubtype="2"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slide(fromRight)">
                                      <p:cBhvr>
                                        <p:cTn id="32"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100">
                                            <p:txEl>
                                              <p:pRg st="4" end="4"/>
                                            </p:txEl>
                                          </p:spTgt>
                                        </p:tgtEl>
                                        <p:attrNameLst>
                                          <p:attrName>style.visibility</p:attrName>
                                        </p:attrNameLst>
                                      </p:cBhvr>
                                      <p:to>
                                        <p:strVal val="visible"/>
                                      </p:to>
                                    </p:set>
                                    <p:animEffect transition="in" filter="blinds(horizontal)">
                                      <p:cBhvr>
                                        <p:cTn id="37" dur="500"/>
                                        <p:tgtEl>
                                          <p:spTgt spid="4100">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100">
                                            <p:txEl>
                                              <p:pRg st="5" end="5"/>
                                            </p:txEl>
                                          </p:spTgt>
                                        </p:tgtEl>
                                        <p:attrNameLst>
                                          <p:attrName>style.visibility</p:attrName>
                                        </p:attrNameLst>
                                      </p:cBhvr>
                                      <p:to>
                                        <p:strVal val="visible"/>
                                      </p:to>
                                    </p:set>
                                    <p:animEffect transition="in" filter="blinds(horizontal)">
                                      <p:cBhvr>
                                        <p:cTn id="42" dur="500"/>
                                        <p:tgtEl>
                                          <p:spTgt spid="410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3"/>
          <p:cNvSpPr>
            <a:spLocks noGrp="1"/>
          </p:cNvSpPr>
          <p:nvPr>
            <p:ph idx="1"/>
          </p:nvPr>
        </p:nvSpPr>
        <p:spPr>
          <a:xfrm>
            <a:off x="309880" y="621030"/>
            <a:ext cx="8376920" cy="6000750"/>
          </a:xfrm>
        </p:spPr>
        <p:txBody>
          <a:bodyPr vert="horz" wrap="square" lIns="91440" tIns="45720" rIns="91440" bIns="45720" anchor="t" anchorCtr="0"/>
          <a:p>
            <a:r>
              <a:rPr kumimoji="1" lang="zh-CN" altLang="zh-CN" dirty="0">
                <a:solidFill>
                  <a:srgbClr val="235A67"/>
                </a:solidFill>
                <a:cs typeface="+mn-cs"/>
              </a:rPr>
              <a:t>解题思路：问题的关键有两个：</a:t>
            </a:r>
            <a:endParaRPr kumimoji="1" lang="zh-CN" altLang="zh-CN" dirty="0">
              <a:cs typeface="+mn-cs"/>
            </a:endParaRPr>
          </a:p>
          <a:p>
            <a:pPr lvl="1">
              <a:buFont typeface="Wingdings" panose="05000000000000000000" pitchFamily="2" charset="2"/>
              <a:buNone/>
            </a:pPr>
            <a:r>
              <a:rPr kumimoji="1" lang="en-US" altLang="zh-CN" dirty="0"/>
              <a:t> </a:t>
            </a:r>
            <a:r>
              <a:rPr kumimoji="1" lang="en-US" altLang="zh-CN" dirty="0">
                <a:solidFill>
                  <a:srgbClr val="235A67"/>
                </a:solidFill>
              </a:rPr>
              <a:t>(1) </a:t>
            </a:r>
            <a:r>
              <a:rPr kumimoji="1" lang="zh-CN" altLang="zh-CN" dirty="0">
                <a:solidFill>
                  <a:srgbClr val="235A67"/>
                </a:solidFill>
              </a:rPr>
              <a:t>决定哪些字符不需要改变，哪些字符需要改变，如果需要改变，应改为哪个字符</a:t>
            </a:r>
            <a:endParaRPr kumimoji="1" lang="en-US" altLang="zh-CN" dirty="0">
              <a:solidFill>
                <a:srgbClr val="235A67"/>
              </a:solidFill>
            </a:endParaRPr>
          </a:p>
          <a:p>
            <a:pPr lvl="1" algn="just"/>
            <a:r>
              <a:rPr kumimoji="1" lang="zh-CN" altLang="zh-CN" dirty="0"/>
              <a:t>处理的方法是：</a:t>
            </a:r>
            <a:r>
              <a:rPr kumimoji="1" lang="zh-CN" altLang="zh-CN" dirty="0">
                <a:solidFill>
                  <a:srgbClr val="0000CC"/>
                </a:solidFill>
              </a:rPr>
              <a:t>输入一个字符给字符变量</a:t>
            </a:r>
            <a:r>
              <a:rPr kumimoji="1" lang="en-US" altLang="zh-CN" dirty="0">
                <a:solidFill>
                  <a:srgbClr val="0000CC"/>
                </a:solidFill>
              </a:rPr>
              <a:t>c</a:t>
            </a:r>
            <a:r>
              <a:rPr kumimoji="1" lang="zh-CN" altLang="zh-CN" dirty="0"/>
              <a:t>，先判定它是否字母</a:t>
            </a:r>
            <a:r>
              <a:rPr kumimoji="1" lang="en-US" altLang="zh-CN" dirty="0"/>
              <a:t>(</a:t>
            </a:r>
            <a:r>
              <a:rPr kumimoji="1" lang="zh-CN" altLang="zh-CN" dirty="0"/>
              <a:t>包括大小写</a:t>
            </a:r>
            <a:r>
              <a:rPr kumimoji="1" lang="en-US" altLang="zh-CN" dirty="0"/>
              <a:t>)</a:t>
            </a:r>
            <a:r>
              <a:rPr kumimoji="1" lang="zh-CN" altLang="zh-CN" dirty="0"/>
              <a:t>，若不是字母，不改变</a:t>
            </a:r>
            <a:r>
              <a:rPr kumimoji="1" lang="en-US" altLang="zh-CN" dirty="0"/>
              <a:t>c</a:t>
            </a:r>
            <a:r>
              <a:rPr kumimoji="1" lang="zh-CN" altLang="zh-CN" dirty="0"/>
              <a:t>的值；若是字母，则还要检查它是否</a:t>
            </a:r>
            <a:r>
              <a:rPr kumimoji="1" lang="en-US" altLang="zh-CN" dirty="0"/>
              <a:t>’W’</a:t>
            </a:r>
            <a:r>
              <a:rPr kumimoji="1" lang="zh-CN" altLang="zh-CN" dirty="0"/>
              <a:t>到</a:t>
            </a:r>
            <a:r>
              <a:rPr kumimoji="1" lang="en-US" altLang="zh-CN" dirty="0"/>
              <a:t>’Z’</a:t>
            </a:r>
            <a:r>
              <a:rPr kumimoji="1" lang="zh-CN" altLang="zh-CN" dirty="0"/>
              <a:t>的范围内</a:t>
            </a:r>
            <a:r>
              <a:rPr kumimoji="1" lang="en-US" altLang="zh-CN" dirty="0"/>
              <a:t>(</a:t>
            </a:r>
            <a:r>
              <a:rPr kumimoji="1" lang="zh-CN" altLang="zh-CN" dirty="0"/>
              <a:t>包括大小写字母</a:t>
            </a:r>
            <a:r>
              <a:rPr kumimoji="1" lang="en-US" altLang="zh-CN" dirty="0"/>
              <a:t>)</a:t>
            </a:r>
            <a:r>
              <a:rPr kumimoji="1" lang="zh-CN" altLang="zh-CN" dirty="0"/>
              <a:t>。如不在此范围内，则使变量</a:t>
            </a:r>
            <a:r>
              <a:rPr kumimoji="1" lang="en-US" altLang="zh-CN" dirty="0"/>
              <a:t>c</a:t>
            </a:r>
            <a:r>
              <a:rPr kumimoji="1" lang="zh-CN" altLang="zh-CN" dirty="0"/>
              <a:t>的值改变为其后第</a:t>
            </a:r>
            <a:r>
              <a:rPr kumimoji="1" lang="en-US" altLang="zh-CN" dirty="0"/>
              <a:t>4</a:t>
            </a:r>
            <a:r>
              <a:rPr kumimoji="1" lang="zh-CN" altLang="zh-CN" dirty="0"/>
              <a:t>个字母。如果在</a:t>
            </a:r>
            <a:r>
              <a:rPr kumimoji="1" lang="en-US" altLang="zh-CN" dirty="0"/>
              <a:t>’W’</a:t>
            </a:r>
            <a:r>
              <a:rPr kumimoji="1" lang="zh-CN" altLang="zh-CN" dirty="0"/>
              <a:t>到</a:t>
            </a:r>
            <a:r>
              <a:rPr kumimoji="1" lang="en-US" altLang="zh-CN" dirty="0"/>
              <a:t>’Z’</a:t>
            </a:r>
            <a:r>
              <a:rPr kumimoji="1" lang="zh-CN" altLang="zh-CN" dirty="0"/>
              <a:t>的范围内，则应将它转换为</a:t>
            </a:r>
            <a:r>
              <a:rPr kumimoji="1" lang="en-US" altLang="zh-CN" dirty="0"/>
              <a:t>A</a:t>
            </a:r>
            <a:r>
              <a:rPr kumimoji="1" lang="zh-CN" altLang="zh-CN" dirty="0"/>
              <a:t>～</a:t>
            </a:r>
            <a:r>
              <a:rPr kumimoji="1" lang="en-US" altLang="zh-CN" dirty="0"/>
              <a:t>D(</a:t>
            </a:r>
            <a:r>
              <a:rPr kumimoji="1" lang="zh-CN" altLang="zh-CN" dirty="0"/>
              <a:t>或</a:t>
            </a:r>
            <a:r>
              <a:rPr kumimoji="1" lang="en-US" altLang="zh-CN" dirty="0"/>
              <a:t>a</a:t>
            </a:r>
            <a:r>
              <a:rPr kumimoji="1" lang="zh-CN" altLang="zh-CN" dirty="0"/>
              <a:t>～</a:t>
            </a:r>
            <a:r>
              <a:rPr kumimoji="1" lang="en-US" altLang="zh-CN" dirty="0"/>
              <a:t>d)</a:t>
            </a:r>
            <a:r>
              <a:rPr kumimoji="1" lang="zh-CN" altLang="zh-CN" dirty="0"/>
              <a:t>之一的字母。</a:t>
            </a:r>
            <a:endParaRPr kumimoji="1" lang="en-US" altLang="zh-CN" dirty="0"/>
          </a:p>
        </p:txBody>
      </p:sp>
      <p:sp>
        <p:nvSpPr>
          <p:cNvPr id="8192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1924"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192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1926"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1927"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1928"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192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20" name="直接连接符 19"/>
          <p:cNvCxnSpPr/>
          <p:nvPr/>
        </p:nvCxnSpPr>
        <p:spPr>
          <a:xfrm>
            <a:off x="3635693" y="2925128"/>
            <a:ext cx="4286250" cy="0"/>
          </a:xfrm>
          <a:prstGeom prst="line">
            <a:avLst/>
          </a:prstGeom>
          <a:ln w="38100" cap="flat" cmpd="sng">
            <a:solidFill>
              <a:srgbClr val="FF0000"/>
            </a:solidFill>
            <a:prstDash val="solid"/>
            <a:miter/>
            <a:headEnd type="none" w="med" len="med"/>
            <a:tailEnd type="none" w="med" len="med"/>
          </a:ln>
        </p:spPr>
      </p:cxnSp>
      <p:sp>
        <p:nvSpPr>
          <p:cNvPr id="21" name="TextBox 20"/>
          <p:cNvSpPr txBox="1"/>
          <p:nvPr/>
        </p:nvSpPr>
        <p:spPr>
          <a:xfrm>
            <a:off x="5147628" y="1845310"/>
            <a:ext cx="2857500" cy="521970"/>
          </a:xfrm>
          <a:prstGeom prst="rect">
            <a:avLst/>
          </a:prstGeom>
          <a:solidFill>
            <a:srgbClr val="FFCCFF"/>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c=getchar(); </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pic>
        <p:nvPicPr>
          <p:cNvPr id="81932" name="图片 11"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8">
                                            <p:txEl>
                                              <p:charRg st="15" end="56"/>
                                            </p:txEl>
                                          </p:spTgt>
                                        </p:tgtEl>
                                        <p:attrNameLst>
                                          <p:attrName>style.visibility</p:attrName>
                                        </p:attrNameLst>
                                      </p:cBhvr>
                                      <p:to>
                                        <p:strVal val="visible"/>
                                      </p:to>
                                    </p:set>
                                    <p:animEffect transition="in" filter="blinds(horizontal)">
                                      <p:cBhvr>
                                        <p:cTn id="7" dur="500"/>
                                        <p:tgtEl>
                                          <p:spTgt spid="80898">
                                            <p:txEl>
                                              <p:charRg st="15"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0898">
                                            <p:txEl>
                                              <p:charRg st="56" end="203"/>
                                            </p:txEl>
                                          </p:spTgt>
                                        </p:tgtEl>
                                        <p:attrNameLst>
                                          <p:attrName>style.visibility</p:attrName>
                                        </p:attrNameLst>
                                      </p:cBhvr>
                                      <p:to>
                                        <p:strVal val="visible"/>
                                      </p:to>
                                    </p:set>
                                    <p:animEffect transition="in" filter="blinds(horizontal)">
                                      <p:cBhvr>
                                        <p:cTn id="12" dur="500"/>
                                        <p:tgtEl>
                                          <p:spTgt spid="80898">
                                            <p:txEl>
                                              <p:charRg st="56" end="20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slide(fromLeft)">
                                      <p:cBhvr>
                                        <p:cTn id="17" dur="500"/>
                                        <p:tgtEl>
                                          <p:spTgt spid="20"/>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linds(horizontal)">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
          <p:cNvSpPr>
            <a:spLocks noGrp="1"/>
          </p:cNvSpPr>
          <p:nvPr>
            <p:ph idx="1"/>
          </p:nvPr>
        </p:nvSpPr>
        <p:spPr>
          <a:xfrm>
            <a:off x="309880" y="621030"/>
            <a:ext cx="8472170" cy="6000750"/>
          </a:xfrm>
        </p:spPr>
        <p:txBody>
          <a:bodyPr vert="horz" wrap="square" lIns="91440" tIns="45720" rIns="91440" bIns="45720" anchor="t" anchorCtr="0"/>
          <a:p>
            <a:r>
              <a:rPr kumimoji="1" lang="zh-CN" altLang="zh-CN" spc="100" dirty="0">
                <a:solidFill>
                  <a:schemeClr val="tx1"/>
                </a:solidFill>
                <a:uFillTx/>
                <a:cs typeface="+mn-cs"/>
              </a:rPr>
              <a:t>解题思路：问题的关键有两个：</a:t>
            </a:r>
            <a:endParaRPr kumimoji="1" lang="zh-CN" altLang="zh-CN" spc="100" dirty="0">
              <a:solidFill>
                <a:schemeClr val="tx1"/>
              </a:solidFill>
              <a:uFillTx/>
              <a:cs typeface="+mn-cs"/>
            </a:endParaRPr>
          </a:p>
          <a:p>
            <a:pPr lvl="1">
              <a:buFont typeface="Wingdings" panose="05000000000000000000" pitchFamily="2" charset="2"/>
              <a:buNone/>
            </a:pPr>
            <a:r>
              <a:rPr kumimoji="1" lang="en-US" altLang="zh-CN" spc="100" dirty="0">
                <a:solidFill>
                  <a:schemeClr val="tx1"/>
                </a:solidFill>
                <a:uFillTx/>
              </a:rPr>
              <a:t> (1)</a:t>
            </a:r>
            <a:r>
              <a:rPr kumimoji="1" lang="en-US" altLang="zh-CN" spc="100" dirty="0">
                <a:solidFill>
                  <a:srgbClr val="235A67"/>
                </a:solidFill>
                <a:uFillTx/>
              </a:rPr>
              <a:t> </a:t>
            </a:r>
            <a:r>
              <a:rPr kumimoji="1" lang="zh-CN" altLang="zh-CN" spc="100" dirty="0">
                <a:solidFill>
                  <a:srgbClr val="235A67"/>
                </a:solidFill>
                <a:uFillTx/>
              </a:rPr>
              <a:t>决定哪些字符不需要改变，哪些字符需要改变，如果需要改变，应改为哪个字符</a:t>
            </a:r>
            <a:endParaRPr kumimoji="1" lang="en-US" altLang="zh-CN" spc="100" dirty="0">
              <a:solidFill>
                <a:srgbClr val="235A67"/>
              </a:solidFill>
              <a:uFillTx/>
            </a:endParaRPr>
          </a:p>
          <a:p>
            <a:pPr lvl="1" algn="just"/>
            <a:r>
              <a:rPr kumimoji="1" lang="zh-CN" altLang="zh-CN" spc="100" dirty="0">
                <a:solidFill>
                  <a:schemeClr val="tx1"/>
                </a:solidFill>
                <a:uFillTx/>
              </a:rPr>
              <a:t>处理的方法是：输入一个字符给字符变量</a:t>
            </a:r>
            <a:r>
              <a:rPr kumimoji="1" lang="en-US" altLang="zh-CN" spc="100" dirty="0">
                <a:solidFill>
                  <a:schemeClr val="tx1"/>
                </a:solidFill>
                <a:uFillTx/>
              </a:rPr>
              <a:t>c</a:t>
            </a:r>
            <a:r>
              <a:rPr kumimoji="1" lang="zh-CN" altLang="zh-CN" spc="100" dirty="0">
                <a:solidFill>
                  <a:schemeClr val="tx1"/>
                </a:solidFill>
                <a:uFillTx/>
              </a:rPr>
              <a:t>，</a:t>
            </a:r>
            <a:r>
              <a:rPr kumimoji="1" lang="zh-CN" altLang="zh-CN" spc="100" dirty="0">
                <a:solidFill>
                  <a:srgbClr val="0000CC"/>
                </a:solidFill>
                <a:uFillTx/>
              </a:rPr>
              <a:t>先判定它是否字母</a:t>
            </a:r>
            <a:r>
              <a:rPr kumimoji="1" lang="en-US" altLang="zh-CN" spc="100" dirty="0">
                <a:solidFill>
                  <a:srgbClr val="0000CC"/>
                </a:solidFill>
                <a:uFillTx/>
              </a:rPr>
              <a:t>(</a:t>
            </a:r>
            <a:r>
              <a:rPr kumimoji="1" lang="zh-CN" altLang="zh-CN" spc="100" dirty="0">
                <a:solidFill>
                  <a:srgbClr val="0000CC"/>
                </a:solidFill>
                <a:uFillTx/>
              </a:rPr>
              <a:t>包括大小写</a:t>
            </a:r>
            <a:r>
              <a:rPr kumimoji="1" lang="en-US" altLang="zh-CN" spc="100" dirty="0">
                <a:solidFill>
                  <a:srgbClr val="0000CC"/>
                </a:solidFill>
                <a:uFillTx/>
              </a:rPr>
              <a:t>)</a:t>
            </a:r>
            <a:r>
              <a:rPr kumimoji="1" lang="zh-CN" altLang="zh-CN" spc="100" dirty="0">
                <a:solidFill>
                  <a:schemeClr val="tx1"/>
                </a:solidFill>
                <a:uFillTx/>
              </a:rPr>
              <a:t>，若不是字母，不改变</a:t>
            </a:r>
            <a:r>
              <a:rPr kumimoji="1" lang="en-US" altLang="zh-CN" spc="100" dirty="0">
                <a:solidFill>
                  <a:schemeClr val="tx1"/>
                </a:solidFill>
                <a:uFillTx/>
              </a:rPr>
              <a:t>c</a:t>
            </a:r>
            <a:r>
              <a:rPr kumimoji="1" lang="zh-CN" altLang="zh-CN" spc="100" dirty="0">
                <a:solidFill>
                  <a:schemeClr val="tx1"/>
                </a:solidFill>
                <a:uFillTx/>
              </a:rPr>
              <a:t>的值；若是字母，则还要检查它是否</a:t>
            </a:r>
            <a:r>
              <a:rPr kumimoji="1" lang="en-US" altLang="zh-CN" spc="100" dirty="0">
                <a:solidFill>
                  <a:schemeClr val="tx1"/>
                </a:solidFill>
                <a:uFillTx/>
              </a:rPr>
              <a:t>’W’</a:t>
            </a:r>
            <a:r>
              <a:rPr kumimoji="1" lang="zh-CN" altLang="zh-CN" spc="100" dirty="0">
                <a:solidFill>
                  <a:schemeClr val="tx1"/>
                </a:solidFill>
                <a:uFillTx/>
              </a:rPr>
              <a:t>到</a:t>
            </a:r>
            <a:r>
              <a:rPr kumimoji="1" lang="en-US" altLang="zh-CN" spc="100" dirty="0">
                <a:solidFill>
                  <a:schemeClr val="tx1"/>
                </a:solidFill>
                <a:uFillTx/>
              </a:rPr>
              <a:t>’Z’</a:t>
            </a:r>
            <a:r>
              <a:rPr kumimoji="1" lang="zh-CN" altLang="zh-CN" spc="100" dirty="0">
                <a:solidFill>
                  <a:schemeClr val="tx1"/>
                </a:solidFill>
                <a:uFillTx/>
              </a:rPr>
              <a:t>的范围内</a:t>
            </a:r>
            <a:r>
              <a:rPr kumimoji="1" lang="en-US" altLang="zh-CN" spc="100" dirty="0">
                <a:solidFill>
                  <a:schemeClr val="tx1"/>
                </a:solidFill>
                <a:uFillTx/>
              </a:rPr>
              <a:t>(</a:t>
            </a:r>
            <a:r>
              <a:rPr kumimoji="1" lang="zh-CN" altLang="zh-CN" spc="100" dirty="0">
                <a:solidFill>
                  <a:schemeClr val="tx1"/>
                </a:solidFill>
                <a:uFillTx/>
              </a:rPr>
              <a:t>包括大小写字母</a:t>
            </a:r>
            <a:r>
              <a:rPr kumimoji="1" lang="en-US" altLang="zh-CN" spc="100" dirty="0">
                <a:solidFill>
                  <a:schemeClr val="tx1"/>
                </a:solidFill>
                <a:uFillTx/>
              </a:rPr>
              <a:t>)</a:t>
            </a:r>
            <a:r>
              <a:rPr kumimoji="1" lang="zh-CN" altLang="zh-CN" spc="100" dirty="0">
                <a:solidFill>
                  <a:schemeClr val="tx1"/>
                </a:solidFill>
                <a:uFillTx/>
              </a:rPr>
              <a:t>。如不在此范围内，则使变量</a:t>
            </a:r>
            <a:r>
              <a:rPr kumimoji="1" lang="en-US" altLang="zh-CN" spc="100" dirty="0">
                <a:solidFill>
                  <a:schemeClr val="tx1"/>
                </a:solidFill>
                <a:uFillTx/>
              </a:rPr>
              <a:t>c</a:t>
            </a:r>
            <a:r>
              <a:rPr kumimoji="1" lang="zh-CN" altLang="zh-CN" spc="100" dirty="0">
                <a:solidFill>
                  <a:schemeClr val="tx1"/>
                </a:solidFill>
                <a:uFillTx/>
              </a:rPr>
              <a:t>的值改变为其后第</a:t>
            </a:r>
            <a:r>
              <a:rPr kumimoji="1" lang="en-US" altLang="zh-CN" spc="100" dirty="0">
                <a:solidFill>
                  <a:schemeClr val="tx1"/>
                </a:solidFill>
                <a:uFillTx/>
              </a:rPr>
              <a:t>4</a:t>
            </a:r>
            <a:r>
              <a:rPr kumimoji="1" lang="zh-CN" altLang="zh-CN" spc="100" dirty="0">
                <a:solidFill>
                  <a:schemeClr val="tx1"/>
                </a:solidFill>
                <a:uFillTx/>
              </a:rPr>
              <a:t>个字母。如果在</a:t>
            </a:r>
            <a:r>
              <a:rPr kumimoji="1" lang="en-US" altLang="zh-CN" spc="100" dirty="0">
                <a:solidFill>
                  <a:schemeClr val="tx1"/>
                </a:solidFill>
                <a:uFillTx/>
              </a:rPr>
              <a:t>’W’</a:t>
            </a:r>
            <a:r>
              <a:rPr kumimoji="1" lang="zh-CN" altLang="zh-CN" spc="100" dirty="0">
                <a:solidFill>
                  <a:schemeClr val="tx1"/>
                </a:solidFill>
                <a:uFillTx/>
              </a:rPr>
              <a:t>到</a:t>
            </a:r>
            <a:r>
              <a:rPr kumimoji="1" lang="en-US" altLang="zh-CN" spc="100" dirty="0">
                <a:solidFill>
                  <a:schemeClr val="tx1"/>
                </a:solidFill>
                <a:uFillTx/>
              </a:rPr>
              <a:t>’Z’</a:t>
            </a:r>
            <a:r>
              <a:rPr kumimoji="1" lang="zh-CN" altLang="zh-CN" spc="100" dirty="0">
                <a:solidFill>
                  <a:schemeClr val="tx1"/>
                </a:solidFill>
                <a:uFillTx/>
              </a:rPr>
              <a:t>的范围内，则应将它转换为</a:t>
            </a:r>
            <a:r>
              <a:rPr kumimoji="1" lang="en-US" altLang="zh-CN" spc="100" dirty="0">
                <a:solidFill>
                  <a:schemeClr val="tx1"/>
                </a:solidFill>
                <a:uFillTx/>
              </a:rPr>
              <a:t>A</a:t>
            </a:r>
            <a:r>
              <a:rPr kumimoji="1" lang="zh-CN" altLang="zh-CN" spc="100" dirty="0">
                <a:solidFill>
                  <a:schemeClr val="tx1"/>
                </a:solidFill>
                <a:uFillTx/>
              </a:rPr>
              <a:t>～</a:t>
            </a:r>
            <a:r>
              <a:rPr kumimoji="1" lang="en-US" altLang="zh-CN" spc="100" dirty="0">
                <a:solidFill>
                  <a:schemeClr val="tx1"/>
                </a:solidFill>
                <a:uFillTx/>
              </a:rPr>
              <a:t>D(</a:t>
            </a:r>
            <a:r>
              <a:rPr kumimoji="1" lang="zh-CN" altLang="zh-CN" spc="100" dirty="0">
                <a:solidFill>
                  <a:schemeClr val="tx1"/>
                </a:solidFill>
                <a:uFillTx/>
              </a:rPr>
              <a:t>或</a:t>
            </a:r>
            <a:r>
              <a:rPr kumimoji="1" lang="en-US" altLang="zh-CN" spc="100" dirty="0">
                <a:solidFill>
                  <a:schemeClr val="tx1"/>
                </a:solidFill>
                <a:uFillTx/>
              </a:rPr>
              <a:t>a</a:t>
            </a:r>
            <a:r>
              <a:rPr kumimoji="1" lang="zh-CN" altLang="zh-CN" spc="100" dirty="0">
                <a:solidFill>
                  <a:schemeClr val="tx1"/>
                </a:solidFill>
                <a:uFillTx/>
              </a:rPr>
              <a:t>～</a:t>
            </a:r>
            <a:r>
              <a:rPr kumimoji="1" lang="en-US" altLang="zh-CN" spc="100" dirty="0">
                <a:solidFill>
                  <a:schemeClr val="tx1"/>
                </a:solidFill>
                <a:uFillTx/>
              </a:rPr>
              <a:t>d)</a:t>
            </a:r>
            <a:r>
              <a:rPr kumimoji="1" lang="zh-CN" altLang="zh-CN" spc="100" dirty="0">
                <a:solidFill>
                  <a:schemeClr val="tx1"/>
                </a:solidFill>
                <a:uFillTx/>
              </a:rPr>
              <a:t>之一的字母。</a:t>
            </a:r>
            <a:endParaRPr kumimoji="1" lang="zh-CN" altLang="zh-CN" spc="100" dirty="0">
              <a:solidFill>
                <a:schemeClr val="tx1"/>
              </a:solidFill>
              <a:uFillTx/>
            </a:endParaRPr>
          </a:p>
        </p:txBody>
      </p:sp>
      <p:sp>
        <p:nvSpPr>
          <p:cNvPr id="82947"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2948"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294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2950"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2951"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2952"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295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20" name="直接连接符 19"/>
          <p:cNvCxnSpPr/>
          <p:nvPr/>
        </p:nvCxnSpPr>
        <p:spPr>
          <a:xfrm>
            <a:off x="1145223" y="3428683"/>
            <a:ext cx="5143500" cy="0"/>
          </a:xfrm>
          <a:prstGeom prst="line">
            <a:avLst/>
          </a:prstGeom>
          <a:ln w="38100" cap="flat" cmpd="sng">
            <a:solidFill>
              <a:srgbClr val="FF0000"/>
            </a:solidFill>
            <a:prstDash val="solid"/>
            <a:miter/>
            <a:headEnd type="none" w="med" len="med"/>
            <a:tailEnd type="none" w="med" len="med"/>
          </a:ln>
        </p:spPr>
      </p:cxnSp>
      <p:sp>
        <p:nvSpPr>
          <p:cNvPr id="21" name="TextBox 20"/>
          <p:cNvSpPr txBox="1"/>
          <p:nvPr/>
        </p:nvSpPr>
        <p:spPr>
          <a:xfrm>
            <a:off x="423863" y="2348865"/>
            <a:ext cx="8358187" cy="521970"/>
          </a:xfrm>
          <a:prstGeom prst="rect">
            <a:avLst/>
          </a:prstGeom>
          <a:solidFill>
            <a:srgbClr val="FFCCFF"/>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if((c&gt;='a' &amp;&amp; c&lt;='z') || (c&gt;='A' &amp;&amp; c&lt;='Z')) </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pic>
        <p:nvPicPr>
          <p:cNvPr id="82956" name="图片 11"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3"/>
          <p:cNvSpPr>
            <a:spLocks noGrp="1"/>
          </p:cNvSpPr>
          <p:nvPr>
            <p:ph idx="1"/>
          </p:nvPr>
        </p:nvSpPr>
        <p:spPr>
          <a:xfrm>
            <a:off x="309880" y="621030"/>
            <a:ext cx="8343265" cy="6000750"/>
          </a:xfrm>
        </p:spPr>
        <p:txBody>
          <a:bodyPr vert="horz" wrap="square" lIns="91440" tIns="45720" rIns="91440" bIns="45720" anchor="t" anchorCtr="0"/>
          <a:p>
            <a:r>
              <a:rPr kumimoji="1" lang="zh-CN" altLang="zh-CN" spc="100" dirty="0">
                <a:cs typeface="+mn-cs"/>
              </a:rPr>
              <a:t>解题思路：问题的关键有两个：</a:t>
            </a:r>
            <a:endParaRPr kumimoji="1" lang="zh-CN" altLang="zh-CN" spc="100" dirty="0">
              <a:cs typeface="+mn-cs"/>
            </a:endParaRPr>
          </a:p>
          <a:p>
            <a:pPr lvl="1">
              <a:buFont typeface="Wingdings" panose="05000000000000000000" pitchFamily="2" charset="2"/>
              <a:buNone/>
            </a:pPr>
            <a:r>
              <a:rPr kumimoji="1" lang="en-US" altLang="zh-CN" spc="100" dirty="0"/>
              <a:t> (1) </a:t>
            </a:r>
            <a:r>
              <a:rPr kumimoji="1" lang="zh-CN" altLang="zh-CN" spc="100" dirty="0">
                <a:solidFill>
                  <a:srgbClr val="235A67"/>
                </a:solidFill>
              </a:rPr>
              <a:t>决定哪些字符不需要改变，哪些字符需要改变，如果需要改变，应改为哪个字符</a:t>
            </a:r>
            <a:endParaRPr kumimoji="1" lang="en-US" altLang="zh-CN" spc="100" dirty="0"/>
          </a:p>
          <a:p>
            <a:pPr lvl="1" algn="just"/>
            <a:r>
              <a:rPr kumimoji="1" lang="zh-CN" altLang="zh-CN" spc="100" dirty="0"/>
              <a:t>处理的方法是：输入一个字符给字符变量</a:t>
            </a:r>
            <a:r>
              <a:rPr kumimoji="1" lang="en-US" altLang="zh-CN" spc="100" dirty="0"/>
              <a:t>c</a:t>
            </a:r>
            <a:r>
              <a:rPr kumimoji="1" lang="zh-CN" altLang="zh-CN" spc="100" dirty="0"/>
              <a:t>，先判定它是否字母</a:t>
            </a:r>
            <a:r>
              <a:rPr kumimoji="1" lang="en-US" altLang="zh-CN" spc="100" dirty="0"/>
              <a:t>(</a:t>
            </a:r>
            <a:r>
              <a:rPr kumimoji="1" lang="zh-CN" altLang="zh-CN" spc="100" dirty="0"/>
              <a:t>包括大小写</a:t>
            </a:r>
            <a:r>
              <a:rPr kumimoji="1" lang="en-US" altLang="zh-CN" spc="100" dirty="0"/>
              <a:t>)</a:t>
            </a:r>
            <a:r>
              <a:rPr kumimoji="1" lang="zh-CN" altLang="zh-CN" spc="100" dirty="0"/>
              <a:t>，若不是字母，不改变</a:t>
            </a:r>
            <a:r>
              <a:rPr kumimoji="1" lang="en-US" altLang="zh-CN" spc="100" dirty="0"/>
              <a:t>c</a:t>
            </a:r>
            <a:r>
              <a:rPr kumimoji="1" lang="zh-CN" altLang="zh-CN" spc="100" dirty="0"/>
              <a:t>的值；若是字母，则还要检查它是否</a:t>
            </a:r>
            <a:r>
              <a:rPr kumimoji="1" lang="en-US" altLang="zh-CN" spc="100" dirty="0">
                <a:solidFill>
                  <a:srgbClr val="0000CC"/>
                </a:solidFill>
              </a:rPr>
              <a:t>’W’</a:t>
            </a:r>
            <a:r>
              <a:rPr kumimoji="1" lang="zh-CN" altLang="zh-CN" spc="100" dirty="0">
                <a:solidFill>
                  <a:srgbClr val="0000CC"/>
                </a:solidFill>
              </a:rPr>
              <a:t>到</a:t>
            </a:r>
            <a:r>
              <a:rPr kumimoji="1" lang="en-US" altLang="zh-CN" spc="100" dirty="0">
                <a:solidFill>
                  <a:srgbClr val="0000CC"/>
                </a:solidFill>
              </a:rPr>
              <a:t>’Z’</a:t>
            </a:r>
            <a:r>
              <a:rPr kumimoji="1" lang="zh-CN" altLang="zh-CN" spc="100" dirty="0">
                <a:solidFill>
                  <a:srgbClr val="0000CC"/>
                </a:solidFill>
              </a:rPr>
              <a:t>的范围内</a:t>
            </a:r>
            <a:r>
              <a:rPr kumimoji="1" lang="en-US" altLang="zh-CN" spc="100" dirty="0">
                <a:solidFill>
                  <a:srgbClr val="0000CC"/>
                </a:solidFill>
              </a:rPr>
              <a:t>(</a:t>
            </a:r>
            <a:r>
              <a:rPr kumimoji="1" lang="zh-CN" altLang="zh-CN" spc="100" dirty="0">
                <a:solidFill>
                  <a:srgbClr val="0000CC"/>
                </a:solidFill>
              </a:rPr>
              <a:t>包括大小写字母</a:t>
            </a:r>
            <a:r>
              <a:rPr kumimoji="1" lang="en-US" altLang="zh-CN" spc="100" dirty="0">
                <a:solidFill>
                  <a:srgbClr val="0000CC"/>
                </a:solidFill>
              </a:rPr>
              <a:t>)</a:t>
            </a:r>
            <a:r>
              <a:rPr kumimoji="1" lang="zh-CN" altLang="zh-CN" spc="100" dirty="0"/>
              <a:t>。如不在此范围内，则使变量</a:t>
            </a:r>
            <a:r>
              <a:rPr kumimoji="1" lang="en-US" altLang="zh-CN" spc="100" dirty="0"/>
              <a:t>c</a:t>
            </a:r>
            <a:r>
              <a:rPr kumimoji="1" lang="zh-CN" altLang="zh-CN" spc="100" dirty="0"/>
              <a:t>的值改变为其后第</a:t>
            </a:r>
            <a:r>
              <a:rPr kumimoji="1" lang="en-US" altLang="zh-CN" spc="100" dirty="0"/>
              <a:t>4</a:t>
            </a:r>
            <a:r>
              <a:rPr kumimoji="1" lang="zh-CN" altLang="zh-CN" spc="100" dirty="0"/>
              <a:t>个字母。如果在</a:t>
            </a:r>
            <a:r>
              <a:rPr kumimoji="1" lang="en-US" altLang="zh-CN" spc="100" dirty="0"/>
              <a:t>’W’</a:t>
            </a:r>
            <a:r>
              <a:rPr kumimoji="1" lang="zh-CN" altLang="zh-CN" spc="100" dirty="0"/>
              <a:t>到</a:t>
            </a:r>
            <a:r>
              <a:rPr kumimoji="1" lang="en-US" altLang="zh-CN" spc="100" dirty="0"/>
              <a:t>’Z’</a:t>
            </a:r>
            <a:r>
              <a:rPr kumimoji="1" lang="zh-CN" altLang="zh-CN" spc="100" dirty="0"/>
              <a:t>的范围内，则应将它转换为</a:t>
            </a:r>
            <a:r>
              <a:rPr kumimoji="1" lang="en-US" altLang="zh-CN" spc="100" dirty="0"/>
              <a:t>A</a:t>
            </a:r>
            <a:r>
              <a:rPr kumimoji="1" lang="zh-CN" altLang="zh-CN" spc="100" dirty="0"/>
              <a:t>～</a:t>
            </a:r>
            <a:r>
              <a:rPr kumimoji="1" lang="en-US" altLang="zh-CN" spc="100" dirty="0"/>
              <a:t>D(</a:t>
            </a:r>
            <a:r>
              <a:rPr kumimoji="1" lang="zh-CN" altLang="zh-CN" spc="100" dirty="0"/>
              <a:t>或</a:t>
            </a:r>
            <a:r>
              <a:rPr kumimoji="1" lang="en-US" altLang="zh-CN" spc="100" dirty="0"/>
              <a:t>a</a:t>
            </a:r>
            <a:r>
              <a:rPr kumimoji="1" lang="zh-CN" altLang="zh-CN" spc="100" dirty="0"/>
              <a:t>～</a:t>
            </a:r>
            <a:r>
              <a:rPr kumimoji="1" lang="en-US" altLang="zh-CN" spc="100" dirty="0"/>
              <a:t>d)</a:t>
            </a:r>
            <a:r>
              <a:rPr kumimoji="1" lang="zh-CN" altLang="zh-CN" spc="100" dirty="0"/>
              <a:t>之一的字母。</a:t>
            </a:r>
            <a:endParaRPr kumimoji="1" lang="en-US" altLang="zh-CN" spc="100" dirty="0"/>
          </a:p>
        </p:txBody>
      </p:sp>
      <p:sp>
        <p:nvSpPr>
          <p:cNvPr id="83971"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3972"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3973"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3974"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3975"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3976"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397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20" name="直接连接符 19"/>
          <p:cNvCxnSpPr/>
          <p:nvPr/>
        </p:nvCxnSpPr>
        <p:spPr>
          <a:xfrm>
            <a:off x="1691640" y="4437063"/>
            <a:ext cx="5472430" cy="6985"/>
          </a:xfrm>
          <a:prstGeom prst="line">
            <a:avLst/>
          </a:prstGeom>
          <a:ln w="38100" cap="flat" cmpd="sng">
            <a:solidFill>
              <a:srgbClr val="FF0000"/>
            </a:solidFill>
            <a:prstDash val="solid"/>
            <a:miter/>
            <a:headEnd type="none" w="med" len="med"/>
            <a:tailEnd type="none" w="med" len="med"/>
          </a:ln>
        </p:spPr>
      </p:cxnSp>
      <p:sp>
        <p:nvSpPr>
          <p:cNvPr id="21" name="TextBox 20"/>
          <p:cNvSpPr txBox="1"/>
          <p:nvPr/>
        </p:nvSpPr>
        <p:spPr>
          <a:xfrm>
            <a:off x="642938" y="2286000"/>
            <a:ext cx="8001000" cy="1383665"/>
          </a:xfrm>
          <a:prstGeom prst="rect">
            <a:avLst/>
          </a:prstGeom>
          <a:solidFill>
            <a:srgbClr val="FFCCFF"/>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if(c&gt;='W' &amp;&amp; c&lt;='Z' || c&gt;='w' &amp;&amp; c&lt;='z')   </a:t>
            </a:r>
            <a:endParaRPr lang="en-US" altLang="zh-CN" sz="2800" dirty="0">
              <a:solidFill>
                <a:srgbClr val="4545AB"/>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     c=c-22;</a:t>
            </a:r>
            <a:endParaRPr lang="en-US" altLang="zh-CN" sz="2800" dirty="0">
              <a:solidFill>
                <a:srgbClr val="4545AB"/>
              </a:solidFill>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dirty="0">
                <a:solidFill>
                  <a:srgbClr val="4545AB"/>
                </a:solidFill>
                <a:latin typeface="Times New Roman" panose="02020603050405020304" pitchFamily="18" charset="0"/>
                <a:ea typeface="微软雅黑" panose="020B0503020204020204" pitchFamily="34" charset="-122"/>
              </a:rPr>
              <a:t>else  c=c+4;</a:t>
            </a:r>
            <a:endParaRPr lang="en-US" altLang="zh-CN" sz="2800" dirty="0">
              <a:solidFill>
                <a:srgbClr val="4545AB"/>
              </a:solidFill>
              <a:latin typeface="Times New Roman" panose="02020603050405020304" pitchFamily="18" charset="0"/>
              <a:ea typeface="微软雅黑" panose="020B0503020204020204" pitchFamily="34" charset="-122"/>
            </a:endParaRPr>
          </a:p>
        </p:txBody>
      </p:sp>
      <p:pic>
        <p:nvPicPr>
          <p:cNvPr id="83980" name="图片 11"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3"/>
          <p:cNvSpPr>
            <a:spLocks noGrp="1"/>
          </p:cNvSpPr>
          <p:nvPr>
            <p:ph idx="1"/>
          </p:nvPr>
        </p:nvSpPr>
        <p:spPr>
          <a:xfrm>
            <a:off x="323215" y="621030"/>
            <a:ext cx="8467725" cy="4500245"/>
          </a:xfrm>
        </p:spPr>
        <p:txBody>
          <a:bodyPr vert="horz" wrap="square" lIns="91440" tIns="45720" rIns="91440" bIns="45720" anchor="t" anchorCtr="0"/>
          <a:p>
            <a:pPr>
              <a:lnSpc>
                <a:spcPct val="140000"/>
              </a:lnSpc>
            </a:pPr>
            <a:r>
              <a:rPr kumimoji="1" lang="zh-CN" altLang="zh-CN" spc="100" dirty="0">
                <a:solidFill>
                  <a:srgbClr val="235A67"/>
                </a:solidFill>
                <a:uFillTx/>
                <a:cs typeface="+mn-cs"/>
              </a:rPr>
              <a:t>解题思路：问题的关键有两个：</a:t>
            </a:r>
            <a:endParaRPr kumimoji="1" lang="zh-CN" altLang="zh-CN" spc="100" dirty="0">
              <a:solidFill>
                <a:schemeClr val="tx1"/>
              </a:solidFill>
              <a:uFillTx/>
              <a:cs typeface="+mn-cs"/>
            </a:endParaRPr>
          </a:p>
          <a:p>
            <a:pPr lvl="1">
              <a:lnSpc>
                <a:spcPct val="140000"/>
              </a:lnSpc>
              <a:buFont typeface="Wingdings" panose="05000000000000000000" pitchFamily="2" charset="2"/>
              <a:buNone/>
            </a:pPr>
            <a:r>
              <a:rPr kumimoji="1" lang="en-US" altLang="zh-CN" spc="100" dirty="0">
                <a:solidFill>
                  <a:srgbClr val="235A67"/>
                </a:solidFill>
                <a:uFillTx/>
              </a:rPr>
              <a:t> (2) </a:t>
            </a:r>
            <a:r>
              <a:rPr kumimoji="1" lang="zh-CN" altLang="zh-CN" spc="100" dirty="0">
                <a:solidFill>
                  <a:srgbClr val="235A67"/>
                </a:solidFill>
                <a:uFillTx/>
              </a:rPr>
              <a:t>怎样使</a:t>
            </a:r>
            <a:r>
              <a:rPr kumimoji="1" lang="en-US" altLang="zh-CN" spc="100" dirty="0">
                <a:solidFill>
                  <a:srgbClr val="235A67"/>
                </a:solidFill>
                <a:uFillTx/>
              </a:rPr>
              <a:t>c</a:t>
            </a:r>
            <a:r>
              <a:rPr kumimoji="1" lang="zh-CN" altLang="zh-CN" spc="100" dirty="0">
                <a:solidFill>
                  <a:srgbClr val="235A67"/>
                </a:solidFill>
                <a:uFillTx/>
              </a:rPr>
              <a:t>改变为所指定的字母？</a:t>
            </a:r>
            <a:endParaRPr kumimoji="1" lang="en-US" altLang="zh-CN" spc="100" dirty="0">
              <a:solidFill>
                <a:schemeClr val="tx1"/>
              </a:solidFill>
              <a:uFillTx/>
            </a:endParaRPr>
          </a:p>
          <a:p>
            <a:pPr lvl="1">
              <a:lnSpc>
                <a:spcPct val="140000"/>
              </a:lnSpc>
            </a:pPr>
            <a:r>
              <a:rPr kumimoji="1" lang="zh-CN" altLang="zh-CN" spc="100" dirty="0">
                <a:solidFill>
                  <a:schemeClr val="tx1"/>
                </a:solidFill>
                <a:uFillTx/>
              </a:rPr>
              <a:t>办法是改变它的</a:t>
            </a:r>
            <a:r>
              <a:rPr kumimoji="1" lang="en-US" altLang="zh-CN" spc="100" dirty="0">
                <a:solidFill>
                  <a:schemeClr val="tx1"/>
                </a:solidFill>
                <a:uFillTx/>
              </a:rPr>
              <a:t>ASCII</a:t>
            </a:r>
            <a:r>
              <a:rPr kumimoji="1" lang="zh-CN" altLang="zh-CN" spc="100" dirty="0">
                <a:solidFill>
                  <a:schemeClr val="tx1"/>
                </a:solidFill>
                <a:uFillTx/>
              </a:rPr>
              <a:t>值</a:t>
            </a:r>
            <a:endParaRPr kumimoji="1" lang="en-US" altLang="zh-CN" spc="100" dirty="0">
              <a:solidFill>
                <a:schemeClr val="tx1"/>
              </a:solidFill>
              <a:uFillTx/>
            </a:endParaRPr>
          </a:p>
          <a:p>
            <a:pPr lvl="1">
              <a:lnSpc>
                <a:spcPct val="140000"/>
              </a:lnSpc>
            </a:pPr>
            <a:r>
              <a:rPr kumimoji="1" lang="zh-CN" altLang="zh-CN" spc="100" dirty="0">
                <a:solidFill>
                  <a:schemeClr val="tx1"/>
                </a:solidFill>
                <a:uFillTx/>
              </a:rPr>
              <a:t>例如字符变量</a:t>
            </a:r>
            <a:r>
              <a:rPr kumimoji="1" lang="en-US" altLang="zh-CN" spc="100" dirty="0">
                <a:solidFill>
                  <a:schemeClr val="tx1"/>
                </a:solidFill>
                <a:uFillTx/>
              </a:rPr>
              <a:t>c</a:t>
            </a:r>
            <a:r>
              <a:rPr kumimoji="1" lang="zh-CN" altLang="zh-CN" spc="100" dirty="0">
                <a:solidFill>
                  <a:schemeClr val="tx1"/>
                </a:solidFill>
                <a:uFillTx/>
              </a:rPr>
              <a:t>的原值是大写字母</a:t>
            </a:r>
            <a:r>
              <a:rPr kumimoji="1" lang="en-US" altLang="zh-CN" spc="100" dirty="0">
                <a:solidFill>
                  <a:schemeClr val="tx1"/>
                </a:solidFill>
                <a:uFillTx/>
              </a:rPr>
              <a:t>’A’</a:t>
            </a:r>
            <a:r>
              <a:rPr kumimoji="1" lang="zh-CN" altLang="zh-CN" spc="100" dirty="0">
                <a:solidFill>
                  <a:schemeClr val="tx1"/>
                </a:solidFill>
                <a:uFillTx/>
              </a:rPr>
              <a:t>，想使</a:t>
            </a:r>
            <a:r>
              <a:rPr kumimoji="1" lang="en-US" altLang="zh-CN" spc="100" dirty="0">
                <a:solidFill>
                  <a:schemeClr val="tx1"/>
                </a:solidFill>
                <a:uFillTx/>
              </a:rPr>
              <a:t>c</a:t>
            </a:r>
            <a:r>
              <a:rPr kumimoji="1" lang="zh-CN" altLang="zh-CN" spc="100" dirty="0">
                <a:solidFill>
                  <a:schemeClr val="tx1"/>
                </a:solidFill>
                <a:uFillTx/>
              </a:rPr>
              <a:t>的值改变为</a:t>
            </a:r>
            <a:r>
              <a:rPr kumimoji="1" lang="en-US" altLang="zh-CN" spc="100" dirty="0">
                <a:solidFill>
                  <a:schemeClr val="tx1"/>
                </a:solidFill>
                <a:uFillTx/>
              </a:rPr>
              <a:t>’E’</a:t>
            </a:r>
            <a:r>
              <a:rPr kumimoji="1" lang="zh-CN" altLang="zh-CN" spc="100" dirty="0">
                <a:solidFill>
                  <a:schemeClr val="tx1"/>
                </a:solidFill>
                <a:uFillTx/>
              </a:rPr>
              <a:t>，只需执行“</a:t>
            </a:r>
            <a:r>
              <a:rPr kumimoji="1" lang="en-US" altLang="zh-CN" spc="100" dirty="0">
                <a:solidFill>
                  <a:schemeClr val="tx1"/>
                </a:solidFill>
                <a:uFillTx/>
              </a:rPr>
              <a:t>c=c+4</a:t>
            </a:r>
            <a:r>
              <a:rPr kumimoji="1" lang="zh-CN" altLang="zh-CN" spc="100" dirty="0">
                <a:solidFill>
                  <a:schemeClr val="tx1"/>
                </a:solidFill>
                <a:uFillTx/>
              </a:rPr>
              <a:t>”即可，因为</a:t>
            </a:r>
            <a:r>
              <a:rPr kumimoji="1" lang="en-US" altLang="zh-CN" spc="100" dirty="0">
                <a:solidFill>
                  <a:schemeClr val="tx1"/>
                </a:solidFill>
                <a:uFillTx/>
              </a:rPr>
              <a:t>’A’</a:t>
            </a:r>
            <a:r>
              <a:rPr kumimoji="1" lang="zh-CN" altLang="zh-CN" spc="100" dirty="0">
                <a:solidFill>
                  <a:schemeClr val="tx1"/>
                </a:solidFill>
                <a:uFillTx/>
              </a:rPr>
              <a:t>的</a:t>
            </a:r>
            <a:r>
              <a:rPr kumimoji="1" lang="en-US" altLang="zh-CN" spc="100" dirty="0">
                <a:solidFill>
                  <a:schemeClr val="tx1"/>
                </a:solidFill>
                <a:uFillTx/>
              </a:rPr>
              <a:t>ASCII</a:t>
            </a:r>
            <a:r>
              <a:rPr kumimoji="1" lang="zh-CN" altLang="zh-CN" spc="100" dirty="0">
                <a:solidFill>
                  <a:schemeClr val="tx1"/>
                </a:solidFill>
                <a:uFillTx/>
              </a:rPr>
              <a:t>值为</a:t>
            </a:r>
            <a:r>
              <a:rPr kumimoji="1" lang="en-US" altLang="zh-CN" spc="100" dirty="0">
                <a:solidFill>
                  <a:schemeClr val="tx1"/>
                </a:solidFill>
                <a:uFillTx/>
              </a:rPr>
              <a:t>65</a:t>
            </a:r>
            <a:r>
              <a:rPr kumimoji="1" lang="zh-CN" altLang="zh-CN" spc="100" dirty="0">
                <a:solidFill>
                  <a:schemeClr val="tx1"/>
                </a:solidFill>
                <a:uFillTx/>
              </a:rPr>
              <a:t>，而</a:t>
            </a:r>
            <a:r>
              <a:rPr kumimoji="1" lang="en-US" altLang="zh-CN" spc="100" dirty="0">
                <a:solidFill>
                  <a:schemeClr val="tx1"/>
                </a:solidFill>
                <a:uFillTx/>
              </a:rPr>
              <a:t>’E’ </a:t>
            </a:r>
            <a:r>
              <a:rPr kumimoji="1" lang="zh-CN" altLang="zh-CN" spc="100" dirty="0">
                <a:solidFill>
                  <a:schemeClr val="tx1"/>
                </a:solidFill>
                <a:uFillTx/>
              </a:rPr>
              <a:t>的</a:t>
            </a:r>
            <a:r>
              <a:rPr kumimoji="1" lang="en-US" altLang="zh-CN" spc="100" dirty="0">
                <a:solidFill>
                  <a:schemeClr val="tx1"/>
                </a:solidFill>
                <a:uFillTx/>
              </a:rPr>
              <a:t>ASCII</a:t>
            </a:r>
            <a:r>
              <a:rPr kumimoji="1" lang="zh-CN" altLang="zh-CN" spc="100" dirty="0">
                <a:solidFill>
                  <a:schemeClr val="tx1"/>
                </a:solidFill>
                <a:uFillTx/>
              </a:rPr>
              <a:t>值为</a:t>
            </a:r>
            <a:r>
              <a:rPr kumimoji="1" lang="en-US" altLang="zh-CN" spc="100" dirty="0">
                <a:solidFill>
                  <a:schemeClr val="tx1"/>
                </a:solidFill>
                <a:uFillTx/>
              </a:rPr>
              <a:t>69</a:t>
            </a:r>
            <a:r>
              <a:rPr kumimoji="1" lang="zh-CN" altLang="zh-CN" spc="100" dirty="0">
                <a:solidFill>
                  <a:schemeClr val="tx1"/>
                </a:solidFill>
                <a:uFillTx/>
              </a:rPr>
              <a:t>，二者相差</a:t>
            </a:r>
            <a:r>
              <a:rPr kumimoji="1" lang="en-US" altLang="zh-CN" spc="100" dirty="0">
                <a:solidFill>
                  <a:schemeClr val="tx1"/>
                </a:solidFill>
                <a:uFillTx/>
              </a:rPr>
              <a:t>4</a:t>
            </a:r>
            <a:endParaRPr kumimoji="1" lang="en-US" altLang="zh-CN" spc="100" dirty="0">
              <a:solidFill>
                <a:schemeClr val="tx1"/>
              </a:solidFill>
              <a:uFillTx/>
            </a:endParaRPr>
          </a:p>
        </p:txBody>
      </p:sp>
      <p:sp>
        <p:nvSpPr>
          <p:cNvPr id="84995"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4996"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4997"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4998"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4999"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5000"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500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85002" name="图片 9"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970">
                                            <p:txEl>
                                              <p:charRg st="35" end="49"/>
                                            </p:txEl>
                                          </p:spTgt>
                                        </p:tgtEl>
                                        <p:attrNameLst>
                                          <p:attrName>style.visibility</p:attrName>
                                        </p:attrNameLst>
                                      </p:cBhvr>
                                      <p:to>
                                        <p:strVal val="visible"/>
                                      </p:to>
                                    </p:set>
                                    <p:animEffect transition="in" filter="blinds(horizontal)">
                                      <p:cBhvr>
                                        <p:cTn id="7" dur="500"/>
                                        <p:tgtEl>
                                          <p:spTgt spid="83970">
                                            <p:txEl>
                                              <p:charRg st="35"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970">
                                            <p:txEl>
                                              <p:charRg st="49" end="132"/>
                                            </p:txEl>
                                          </p:spTgt>
                                        </p:tgtEl>
                                        <p:attrNameLst>
                                          <p:attrName>style.visibility</p:attrName>
                                        </p:attrNameLst>
                                      </p:cBhvr>
                                      <p:to>
                                        <p:strVal val="visible"/>
                                      </p:to>
                                    </p:set>
                                    <p:animEffect transition="in" filter="blinds(horizontal)">
                                      <p:cBhvr>
                                        <p:cTn id="12" dur="500"/>
                                        <p:tgtEl>
                                          <p:spTgt spid="83970">
                                            <p:txEl>
                                              <p:charRg st="49" end="1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3"/>
          <p:cNvSpPr>
            <a:spLocks noGrp="1"/>
          </p:cNvSpPr>
          <p:nvPr>
            <p:ph idx="1"/>
          </p:nvPr>
        </p:nvSpPr>
        <p:spPr>
          <a:xfrm>
            <a:off x="323215" y="548640"/>
            <a:ext cx="8494395" cy="6286500"/>
          </a:xfrm>
        </p:spPr>
        <p:txBody>
          <a:bodyPr vert="horz" wrap="square" lIns="91440" tIns="45720" rIns="91440" bIns="45720" anchor="t" anchorCtr="0"/>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char c;</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c=getchar();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while(c!=‘\n’)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if((c&gt;=‘a’ &amp;&amp; c&lt;=‘z’) || (c&gt;=‘A’ &amp;&amp;c&lt;=‘Z’))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    if(c&gt;='W' &amp;&amp; c&lt;='Z' || c&gt;='w' &amp;&amp;c&lt;='z') </a:t>
            </a:r>
            <a:endParaRPr kumimoji="1" lang="en-US"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c=c-22;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else  c=c+4;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printf("%c",c);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      c=getchar(); </a:t>
            </a:r>
            <a:endParaRPr kumimoji="1" lang="zh-CN" altLang="zh-CN" spc="100" dirty="0">
              <a:solidFill>
                <a:schemeClr val="tx1"/>
              </a:solidFill>
              <a:uFillTx/>
              <a:cs typeface="+mn-cs"/>
            </a:endParaRPr>
          </a:p>
          <a:p>
            <a:pPr latinLnBrk="0">
              <a:lnSpc>
                <a:spcPts val="4000"/>
              </a:lnSpc>
              <a:spcBef>
                <a:spcPts val="0"/>
              </a:spcBef>
              <a:buFont typeface="Wingdings" panose="05000000000000000000" pitchFamily="2" charset="2"/>
              <a:buNone/>
            </a:pPr>
            <a:r>
              <a:rPr kumimoji="1" lang="en-US" altLang="zh-CN" spc="100" dirty="0">
                <a:solidFill>
                  <a:schemeClr val="tx1"/>
                </a:solidFill>
                <a:uFillTx/>
                <a:cs typeface="+mn-cs"/>
              </a:rPr>
              <a:t>}</a:t>
            </a:r>
            <a:endParaRPr kumimoji="1" lang="en-US" altLang="zh-CN" spc="100" dirty="0">
              <a:solidFill>
                <a:schemeClr val="tx1"/>
              </a:solidFill>
              <a:uFillTx/>
              <a:cs typeface="+mn-cs"/>
            </a:endParaRPr>
          </a:p>
        </p:txBody>
      </p:sp>
      <p:sp>
        <p:nvSpPr>
          <p:cNvPr id="86019"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6020"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6021"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6022"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6023"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6024"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602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pic>
        <p:nvPicPr>
          <p:cNvPr id="105474" name="Picture 2" descr="pic5-11-1"/>
          <p:cNvPicPr>
            <a:picLocks noChangeAspect="1"/>
          </p:cNvPicPr>
          <p:nvPr/>
        </p:nvPicPr>
        <p:blipFill>
          <a:blip r:embed="rId1"/>
          <a:stretch>
            <a:fillRect/>
          </a:stretch>
        </p:blipFill>
        <p:spPr>
          <a:xfrm>
            <a:off x="5220018" y="4364990"/>
            <a:ext cx="2509837" cy="1000125"/>
          </a:xfrm>
          <a:prstGeom prst="rect">
            <a:avLst/>
          </a:prstGeom>
          <a:noFill/>
          <a:ln w="9525">
            <a:noFill/>
          </a:ln>
        </p:spPr>
      </p:pic>
      <p:sp>
        <p:nvSpPr>
          <p:cNvPr id="11" name="TextBox 10"/>
          <p:cNvSpPr txBox="1"/>
          <p:nvPr/>
        </p:nvSpPr>
        <p:spPr>
          <a:xfrm>
            <a:off x="5000625" y="785813"/>
            <a:ext cx="2643188" cy="52197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dirty="0">
                <a:solidFill>
                  <a:srgbClr val="4545AB"/>
                </a:solidFill>
                <a:latin typeface="Times New Roman" panose="02020603050405020304" pitchFamily="18" charset="0"/>
                <a:ea typeface="微软雅黑" panose="020B0503020204020204" pitchFamily="34" charset="-122"/>
              </a:rPr>
              <a:t>可以改进程序</a:t>
            </a:r>
            <a:endParaRPr lang="zh-CN" altLang="en-US" sz="2800" dirty="0">
              <a:solidFill>
                <a:srgbClr val="4545AB"/>
              </a:solidFill>
              <a:latin typeface="Times New Roman" panose="02020603050405020304" pitchFamily="18" charset="0"/>
              <a:ea typeface="微软雅黑" panose="020B0503020204020204" pitchFamily="34" charset="-122"/>
            </a:endParaRPr>
          </a:p>
        </p:txBody>
      </p:sp>
      <p:pic>
        <p:nvPicPr>
          <p:cNvPr id="86028" name="图片 11" descr="Untitled.png">
            <a:hlinkClick r:id="rId2" action="ppaction://hlinksldjump"/>
          </p:cNvPr>
          <p:cNvPicPr>
            <a:picLocks noChangeAspect="1"/>
          </p:cNvPicPr>
          <p:nvPr/>
        </p:nvPicPr>
        <p:blipFill>
          <a:blip r:embed="rId3"/>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blinds(horizontal)">
                                      <p:cBhvr>
                                        <p:cTn id="7" dur="500"/>
                                        <p:tgtEl>
                                          <p:spTgt spid="1054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3"/>
          <p:cNvSpPr>
            <a:spLocks noGrp="1"/>
          </p:cNvSpPr>
          <p:nvPr>
            <p:ph idx="1"/>
          </p:nvPr>
        </p:nvSpPr>
        <p:spPr>
          <a:xfrm>
            <a:off x="309563" y="620713"/>
            <a:ext cx="8215312" cy="5357812"/>
          </a:xfrm>
        </p:spPr>
        <p:txBody>
          <a:bodyPr vert="horz" wrap="square" lIns="91440" tIns="45720" rIns="91440" bIns="45720" anchor="t" anchorCtr="0"/>
          <a:p>
            <a:pPr>
              <a:lnSpc>
                <a:spcPct val="120000"/>
              </a:lnSpc>
              <a:buFont typeface="Wingdings" panose="05000000000000000000" pitchFamily="2" charset="2"/>
              <a:buNone/>
            </a:pPr>
            <a:r>
              <a:rPr kumimoji="1" lang="en-US" altLang="zh-CN" spc="100" dirty="0">
                <a:cs typeface="+mn-cs"/>
              </a:rPr>
              <a:t>char c;</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while((</a:t>
            </a:r>
            <a:r>
              <a:rPr kumimoji="1" lang="en-US" altLang="zh-CN" spc="100" dirty="0">
                <a:solidFill>
                  <a:srgbClr val="C00000"/>
                </a:solidFill>
                <a:cs typeface="+mn-cs"/>
              </a:rPr>
              <a:t>c=getchar())</a:t>
            </a:r>
            <a:r>
              <a:rPr kumimoji="1" lang="en-US" altLang="zh-CN" spc="100" dirty="0">
                <a:cs typeface="+mn-cs"/>
              </a:rPr>
              <a:t>!=‘\n’)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    if((c&gt;=‘A’ &amp;&amp; c&lt;=‘Z’) || (c&gt;=‘a’ &amp;&amp;c&lt;=‘z’))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     {    c=c+4;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	            if(c&gt;=‘Z’ &amp;&amp;</a:t>
            </a:r>
            <a:r>
              <a:rPr kumimoji="1" lang="en-US" altLang="zh-CN" spc="100" dirty="0">
                <a:solidFill>
                  <a:srgbClr val="FF0000"/>
                </a:solidFill>
                <a:cs typeface="+mn-cs"/>
              </a:rPr>
              <a:t> </a:t>
            </a:r>
            <a:r>
              <a:rPr kumimoji="1" lang="en-US" altLang="zh-CN" spc="100" dirty="0">
                <a:solidFill>
                  <a:srgbClr val="C00000"/>
                </a:solidFill>
                <a:cs typeface="+mn-cs"/>
              </a:rPr>
              <a:t>c&lt;=‘Z’+4 || c&gt;‘z’</a:t>
            </a:r>
            <a:r>
              <a:rPr kumimoji="1" lang="en-US" altLang="zh-CN" spc="100" dirty="0">
                <a:cs typeface="+mn-cs"/>
              </a:rPr>
              <a:t>)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		         c=c-26;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      printf("%c",c);          </a:t>
            </a:r>
            <a:endParaRPr kumimoji="1" lang="zh-CN" altLang="zh-CN" spc="100" dirty="0">
              <a:cs typeface="+mn-cs"/>
            </a:endParaRPr>
          </a:p>
          <a:p>
            <a:pPr>
              <a:lnSpc>
                <a:spcPct val="120000"/>
              </a:lnSpc>
              <a:buFont typeface="Wingdings" panose="05000000000000000000" pitchFamily="2" charset="2"/>
              <a:buNone/>
            </a:pPr>
            <a:r>
              <a:rPr kumimoji="1" lang="en-US" altLang="zh-CN" spc="100" dirty="0">
                <a:cs typeface="+mn-cs"/>
              </a:rPr>
              <a:t>}</a:t>
            </a:r>
            <a:endParaRPr kumimoji="1" lang="zh-CN" altLang="zh-CN" spc="100" dirty="0">
              <a:cs typeface="+mn-cs"/>
            </a:endParaRPr>
          </a:p>
        </p:txBody>
      </p:sp>
      <p:sp>
        <p:nvSpPr>
          <p:cNvPr id="87043" name="Rectangle 2"/>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7044" name="Rectangle 4"/>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7045"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7046" name="Rectangle 9"/>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7047" name="Rectangle 11"/>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7048" name="Rectangle 13"/>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sp>
        <p:nvSpPr>
          <p:cNvPr id="87049" name="Rectangle 7"/>
          <p:cNvSpPr/>
          <p:nvPr/>
        </p:nvSpPr>
        <p:spPr>
          <a:xfrm>
            <a:off x="0" y="-260985"/>
            <a:ext cx="309880" cy="52197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2800" dirty="0">
              <a:latin typeface="Times New Roman" panose="02020603050405020304" pitchFamily="18" charset="0"/>
              <a:ea typeface="微软雅黑" panose="020B0503020204020204" pitchFamily="34" charset="-122"/>
            </a:endParaRPr>
          </a:p>
        </p:txBody>
      </p:sp>
      <p:cxnSp>
        <p:nvCxnSpPr>
          <p:cNvPr id="12" name="直接连接符 11"/>
          <p:cNvCxnSpPr/>
          <p:nvPr/>
        </p:nvCxnSpPr>
        <p:spPr>
          <a:xfrm>
            <a:off x="4283393" y="3644900"/>
            <a:ext cx="2571750" cy="0"/>
          </a:xfrm>
          <a:prstGeom prst="line">
            <a:avLst/>
          </a:prstGeom>
          <a:ln w="38100" cap="flat" cmpd="sng">
            <a:solidFill>
              <a:srgbClr val="FF0000"/>
            </a:solidFill>
            <a:prstDash val="solid"/>
            <a:miter/>
            <a:headEnd type="none" w="med" len="med"/>
            <a:tailEnd type="none" w="med" len="med"/>
          </a:ln>
        </p:spPr>
      </p:cxnSp>
      <p:sp>
        <p:nvSpPr>
          <p:cNvPr id="15" name="TextBox 14"/>
          <p:cNvSpPr txBox="1"/>
          <p:nvPr/>
        </p:nvSpPr>
        <p:spPr>
          <a:xfrm>
            <a:off x="5075555" y="3789045"/>
            <a:ext cx="1258570" cy="521970"/>
          </a:xfrm>
          <a:prstGeom prst="rect">
            <a:avLst/>
          </a:prstGeom>
          <a:no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kumimoji="1" sz="32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kumimoji="1" sz="2800" b="0">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kumimoji="1" sz="2800" b="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dirty="0">
                <a:solidFill>
                  <a:srgbClr val="4545AB"/>
                </a:solidFill>
                <a:latin typeface="Times New Roman" panose="02020603050405020304" pitchFamily="18" charset="0"/>
                <a:ea typeface="微软雅黑" panose="020B0503020204020204" pitchFamily="34" charset="-122"/>
              </a:rPr>
              <a:t>不能少</a:t>
            </a:r>
            <a:endParaRPr lang="zh-CN" altLang="en-US" sz="2800" dirty="0">
              <a:solidFill>
                <a:srgbClr val="4545AB"/>
              </a:solidFill>
              <a:latin typeface="Times New Roman" panose="02020603050405020304" pitchFamily="18" charset="0"/>
              <a:ea typeface="微软雅黑" panose="020B0503020204020204" pitchFamily="34" charset="-122"/>
            </a:endParaRPr>
          </a:p>
        </p:txBody>
      </p:sp>
      <p:pic>
        <p:nvPicPr>
          <p:cNvPr id="87052" name="图片 12"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Left)">
                                      <p:cBhvr>
                                        <p:cTn id="7" dur="500"/>
                                        <p:tgtEl>
                                          <p:spTgt spid="1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tags/tag1.xml><?xml version="1.0" encoding="utf-8"?>
<p:tagLst xmlns:p="http://schemas.openxmlformats.org/presentationml/2006/main">
  <p:tag name="KSO_WM_UNIT_PLACING_PICTURE_USER_VIEWPORT" val="{&quot;height&quot;:2185,&quot;width&quot;:1856}"/>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 name="KSO_WM_UNIT_PLACING_PICTURE_USER_VIEWPORT" val="{&quot;height&quot;:2325.9984251968503,&quot;width&quot;:2295.6}"/>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PP_MARK_KEY" val="1edcbfa0-e750-4f1e-93a5-80934e91e25c"/>
  <p:tag name="COMMONDATA" val="eyJoZGlkIjoiMTJjMTE0ZTI2OGY4Y2I1MjRlZDc4NzRjNDljYzY5ZTgifQ=="/>
</p:tagLst>
</file>

<file path=ppt/theme/theme1.xml><?xml version="1.0" encoding="utf-8"?>
<a:theme xmlns:a="http://schemas.openxmlformats.org/drawingml/2006/main" name="Bold Stripes">
  <a:themeElements>
    <a:clrScheme name="Bold Stripes 8">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000000"/>
      </a:hlink>
      <a:folHlink>
        <a:srgbClr val="969696"/>
      </a:folHlink>
    </a:clrScheme>
    <a:fontScheme name="自定义 4">
      <a:majorFont>
        <a:latin typeface="Times New Roman"/>
        <a:ea typeface="黑体"/>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4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4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
      <a:clrScheme name="Bold Stripes 5">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6">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7">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DB034B"/>
        </a:folHlink>
      </a:clrScheme>
      <a:clrMap bg1="lt1" tx1="dk1" bg2="lt2" tx2="dk2" accent1="accent1" accent2="accent2" accent3="accent3" accent4="accent4" accent5="accent5" accent6="accent6" hlink="hlink" folHlink="folHlink"/>
    </a:extraClrScheme>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
      <a:clrScheme name="Bold Stripes 5">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6">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7">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DB034B"/>
        </a:folHlink>
      </a:clrScheme>
      <a:clrMap bg1="lt1" tx1="dk1" bg2="lt2" tx2="dk2" accent1="accent1" accent2="accent2" accent3="accent3" accent4="accent4" accent5="accent5" accent6="accent6" hlink="hlink" folHlink="folHlink"/>
    </a:extraClrScheme>
    <a:extraClrScheme>
      <a:clrScheme name="Bold Stripes 8">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000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13895</Words>
  <Application>WPS 演示</Application>
  <PresentationFormat>全屏显示(4:3)</PresentationFormat>
  <Paragraphs>1077</Paragraphs>
  <Slides>80</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13</vt:i4>
      </vt:variant>
      <vt:variant>
        <vt:lpstr>幻灯片标题</vt:lpstr>
      </vt:variant>
      <vt:variant>
        <vt:i4>80</vt:i4>
      </vt:variant>
    </vt:vector>
  </HeadingPairs>
  <TitlesOfParts>
    <vt:vector size="105" baseType="lpstr">
      <vt:lpstr>Arial</vt:lpstr>
      <vt:lpstr>宋体</vt:lpstr>
      <vt:lpstr>Wingdings</vt:lpstr>
      <vt:lpstr>Verdana</vt:lpstr>
      <vt:lpstr>Times New Roman</vt:lpstr>
      <vt:lpstr>黑体</vt:lpstr>
      <vt:lpstr>微软雅黑</vt:lpstr>
      <vt:lpstr>华文行楷</vt:lpstr>
      <vt:lpstr>Arial Unicode MS</vt:lpstr>
      <vt:lpstr>Calibri</vt:lpstr>
      <vt:lpstr>Times New Roman</vt:lpstr>
      <vt:lpstr>Bold Stripes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第5章 循环结构程序设计</vt:lpstr>
      <vt:lpstr>第5章 循环结构程序设计</vt:lpstr>
      <vt:lpstr>5.1 为什么需要循环控制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 用do---while语句实现循环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谭浩强</dc:creator>
  <cp:lastModifiedBy>雾</cp:lastModifiedBy>
  <cp:revision>1126</cp:revision>
  <dcterms:created xsi:type="dcterms:W3CDTF">2002-12-29T13:24:00Z</dcterms:created>
  <dcterms:modified xsi:type="dcterms:W3CDTF">2023-10-09T06:27:51Z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67E652DCDA754E56AB0752D9CB6F1BCC_13</vt:lpwstr>
  </property>
  <property fmtid="{D5CDD505-2E9C-101B-9397-08002B2CF9AE}" pid="3" name="KSOProductBuildVer">
    <vt:lpwstr>2052-12.1.0.15712</vt:lpwstr>
  </property>
</Properties>
</file>