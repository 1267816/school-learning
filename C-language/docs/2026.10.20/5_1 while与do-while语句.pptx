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77" r:id="rId6"/>
    <p:sldId id="282" r:id="rId7"/>
    <p:sldId id="286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-1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E2424-4A80-4946-884C-E6F1F6D82D4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912DB-F6CB-4352-B3B9-7A907E506F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85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microsoft.com/office/2007/relationships/hdphoto" Target="../media/hdphoto4.wdp"/><Relationship Id="rId17" Type="http://schemas.openxmlformats.org/officeDocument/2006/relationships/image" Target="../media/image17.png"/><Relationship Id="rId2" Type="http://schemas.openxmlformats.org/officeDocument/2006/relationships/image" Target="../media/image6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microsoft.com/office/2007/relationships/hdphoto" Target="../media/hdphoto1.wdp"/><Relationship Id="rId15" Type="http://schemas.openxmlformats.org/officeDocument/2006/relationships/image" Target="../media/image15.png"/><Relationship Id="rId10" Type="http://schemas.microsoft.com/office/2007/relationships/hdphoto" Target="../media/hdphoto3.wdp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4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2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2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tags" Target="../tags/tag21.xml"/><Relationship Id="rId7" Type="http://schemas.openxmlformats.org/officeDocument/2006/relationships/image" Target="../media/image2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hdphoto" Target="../media/hdphoto8.wdp"/><Relationship Id="rId3" Type="http://schemas.openxmlformats.org/officeDocument/2006/relationships/image" Target="../media/image13.png"/><Relationship Id="rId7" Type="http://schemas.microsoft.com/office/2007/relationships/hdphoto" Target="../media/hdphoto1.wdp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microsoft.com/office/2007/relationships/hdphoto" Target="../media/hdphoto7.wdp"/><Relationship Id="rId5" Type="http://schemas.openxmlformats.org/officeDocument/2006/relationships/image" Target="../media/image7.png"/><Relationship Id="rId10" Type="http://schemas.openxmlformats.org/officeDocument/2006/relationships/image" Target="../media/image28.png"/><Relationship Id="rId4" Type="http://schemas.openxmlformats.org/officeDocument/2006/relationships/image" Target="../media/image14.GIF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10" name="图片 4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20825" y="1861287"/>
            <a:ext cx="7553960" cy="1137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8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高级语言程序设计</a:t>
            </a:r>
            <a:r>
              <a:rPr lang="zh-CN" altLang="en-US" sz="680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73704" y="3398818"/>
            <a:ext cx="7189788" cy="561827"/>
            <a:chOff x="500449" y="3247070"/>
            <a:chExt cx="6295770" cy="583554"/>
          </a:xfrm>
        </p:grpSpPr>
        <p:sp>
          <p:nvSpPr>
            <p:cNvPr id="13" name="矩形: 圆角 12"/>
            <p:cNvSpPr/>
            <p:nvPr/>
          </p:nvSpPr>
          <p:spPr>
            <a:xfrm>
              <a:off x="554831" y="3247070"/>
              <a:ext cx="6241388" cy="583554"/>
            </a:xfrm>
            <a:prstGeom prst="roundRect">
              <a:avLst>
                <a:gd name="adj" fmla="val 0"/>
              </a:avLst>
            </a:prstGeom>
            <a:gradFill>
              <a:gsLst>
                <a:gs pos="5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500449" y="3247070"/>
              <a:ext cx="111210" cy="583554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00710" y="3449320"/>
            <a:ext cx="7840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High-Level Language Programming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73704" y="4668316"/>
            <a:ext cx="3488696" cy="561827"/>
            <a:chOff x="473704" y="5042998"/>
            <a:chExt cx="3488696" cy="561827"/>
          </a:xfrm>
        </p:grpSpPr>
        <p:sp>
          <p:nvSpPr>
            <p:cNvPr id="16" name="八边形 15"/>
            <p:cNvSpPr/>
            <p:nvPr/>
          </p:nvSpPr>
          <p:spPr>
            <a:xfrm>
              <a:off x="473704" y="5042998"/>
              <a:ext cx="3488696" cy="561827"/>
            </a:xfrm>
            <a:prstGeom prst="octagon">
              <a:avLst>
                <a:gd name="adj" fmla="val 18292"/>
              </a:avLst>
            </a:prstGeom>
            <a:gradFill>
              <a:gsLst>
                <a:gs pos="5000">
                  <a:schemeClr val="accent2"/>
                </a:gs>
                <a:gs pos="100000">
                  <a:schemeClr val="accent1">
                    <a:alpha val="76000"/>
                  </a:schemeClr>
                </a:gs>
              </a:gsLst>
              <a:lin ang="0" scaled="1"/>
            </a:gra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八边形 16"/>
            <p:cNvSpPr/>
            <p:nvPr/>
          </p:nvSpPr>
          <p:spPr>
            <a:xfrm>
              <a:off x="473704" y="5042998"/>
              <a:ext cx="2048516" cy="561827"/>
            </a:xfrm>
            <a:prstGeom prst="octagon">
              <a:avLst>
                <a:gd name="adj" fmla="val 18292"/>
              </a:avLst>
            </a:prstGeom>
            <a:gradFill>
              <a:gsLst>
                <a:gs pos="5000">
                  <a:schemeClr val="accent1"/>
                </a:gs>
                <a:gs pos="100000">
                  <a:schemeClr val="tx2"/>
                </a:gs>
              </a:gsLst>
              <a:lin ang="0" scaled="1"/>
            </a:gra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2400" b="1" kern="100">
                  <a:solidFill>
                    <a:schemeClr val="bg1"/>
                  </a:solidFill>
                  <a:latin typeface="+mj-ea"/>
                  <a:ea typeface="+mj-ea"/>
                  <a:cs typeface="Times New Roman" panose="02020603050405020304" pitchFamily="18" charset="0"/>
                  <a:sym typeface="+mj-ea"/>
                </a:rPr>
                <a:t>主讲教师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722937" y="5146865"/>
              <a:ext cx="103874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bg1"/>
                  </a:solidFill>
                  <a:latin typeface="+mj-ea"/>
                  <a:ea typeface="+mj-ea"/>
                </a:rPr>
                <a:t>韩旭明</a:t>
              </a:r>
            </a:p>
          </p:txBody>
        </p:sp>
      </p:grpSp>
      <p:sp>
        <p:nvSpPr>
          <p:cNvPr id="25" name="矩形 24"/>
          <p:cNvSpPr/>
          <p:nvPr/>
        </p:nvSpPr>
        <p:spPr>
          <a:xfrm>
            <a:off x="473704" y="582191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04815" y="582191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735925" y="582191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9" name="平行四边形 28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692" y="3364213"/>
            <a:ext cx="3609145" cy="104711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50072" y="3905285"/>
            <a:ext cx="3609145" cy="1047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alphaModFix amt="49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5512" y="5964089"/>
            <a:ext cx="960763" cy="8609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 cstate="print">
            <a:alphaModFix amt="36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341" y="5516197"/>
            <a:ext cx="2310007" cy="170175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 cstate="print">
            <a:alphaModFix amt="73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275" y="5959166"/>
            <a:ext cx="2004537" cy="860954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6623646" y="471858"/>
            <a:ext cx="471142" cy="471142"/>
            <a:chOff x="5800489" y="913200"/>
            <a:chExt cx="591022" cy="591022"/>
          </a:xfrm>
        </p:grpSpPr>
        <p:sp>
          <p:nvSpPr>
            <p:cNvPr id="42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9" name="图片 3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65" name="组合 64"/>
          <p:cNvGrpSpPr/>
          <p:nvPr/>
        </p:nvGrpSpPr>
        <p:grpSpPr>
          <a:xfrm>
            <a:off x="5458971" y="1153616"/>
            <a:ext cx="637029" cy="637029"/>
            <a:chOff x="5332525" y="-777658"/>
            <a:chExt cx="637029" cy="637029"/>
          </a:xfrm>
        </p:grpSpPr>
        <p:sp>
          <p:nvSpPr>
            <p:cNvPr id="64" name="任意多边形: 形状 63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55" name="图片 54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5668065" y="4234303"/>
            <a:ext cx="677972" cy="677972"/>
            <a:chOff x="6287406" y="-777658"/>
            <a:chExt cx="637029" cy="637029"/>
          </a:xfrm>
        </p:grpSpPr>
        <p:sp>
          <p:nvSpPr>
            <p:cNvPr id="56" name="任意多边形: 形状 55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57" name="图片 56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624330" y="2303780"/>
            <a:ext cx="2631440" cy="2631440"/>
          </a:xfrm>
          <a:prstGeom prst="ellipse">
            <a:avLst/>
          </a:prstGeom>
          <a:gradFill>
            <a:gsLst>
              <a:gs pos="71000">
                <a:schemeClr val="bg1"/>
              </a:gs>
              <a:gs pos="33000">
                <a:srgbClr val="F4FBFC"/>
              </a:gs>
              <a:gs pos="100000">
                <a:schemeClr val="bg2">
                  <a:alpha val="22000"/>
                  <a:lumMod val="68000"/>
                  <a:lumOff val="32000"/>
                </a:schemeClr>
              </a:gs>
              <a:gs pos="0">
                <a:schemeClr val="bg2">
                  <a:lumMod val="39000"/>
                  <a:lumOff val="6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3703" y="2303780"/>
            <a:ext cx="3288479" cy="330202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42242" y="5303857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341348" y="546391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 flipH="1">
            <a:off x="762000" y="0"/>
            <a:ext cx="1143000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>
            <a:off x="5308361" y="55890"/>
            <a:ext cx="7734858" cy="514894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6968988" y="5204833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4289305" y="2833469"/>
            <a:ext cx="772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循环结构程序设计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075542" y="4082802"/>
            <a:ext cx="5122916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590795" y="1268356"/>
            <a:ext cx="2342308" cy="450892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9600">
                <a:gradFill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lin ang="6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700" dirty="0">
                <a:gradFill flip="none" rotWithShape="1"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5</a:t>
            </a:r>
            <a:endParaRPr kumimoji="0" lang="zh-CN" altLang="en-US" sz="287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alpha val="0"/>
                    </a:prstClr>
                  </a:gs>
                  <a:gs pos="47000">
                    <a:prstClr val="white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651979" y="1158515"/>
            <a:ext cx="471142" cy="471142"/>
            <a:chOff x="5800489" y="913200"/>
            <a:chExt cx="591022" cy="591022"/>
          </a:xfrm>
        </p:grpSpPr>
        <p:sp>
          <p:nvSpPr>
            <p:cNvPr id="7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图片 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54518" y="1570536"/>
            <a:ext cx="637029" cy="637029"/>
            <a:chOff x="5332525" y="-777658"/>
            <a:chExt cx="637029" cy="63702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3" name="图片 12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003256" y="830452"/>
            <a:ext cx="677972" cy="677972"/>
            <a:chOff x="6287406" y="-777658"/>
            <a:chExt cx="637029" cy="637029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6" name="图片 15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938530" y="3825682"/>
            <a:ext cx="5694061" cy="402459"/>
            <a:chOff x="623326" y="2794001"/>
            <a:chExt cx="10945350" cy="1414057"/>
          </a:xfrm>
        </p:grpSpPr>
        <p:sp>
          <p:nvSpPr>
            <p:cNvPr id="20" name="梯形 19"/>
            <p:cNvSpPr/>
            <p:nvPr/>
          </p:nvSpPr>
          <p:spPr>
            <a:xfrm>
              <a:off x="1393373" y="3283819"/>
              <a:ext cx="9405257" cy="924239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4"/>
                </a:gs>
                <a:gs pos="60000">
                  <a:schemeClr val="tx2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>
              <a:off x="623326" y="2794001"/>
              <a:ext cx="10945350" cy="1075583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5"/>
                </a:gs>
                <a:gs pos="60000">
                  <a:schemeClr val="accent3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任意多边形: 形状 23"/>
          <p:cNvSpPr/>
          <p:nvPr/>
        </p:nvSpPr>
        <p:spPr>
          <a:xfrm>
            <a:off x="11152411" y="6423662"/>
            <a:ext cx="661478" cy="100283"/>
          </a:xfrm>
          <a:custGeom>
            <a:avLst/>
            <a:gdLst>
              <a:gd name="connsiteX0" fmla="*/ 0 w 323850"/>
              <a:gd name="connsiteY0" fmla="*/ 0 h 47625"/>
              <a:gd name="connsiteX1" fmla="*/ 80963 w 323850"/>
              <a:gd name="connsiteY1" fmla="*/ 0 h 47625"/>
              <a:gd name="connsiteX2" fmla="*/ 107918 w 323850"/>
              <a:gd name="connsiteY2" fmla="*/ 26956 h 47625"/>
              <a:gd name="connsiteX3" fmla="*/ 80963 w 323850"/>
              <a:gd name="connsiteY3" fmla="*/ 53912 h 47625"/>
              <a:gd name="connsiteX4" fmla="*/ 0 w 323850"/>
              <a:gd name="connsiteY4" fmla="*/ 53912 h 47625"/>
              <a:gd name="connsiteX5" fmla="*/ 26956 w 323850"/>
              <a:gd name="connsiteY5" fmla="*/ 26956 h 47625"/>
              <a:gd name="connsiteX6" fmla="*/ 0 w 323850"/>
              <a:gd name="connsiteY6" fmla="*/ 0 h 47625"/>
              <a:gd name="connsiteX7" fmla="*/ 134969 w 323850"/>
              <a:gd name="connsiteY7" fmla="*/ 26956 h 47625"/>
              <a:gd name="connsiteX8" fmla="*/ 108014 w 323850"/>
              <a:gd name="connsiteY8" fmla="*/ 53912 h 47625"/>
              <a:gd name="connsiteX9" fmla="*/ 189071 w 323850"/>
              <a:gd name="connsiteY9" fmla="*/ 53912 h 47625"/>
              <a:gd name="connsiteX10" fmla="*/ 216027 w 323850"/>
              <a:gd name="connsiteY10" fmla="*/ 26956 h 47625"/>
              <a:gd name="connsiteX11" fmla="*/ 189071 w 323850"/>
              <a:gd name="connsiteY11" fmla="*/ 0 h 47625"/>
              <a:gd name="connsiteX12" fmla="*/ 108014 w 323850"/>
              <a:gd name="connsiteY12" fmla="*/ 0 h 47625"/>
              <a:gd name="connsiteX13" fmla="*/ 134969 w 323850"/>
              <a:gd name="connsiteY13" fmla="*/ 26956 h 47625"/>
              <a:gd name="connsiteX14" fmla="*/ 243078 w 323850"/>
              <a:gd name="connsiteY14" fmla="*/ 26956 h 47625"/>
              <a:gd name="connsiteX15" fmla="*/ 216027 w 323850"/>
              <a:gd name="connsiteY15" fmla="*/ 53912 h 47625"/>
              <a:gd name="connsiteX16" fmla="*/ 296990 w 323850"/>
              <a:gd name="connsiteY16" fmla="*/ 53912 h 47625"/>
              <a:gd name="connsiteX17" fmla="*/ 324040 w 323850"/>
              <a:gd name="connsiteY17" fmla="*/ 26956 h 47625"/>
              <a:gd name="connsiteX18" fmla="*/ 296990 w 323850"/>
              <a:gd name="connsiteY18" fmla="*/ 0 h 47625"/>
              <a:gd name="connsiteX19" fmla="*/ 216027 w 323850"/>
              <a:gd name="connsiteY19" fmla="*/ 0 h 47625"/>
              <a:gd name="connsiteX20" fmla="*/ 243078 w 323850"/>
              <a:gd name="connsiteY20" fmla="*/ 26956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3850" h="47625">
                <a:moveTo>
                  <a:pt x="0" y="0"/>
                </a:moveTo>
                <a:lnTo>
                  <a:pt x="80963" y="0"/>
                </a:lnTo>
                <a:lnTo>
                  <a:pt x="107918" y="26956"/>
                </a:lnTo>
                <a:lnTo>
                  <a:pt x="80963" y="53912"/>
                </a:lnTo>
                <a:lnTo>
                  <a:pt x="0" y="53912"/>
                </a:lnTo>
                <a:lnTo>
                  <a:pt x="26956" y="26956"/>
                </a:lnTo>
                <a:lnTo>
                  <a:pt x="0" y="0"/>
                </a:lnTo>
                <a:close/>
                <a:moveTo>
                  <a:pt x="134969" y="26956"/>
                </a:moveTo>
                <a:lnTo>
                  <a:pt x="108014" y="53912"/>
                </a:lnTo>
                <a:lnTo>
                  <a:pt x="189071" y="53912"/>
                </a:lnTo>
                <a:lnTo>
                  <a:pt x="216027" y="26956"/>
                </a:lnTo>
                <a:lnTo>
                  <a:pt x="189071" y="0"/>
                </a:lnTo>
                <a:lnTo>
                  <a:pt x="108014" y="0"/>
                </a:lnTo>
                <a:lnTo>
                  <a:pt x="134969" y="26956"/>
                </a:lnTo>
                <a:close/>
                <a:moveTo>
                  <a:pt x="243078" y="26956"/>
                </a:moveTo>
                <a:lnTo>
                  <a:pt x="216027" y="53912"/>
                </a:lnTo>
                <a:lnTo>
                  <a:pt x="296990" y="53912"/>
                </a:lnTo>
                <a:lnTo>
                  <a:pt x="324040" y="26956"/>
                </a:lnTo>
                <a:lnTo>
                  <a:pt x="296990" y="0"/>
                </a:lnTo>
                <a:lnTo>
                  <a:pt x="216027" y="0"/>
                </a:lnTo>
                <a:lnTo>
                  <a:pt x="243078" y="26956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3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lIns="91440" tIns="45720" rIns="91440" bIns="45720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03886A7-B64E-00D7-C222-2223B5D7BD66}"/>
              </a:ext>
            </a:extLst>
          </p:cNvPr>
          <p:cNvSpPr txBox="1">
            <a:spLocks/>
          </p:cNvSpPr>
          <p:nvPr/>
        </p:nvSpPr>
        <p:spPr>
          <a:xfrm>
            <a:off x="5815550" y="4647518"/>
            <a:ext cx="5323467" cy="7544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</a:rPr>
              <a:t>——while</a:t>
            </a:r>
            <a:r>
              <a:rPr lang="zh-CN" altLang="en-US" sz="3600" dirty="0">
                <a:solidFill>
                  <a:schemeClr val="bg1"/>
                </a:solidFill>
              </a:rPr>
              <a:t>与</a:t>
            </a:r>
            <a:r>
              <a:rPr lang="en-US" altLang="zh-CN" sz="3600" dirty="0">
                <a:solidFill>
                  <a:schemeClr val="bg1"/>
                </a:solidFill>
              </a:rPr>
              <a:t>do-while</a:t>
            </a:r>
            <a:r>
              <a:rPr lang="zh-CN" altLang="en-US" sz="3600" dirty="0">
                <a:solidFill>
                  <a:schemeClr val="bg1"/>
                </a:solidFill>
              </a:rPr>
              <a:t>语句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0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396165"/>
            <a:ext cx="5457293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14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16"/>
              </p:custDataLst>
            </p:nvPr>
          </p:nvSpPr>
          <p:spPr>
            <a:xfrm>
              <a:off x="5186825" y="1583376"/>
              <a:ext cx="3344780" cy="3517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为什么需要循环控制</a:t>
              </a:r>
            </a:p>
          </p:txBody>
        </p:sp>
        <p:sp>
          <p:nvSpPr>
            <p:cNvPr id="30" name="梯形 29"/>
            <p:cNvSpPr/>
            <p:nvPr>
              <p:custDataLst>
                <p:tags r:id="rId17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1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16136" y="2811346"/>
            <a:ext cx="5457292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9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1"/>
              </p:custDataLst>
            </p:nvPr>
          </p:nvSpPr>
          <p:spPr>
            <a:xfrm>
              <a:off x="4801799" y="1610134"/>
              <a:ext cx="4114833" cy="3517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while</a:t>
              </a:r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与</a:t>
              </a:r>
              <a:r>
                <a:rPr lang="en-US" altLang="zh-CN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do-while</a:t>
              </a:r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循环语句</a:t>
              </a:r>
            </a:p>
          </p:txBody>
        </p:sp>
        <p:sp>
          <p:nvSpPr>
            <p:cNvPr id="37" name="梯形 36"/>
            <p:cNvSpPr/>
            <p:nvPr>
              <p:custDataLst>
                <p:tags r:id="rId12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3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8" y="4268669"/>
            <a:ext cx="5457292" cy="701832"/>
            <a:chOff x="4316361" y="1433503"/>
            <a:chExt cx="5197419" cy="668411"/>
          </a:xfrm>
        </p:grpSpPr>
        <p:sp>
          <p:nvSpPr>
            <p:cNvPr id="40" name="任意多边形: 形状 39"/>
            <p:cNvSpPr/>
            <p:nvPr>
              <p:custDataLst>
                <p:tags r:id="rId4"/>
              </p:custDataLst>
            </p:nvPr>
          </p:nvSpPr>
          <p:spPr>
            <a:xfrm>
              <a:off x="4321820" y="1435961"/>
              <a:ext cx="5179880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6"/>
              </p:custDataLst>
            </p:nvPr>
          </p:nvSpPr>
          <p:spPr>
            <a:xfrm>
              <a:off x="6279530" y="1583346"/>
              <a:ext cx="1989554" cy="3517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循环简单示例</a:t>
              </a:r>
            </a:p>
          </p:txBody>
        </p:sp>
        <p:sp>
          <p:nvSpPr>
            <p:cNvPr id="43" name="梯形 42"/>
            <p:cNvSpPr/>
            <p:nvPr>
              <p:custDataLst>
                <p:tags r:id="rId7"/>
              </p:custDataLst>
            </p:nvPr>
          </p:nvSpPr>
          <p:spPr>
            <a:xfrm rot="5400000">
              <a:off x="9400882" y="1745235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>
          <a:xfrm>
            <a:off x="651639" y="197567"/>
            <a:ext cx="2979738" cy="403225"/>
          </a:xfrm>
        </p:spPr>
        <p:txBody>
          <a:bodyPr/>
          <a:lstStyle/>
          <a:p>
            <a:r>
              <a:rPr lang="zh-CN" altLang="en-US" sz="2000" dirty="0"/>
              <a:t>为什么需要循环控制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/>
              <a:t>壹</a:t>
            </a:r>
          </a:p>
        </p:txBody>
      </p:sp>
      <p:sp>
        <p:nvSpPr>
          <p:cNvPr id="3" name="MH_Text_3">
            <a:extLst>
              <a:ext uri="{FF2B5EF4-FFF2-40B4-BE49-F238E27FC236}">
                <a16:creationId xmlns:a16="http://schemas.microsoft.com/office/drawing/2014/main" id="{0B5F1A69-A381-7010-4600-9D2C9C4D6B0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255162" y="3617847"/>
            <a:ext cx="6443194" cy="307562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900000" rIns="90000" bIns="34290" anchor="ctr">
            <a:normAutofit/>
          </a:bodyPr>
          <a:lstStyle/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 dirty="0" err="1">
                <a:solidFill>
                  <a:srgbClr val="FFFFFF"/>
                </a:solidFill>
              </a:rPr>
              <a:t>i</a:t>
            </a:r>
            <a:r>
              <a:rPr lang="en-US" altLang="zh-CN" sz="1400" b="1" kern="0" dirty="0">
                <a:solidFill>
                  <a:srgbClr val="FFFFFF"/>
                </a:solidFill>
              </a:rPr>
              <a:t> = 1;			</a:t>
            </a:r>
            <a:r>
              <a:rPr lang="en-US" altLang="zh-CN" sz="1400" b="1" kern="0" dirty="0">
                <a:solidFill>
                  <a:srgbClr val="92D050"/>
                </a:solidFill>
              </a:rPr>
              <a:t>//</a:t>
            </a:r>
            <a:r>
              <a:rPr lang="zh-CN" altLang="en-US" sz="1400" b="1" kern="0" dirty="0">
                <a:solidFill>
                  <a:srgbClr val="92D050"/>
                </a:solidFill>
              </a:rPr>
              <a:t>设整型变量</a:t>
            </a:r>
            <a:r>
              <a:rPr lang="en-US" altLang="zh-CN" sz="1400" b="1" kern="0" dirty="0" err="1">
                <a:solidFill>
                  <a:srgbClr val="92D050"/>
                </a:solidFill>
              </a:rPr>
              <a:t>i</a:t>
            </a:r>
            <a:r>
              <a:rPr lang="zh-CN" altLang="en-US" sz="1400" b="1" kern="0" dirty="0">
                <a:solidFill>
                  <a:srgbClr val="92D050"/>
                </a:solidFill>
              </a:rPr>
              <a:t>初值为</a:t>
            </a:r>
            <a:r>
              <a:rPr lang="en-US" altLang="zh-CN" sz="1400" b="1" kern="0" dirty="0">
                <a:solidFill>
                  <a:srgbClr val="92D050"/>
                </a:solidFill>
              </a:rPr>
              <a:t>1 </a:t>
            </a:r>
            <a:r>
              <a:rPr lang="en-US" altLang="zh-CN" sz="1400" b="1" kern="0" dirty="0">
                <a:solidFill>
                  <a:srgbClr val="FFFFFF"/>
                </a:solidFill>
              </a:rPr>
              <a:t>  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FFFFFF"/>
                </a:solidFill>
              </a:rPr>
              <a:t>while(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i</a:t>
            </a:r>
            <a:r>
              <a:rPr lang="en-US" altLang="zh-CN" sz="1400" b="1" kern="0" dirty="0">
                <a:solidFill>
                  <a:srgbClr val="FFFFFF"/>
                </a:solidFill>
              </a:rPr>
              <a:t> &lt;= 50)	</a:t>
            </a:r>
            <a:r>
              <a:rPr lang="en-US" altLang="zh-CN" sz="1400" b="1" kern="0" dirty="0">
                <a:solidFill>
                  <a:srgbClr val="92D050"/>
                </a:solidFill>
              </a:rPr>
              <a:t>//</a:t>
            </a:r>
            <a:r>
              <a:rPr lang="zh-CN" altLang="en-US" sz="1400" b="1" kern="0" dirty="0">
                <a:solidFill>
                  <a:srgbClr val="92D050"/>
                </a:solidFill>
              </a:rPr>
              <a:t>当</a:t>
            </a:r>
            <a:r>
              <a:rPr lang="en-US" altLang="zh-CN" sz="1400" b="1" kern="0" dirty="0" err="1">
                <a:solidFill>
                  <a:srgbClr val="92D050"/>
                </a:solidFill>
              </a:rPr>
              <a:t>i</a:t>
            </a:r>
            <a:r>
              <a:rPr lang="zh-CN" altLang="en-US" sz="1400" b="1" kern="0" dirty="0">
                <a:solidFill>
                  <a:srgbClr val="92D050"/>
                </a:solidFill>
              </a:rPr>
              <a:t>的值小于或等于</a:t>
            </a:r>
            <a:r>
              <a:rPr lang="en-US" altLang="zh-CN" sz="1400" b="1" kern="0" dirty="0">
                <a:solidFill>
                  <a:srgbClr val="92D050"/>
                </a:solidFill>
              </a:rPr>
              <a:t>50</a:t>
            </a:r>
            <a:r>
              <a:rPr lang="zh-CN" altLang="en-US" sz="1400" b="1" kern="0" dirty="0">
                <a:solidFill>
                  <a:srgbClr val="92D050"/>
                </a:solidFill>
              </a:rPr>
              <a:t>时执行花括号内的语句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FFFFFF"/>
                </a:solidFill>
              </a:rPr>
              <a:t>{	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scanf</a:t>
            </a:r>
            <a:r>
              <a:rPr lang="en-US" altLang="zh-CN" sz="1400" b="1" kern="0" dirty="0">
                <a:solidFill>
                  <a:srgbClr val="FFFFFF"/>
                </a:solidFill>
              </a:rPr>
              <a:t>("%f, %f, %f", &amp;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chinese</a:t>
            </a:r>
            <a:r>
              <a:rPr lang="en-US" altLang="zh-CN" sz="1400" b="1" kern="0" dirty="0">
                <a:solidFill>
                  <a:srgbClr val="FFFFFF"/>
                </a:solidFill>
              </a:rPr>
              <a:t>, &amp;math, &amp;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english</a:t>
            </a:r>
            <a:r>
              <a:rPr lang="en-US" altLang="zh-CN" sz="1400" b="1" kern="0" dirty="0">
                <a:solidFill>
                  <a:srgbClr val="FFFFFF"/>
                </a:solidFill>
              </a:rPr>
              <a:t>);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FFFFFF"/>
                </a:solidFill>
              </a:rPr>
              <a:t>	aver = (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chinese</a:t>
            </a:r>
            <a:r>
              <a:rPr lang="en-US" altLang="zh-CN" sz="1400" b="1" kern="0" dirty="0">
                <a:solidFill>
                  <a:srgbClr val="FFFFFF"/>
                </a:solidFill>
              </a:rPr>
              <a:t> + math + 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english</a:t>
            </a:r>
            <a:r>
              <a:rPr lang="en-US" altLang="zh-CN" sz="1400" b="1" kern="0" dirty="0">
                <a:solidFill>
                  <a:srgbClr val="FFFFFF"/>
                </a:solidFill>
              </a:rPr>
              <a:t>) / 3; </a:t>
            </a:r>
            <a:endParaRPr lang="zh-CN" altLang="en-US" sz="1400" b="1" kern="0" dirty="0">
              <a:solidFill>
                <a:srgbClr val="FFFFFF"/>
              </a:solidFill>
            </a:endParaRPr>
          </a:p>
          <a:p>
            <a:pPr defTabSz="357188">
              <a:lnSpc>
                <a:spcPct val="13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</a:rPr>
              <a:t>	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printf</a:t>
            </a:r>
            <a:r>
              <a:rPr lang="en-US" altLang="zh-CN" sz="1400" b="1" kern="0" dirty="0">
                <a:solidFill>
                  <a:srgbClr val="FFFFFF"/>
                </a:solidFill>
              </a:rPr>
              <a:t>("aver = %7.2f", aver);</a:t>
            </a:r>
            <a:endParaRPr lang="zh-CN" altLang="en-US" sz="1400" b="1" kern="0" dirty="0">
              <a:solidFill>
                <a:srgbClr val="FFFFFF"/>
              </a:solidFill>
            </a:endParaRPr>
          </a:p>
          <a:p>
            <a:pPr defTabSz="357188">
              <a:lnSpc>
                <a:spcPct val="13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</a:rPr>
              <a:t>	</a:t>
            </a:r>
            <a:r>
              <a:rPr lang="en-US" altLang="zh-CN" sz="1400" b="1" kern="0" dirty="0" err="1">
                <a:solidFill>
                  <a:srgbClr val="FFFFFF"/>
                </a:solidFill>
              </a:rPr>
              <a:t>i</a:t>
            </a:r>
            <a:r>
              <a:rPr lang="en-US" altLang="zh-CN" sz="1400" b="1" kern="0" dirty="0">
                <a:solidFill>
                  <a:srgbClr val="FFFFFF"/>
                </a:solidFill>
              </a:rPr>
              <a:t>++;		</a:t>
            </a:r>
            <a:r>
              <a:rPr lang="en-US" altLang="zh-CN" sz="1400" b="1" kern="0" dirty="0">
                <a:solidFill>
                  <a:srgbClr val="92D050"/>
                </a:solidFill>
              </a:rPr>
              <a:t>//</a:t>
            </a:r>
            <a:r>
              <a:rPr lang="zh-CN" altLang="en-US" sz="1400" b="1" kern="0" dirty="0">
                <a:solidFill>
                  <a:srgbClr val="92D050"/>
                </a:solidFill>
              </a:rPr>
              <a:t>每执行完一次循环使</a:t>
            </a:r>
            <a:r>
              <a:rPr lang="en-US" altLang="zh-CN" sz="1400" b="1" kern="0" dirty="0" err="1">
                <a:solidFill>
                  <a:srgbClr val="92D050"/>
                </a:solidFill>
              </a:rPr>
              <a:t>i</a:t>
            </a:r>
            <a:r>
              <a:rPr lang="zh-CN" altLang="en-US" sz="1400" b="1" kern="0" dirty="0">
                <a:solidFill>
                  <a:srgbClr val="92D050"/>
                </a:solidFill>
              </a:rPr>
              <a:t>的值加</a:t>
            </a:r>
            <a:r>
              <a:rPr lang="en-US" altLang="zh-CN" sz="1400" b="1" kern="0" dirty="0">
                <a:solidFill>
                  <a:srgbClr val="92D050"/>
                </a:solidFill>
              </a:rPr>
              <a:t>1 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FFFFFF"/>
                </a:solidFill>
              </a:rPr>
              <a:t>} </a:t>
            </a:r>
            <a:endParaRPr lang="zh-CN" altLang="en-US" sz="1400" b="1" kern="0" dirty="0">
              <a:solidFill>
                <a:srgbClr val="FFFFFF"/>
              </a:solidFill>
            </a:endParaRPr>
          </a:p>
        </p:txBody>
      </p:sp>
      <p:sp>
        <p:nvSpPr>
          <p:cNvPr id="4" name="MH_SubTitle_2">
            <a:extLst>
              <a:ext uri="{FF2B5EF4-FFF2-40B4-BE49-F238E27FC236}">
                <a16:creationId xmlns:a16="http://schemas.microsoft.com/office/drawing/2014/main" id="{82B3B0B4-E3D8-FFC9-2DAF-507919F16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0800000" flipV="1">
            <a:off x="5261510" y="3617847"/>
            <a:ext cx="6436846" cy="930275"/>
          </a:xfrm>
          <a:prstGeom prst="flowChartManualOperation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anchor="ctr">
            <a:normAutofit/>
          </a:bodyPr>
          <a:lstStyle/>
          <a:p>
            <a:pPr algn="ctr">
              <a:defRPr/>
            </a:pPr>
            <a:r>
              <a:rPr lang="zh-CN" altLang="en-US" sz="2000" kern="0"/>
              <a:t>重复写</a:t>
            </a:r>
            <a:r>
              <a:rPr lang="en-US" altLang="zh-CN" sz="2000" kern="0"/>
              <a:t>49</a:t>
            </a:r>
            <a:r>
              <a:rPr lang="zh-CN" altLang="en-US" sz="2000" kern="0"/>
              <a:t>个同样的程序段</a:t>
            </a:r>
            <a:endParaRPr lang="zh-CN" altLang="en-US" sz="2000" kern="0" dirty="0"/>
          </a:p>
        </p:txBody>
      </p:sp>
      <p:sp>
        <p:nvSpPr>
          <p:cNvPr id="7" name="MH_Text_2">
            <a:extLst>
              <a:ext uri="{FF2B5EF4-FFF2-40B4-BE49-F238E27FC236}">
                <a16:creationId xmlns:a16="http://schemas.microsoft.com/office/drawing/2014/main" id="{4898E0D4-DE40-B30D-42B4-D45EF3B0811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255161" y="1420747"/>
            <a:ext cx="6443196" cy="2208213"/>
          </a:xfrm>
          <a:prstGeom prst="rect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1008000" tIns="34290" rIns="90000" bIns="34290" anchor="ctr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00" b="1" kern="0" dirty="0" err="1"/>
              <a:t>scanf</a:t>
            </a:r>
            <a:r>
              <a:rPr lang="en-US" altLang="zh-CN" sz="1400" b="1" kern="0" dirty="0"/>
              <a:t>(″%f, %f, %f″, &amp;Chinese, &amp;math, &amp;</a:t>
            </a:r>
            <a:r>
              <a:rPr lang="en-US" altLang="zh-CN" sz="1400" b="1" kern="0" dirty="0" err="1"/>
              <a:t>english</a:t>
            </a:r>
            <a:r>
              <a:rPr lang="en-US" altLang="zh-CN" sz="1400" b="1" kern="0" dirty="0"/>
              <a:t>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008000"/>
                </a:solidFill>
              </a:rPr>
              <a:t>//</a:t>
            </a:r>
            <a:r>
              <a:rPr lang="zh-CN" altLang="en-US" sz="1400" b="1" kern="0" dirty="0">
                <a:solidFill>
                  <a:srgbClr val="008000"/>
                </a:solidFill>
              </a:rPr>
              <a:t>输入一个学生</a:t>
            </a:r>
            <a:r>
              <a:rPr lang="en-US" altLang="zh-CN" sz="1400" b="1" kern="0" dirty="0">
                <a:solidFill>
                  <a:srgbClr val="008000"/>
                </a:solidFill>
              </a:rPr>
              <a:t>5</a:t>
            </a:r>
            <a:r>
              <a:rPr lang="zh-CN" altLang="en-US" sz="1400" b="1" kern="0" dirty="0">
                <a:solidFill>
                  <a:srgbClr val="008000"/>
                </a:solidFill>
              </a:rPr>
              <a:t>门课的成绩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 dirty="0"/>
              <a:t>aver = (</a:t>
            </a:r>
            <a:r>
              <a:rPr lang="en-US" altLang="zh-CN" sz="1400" b="1" kern="0" dirty="0" err="1"/>
              <a:t>chinese</a:t>
            </a:r>
            <a:r>
              <a:rPr lang="en-US" altLang="zh-CN" sz="1400" b="1" kern="0" dirty="0"/>
              <a:t> + math + </a:t>
            </a:r>
            <a:r>
              <a:rPr lang="en-US" altLang="zh-CN" sz="1400" b="1" kern="0" dirty="0" err="1"/>
              <a:t>english</a:t>
            </a:r>
            <a:r>
              <a:rPr lang="en-US" altLang="zh-CN" sz="1400" b="1" kern="0" dirty="0"/>
              <a:t>) / 3;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008000"/>
                </a:solidFill>
              </a:rPr>
              <a:t>//</a:t>
            </a:r>
            <a:r>
              <a:rPr lang="zh-CN" altLang="en-US" sz="1400" b="1" kern="0" dirty="0">
                <a:solidFill>
                  <a:srgbClr val="008000"/>
                </a:solidFill>
              </a:rPr>
              <a:t>求该学生平均成绩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 dirty="0" err="1"/>
              <a:t>printf</a:t>
            </a:r>
            <a:r>
              <a:rPr lang="en-US" altLang="zh-CN" sz="1400" b="1" kern="0" dirty="0"/>
              <a:t>(″aver = %7.2f″, aver);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 dirty="0">
                <a:solidFill>
                  <a:srgbClr val="008000"/>
                </a:solidFill>
              </a:rPr>
              <a:t>//</a:t>
            </a:r>
            <a:r>
              <a:rPr lang="zh-CN" altLang="en-US" sz="1400" b="1" kern="0" dirty="0">
                <a:solidFill>
                  <a:srgbClr val="008000"/>
                </a:solidFill>
              </a:rPr>
              <a:t>输出该学生平均成绩</a:t>
            </a:r>
          </a:p>
        </p:txBody>
      </p:sp>
      <p:sp>
        <p:nvSpPr>
          <p:cNvPr id="8" name="MH_Text_1">
            <a:extLst>
              <a:ext uri="{FF2B5EF4-FFF2-40B4-BE49-F238E27FC236}">
                <a16:creationId xmlns:a16="http://schemas.microsoft.com/office/drawing/2014/main" id="{2B19A647-DE68-F336-6F51-42137C4E070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2199" y="1420747"/>
            <a:ext cx="4659313" cy="2208213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0000" tIns="34290" rIns="90000" bIns="34290" anchor="ctr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0">
                <a:solidFill>
                  <a:srgbClr val="FFFFFF"/>
                </a:solidFill>
              </a:rPr>
              <a:t>要向计算机输入全班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个学生的成绩；</a:t>
            </a:r>
            <a:endParaRPr lang="en-US" altLang="zh-CN" sz="1600" b="1" kern="0">
              <a:solidFill>
                <a:srgbClr val="FFFFFF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kern="0">
                <a:solidFill>
                  <a:srgbClr val="FFFFFF"/>
                </a:solidFill>
              </a:rPr>
              <a:t>		(</a:t>
            </a:r>
            <a:r>
              <a:rPr lang="zh-CN" altLang="en-US" sz="1600" b="1" kern="0">
                <a:solidFill>
                  <a:srgbClr val="FFFFFF"/>
                </a:solidFill>
              </a:rPr>
              <a:t>重复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次相同的输入操作</a:t>
            </a:r>
            <a:r>
              <a:rPr lang="en-US" altLang="zh-CN" sz="1600" b="1" kern="0">
                <a:solidFill>
                  <a:srgbClr val="FFFFFF"/>
                </a:solidFill>
              </a:rPr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b="1" kern="0">
              <a:solidFill>
                <a:srgbClr val="FFFFFF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0">
                <a:solidFill>
                  <a:srgbClr val="FFFFFF"/>
                </a:solidFill>
              </a:rPr>
              <a:t>分别统计全班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个学生的平均成绩；</a:t>
            </a:r>
            <a:endParaRPr lang="en-US" altLang="zh-CN" sz="1600" b="1" kern="0">
              <a:solidFill>
                <a:srgbClr val="FFFFFF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kern="0">
                <a:solidFill>
                  <a:srgbClr val="FFFFFF"/>
                </a:solidFill>
              </a:rPr>
              <a:t>		(</a:t>
            </a:r>
            <a:r>
              <a:rPr lang="zh-CN" altLang="en-US" sz="1600" b="1" kern="0">
                <a:solidFill>
                  <a:srgbClr val="FFFFFF"/>
                </a:solidFill>
              </a:rPr>
              <a:t>重复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次相同的计算操作</a:t>
            </a:r>
            <a:r>
              <a:rPr lang="en-US" altLang="zh-CN" sz="1600" b="1" kern="0">
                <a:solidFill>
                  <a:srgbClr val="FFFFFF"/>
                </a:solidFill>
              </a:rPr>
              <a:t>)</a:t>
            </a:r>
            <a:endParaRPr lang="zh-CN" altLang="en-US" sz="1600" b="1" kern="0">
              <a:solidFill>
                <a:srgbClr val="FFFFFF"/>
              </a:solidFill>
            </a:endParaRPr>
          </a:p>
        </p:txBody>
      </p:sp>
      <p:sp>
        <p:nvSpPr>
          <p:cNvPr id="10" name="MH_SubTitle_1">
            <a:extLst>
              <a:ext uri="{FF2B5EF4-FFF2-40B4-BE49-F238E27FC236}">
                <a16:creationId xmlns:a16="http://schemas.microsoft.com/office/drawing/2014/main" id="{E7FD8C02-1E5E-BB1A-9E79-37A14F437D8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255162" y="1419159"/>
            <a:ext cx="931862" cy="2209800"/>
          </a:xfrm>
          <a:custGeom>
            <a:avLst/>
            <a:gdLst>
              <a:gd name="connsiteX0" fmla="*/ 0 w 652326"/>
              <a:gd name="connsiteY0" fmla="*/ 0 h 1553638"/>
              <a:gd name="connsiteX1" fmla="*/ 652326 w 652326"/>
              <a:gd name="connsiteY1" fmla="*/ 325113 h 1553638"/>
              <a:gd name="connsiteX2" fmla="*/ 652326 w 652326"/>
              <a:gd name="connsiteY2" fmla="*/ 1228525 h 1553638"/>
              <a:gd name="connsiteX3" fmla="*/ 0 w 652326"/>
              <a:gd name="connsiteY3" fmla="*/ 1553638 h 155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2326" h="1553638">
                <a:moveTo>
                  <a:pt x="0" y="0"/>
                </a:moveTo>
                <a:lnTo>
                  <a:pt x="652326" y="325113"/>
                </a:lnTo>
                <a:lnTo>
                  <a:pt x="652326" y="1228525"/>
                </a:lnTo>
                <a:lnTo>
                  <a:pt x="0" y="155363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</a:rPr>
              <a:t>解决</a:t>
            </a:r>
            <a:endParaRPr lang="en-US" altLang="zh-CN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</a:rPr>
              <a:t>方法</a:t>
            </a:r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38CB19-08EF-F4E2-36E1-42CBEFD5BA6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500" l="0" r="100000">
                        <a14:foregroundMark x1="42000" y1="56000" x2="42000" y2="56000"/>
                        <a14:foregroundMark x1="57500" y1="52000" x2="57500" y2="52000"/>
                        <a14:foregroundMark x1="70500" y1="30000" x2="70500" y2="30000"/>
                        <a14:foregroundMark x1="77000" y1="42000" x2="77000" y2="42000"/>
                        <a14:foregroundMark x1="57500" y1="35000" x2="57500" y2="35000"/>
                        <a14:foregroundMark x1="66500" y1="46000" x2="66500" y2="46000"/>
                        <a14:foregroundMark x1="29500" y1="56000" x2="29500" y2="56000"/>
                        <a14:foregroundMark x1="29500" y1="63000" x2="29500" y2="63000"/>
                        <a14:foregroundMark x1="38000" y1="47500" x2="38000" y2="47500"/>
                        <a14:foregroundMark x1="19500" y1="73500" x2="19500" y2="73500"/>
                        <a14:foregroundMark x1="11000" y1="43500" x2="11000" y2="43500"/>
                        <a14:foregroundMark x1="22000" y1="24000" x2="22000" y2="24000"/>
                        <a14:foregroundMark x1="11000" y1="56500" x2="11000" y2="56500"/>
                        <a14:foregroundMark x1="50500" y1="46000" x2="50500" y2="46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3989" y="3831711"/>
            <a:ext cx="502546" cy="5025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46FC-BBEC-6387-C404-5EF67026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3342935-95FB-934B-2B95-D66289F0C0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540" y="191517"/>
            <a:ext cx="3232058" cy="403225"/>
          </a:xfrm>
        </p:spPr>
        <p:txBody>
          <a:bodyPr/>
          <a:lstStyle/>
          <a:p>
            <a:r>
              <a:rPr lang="en-US" altLang="zh-CN" sz="2000" dirty="0"/>
              <a:t>while</a:t>
            </a:r>
            <a:r>
              <a:rPr lang="zh-CN" altLang="en-US" sz="2000" dirty="0"/>
              <a:t>与</a:t>
            </a:r>
            <a:r>
              <a:rPr lang="en-US" altLang="zh-CN" sz="2000" dirty="0"/>
              <a:t>do-while</a:t>
            </a:r>
            <a:r>
              <a:rPr lang="zh-CN" altLang="en-US" sz="2000" dirty="0"/>
              <a:t>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F0161D-E92A-C955-8A3B-CF55FE64649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1139A82-4B48-905B-E094-8D9EB041042F}"/>
              </a:ext>
            </a:extLst>
          </p:cNvPr>
          <p:cNvSpPr txBox="1">
            <a:spLocks/>
          </p:cNvSpPr>
          <p:nvPr/>
        </p:nvSpPr>
        <p:spPr>
          <a:xfrm>
            <a:off x="410197" y="1028474"/>
            <a:ext cx="11019803" cy="564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C</a:t>
            </a:r>
            <a:r>
              <a:rPr lang="zh-CN" altLang="en-US" sz="2000" b="1" dirty="0">
                <a:solidFill>
                  <a:schemeClr val="accent1"/>
                </a:solidFill>
              </a:rPr>
              <a:t>语言三种循环控制语句中的</a:t>
            </a:r>
            <a:r>
              <a:rPr lang="en-US" altLang="zh-CN" sz="2000" b="1" dirty="0">
                <a:solidFill>
                  <a:schemeClr val="accent1"/>
                </a:solidFill>
              </a:rPr>
              <a:t>while</a:t>
            </a:r>
            <a:r>
              <a:rPr lang="zh-CN" altLang="en-US" sz="2000" b="1" dirty="0">
                <a:solidFill>
                  <a:schemeClr val="accent1"/>
                </a:solidFill>
              </a:rPr>
              <a:t>与</a:t>
            </a:r>
            <a:r>
              <a:rPr lang="en-US" altLang="zh-CN" sz="2000" b="1" dirty="0">
                <a:solidFill>
                  <a:schemeClr val="accent1"/>
                </a:solidFill>
              </a:rPr>
              <a:t>do…while</a:t>
            </a:r>
            <a:r>
              <a:rPr lang="zh-CN" altLang="en-US" sz="2000" b="1" dirty="0">
                <a:solidFill>
                  <a:schemeClr val="accent1"/>
                </a:solidFill>
              </a:rPr>
              <a:t>语句的对比：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312F87-20CC-6031-7C54-F690C1378042}"/>
              </a:ext>
            </a:extLst>
          </p:cNvPr>
          <p:cNvSpPr/>
          <p:nvPr/>
        </p:nvSpPr>
        <p:spPr>
          <a:xfrm>
            <a:off x="608123" y="1690590"/>
            <a:ext cx="3778920" cy="8095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/>
              <a:t>while(</a:t>
            </a:r>
            <a:r>
              <a:rPr lang="zh-CN" altLang="en-US" b="1" dirty="0"/>
              <a:t>表达式</a:t>
            </a:r>
            <a:r>
              <a:rPr lang="en-US" altLang="zh-CN" b="1" dirty="0"/>
              <a:t>) 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语句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13D914-425B-645F-9BB3-E7678B6D344E}"/>
              </a:ext>
            </a:extLst>
          </p:cNvPr>
          <p:cNvGrpSpPr/>
          <p:nvPr/>
        </p:nvGrpSpPr>
        <p:grpSpPr>
          <a:xfrm>
            <a:off x="608123" y="2619494"/>
            <a:ext cx="3699484" cy="2564296"/>
            <a:chOff x="8507896" y="834887"/>
            <a:chExt cx="2991678" cy="2564296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A1253D28-EDFD-44D5-B0D2-46B5FD00513B}"/>
                </a:ext>
              </a:extLst>
            </p:cNvPr>
            <p:cNvCxnSpPr/>
            <p:nvPr/>
          </p:nvCxnSpPr>
          <p:spPr>
            <a:xfrm>
              <a:off x="9896640" y="834887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图: 决策 10">
              <a:extLst>
                <a:ext uri="{FF2B5EF4-FFF2-40B4-BE49-F238E27FC236}">
                  <a16:creationId xmlns:a16="http://schemas.microsoft.com/office/drawing/2014/main" id="{0C169150-AC08-2599-5637-6E93E0D62AE0}"/>
                </a:ext>
              </a:extLst>
            </p:cNvPr>
            <p:cNvSpPr/>
            <p:nvPr/>
          </p:nvSpPr>
          <p:spPr>
            <a:xfrm>
              <a:off x="8812027" y="1316366"/>
              <a:ext cx="2169225" cy="42072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表达式</a:t>
              </a:r>
              <a:endParaRPr lang="zh-CN" altLang="en-US" sz="1600" dirty="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B01A3C1-D226-8E46-3C58-C0109A93F0EB}"/>
                </a:ext>
              </a:extLst>
            </p:cNvPr>
            <p:cNvCxnSpPr/>
            <p:nvPr/>
          </p:nvCxnSpPr>
          <p:spPr>
            <a:xfrm>
              <a:off x="9896639" y="1737089"/>
              <a:ext cx="0" cy="34656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A61C74-3090-D0FD-4E2A-B65A42E2363B}"/>
                </a:ext>
              </a:extLst>
            </p:cNvPr>
            <p:cNvSpPr/>
            <p:nvPr/>
          </p:nvSpPr>
          <p:spPr>
            <a:xfrm>
              <a:off x="9462052" y="2083654"/>
              <a:ext cx="884583" cy="430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语句</a:t>
              </a:r>
            </a:p>
          </p:txBody>
        </p:sp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F0ED1031-DF90-C2E3-0461-F1741EF42F89}"/>
                </a:ext>
              </a:extLst>
            </p:cNvPr>
            <p:cNvSpPr/>
            <p:nvPr/>
          </p:nvSpPr>
          <p:spPr>
            <a:xfrm>
              <a:off x="9909313" y="1003852"/>
              <a:ext cx="1590261" cy="1808922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7">
              <a:extLst>
                <a:ext uri="{FF2B5EF4-FFF2-40B4-BE49-F238E27FC236}">
                  <a16:creationId xmlns:a16="http://schemas.microsoft.com/office/drawing/2014/main" id="{648F46BF-9EFA-3777-39F2-AFD8A52E78F8}"/>
                </a:ext>
              </a:extLst>
            </p:cNvPr>
            <p:cNvSpPr/>
            <p:nvPr/>
          </p:nvSpPr>
          <p:spPr>
            <a:xfrm>
              <a:off x="8547652" y="1530626"/>
              <a:ext cx="1371600" cy="1868557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D2F6CAE-54F3-BAB5-8B94-C913B08A6018}"/>
                </a:ext>
              </a:extLst>
            </p:cNvPr>
            <p:cNvSpPr txBox="1"/>
            <p:nvPr/>
          </p:nvSpPr>
          <p:spPr>
            <a:xfrm>
              <a:off x="9871792" y="172570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829409D-4304-37B9-D9F6-86DA5FE7963F}"/>
                </a:ext>
              </a:extLst>
            </p:cNvPr>
            <p:cNvSpPr txBox="1"/>
            <p:nvPr/>
          </p:nvSpPr>
          <p:spPr>
            <a:xfrm>
              <a:off x="8507896" y="122326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64FFB45-B797-33E1-ADF0-4D1E3C2A54B7}"/>
              </a:ext>
            </a:extLst>
          </p:cNvPr>
          <p:cNvGrpSpPr/>
          <p:nvPr/>
        </p:nvGrpSpPr>
        <p:grpSpPr>
          <a:xfrm>
            <a:off x="608122" y="5396254"/>
            <a:ext cx="3778921" cy="1241048"/>
            <a:chOff x="8582294" y="4088154"/>
            <a:chExt cx="2917280" cy="2262952"/>
          </a:xfrm>
        </p:grpSpPr>
        <p:sp>
          <p:nvSpPr>
            <p:cNvPr id="31" name="MH_Other_1">
              <a:extLst>
                <a:ext uri="{FF2B5EF4-FFF2-40B4-BE49-F238E27FC236}">
                  <a16:creationId xmlns:a16="http://schemas.microsoft.com/office/drawing/2014/main" id="{5BB56E94-4BD5-394A-1D8A-8E543D27DB3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32" name="MH_SubTitle_1">
              <a:extLst>
                <a:ext uri="{FF2B5EF4-FFF2-40B4-BE49-F238E27FC236}">
                  <a16:creationId xmlns:a16="http://schemas.microsoft.com/office/drawing/2014/main" id="{2320E9EA-5530-B0B7-41D4-63F98CBD1CF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371543" y="4088154"/>
              <a:ext cx="2128031" cy="226295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while循环的特点是先判断条件表达式，后执行循环体语句。</a:t>
              </a:r>
            </a:p>
            <a:p>
              <a:pPr>
                <a:lnSpc>
                  <a:spcPct val="130000"/>
                </a:lnSpc>
                <a:defRPr/>
              </a:pPr>
              <a:endParaRPr lang="zh-CN" altLang="en-US" dirty="0">
                <a:solidFill>
                  <a:srgbClr val="1C1C1C"/>
                </a:solidFill>
              </a:endParaRPr>
            </a:p>
          </p:txBody>
        </p:sp>
        <p:sp>
          <p:nvSpPr>
            <p:cNvPr id="33" name="MH_Other_2">
              <a:extLst>
                <a:ext uri="{FF2B5EF4-FFF2-40B4-BE49-F238E27FC236}">
                  <a16:creationId xmlns:a16="http://schemas.microsoft.com/office/drawing/2014/main" id="{68D7D539-C92F-2318-15C4-D72514A52A6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11197949" y="6049481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01A0180E-7495-A564-B1D1-8DBE981ADF40}"/>
              </a:ext>
            </a:extLst>
          </p:cNvPr>
          <p:cNvSpPr/>
          <p:nvPr/>
        </p:nvSpPr>
        <p:spPr>
          <a:xfrm>
            <a:off x="6740288" y="1669988"/>
            <a:ext cx="3778921" cy="809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altLang="zh-CN" b="1" dirty="0"/>
              <a:t>	do</a:t>
            </a:r>
          </a:p>
          <a:p>
            <a:pPr defTabSz="536575"/>
            <a:r>
              <a:rPr lang="en-US" altLang="zh-CN" b="1" dirty="0"/>
              <a:t>			</a:t>
            </a:r>
            <a:r>
              <a:rPr lang="zh-CN" altLang="en-US" b="1" dirty="0"/>
              <a:t>语句</a:t>
            </a:r>
            <a:endParaRPr lang="en-US" altLang="zh-CN" b="1" dirty="0"/>
          </a:p>
          <a:p>
            <a:r>
              <a:rPr lang="en-US" altLang="zh-CN" b="1" dirty="0"/>
              <a:t>	while(</a:t>
            </a:r>
            <a:r>
              <a:rPr lang="zh-CN" altLang="en-US" b="1" dirty="0"/>
              <a:t>表达式</a:t>
            </a:r>
            <a:r>
              <a:rPr lang="en-US" altLang="zh-CN" b="1" dirty="0"/>
              <a:t>);</a:t>
            </a:r>
            <a:endParaRPr lang="zh-CN" altLang="en-US" b="1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34C80E4-436E-04B1-6260-F1F47C85C173}"/>
              </a:ext>
            </a:extLst>
          </p:cNvPr>
          <p:cNvGrpSpPr/>
          <p:nvPr/>
        </p:nvGrpSpPr>
        <p:grpSpPr>
          <a:xfrm>
            <a:off x="6740287" y="5396254"/>
            <a:ext cx="3778921" cy="1250209"/>
            <a:chOff x="8582294" y="4088154"/>
            <a:chExt cx="2917280" cy="2262952"/>
          </a:xfrm>
        </p:grpSpPr>
        <p:sp>
          <p:nvSpPr>
            <p:cNvPr id="44" name="MH_Other_1">
              <a:extLst>
                <a:ext uri="{FF2B5EF4-FFF2-40B4-BE49-F238E27FC236}">
                  <a16:creationId xmlns:a16="http://schemas.microsoft.com/office/drawing/2014/main" id="{87847F91-C1CD-A537-5841-23BDC6285B5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45" name="MH_SubTitle_1">
              <a:extLst>
                <a:ext uri="{FF2B5EF4-FFF2-40B4-BE49-F238E27FC236}">
                  <a16:creationId xmlns:a16="http://schemas.microsoft.com/office/drawing/2014/main" id="{FC8930A1-AFA4-6FB7-2979-21C797BB500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371543" y="4088154"/>
              <a:ext cx="2128031" cy="226295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do…while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语句的特点是先无条件地执行循环体，然后判断循环条件是否成立。</a:t>
              </a:r>
              <a:endParaRPr lang="zh-CN" altLang="en-US" dirty="0">
                <a:solidFill>
                  <a:srgbClr val="1C1C1C"/>
                </a:solidFill>
              </a:endParaRPr>
            </a:p>
          </p:txBody>
        </p:sp>
        <p:sp>
          <p:nvSpPr>
            <p:cNvPr id="46" name="MH_Other_2">
              <a:extLst>
                <a:ext uri="{FF2B5EF4-FFF2-40B4-BE49-F238E27FC236}">
                  <a16:creationId xmlns:a16="http://schemas.microsoft.com/office/drawing/2014/main" id="{3F1D19BE-A9EB-234A-32A3-07F63302E02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1197949" y="6049481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FC5EEE0-16C3-590F-F4DF-90F1EAA9A26E}"/>
              </a:ext>
            </a:extLst>
          </p:cNvPr>
          <p:cNvGrpSpPr/>
          <p:nvPr/>
        </p:nvGrpSpPr>
        <p:grpSpPr>
          <a:xfrm>
            <a:off x="6740287" y="2619494"/>
            <a:ext cx="3778931" cy="2564295"/>
            <a:chOff x="6740287" y="2788459"/>
            <a:chExt cx="3778931" cy="2225198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5CAAD1CD-AB51-EA75-73E7-C0A003B46FEA}"/>
                </a:ext>
              </a:extLst>
            </p:cNvPr>
            <p:cNvGrpSpPr/>
            <p:nvPr/>
          </p:nvGrpSpPr>
          <p:grpSpPr>
            <a:xfrm>
              <a:off x="6956328" y="3346722"/>
              <a:ext cx="3562890" cy="1666935"/>
              <a:chOff x="8582294" y="539552"/>
              <a:chExt cx="2398958" cy="1666935"/>
            </a:xfrm>
          </p:grpSpPr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38CC26C5-5E22-8B32-9F09-DC0C0A7012A2}"/>
                  </a:ext>
                </a:extLst>
              </p:cNvPr>
              <p:cNvCxnSpPr/>
              <p:nvPr/>
            </p:nvCxnSpPr>
            <p:spPr>
              <a:xfrm>
                <a:off x="9896640" y="834887"/>
                <a:ext cx="0" cy="481479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流程图: 决策 36">
                <a:extLst>
                  <a:ext uri="{FF2B5EF4-FFF2-40B4-BE49-F238E27FC236}">
                    <a16:creationId xmlns:a16="http://schemas.microsoft.com/office/drawing/2014/main" id="{735C7AC5-3E4E-9007-F4D1-BD5C2BC5CFA5}"/>
                  </a:ext>
                </a:extLst>
              </p:cNvPr>
              <p:cNvSpPr/>
              <p:nvPr/>
            </p:nvSpPr>
            <p:spPr>
              <a:xfrm>
                <a:off x="8812027" y="1316366"/>
                <a:ext cx="2169225" cy="420723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表达式</a:t>
                </a:r>
                <a:endParaRPr lang="zh-CN" altLang="en-US" sz="1600" dirty="0"/>
              </a:p>
            </p:txBody>
          </p: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2B55EB2D-4C6C-B9C4-3AA1-E13FDD7F87FA}"/>
                  </a:ext>
                </a:extLst>
              </p:cNvPr>
              <p:cNvCxnSpPr/>
              <p:nvPr/>
            </p:nvCxnSpPr>
            <p:spPr>
              <a:xfrm>
                <a:off x="9896639" y="1737089"/>
                <a:ext cx="0" cy="4693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1BCD226-53EB-E869-8CF1-CAFCF20B2369}"/>
                  </a:ext>
                </a:extLst>
              </p:cNvPr>
              <p:cNvSpPr/>
              <p:nvPr/>
            </p:nvSpPr>
            <p:spPr>
              <a:xfrm>
                <a:off x="9454347" y="539552"/>
                <a:ext cx="884583" cy="4309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语句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3375689-8641-49CC-8691-542D3E4A3032}"/>
                  </a:ext>
                </a:extLst>
              </p:cNvPr>
              <p:cNvSpPr txBox="1"/>
              <p:nvPr/>
            </p:nvSpPr>
            <p:spPr>
              <a:xfrm>
                <a:off x="8582294" y="1178324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Y</a:t>
                </a:r>
                <a:endParaRPr lang="zh-CN" altLang="en-US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E6BA6D4-BFA8-AF4E-EB82-9AA2F726CEC2}"/>
                  </a:ext>
                </a:extLst>
              </p:cNvPr>
              <p:cNvSpPr txBox="1"/>
              <p:nvPr/>
            </p:nvSpPr>
            <p:spPr>
              <a:xfrm>
                <a:off x="9897773" y="1658221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N</a:t>
                </a:r>
                <a:endParaRPr lang="zh-CN" altLang="en-US"/>
              </a:p>
            </p:txBody>
          </p:sp>
        </p:grp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98BD826-1EC1-DF8E-0935-B50E8F7EF3EA}"/>
                </a:ext>
              </a:extLst>
            </p:cNvPr>
            <p:cNvCxnSpPr>
              <a:cxnSpLocks/>
            </p:cNvCxnSpPr>
            <p:nvPr/>
          </p:nvCxnSpPr>
          <p:spPr>
            <a:xfrm>
              <a:off x="8908362" y="2788459"/>
              <a:ext cx="0" cy="55325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任意多边形 2">
              <a:extLst>
                <a:ext uri="{FF2B5EF4-FFF2-40B4-BE49-F238E27FC236}">
                  <a16:creationId xmlns:a16="http://schemas.microsoft.com/office/drawing/2014/main" id="{6F1C8F5F-26AA-F7D7-5F0E-78017E98159B}"/>
                </a:ext>
              </a:extLst>
            </p:cNvPr>
            <p:cNvSpPr/>
            <p:nvPr/>
          </p:nvSpPr>
          <p:spPr>
            <a:xfrm>
              <a:off x="6740287" y="3007872"/>
              <a:ext cx="2168068" cy="1331843"/>
            </a:xfrm>
            <a:custGeom>
              <a:avLst/>
              <a:gdLst>
                <a:gd name="connsiteX0" fmla="*/ 596347 w 1699591"/>
                <a:gd name="connsiteY0" fmla="*/ 1311965 h 1311965"/>
                <a:gd name="connsiteX1" fmla="*/ 0 w 1699591"/>
                <a:gd name="connsiteY1" fmla="*/ 1311965 h 1311965"/>
                <a:gd name="connsiteX2" fmla="*/ 0 w 1699591"/>
                <a:gd name="connsiteY2" fmla="*/ 0 h 1311965"/>
                <a:gd name="connsiteX3" fmla="*/ 1699591 w 1699591"/>
                <a:gd name="connsiteY3" fmla="*/ 0 h 1311965"/>
                <a:gd name="connsiteX4" fmla="*/ 1699591 w 1699591"/>
                <a:gd name="connsiteY4" fmla="*/ 327991 h 131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591" h="1311965">
                  <a:moveTo>
                    <a:pt x="596347" y="1311965"/>
                  </a:moveTo>
                  <a:lnTo>
                    <a:pt x="0" y="1311965"/>
                  </a:lnTo>
                  <a:lnTo>
                    <a:pt x="0" y="0"/>
                  </a:lnTo>
                  <a:lnTo>
                    <a:pt x="1699591" y="0"/>
                  </a:lnTo>
                  <a:lnTo>
                    <a:pt x="1699591" y="327991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A7AE5060-9368-EB59-1B9C-CB1FAB6BE11A}"/>
                </a:ext>
              </a:extLst>
            </p:cNvPr>
            <p:cNvCxnSpPr>
              <a:cxnSpLocks/>
            </p:cNvCxnSpPr>
            <p:nvPr/>
          </p:nvCxnSpPr>
          <p:spPr>
            <a:xfrm>
              <a:off x="8091206" y="3007872"/>
              <a:ext cx="817149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257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5C4AD-EACC-1F58-EDF2-55726409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7058A7E-45E3-5ED4-EC7A-1054250ED0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循环简单示例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6EF181-3F4C-9563-0CA6-7CED05888FF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1600F60-BE2C-43E1-548F-36BA9A17D302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分别用</a:t>
            </a:r>
            <a:r>
              <a:rPr lang="en-US" altLang="zh-CN" sz="2400" dirty="0"/>
              <a:t>while</a:t>
            </a:r>
            <a:r>
              <a:rPr lang="zh-CN" altLang="en-US" sz="2400" dirty="0"/>
              <a:t>和</a:t>
            </a:r>
            <a:r>
              <a:rPr lang="en-US" altLang="zh-CN" sz="2400" dirty="0"/>
              <a:t>do…while</a:t>
            </a:r>
            <a:r>
              <a:rPr lang="zh-CN" altLang="en-US" sz="2400" dirty="0"/>
              <a:t>实现</a:t>
            </a:r>
            <a:r>
              <a:rPr lang="en-US" altLang="zh-CN" sz="2400" dirty="0"/>
              <a:t>1~10</a:t>
            </a:r>
            <a:r>
              <a:rPr lang="zh-CN" altLang="en-US" sz="2400" dirty="0"/>
              <a:t>求和</a:t>
            </a:r>
          </a:p>
        </p:txBody>
      </p:sp>
      <p:sp>
        <p:nvSpPr>
          <p:cNvPr id="8" name="圆角矩形 12">
            <a:extLst>
              <a:ext uri="{FF2B5EF4-FFF2-40B4-BE49-F238E27FC236}">
                <a16:creationId xmlns:a16="http://schemas.microsoft.com/office/drawing/2014/main" id="{C2F64D44-B2C2-B518-BBBE-1FE876DFAEE0}"/>
              </a:ext>
            </a:extLst>
          </p:cNvPr>
          <p:cNvSpPr/>
          <p:nvPr/>
        </p:nvSpPr>
        <p:spPr>
          <a:xfrm>
            <a:off x="1014540" y="900313"/>
            <a:ext cx="3344534" cy="3205060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=1,sum=0;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while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&lt;=10)			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{					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	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;	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++;				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}					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</a:t>
            </a:r>
            <a:r>
              <a:rPr lang="en-US" altLang="zh-CN" sz="1400" dirty="0" err="1"/>
              <a:t>n",sum</a:t>
            </a:r>
            <a:r>
              <a:rPr lang="en-US" altLang="zh-CN" sz="1400" dirty="0"/>
              <a:t>);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F4BD18F-ECC9-41B3-C550-C7CDD15B3D49}"/>
              </a:ext>
            </a:extLst>
          </p:cNvPr>
          <p:cNvGrpSpPr/>
          <p:nvPr/>
        </p:nvGrpSpPr>
        <p:grpSpPr>
          <a:xfrm>
            <a:off x="1112363" y="4235880"/>
            <a:ext cx="3176833" cy="2519313"/>
            <a:chOff x="8335830" y="2067392"/>
            <a:chExt cx="2825070" cy="3140711"/>
          </a:xfrm>
        </p:grpSpPr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3AF4A69-CFC6-A3B8-8F41-5329860215E1}"/>
                </a:ext>
              </a:extLst>
            </p:cNvPr>
            <p:cNvCxnSpPr>
              <a:endCxn id="13" idx="0"/>
            </p:cNvCxnSpPr>
            <p:nvPr/>
          </p:nvCxnSpPr>
          <p:spPr>
            <a:xfrm>
              <a:off x="9727675" y="2703443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图: 决策 12">
              <a:extLst>
                <a:ext uri="{FF2B5EF4-FFF2-40B4-BE49-F238E27FC236}">
                  <a16:creationId xmlns:a16="http://schemas.microsoft.com/office/drawing/2014/main" id="{CA9B086B-BB66-21D9-F237-B931365529C7}"/>
                </a:ext>
              </a:extLst>
            </p:cNvPr>
            <p:cNvSpPr/>
            <p:nvPr/>
          </p:nvSpPr>
          <p:spPr>
            <a:xfrm>
              <a:off x="8643062" y="3184922"/>
              <a:ext cx="2169225" cy="50576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/>
                <a:t>i</a:t>
              </a:r>
              <a:r>
                <a:rPr lang="zh-CN" altLang="en-US" sz="1400" dirty="0"/>
                <a:t>≤</a:t>
              </a:r>
              <a:r>
                <a:rPr lang="en-US" altLang="zh-CN" sz="1400" dirty="0"/>
                <a:t>100</a:t>
              </a:r>
              <a:endParaRPr lang="zh-CN" altLang="en-US" sz="1400" dirty="0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94188D1-F956-1263-2178-F81DCC9A347D}"/>
                </a:ext>
              </a:extLst>
            </p:cNvPr>
            <p:cNvCxnSpPr/>
            <p:nvPr/>
          </p:nvCxnSpPr>
          <p:spPr>
            <a:xfrm>
              <a:off x="9727674" y="3605645"/>
              <a:ext cx="0" cy="4166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93022EE-EB3D-CC17-A140-6731F5BBAEC1}"/>
                </a:ext>
              </a:extLst>
            </p:cNvPr>
            <p:cNvSpPr/>
            <p:nvPr/>
          </p:nvSpPr>
          <p:spPr>
            <a:xfrm>
              <a:off x="9026965" y="4022260"/>
              <a:ext cx="1409122" cy="5180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sum=</a:t>
              </a:r>
              <a:r>
                <a:rPr lang="en-US" altLang="zh-CN" sz="1400" dirty="0" err="1"/>
                <a:t>sum+i</a:t>
              </a:r>
              <a:endParaRPr lang="en-US" altLang="zh-CN" sz="1400" dirty="0"/>
            </a:p>
            <a:p>
              <a:pPr algn="ctr"/>
              <a:r>
                <a:rPr lang="en-US" altLang="zh-CN" sz="1400" dirty="0" err="1"/>
                <a:t>i</a:t>
              </a:r>
              <a:r>
                <a:rPr lang="en-US" altLang="zh-CN" sz="1400" dirty="0"/>
                <a:t>=i+1</a:t>
              </a:r>
              <a:endParaRPr lang="zh-CN" altLang="en-US" sz="1400" dirty="0"/>
            </a:p>
          </p:txBody>
        </p:sp>
        <p:sp>
          <p:nvSpPr>
            <p:cNvPr id="16" name="任意多边形 38">
              <a:extLst>
                <a:ext uri="{FF2B5EF4-FFF2-40B4-BE49-F238E27FC236}">
                  <a16:creationId xmlns:a16="http://schemas.microsoft.com/office/drawing/2014/main" id="{EB5BE5FB-9E30-C458-8BB7-B6928BED2B78}"/>
                </a:ext>
              </a:extLst>
            </p:cNvPr>
            <p:cNvSpPr/>
            <p:nvPr/>
          </p:nvSpPr>
          <p:spPr>
            <a:xfrm flipH="1">
              <a:off x="8335830" y="2882348"/>
              <a:ext cx="1402449" cy="1928191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39">
              <a:extLst>
                <a:ext uri="{FF2B5EF4-FFF2-40B4-BE49-F238E27FC236}">
                  <a16:creationId xmlns:a16="http://schemas.microsoft.com/office/drawing/2014/main" id="{97FAD534-2B9D-B017-4553-14DF1D3E7535}"/>
                </a:ext>
              </a:extLst>
            </p:cNvPr>
            <p:cNvSpPr/>
            <p:nvPr/>
          </p:nvSpPr>
          <p:spPr>
            <a:xfrm flipH="1">
              <a:off x="9739649" y="3426720"/>
              <a:ext cx="1312664" cy="1781383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3DF6F3A-B84A-4FB5-B942-16B53F8C0A10}"/>
                </a:ext>
              </a:extLst>
            </p:cNvPr>
            <p:cNvSpPr txBox="1"/>
            <p:nvPr/>
          </p:nvSpPr>
          <p:spPr>
            <a:xfrm>
              <a:off x="9676899" y="3631759"/>
              <a:ext cx="474843" cy="383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真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B5FCA25-B143-DB38-D146-601F6C187C9B}"/>
                </a:ext>
              </a:extLst>
            </p:cNvPr>
            <p:cNvSpPr txBox="1"/>
            <p:nvPr/>
          </p:nvSpPr>
          <p:spPr>
            <a:xfrm>
              <a:off x="10703700" y="3068471"/>
              <a:ext cx="457200" cy="383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假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35CF036-35E0-F204-982B-9D1C04898215}"/>
                </a:ext>
              </a:extLst>
            </p:cNvPr>
            <p:cNvSpPr/>
            <p:nvPr/>
          </p:nvSpPr>
          <p:spPr>
            <a:xfrm>
              <a:off x="9293087" y="2067392"/>
              <a:ext cx="884583" cy="637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sum=0</a:t>
              </a:r>
            </a:p>
            <a:p>
              <a:pPr algn="ctr"/>
              <a:r>
                <a:rPr lang="en-US" altLang="zh-CN" sz="1400" dirty="0" err="1"/>
                <a:t>i</a:t>
              </a:r>
              <a:r>
                <a:rPr lang="en-US" altLang="zh-CN" sz="1400" dirty="0"/>
                <a:t>=1</a:t>
              </a:r>
              <a:endParaRPr lang="zh-CN" altLang="en-US" sz="1400" dirty="0"/>
            </a:p>
          </p:txBody>
        </p:sp>
      </p:grpSp>
      <p:sp>
        <p:nvSpPr>
          <p:cNvPr id="22" name="圆角矩形 12">
            <a:extLst>
              <a:ext uri="{FF2B5EF4-FFF2-40B4-BE49-F238E27FC236}">
                <a16:creationId xmlns:a16="http://schemas.microsoft.com/office/drawing/2014/main" id="{DA233D6F-CAAA-43C5-C291-8DADFDFE9350}"/>
              </a:ext>
            </a:extLst>
          </p:cNvPr>
          <p:cNvSpPr/>
          <p:nvPr/>
        </p:nvSpPr>
        <p:spPr>
          <a:xfrm>
            <a:off x="7043154" y="836362"/>
            <a:ext cx="3337650" cy="3205060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=1,sum=0;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do</a:t>
            </a:r>
            <a:r>
              <a:rPr lang="en-US" altLang="zh-CN" sz="1400" dirty="0"/>
              <a:t>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}</a:t>
            </a:r>
            <a:r>
              <a:rPr lang="en-US" altLang="zh-CN" sz="1400" dirty="0">
                <a:solidFill>
                  <a:schemeClr val="accent6"/>
                </a:solidFill>
              </a:rPr>
              <a:t>while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&lt;=10);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</a:t>
            </a:r>
            <a:r>
              <a:rPr lang="en-US" altLang="zh-CN" sz="1400" dirty="0" err="1"/>
              <a:t>n",sum</a:t>
            </a:r>
            <a:r>
              <a:rPr lang="en-US" altLang="zh-CN" sz="14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834CF9C-5558-C4E5-20A0-6F3FB88FACE2}"/>
              </a:ext>
            </a:extLst>
          </p:cNvPr>
          <p:cNvGrpSpPr/>
          <p:nvPr/>
        </p:nvGrpSpPr>
        <p:grpSpPr>
          <a:xfrm>
            <a:off x="7043154" y="4235880"/>
            <a:ext cx="3184632" cy="2519314"/>
            <a:chOff x="8368748" y="836315"/>
            <a:chExt cx="2622402" cy="2996025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7A97A1E-20DB-7BAF-0D38-85BC17E477DA}"/>
                </a:ext>
              </a:extLst>
            </p:cNvPr>
            <p:cNvCxnSpPr>
              <a:endCxn id="25" idx="0"/>
            </p:cNvCxnSpPr>
            <p:nvPr/>
          </p:nvCxnSpPr>
          <p:spPr>
            <a:xfrm>
              <a:off x="9906538" y="1472366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流程图: 决策 24">
              <a:extLst>
                <a:ext uri="{FF2B5EF4-FFF2-40B4-BE49-F238E27FC236}">
                  <a16:creationId xmlns:a16="http://schemas.microsoft.com/office/drawing/2014/main" id="{D8EC85EC-0434-E6C4-7F53-0C6C25341A6E}"/>
                </a:ext>
              </a:extLst>
            </p:cNvPr>
            <p:cNvSpPr/>
            <p:nvPr/>
          </p:nvSpPr>
          <p:spPr>
            <a:xfrm>
              <a:off x="8821925" y="2888352"/>
              <a:ext cx="2169225" cy="50576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/>
                <a:t>i</a:t>
              </a:r>
              <a:r>
                <a:rPr lang="zh-CN" altLang="en-US" sz="1400" dirty="0"/>
                <a:t>≤</a:t>
              </a:r>
              <a:r>
                <a:rPr lang="en-US" altLang="zh-CN" sz="1400" dirty="0"/>
                <a:t>100</a:t>
              </a:r>
              <a:endParaRPr lang="zh-CN" altLang="en-US" sz="1400" dirty="0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8175F0C7-05B0-131A-5030-95F66E0419FC}"/>
                </a:ext>
              </a:extLst>
            </p:cNvPr>
            <p:cNvCxnSpPr/>
            <p:nvPr/>
          </p:nvCxnSpPr>
          <p:spPr>
            <a:xfrm>
              <a:off x="9906538" y="2473137"/>
              <a:ext cx="0" cy="4166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AA468FC-A731-A946-2A24-D92976A1FC70}"/>
                </a:ext>
              </a:extLst>
            </p:cNvPr>
            <p:cNvSpPr/>
            <p:nvPr/>
          </p:nvSpPr>
          <p:spPr>
            <a:xfrm>
              <a:off x="9209680" y="1958828"/>
              <a:ext cx="1409122" cy="5180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sum=</a:t>
              </a:r>
              <a:r>
                <a:rPr lang="en-US" altLang="zh-CN" sz="1400" dirty="0" err="1"/>
                <a:t>sum+i</a:t>
              </a:r>
              <a:endParaRPr lang="en-US" altLang="zh-CN" sz="1400" dirty="0"/>
            </a:p>
            <a:p>
              <a:pPr algn="ctr"/>
              <a:r>
                <a:rPr lang="en-US" altLang="zh-CN" sz="1400" dirty="0" err="1"/>
                <a:t>i</a:t>
              </a:r>
              <a:r>
                <a:rPr lang="en-US" altLang="zh-CN" sz="1400" dirty="0"/>
                <a:t>=i+1</a:t>
              </a:r>
              <a:endParaRPr lang="zh-CN" altLang="en-US" sz="14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2625BCF-A327-D602-5806-94539BFA8FDF}"/>
                </a:ext>
              </a:extLst>
            </p:cNvPr>
            <p:cNvSpPr txBox="1"/>
            <p:nvPr/>
          </p:nvSpPr>
          <p:spPr>
            <a:xfrm>
              <a:off x="8509016" y="2818533"/>
              <a:ext cx="474843" cy="300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真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33754AA-A0EF-CB43-01F7-5742094A3B5B}"/>
                </a:ext>
              </a:extLst>
            </p:cNvPr>
            <p:cNvSpPr txBox="1"/>
            <p:nvPr/>
          </p:nvSpPr>
          <p:spPr>
            <a:xfrm>
              <a:off x="9899333" y="3426720"/>
              <a:ext cx="457200" cy="300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假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39D3383-ABFA-7261-98FA-92D1EE882A36}"/>
                </a:ext>
              </a:extLst>
            </p:cNvPr>
            <p:cNvSpPr/>
            <p:nvPr/>
          </p:nvSpPr>
          <p:spPr>
            <a:xfrm>
              <a:off x="9471950" y="836315"/>
              <a:ext cx="884583" cy="637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sum=0</a:t>
              </a:r>
            </a:p>
            <a:p>
              <a:pPr algn="ctr"/>
              <a:r>
                <a:rPr lang="en-US" altLang="zh-CN" sz="1400" dirty="0" err="1"/>
                <a:t>i</a:t>
              </a:r>
              <a:r>
                <a:rPr lang="en-US" altLang="zh-CN" sz="1400" dirty="0"/>
                <a:t>=1</a:t>
              </a:r>
              <a:endParaRPr lang="zh-CN" altLang="en-US" sz="1400" dirty="0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D768506-46AC-1A62-CBD5-1E67364A4A98}"/>
                </a:ext>
              </a:extLst>
            </p:cNvPr>
            <p:cNvCxnSpPr/>
            <p:nvPr/>
          </p:nvCxnSpPr>
          <p:spPr>
            <a:xfrm>
              <a:off x="9914241" y="3350861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任意多边形 3">
              <a:extLst>
                <a:ext uri="{FF2B5EF4-FFF2-40B4-BE49-F238E27FC236}">
                  <a16:creationId xmlns:a16="http://schemas.microsoft.com/office/drawing/2014/main" id="{25FB59D5-E84B-C1C5-35D4-9A8437E811CC}"/>
                </a:ext>
              </a:extLst>
            </p:cNvPr>
            <p:cNvSpPr/>
            <p:nvPr/>
          </p:nvSpPr>
          <p:spPr>
            <a:xfrm>
              <a:off x="8368748" y="1669774"/>
              <a:ext cx="1530626" cy="1480930"/>
            </a:xfrm>
            <a:custGeom>
              <a:avLst/>
              <a:gdLst>
                <a:gd name="connsiteX0" fmla="*/ 477078 w 1530626"/>
                <a:gd name="connsiteY0" fmla="*/ 1461052 h 1461052"/>
                <a:gd name="connsiteX1" fmla="*/ 0 w 1530626"/>
                <a:gd name="connsiteY1" fmla="*/ 1461052 h 1461052"/>
                <a:gd name="connsiteX2" fmla="*/ 0 w 1530626"/>
                <a:gd name="connsiteY2" fmla="*/ 0 h 1461052"/>
                <a:gd name="connsiteX3" fmla="*/ 1530626 w 1530626"/>
                <a:gd name="connsiteY3" fmla="*/ 0 h 146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0626" h="1461052">
                  <a:moveTo>
                    <a:pt x="477078" y="1461052"/>
                  </a:moveTo>
                  <a:lnTo>
                    <a:pt x="0" y="1461052"/>
                  </a:lnTo>
                  <a:lnTo>
                    <a:pt x="0" y="0"/>
                  </a:lnTo>
                  <a:lnTo>
                    <a:pt x="1530626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5C8642D6-DE39-9A10-B9A8-BDC5E978BEB0}"/>
              </a:ext>
            </a:extLst>
          </p:cNvPr>
          <p:cNvSpPr/>
          <p:nvPr/>
        </p:nvSpPr>
        <p:spPr>
          <a:xfrm>
            <a:off x="5108861" y="2041177"/>
            <a:ext cx="11079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zh-CN" altLang="en-US" sz="5400" b="1" cap="none" spc="0" dirty="0">
              <a:ln w="0"/>
              <a:solidFill>
                <a:srgbClr val="00B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01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4C4F-D361-1625-83BB-C717A5D3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C25EE9-A0A6-EA5C-8AEA-6A7392B8D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循环简单示例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0D1346-E0DC-8489-C474-F26417BD345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29C5427-74A3-3F6B-038F-951D86C1A281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while</a:t>
            </a:r>
            <a:r>
              <a:rPr lang="zh-CN" altLang="en-US" sz="2400" dirty="0"/>
              <a:t>和</a:t>
            </a:r>
            <a:r>
              <a:rPr lang="en-US" altLang="zh-CN" sz="2400" dirty="0"/>
              <a:t>do…while</a:t>
            </a:r>
            <a:r>
              <a:rPr lang="zh-CN" altLang="en-US" sz="2400" dirty="0"/>
              <a:t>循环比较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838828-4B2E-2809-F30F-3E933B9BFB3C}"/>
              </a:ext>
            </a:extLst>
          </p:cNvPr>
          <p:cNvGrpSpPr/>
          <p:nvPr/>
        </p:nvGrpSpPr>
        <p:grpSpPr>
          <a:xfrm flipH="1">
            <a:off x="4307473" y="3902390"/>
            <a:ext cx="3934761" cy="2044461"/>
            <a:chOff x="3847381" y="1798194"/>
            <a:chExt cx="3838036" cy="1893652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4219B11-D78F-2567-880F-525F2381B696}"/>
                </a:ext>
              </a:extLst>
            </p:cNvPr>
            <p:cNvSpPr/>
            <p:nvPr/>
          </p:nvSpPr>
          <p:spPr>
            <a:xfrm>
              <a:off x="7314482" y="1798194"/>
              <a:ext cx="370935" cy="189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4D40EC-F16E-8AFC-3E28-07B39B1D2F92}"/>
                </a:ext>
              </a:extLst>
            </p:cNvPr>
            <p:cNvSpPr/>
            <p:nvPr/>
          </p:nvSpPr>
          <p:spPr>
            <a:xfrm>
              <a:off x="3847381" y="1798195"/>
              <a:ext cx="3666227" cy="18936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16573C0-75F5-B082-209B-89481FBA054C}"/>
              </a:ext>
            </a:extLst>
          </p:cNvPr>
          <p:cNvGrpSpPr/>
          <p:nvPr/>
        </p:nvGrpSpPr>
        <p:grpSpPr>
          <a:xfrm>
            <a:off x="3925798" y="1722318"/>
            <a:ext cx="3856386" cy="2044461"/>
            <a:chOff x="3847381" y="1798194"/>
            <a:chExt cx="3838036" cy="189365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29BDCDD-6DBF-FEA7-AC7E-30847D04A29E}"/>
                </a:ext>
              </a:extLst>
            </p:cNvPr>
            <p:cNvSpPr/>
            <p:nvPr/>
          </p:nvSpPr>
          <p:spPr>
            <a:xfrm>
              <a:off x="7314482" y="1798194"/>
              <a:ext cx="370935" cy="189365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A05B8C7-56E8-E997-6BA0-5B70115D96C8}"/>
                </a:ext>
              </a:extLst>
            </p:cNvPr>
            <p:cNvSpPr/>
            <p:nvPr/>
          </p:nvSpPr>
          <p:spPr>
            <a:xfrm>
              <a:off x="3847381" y="1798195"/>
              <a:ext cx="3666227" cy="189365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圆角矩形 12">
            <a:extLst>
              <a:ext uri="{FF2B5EF4-FFF2-40B4-BE49-F238E27FC236}">
                <a16:creationId xmlns:a16="http://schemas.microsoft.com/office/drawing/2014/main" id="{62781109-06D6-F60C-6699-4D11D612FE0F}"/>
              </a:ext>
            </a:extLst>
          </p:cNvPr>
          <p:cNvSpPr/>
          <p:nvPr/>
        </p:nvSpPr>
        <p:spPr>
          <a:xfrm>
            <a:off x="824164" y="1661117"/>
            <a:ext cx="3023218" cy="4320000"/>
          </a:xfrm>
          <a:prstGeom prst="roundRect">
            <a:avLst>
              <a:gd name="adj" fmla="val 184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int </a:t>
            </a:r>
            <a:r>
              <a:rPr lang="en-US" altLang="zh-CN" sz="1600" dirty="0" err="1"/>
              <a:t>i,sum</a:t>
            </a:r>
            <a:r>
              <a:rPr lang="en-US" altLang="zh-CN" sz="1600" dirty="0"/>
              <a:t>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("please enter </a:t>
            </a:r>
            <a:r>
              <a:rPr lang="en-US" altLang="zh-CN" sz="1600" dirty="0" err="1"/>
              <a:t>i,i</a:t>
            </a:r>
            <a:r>
              <a:rPr lang="en-US" altLang="zh-CN" sz="1600" dirty="0"/>
              <a:t>=?");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("%d",&amp;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while(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&lt;=10)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	sum=</a:t>
            </a:r>
            <a:r>
              <a:rPr lang="en-US" altLang="zh-CN" sz="1600" dirty="0" err="1"/>
              <a:t>sum+i</a:t>
            </a:r>
            <a:r>
              <a:rPr lang="en-US" altLang="zh-CN" sz="16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	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("sum=%d\</a:t>
            </a:r>
            <a:r>
              <a:rPr lang="en-US" altLang="zh-CN" sz="1600" dirty="0" err="1"/>
              <a:t>n",sum</a:t>
            </a:r>
            <a:r>
              <a:rPr lang="en-US" altLang="zh-CN" sz="16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}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6B6DDDBF-7493-BE63-13CF-BC9E9A9903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90482" y="1882566"/>
            <a:ext cx="3571875" cy="88582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EF65918-2047-47D6-C0F1-EE26611167E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90481" y="2768391"/>
            <a:ext cx="3571875" cy="890522"/>
          </a:xfrm>
          <a:prstGeom prst="rect">
            <a:avLst/>
          </a:prstGeom>
        </p:spPr>
      </p:pic>
      <p:sp>
        <p:nvSpPr>
          <p:cNvPr id="37" name="圆角矩形 21">
            <a:extLst>
              <a:ext uri="{FF2B5EF4-FFF2-40B4-BE49-F238E27FC236}">
                <a16:creationId xmlns:a16="http://schemas.microsoft.com/office/drawing/2014/main" id="{C7558FF2-69F9-914B-85FE-635BEE18610A}"/>
              </a:ext>
            </a:extLst>
          </p:cNvPr>
          <p:cNvSpPr/>
          <p:nvPr/>
        </p:nvSpPr>
        <p:spPr>
          <a:xfrm>
            <a:off x="8320278" y="1661116"/>
            <a:ext cx="3024000" cy="4320001"/>
          </a:xfrm>
          <a:prstGeom prst="roundRect">
            <a:avLst>
              <a:gd name="adj" fmla="val 184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int </a:t>
            </a:r>
            <a:r>
              <a:rPr lang="en-US" altLang="zh-CN" sz="1600" dirty="0" err="1"/>
              <a:t>i,sum</a:t>
            </a:r>
            <a:r>
              <a:rPr lang="en-US" altLang="zh-CN" sz="1600" dirty="0"/>
              <a:t>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("please enter </a:t>
            </a:r>
            <a:r>
              <a:rPr lang="en-US" altLang="zh-CN" sz="1600" dirty="0" err="1"/>
              <a:t>i,i</a:t>
            </a:r>
            <a:r>
              <a:rPr lang="en-US" altLang="zh-CN" sz="1600" dirty="0"/>
              <a:t>=?");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("%d",&amp;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do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	sum=</a:t>
            </a:r>
            <a:r>
              <a:rPr lang="en-US" altLang="zh-CN" sz="1600" dirty="0" err="1"/>
              <a:t>sum+i</a:t>
            </a:r>
            <a:r>
              <a:rPr lang="en-US" altLang="zh-CN" sz="16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	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}while(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&lt;=10);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("sum=%d\</a:t>
            </a:r>
            <a:r>
              <a:rPr lang="en-US" altLang="zh-CN" sz="1600" dirty="0" err="1"/>
              <a:t>n",sum</a:t>
            </a:r>
            <a:r>
              <a:rPr lang="en-US" altLang="zh-CN" sz="16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 dirty="0"/>
              <a:t>}</a:t>
            </a:r>
            <a:endParaRPr lang="en-US" altLang="zh-CN" sz="1600" dirty="0">
              <a:solidFill>
                <a:srgbClr val="008000"/>
              </a:solidFill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48792A03-496C-B336-E699-6AC2C152772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78014" y="4019746"/>
            <a:ext cx="3467100" cy="90487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EC5E3AC-C150-1DE6-64EC-386936E1421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78014" y="4962224"/>
            <a:ext cx="3467100" cy="866775"/>
          </a:xfrm>
          <a:prstGeom prst="rect">
            <a:avLst/>
          </a:prstGeom>
        </p:spPr>
      </p:pic>
      <p:sp>
        <p:nvSpPr>
          <p:cNvPr id="41" name="内容占位符 2">
            <a:extLst>
              <a:ext uri="{FF2B5EF4-FFF2-40B4-BE49-F238E27FC236}">
                <a16:creationId xmlns:a16="http://schemas.microsoft.com/office/drawing/2014/main" id="{51B950E1-6352-F7C9-0BAB-B44182C55988}"/>
              </a:ext>
            </a:extLst>
          </p:cNvPr>
          <p:cNvSpPr txBox="1">
            <a:spLocks/>
          </p:cNvSpPr>
          <p:nvPr/>
        </p:nvSpPr>
        <p:spPr>
          <a:xfrm>
            <a:off x="622407" y="876883"/>
            <a:ext cx="7494850" cy="4435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1"/>
                </a:solidFill>
              </a:rPr>
              <a:t>不同输入条件下的</a:t>
            </a:r>
            <a:r>
              <a:rPr lang="en-US" altLang="zh-CN" sz="2000" b="1" dirty="0">
                <a:solidFill>
                  <a:schemeClr val="accent1"/>
                </a:solidFill>
              </a:rPr>
              <a:t>while</a:t>
            </a:r>
            <a:r>
              <a:rPr lang="zh-CN" altLang="en-US" sz="2000" b="1" dirty="0">
                <a:solidFill>
                  <a:schemeClr val="accent1"/>
                </a:solidFill>
              </a:rPr>
              <a:t>和</a:t>
            </a:r>
            <a:r>
              <a:rPr lang="en-US" altLang="zh-CN" sz="2000" b="1" dirty="0">
                <a:solidFill>
                  <a:schemeClr val="accent1"/>
                </a:solidFill>
              </a:rPr>
              <a:t>do…while</a:t>
            </a:r>
            <a:r>
              <a:rPr lang="zh-CN" altLang="en-US" sz="2000" b="1" dirty="0">
                <a:solidFill>
                  <a:schemeClr val="accent1"/>
                </a:solidFill>
              </a:rPr>
              <a:t>循环的比较。</a:t>
            </a:r>
          </a:p>
        </p:txBody>
      </p:sp>
    </p:spTree>
    <p:extLst>
      <p:ext uri="{BB962C8B-B14F-4D97-AF65-F5344CB8AC3E}">
        <p14:creationId xmlns:p14="http://schemas.microsoft.com/office/powerpoint/2010/main" val="358324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SubTitle"/>
  <p:tag name="MH_ORD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SubTitle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722</Words>
  <Application>Microsoft Office PowerPoint</Application>
  <PresentationFormat>宽屏</PresentationFormat>
  <Paragraphs>133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OPPOSans R</vt:lpstr>
      <vt:lpstr>百度综艺简体</vt:lpstr>
      <vt:lpstr>等线</vt:lpstr>
      <vt:lpstr>思源黑体 CN Regular</vt:lpstr>
      <vt:lpstr>微软雅黑</vt:lpstr>
      <vt:lpstr>优设标题黑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晓刚 张</cp:lastModifiedBy>
  <cp:revision>90</cp:revision>
  <dcterms:created xsi:type="dcterms:W3CDTF">2026-05-06T02:15:00Z</dcterms:created>
  <dcterms:modified xsi:type="dcterms:W3CDTF">2026-05-27T12:03:04Z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