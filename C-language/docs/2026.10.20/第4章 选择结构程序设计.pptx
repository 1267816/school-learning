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8"/>
  </p:notesMasterIdLst>
  <p:sldIdLst>
    <p:sldId id="413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414" r:id="rId15"/>
    <p:sldId id="323" r:id="rId16"/>
    <p:sldId id="324" r:id="rId17"/>
    <p:sldId id="325" r:id="rId18"/>
    <p:sldId id="326" r:id="rId19"/>
    <p:sldId id="327" r:id="rId20"/>
    <p:sldId id="329" r:id="rId21"/>
    <p:sldId id="330" r:id="rId22"/>
    <p:sldId id="511" r:id="rId23"/>
    <p:sldId id="332" r:id="rId24"/>
    <p:sldId id="334" r:id="rId25"/>
    <p:sldId id="512" r:id="rId26"/>
    <p:sldId id="513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55" r:id="rId46"/>
    <p:sldId id="356" r:id="rId47"/>
    <p:sldId id="357" r:id="rId48"/>
    <p:sldId id="530" r:id="rId49"/>
    <p:sldId id="359" r:id="rId50"/>
    <p:sldId id="361" r:id="rId51"/>
    <p:sldId id="362" r:id="rId52"/>
    <p:sldId id="364" r:id="rId53"/>
    <p:sldId id="365" r:id="rId54"/>
    <p:sldId id="366" r:id="rId55"/>
    <p:sldId id="367" r:id="rId56"/>
    <p:sldId id="368" r:id="rId57"/>
    <p:sldId id="369" r:id="rId58"/>
    <p:sldId id="370" r:id="rId59"/>
    <p:sldId id="371" r:id="rId60"/>
    <p:sldId id="372" r:id="rId61"/>
    <p:sldId id="373" r:id="rId62"/>
    <p:sldId id="374" r:id="rId63"/>
    <p:sldId id="376" r:id="rId64"/>
    <p:sldId id="515" r:id="rId65"/>
    <p:sldId id="516" r:id="rId66"/>
    <p:sldId id="517" r:id="rId67"/>
    <p:sldId id="518" r:id="rId68"/>
    <p:sldId id="379" r:id="rId69"/>
    <p:sldId id="519" r:id="rId70"/>
    <p:sldId id="382" r:id="rId71"/>
    <p:sldId id="520" r:id="rId72"/>
    <p:sldId id="521" r:id="rId73"/>
    <p:sldId id="385" r:id="rId74"/>
    <p:sldId id="386" r:id="rId75"/>
    <p:sldId id="522" r:id="rId76"/>
    <p:sldId id="523" r:id="rId77"/>
    <p:sldId id="389" r:id="rId78"/>
    <p:sldId id="390" r:id="rId79"/>
    <p:sldId id="391" r:id="rId80"/>
    <p:sldId id="392" r:id="rId81"/>
    <p:sldId id="524" r:id="rId82"/>
    <p:sldId id="525" r:id="rId83"/>
    <p:sldId id="526" r:id="rId84"/>
    <p:sldId id="396" r:id="rId85"/>
    <p:sldId id="397" r:id="rId86"/>
    <p:sldId id="398" r:id="rId87"/>
    <p:sldId id="400" r:id="rId88"/>
    <p:sldId id="527" r:id="rId89"/>
    <p:sldId id="528" r:id="rId90"/>
    <p:sldId id="529" r:id="rId91"/>
    <p:sldId id="403" r:id="rId92"/>
    <p:sldId id="404" r:id="rId93"/>
    <p:sldId id="405" r:id="rId94"/>
    <p:sldId id="406" r:id="rId95"/>
    <p:sldId id="407" r:id="rId96"/>
    <p:sldId id="408" r:id="rId97"/>
  </p:sldIdLst>
  <p:sldSz cx="9144000" cy="6858000" type="screen4x3"/>
  <p:notesSz cx="6858000" cy="9144000"/>
  <p:custDataLst>
    <p:tags r:id="rId10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235A67"/>
    <a:srgbClr val="CC99FF"/>
    <a:srgbClr val="FF99CC"/>
    <a:srgbClr val="C00000"/>
    <a:srgbClr val="0000CC"/>
    <a:srgbClr val="FFFFCC"/>
    <a:srgbClr val="9D138D"/>
    <a:srgbClr val="FFCCFF"/>
    <a:srgbClr val="E1FFE1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2485"/>
    <p:restoredTop sz="94639"/>
  </p:normalViewPr>
  <p:slideViewPr>
    <p:cSldViewPr showGuides="1">
      <p:cViewPr varScale="1">
        <p:scale>
          <a:sx n="76" d="100"/>
          <a:sy n="76" d="100"/>
        </p:scale>
        <p:origin x="-210" y="-84"/>
      </p:cViewPr>
      <p:guideLst>
        <p:guide orient="horz" pos="3740"/>
        <p:guide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notesMaster" Target="notesMasters/notesMaster1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2" Type="http://schemas.openxmlformats.org/officeDocument/2006/relationships/tags" Target="tags/tag83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6"/>
          <p:cNvSpPr>
            <a:spLocks noChangeArrowheads="1"/>
          </p:cNvSpPr>
          <p:nvPr/>
        </p:nvSpPr>
        <p:spPr bwMode="auto">
          <a:xfrm>
            <a:off x="3505200" y="2590800"/>
            <a:ext cx="4892675" cy="762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779463" y="1766888"/>
            <a:ext cx="7678737" cy="762000"/>
          </a:xfrm>
          <a:effectLst/>
        </p:spPr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64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21138" y="2860675"/>
            <a:ext cx="4437062" cy="3114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buFont typeface="Wingdings" panose="05000000000000000000" pitchFamily="2" charset="2"/>
              <a:buChar char="Ø"/>
              <a:defRPr/>
            </a:lvl1pPr>
            <a:lvl2pPr>
              <a:buClrTx/>
              <a:buFont typeface="Wingdings" panose="05000000000000000000" pitchFamily="2" charset="2"/>
              <a:buChar char="u"/>
              <a:defRPr/>
            </a:lvl2pPr>
            <a:lvl3pPr>
              <a:buClrTx/>
              <a:buFont typeface="Wingdings" panose="05000000000000000000" pitchFamily="2" charset="2"/>
              <a:buChar char="l"/>
              <a:defRPr sz="2800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628775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0" y="1628775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6388" y="762000"/>
            <a:ext cx="2039937" cy="5362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762000"/>
            <a:ext cx="5970588" cy="5362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628775"/>
            <a:ext cx="40005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92650" y="1628775"/>
            <a:ext cx="4000500" cy="217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92650" y="3952875"/>
            <a:ext cx="4000500" cy="217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628775"/>
            <a:ext cx="40005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0" y="1628775"/>
            <a:ext cx="40005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39750" y="1628775"/>
            <a:ext cx="81534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13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762000"/>
            <a:ext cx="8162925" cy="7620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45791" dir="3378596" algn="ctr" rotWithShape="0">
              <a:schemeClr val="accent2"/>
            </a:outerShdw>
          </a:effectLst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099" name="Rectangle 66"/>
          <p:cNvSpPr>
            <a:spLocks noGrp="1"/>
          </p:cNvSpPr>
          <p:nvPr>
            <p:ph type="body" idx="1"/>
          </p:nvPr>
        </p:nvSpPr>
        <p:spPr>
          <a:xfrm>
            <a:off x="539750" y="1628775"/>
            <a:ext cx="8153400" cy="4495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40" name="Rectangle 6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41" name="Rectangle 6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Verdan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77.xml"/><Relationship Id="rId7" Type="http://schemas.openxmlformats.org/officeDocument/2006/relationships/slide" Target="slide59.xml"/><Relationship Id="rId6" Type="http://schemas.openxmlformats.org/officeDocument/2006/relationships/slide" Target="slide52.xml"/><Relationship Id="rId5" Type="http://schemas.openxmlformats.org/officeDocument/2006/relationships/slide" Target="slide46.xml"/><Relationship Id="rId4" Type="http://schemas.openxmlformats.org/officeDocument/2006/relationships/slide" Target="slide36.xml"/><Relationship Id="rId3" Type="http://schemas.openxmlformats.org/officeDocument/2006/relationships/slide" Target="slide31.xml"/><Relationship Id="rId2" Type="http://schemas.openxmlformats.org/officeDocument/2006/relationships/slide" Target="slide1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oleObject" Target="../embeddings/oleObject3.bin"/><Relationship Id="rId7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slide" Target="slide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slide" Target="slide26.xml"/><Relationship Id="rId1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slide" Target="slide14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14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slide" Target="slide35.xml"/><Relationship Id="rId1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3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.xml"/><Relationship Id="rId2" Type="http://schemas.openxmlformats.org/officeDocument/2006/relationships/image" Target="../media/image11.png"/><Relationship Id="rId1" Type="http://schemas.openxmlformats.org/officeDocument/2006/relationships/slide" Target="slide3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image" Target="../media/image11.png"/><Relationship Id="rId1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31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5.xml"/><Relationship Id="rId5" Type="http://schemas.openxmlformats.org/officeDocument/2006/relationships/image" Target="../media/image4.png"/><Relationship Id="rId4" Type="http://schemas.openxmlformats.org/officeDocument/2006/relationships/slide" Target="slide2.xml"/><Relationship Id="rId3" Type="http://schemas.openxmlformats.org/officeDocument/2006/relationships/slide" Target="slide45.xml"/><Relationship Id="rId2" Type="http://schemas.openxmlformats.org/officeDocument/2006/relationships/slide" Target="slide41.xml"/><Relationship Id="rId1" Type="http://schemas.openxmlformats.org/officeDocument/2006/relationships/slide" Target="slide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slide" Target="slide3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4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1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9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tags" Target="../tags/tag52.xml"/><Relationship Id="rId4" Type="http://schemas.openxmlformats.org/officeDocument/2006/relationships/image" Target="../media/image20.png"/><Relationship Id="rId3" Type="http://schemas.openxmlformats.org/officeDocument/2006/relationships/tags" Target="../tags/tag51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tags" Target="../tags/tag54.xml"/><Relationship Id="rId4" Type="http://schemas.openxmlformats.org/officeDocument/2006/relationships/image" Target="../media/image22.png"/><Relationship Id="rId3" Type="http://schemas.openxmlformats.org/officeDocument/2006/relationships/tags" Target="../tags/tag53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image" Target="../media/image23.png"/><Relationship Id="rId5" Type="http://schemas.openxmlformats.org/officeDocument/2006/relationships/tags" Target="../tags/tag56.xml"/><Relationship Id="rId4" Type="http://schemas.openxmlformats.org/officeDocument/2006/relationships/image" Target="../media/image22.png"/><Relationship Id="rId3" Type="http://schemas.openxmlformats.org/officeDocument/2006/relationships/tags" Target="../tags/tag55.xml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24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26.png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1" Type="http://schemas.openxmlformats.org/officeDocument/2006/relationships/slide" Target="slide2.xml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28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.png"/><Relationship Id="rId11" Type="http://schemas.openxmlformats.org/officeDocument/2006/relationships/slide" Target="slide2.xml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5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tags" Target="../tags/tag80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tags" Target="../tags/tag81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png"/><Relationship Id="rId3" Type="http://schemas.openxmlformats.org/officeDocument/2006/relationships/tags" Target="../tags/tag8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5438" y="2525554"/>
            <a:ext cx="6016625" cy="706755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第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4</a:t>
            </a:r>
            <a:r>
              <a:rPr kumimoji="1" lang="zh-CN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章 </a:t>
            </a:r>
            <a:r>
              <a:rPr lang="zh-CN" altLang="zh-CN" sz="400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sym typeface="+mn-ea"/>
              </a:rPr>
              <a:t>选择结构程序设计</a:t>
            </a:r>
            <a:endParaRPr kumimoji="1" lang="zh-CN" altLang="zh-CN" sz="40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835150" y="623888"/>
            <a:ext cx="6813550" cy="46196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“十二五”普通高等教育本科国家级规划教材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" name="内容占位符 2"/>
          <p:cNvSpPr>
            <a:spLocks noGrp="1" noChangeArrowheads="1"/>
          </p:cNvSpPr>
          <p:nvPr>
            <p:ph idx="1"/>
          </p:nvPr>
        </p:nvSpPr>
        <p:spPr>
          <a:xfrm>
            <a:off x="3768725" y="4622800"/>
            <a:ext cx="1616075" cy="431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谭浩强 著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pic>
        <p:nvPicPr>
          <p:cNvPr id="3077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5288" y="333375"/>
            <a:ext cx="1179512" cy="138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 txBox="1">
            <a:spLocks noChangeArrowheads="1"/>
          </p:cNvSpPr>
          <p:nvPr/>
        </p:nvSpPr>
        <p:spPr bwMode="auto">
          <a:xfrm>
            <a:off x="3663950" y="5084763"/>
            <a:ext cx="182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韩旭明讲授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pic>
        <p:nvPicPr>
          <p:cNvPr id="3079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12063" y="4672013"/>
            <a:ext cx="1395412" cy="132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6200773" y="4643460"/>
            <a:ext cx="1396375" cy="137782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shape">
              <a:fillToRect l="50000" t="50000" r="50000" b="50000"/>
            </a:path>
            <a:tileRect/>
          </a:gradFill>
          <a:ln w="317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lgDash"/>
          </a:ln>
        </p:spPr>
        <p:txBody>
          <a:bodyPr vert="eaVert" lIns="126000" tIns="126000" rIns="126000" bIns="12600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忠信笃敬</a:t>
            </a:r>
            <a:endParaRPr kumimoji="1" lang="en-US" altLang="zh-CN" sz="2000" b="0" i="0" u="none" strike="noStrike" kern="1200" cap="none" spc="0" normalizeH="0" baseline="0" noProof="0" dirty="0">
              <a:ln w="0"/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知行合一</a:t>
            </a:r>
            <a:endParaRPr kumimoji="1" lang="en-US" altLang="zh-CN" sz="2000" b="0" i="0" u="none" strike="noStrike" kern="1200" cap="none" spc="0" normalizeH="0" baseline="0" noProof="0" dirty="0">
              <a:ln w="0"/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自强不息</a:t>
            </a:r>
            <a:endParaRPr kumimoji="1" lang="en-US" altLang="zh-CN" sz="2000" b="0" i="0" u="none" strike="noStrike" kern="1200" cap="none" spc="0" normalizeH="0" baseline="0" noProof="0" dirty="0">
              <a:ln w="0"/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和而不同</a:t>
            </a:r>
            <a:endParaRPr kumimoji="1" lang="zh-CN" altLang="en-US" sz="2000" b="0" i="0" u="none" strike="noStrike" kern="1200" cap="none" spc="0" normalizeH="0" baseline="0" noProof="0" dirty="0">
              <a:ln w="0"/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640" y="835343"/>
            <a:ext cx="5791835" cy="706755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zh-CN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第4章 选择结构程序设计</a:t>
            </a:r>
            <a:endParaRPr kumimoji="1" lang="zh-CN" altLang="zh-CN" sz="4000" b="0" i="0" u="none" strike="noStrike" kern="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1187450" y="1556385"/>
            <a:ext cx="6517640" cy="4603750"/>
          </a:xfrm>
        </p:spPr>
        <p:txBody>
          <a:bodyPr vert="horz" wrap="square" lIns="91440" tIns="45720" rIns="91440" bIns="45720" anchor="t" anchorCtr="0"/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1" action="ppaction://hlinksldjump"/>
              </a:rPr>
              <a:t>4.1 选择结构和条件判断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2" action="ppaction://hlinksldjump"/>
              </a:rPr>
              <a:t>4.2 用 if 语句实现选择结构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3" action="ppaction://hlinksldjump"/>
              </a:rPr>
              <a:t>4.3 关系运算符和关系表达式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4" action="ppaction://hlinksldjump"/>
              </a:rPr>
              <a:t>4.4 逻辑运算符和逻辑表达式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5" action="ppaction://hlinksldjump"/>
              </a:rPr>
              <a:t>4.5 条件运算符和条件表达式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6" action="ppaction://hlinksldjump"/>
              </a:rPr>
              <a:t>4.6 选择结构的嵌套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7" action="ppaction://hlinksldjump"/>
              </a:rPr>
              <a:t>4.7 用 switch 语句实现多分支选择结构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23850" algn="l" eaLnBrk="1" latinLnBrk="0" hangingPunct="1">
              <a:lnSpc>
                <a:spcPts val="45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8" action="ppaction://hlinksldjump"/>
              </a:rPr>
              <a:t>4.8 选择结构程序综合举例</a:t>
            </a: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8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405130"/>
            <a:ext cx="504253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4.1 选择结构和条件判断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1460" y="1125220"/>
            <a:ext cx="8493125" cy="4643755"/>
          </a:xfrm>
        </p:spPr>
        <p:txBody>
          <a:bodyPr vert="horz" wrap="square" lIns="91440" tIns="45720" rIns="91440" bIns="45720" anchor="t" anchorCtr="0"/>
          <a:p>
            <a:pPr marL="432435" indent="-432435" eaLnBrk="1" hangingPunct="1">
              <a:spcBef>
                <a:spcPct val="50000"/>
              </a:spcBef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在现实生活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，需要进行判断和选择的情况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有很多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82320" lvl="1" indent="-374015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如果你在家，我去拜访你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82320" lvl="1" indent="-374015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如果考试不及格，要补考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82320" lvl="1" indent="-374015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如果遇到红灯，要停车等待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82320" lvl="1" indent="-374015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周末我们去郊游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82320" lvl="1" indent="-374015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70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岁以上的老年人，入公园免票</a:t>
            </a:r>
            <a:endParaRPr kumimoji="1" lang="zh-CN" altLang="en-US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7172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1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charRg st="61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charRg st="69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1460" y="1124585"/>
            <a:ext cx="8467090" cy="3232785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在现实生活中，需要进行判断和选择的情况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有很多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处理这些问题，关键在于进行条件判断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由于程序处理问题的需要，在大多数程序中都会包含选择结构，需要在进行下一个操作之前先进行条件判断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8196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215900" y="405130"/>
            <a:ext cx="510159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4.1 选择结构和条件判断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2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42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1143" y="1125220"/>
            <a:ext cx="8215313" cy="4643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432435" marR="0" lvl="0" indent="-432435" algn="l" rtl="0" eaLnBrk="1" fontAlgn="base" latinLnBrk="0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语言有两种选择语句：</a:t>
            </a:r>
            <a:endParaRPr kumimoji="1" lang="zh-CN" altLang="zh-CN" sz="2800" b="0" i="0" u="none" strike="noStrike" kern="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1" indent="352425" algn="l" rtl="0" eaLnBrk="1" fontAlgn="base" latinLnBrk="0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zh-CN" altLang="zh-CN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</a:t>
            </a:r>
            <a:r>
              <a:rPr kumimoji="1" lang="en-US" altLang="zh-CN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i="0" u="none" strike="noStrike" kern="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b="0" i="0" u="none" strike="noStrike" kern="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i="0" u="none" strike="noStrike" kern="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zh-CN" altLang="zh-CN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，实现两个分支的选择结构</a:t>
            </a:r>
            <a:endParaRPr kumimoji="1" lang="zh-CN" altLang="zh-CN" b="0" i="0" u="none" strike="noStrike" kern="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1" indent="352425" algn="l" rtl="0" eaLnBrk="1" fontAlgn="base" latinLnBrk="0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zh-CN" altLang="zh-CN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</a:t>
            </a:r>
            <a:r>
              <a:rPr kumimoji="1" lang="en-US" altLang="zh-CN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i="0" u="none" strike="noStrike" kern="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</a:t>
            </a:r>
            <a:r>
              <a:rPr kumimoji="1" lang="en-US" altLang="zh-CN" b="0" i="0" u="none" strike="noStrike" kern="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i="0" u="none" strike="noStrike" kern="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zh-CN" altLang="zh-CN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，实现多分支的选择结构</a:t>
            </a:r>
            <a:endParaRPr kumimoji="1" lang="zh-CN" altLang="zh-CN" b="0" i="0" u="none" strike="noStrike" kern="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9220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15900" y="405130"/>
            <a:ext cx="507111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4.1 选择结构和条件判断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1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0" name="Rectangle 3"/>
          <p:cNvSpPr>
            <a:spLocks noGrp="1"/>
          </p:cNvSpPr>
          <p:nvPr>
            <p:ph idx="1"/>
          </p:nvPr>
        </p:nvSpPr>
        <p:spPr>
          <a:xfrm>
            <a:off x="251460" y="1125220"/>
            <a:ext cx="8214995" cy="3810000"/>
          </a:xfrm>
        </p:spPr>
        <p:txBody>
          <a:bodyPr vert="horz" wrap="square" lIns="91440" tIns="45720" rIns="91440" bIns="45720" anchor="t" anchorCtr="0"/>
          <a:p>
            <a:pPr marL="1017905" indent="-976630" algn="just" eaLnBrk="1" latinLnBrk="0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4.1 在例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3.5的基础上对程序进行改进。题目要求是求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            方程的根。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017270" indent="20320" algn="just" eaLnBrk="1" latinLnBrk="0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由键盘输入 a, b, c，假设 a, b, c 的值任意，并不保证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。需要在程序中进行判别，如果                     ，就计算并输出方程的两个实根，否则就输出“方程无实根”的信息。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3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6" name="Object 1"/>
          <p:cNvGraphicFramePr/>
          <p:nvPr/>
        </p:nvGraphicFramePr>
        <p:xfrm>
          <a:off x="2120265" y="1744980"/>
          <a:ext cx="231267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77900" imgH="203200" progId="Equation.3">
                  <p:embed/>
                </p:oleObj>
              </mc:Choice>
              <mc:Fallback>
                <p:oleObj name="" r:id="rId1" imgW="977900" imgH="203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0265" y="1744980"/>
                        <a:ext cx="231267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7" name="Object 5"/>
          <p:cNvGraphicFramePr/>
          <p:nvPr/>
        </p:nvGraphicFramePr>
        <p:xfrm>
          <a:off x="2478405" y="2728595"/>
          <a:ext cx="1975485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774065" imgH="203200" progId="Equation.3">
                  <p:embed/>
                </p:oleObj>
              </mc:Choice>
              <mc:Fallback>
                <p:oleObj name="" r:id="rId3" imgW="774065" imgH="203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8405" y="2728595"/>
                        <a:ext cx="1975485" cy="470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" name="图片 9" descr="Untitl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>
          <a:xfrm>
            <a:off x="215900" y="405130"/>
            <a:ext cx="503110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4.1 选择结构和条件判断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graphicFrame>
        <p:nvGraphicFramePr>
          <p:cNvPr id="5" name="Object 5"/>
          <p:cNvGraphicFramePr/>
          <p:nvPr/>
        </p:nvGraphicFramePr>
        <p:xfrm>
          <a:off x="2105025" y="3284220"/>
          <a:ext cx="1975485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8" imgW="774065" imgH="203200" progId="Equation.3">
                  <p:embed/>
                </p:oleObj>
              </mc:Choice>
              <mc:Fallback>
                <p:oleObj name="" r:id="rId8" imgW="774065" imgH="203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5025" y="3284220"/>
                        <a:ext cx="1975485" cy="470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322898" y="551180"/>
            <a:ext cx="2714625" cy="785813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24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3617595" y="1180465"/>
            <a:ext cx="1920875" cy="408305"/>
          </a:xfrm>
          <a:prstGeom prst="parallelogram">
            <a:avLst>
              <a:gd name="adj" fmla="val 25004"/>
            </a:avLst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/>
          <a:p>
            <a:pPr algn="dist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a, b, c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544060" y="621348"/>
            <a:ext cx="0" cy="520065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1" name="流程图: 过程 10"/>
          <p:cNvSpPr/>
          <p:nvPr/>
        </p:nvSpPr>
        <p:spPr>
          <a:xfrm>
            <a:off x="3669665" y="2162175"/>
            <a:ext cx="1746885" cy="408305"/>
          </a:xfrm>
          <a:prstGeom prst="flowChartProcess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disc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" name="流程图: 决策 12"/>
          <p:cNvSpPr/>
          <p:nvPr/>
        </p:nvSpPr>
        <p:spPr>
          <a:xfrm>
            <a:off x="3347720" y="3105150"/>
            <a:ext cx="2390140" cy="699770"/>
          </a:xfrm>
          <a:prstGeom prst="flowChartDecision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disc &lt; 0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流程图: 过程 14"/>
          <p:cNvSpPr/>
          <p:nvPr/>
        </p:nvSpPr>
        <p:spPr>
          <a:xfrm>
            <a:off x="1619250" y="3903980"/>
            <a:ext cx="1717040" cy="408305"/>
          </a:xfrm>
          <a:prstGeom prst="flowChartProcess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endParaRPr lang="en-US" altLang="zh-CN" sz="2400" baseline="-25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5570855" y="3903980"/>
            <a:ext cx="1975485" cy="408305"/>
          </a:xfrm>
          <a:prstGeom prst="parallelogram">
            <a:avLst>
              <a:gd name="adj" fmla="val 25004"/>
            </a:avLst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输出无实根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8" name="平行四边形 17"/>
          <p:cNvSpPr/>
          <p:nvPr/>
        </p:nvSpPr>
        <p:spPr>
          <a:xfrm>
            <a:off x="1475105" y="4830445"/>
            <a:ext cx="1922145" cy="466725"/>
          </a:xfrm>
          <a:prstGeom prst="parallelogram">
            <a:avLst>
              <a:gd name="adj" fmla="val 25007"/>
            </a:avLst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endParaRPr lang="en-US" altLang="zh-CN" sz="2400" baseline="-25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467610" y="3460115"/>
            <a:ext cx="88011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3" name="直接连接符 22"/>
          <p:cNvCxnSpPr/>
          <p:nvPr/>
        </p:nvCxnSpPr>
        <p:spPr>
          <a:xfrm>
            <a:off x="5723890" y="3459798"/>
            <a:ext cx="88011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" name="直接连接符 23"/>
          <p:cNvCxnSpPr/>
          <p:nvPr/>
        </p:nvCxnSpPr>
        <p:spPr>
          <a:xfrm>
            <a:off x="2436495" y="5798185"/>
            <a:ext cx="2135505" cy="698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>
            <a:endCxn id="16" idx="4"/>
          </p:cNvCxnSpPr>
          <p:nvPr/>
        </p:nvCxnSpPr>
        <p:spPr>
          <a:xfrm flipH="1" flipV="1">
            <a:off x="6558915" y="4312285"/>
            <a:ext cx="0" cy="149415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" name="直接连接符 41"/>
          <p:cNvCxnSpPr/>
          <p:nvPr/>
        </p:nvCxnSpPr>
        <p:spPr>
          <a:xfrm>
            <a:off x="2436495" y="5309235"/>
            <a:ext cx="0" cy="50419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2843530" y="2997835"/>
            <a:ext cx="440055" cy="3759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真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96280" y="2997200"/>
            <a:ext cx="440690" cy="3759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假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pic>
        <p:nvPicPr>
          <p:cNvPr id="10266" name="图片 2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箭头连接符 1"/>
          <p:cNvCxnSpPr>
            <a:stCxn id="11" idx="2"/>
          </p:cNvCxnSpPr>
          <p:nvPr/>
        </p:nvCxnSpPr>
        <p:spPr>
          <a:xfrm>
            <a:off x="4543425" y="2570163"/>
            <a:ext cx="0" cy="52451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3" name="直接箭头连接符 2"/>
          <p:cNvCxnSpPr/>
          <p:nvPr/>
        </p:nvCxnSpPr>
        <p:spPr>
          <a:xfrm flipH="1">
            <a:off x="4543425" y="1627188"/>
            <a:ext cx="635" cy="53467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4" name="直接箭头连接符 3"/>
          <p:cNvCxnSpPr>
            <a:endCxn id="15" idx="0"/>
          </p:cNvCxnSpPr>
          <p:nvPr/>
        </p:nvCxnSpPr>
        <p:spPr>
          <a:xfrm flipH="1">
            <a:off x="2477770" y="3447098"/>
            <a:ext cx="8255" cy="456565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 flipH="1">
            <a:off x="6583680" y="3445828"/>
            <a:ext cx="0" cy="426085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 flipH="1">
            <a:off x="2483485" y="4291013"/>
            <a:ext cx="0" cy="51816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4544060" y="5786438"/>
            <a:ext cx="0" cy="42418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 flipV="1">
            <a:off x="4500245" y="5798185"/>
            <a:ext cx="2078990" cy="698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1" grpId="0" bldLvl="0" animBg="1"/>
      <p:bldP spid="13" grpId="0" bldLvl="0" animBg="1"/>
      <p:bldP spid="15" grpId="0" bldLvl="0" animBg="1"/>
      <p:bldP spid="16" grpId="0" bldLvl="0" animBg="1"/>
      <p:bldP spid="18" grpId="0" bldLvl="0" animBg="1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323850" y="548640"/>
            <a:ext cx="8344535" cy="4643755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 &lt;math.h&gt;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 ( )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{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double a, b, c, disc, x1, x2, p, q;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scanf("%lf%lf%lf", &amp;a, &amp;b, &amp;c);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disc =b*b - 4*a*c;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26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2428" y="4712335"/>
            <a:ext cx="5857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</a:t>
            </a:r>
            <a:r>
              <a:rPr lang="en-US" altLang="zh-CN" sz="2800" baseline="300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- 4ac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disc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的值变为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-15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27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215073" y="4069398"/>
            <a:ext cx="4436745" cy="762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3414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115" y="3569335"/>
            <a:ext cx="1439863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4" name="图片 9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323850" y="548640"/>
            <a:ext cx="8687435" cy="5786120"/>
          </a:xfrm>
        </p:spPr>
        <p:txBody>
          <a:bodyPr vert="horz" wrap="square" lIns="91440" tIns="45720" rIns="91440" bIns="45720" anchor="t" anchorCtr="0"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(disc &lt; 0)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printf(“has not real roots\n”);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else                                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{  </a:t>
            </a:r>
            <a:endParaRPr kumimoji="1" lang="en-US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p = -b/(2.0*a);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q = sqrt(disc)/(2.0*a);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x1= p + q;</a:t>
            </a:r>
            <a:endParaRPr kumimoji="1" lang="en-US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x2 = p - q; 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printf(“real roots:\nx1=%7.2f\nx2=%7.2f\n”, x1, x2);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29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1240" y="570865"/>
            <a:ext cx="18338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-15&lt;0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为真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3312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6055" y="1700530"/>
            <a:ext cx="4785995" cy="5461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直接连接符 7"/>
          <p:cNvCxnSpPr/>
          <p:nvPr/>
        </p:nvCxnSpPr>
        <p:spPr>
          <a:xfrm>
            <a:off x="1257618" y="1484630"/>
            <a:ext cx="403288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2297" name="图片 8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323533" y="548640"/>
            <a:ext cx="8215312" cy="4643438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&lt;math.h&gt;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 ( )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{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double a, b, c, disc, x1, x2, p, q;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scanf("%lf%lf%lf", &amp;a, &amp;b, &amp;c);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disc = b*b - 4*a*c;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31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8918" y="4712335"/>
            <a:ext cx="5857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</a:t>
            </a:r>
            <a:r>
              <a:rPr lang="en-US" altLang="zh-CN" sz="2800" baseline="300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- 4ac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disc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的值变为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3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286828" y="4069398"/>
            <a:ext cx="4434840" cy="698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3517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908" y="3640773"/>
            <a:ext cx="1585912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2" name="图片 9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7413" y="499110"/>
            <a:ext cx="2428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8&lt;0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为假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98475" y="1916430"/>
            <a:ext cx="545465" cy="1143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5076825" y="2430145"/>
            <a:ext cx="23574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p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</a:rPr>
              <a:t>的值变为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-1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76825" y="2907983"/>
            <a:ext cx="28575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q</a:t>
            </a: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的值变为</a:t>
            </a: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0.71</a:t>
            </a:r>
            <a:endParaRPr lang="en-US" altLang="zh-CN" sz="2800" dirty="0">
              <a:solidFill>
                <a:srgbClr val="0000CC"/>
              </a:solidFill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213803" y="2917190"/>
            <a:ext cx="1916430" cy="635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4" name="直接连接符 13"/>
          <p:cNvCxnSpPr/>
          <p:nvPr/>
        </p:nvCxnSpPr>
        <p:spPr>
          <a:xfrm flipV="1">
            <a:off x="1213803" y="3426778"/>
            <a:ext cx="2853055" cy="317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5062855" y="3450908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x1</a:t>
            </a: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的值变为</a:t>
            </a: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-0.29</a:t>
            </a:r>
            <a:endParaRPr lang="en-US" altLang="zh-CN" sz="2800" dirty="0">
              <a:solidFill>
                <a:srgbClr val="0000CC"/>
              </a:solidFill>
              <a:sym typeface="+mn-ea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213803" y="3930333"/>
            <a:ext cx="1412240" cy="63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0" name="TextBox 19"/>
          <p:cNvSpPr txBox="1"/>
          <p:nvPr/>
        </p:nvSpPr>
        <p:spPr>
          <a:xfrm>
            <a:off x="5062855" y="3950970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x2</a:t>
            </a: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的值变为</a:t>
            </a:r>
            <a:r>
              <a:rPr lang="en-US" altLang="zh-CN" sz="2800" dirty="0">
                <a:solidFill>
                  <a:srgbClr val="0000CC"/>
                </a:solidFill>
                <a:sym typeface="+mn-ea"/>
              </a:rPr>
              <a:t>-1.71</a:t>
            </a:r>
            <a:endParaRPr lang="en-US" altLang="zh-CN" sz="2800" dirty="0">
              <a:solidFill>
                <a:srgbClr val="0000CC"/>
              </a:solidFill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213803" y="4358640"/>
            <a:ext cx="1340485" cy="508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3619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0290" y="4939983"/>
            <a:ext cx="2951163" cy="13573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53" name="图片 17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3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215265" y="571500"/>
            <a:ext cx="8787130" cy="5786120"/>
          </a:xfrm>
        </p:spPr>
        <p:txBody>
          <a:bodyPr vert="horz" wrap="square" lIns="91440" tIns="45720" rIns="91440" bIns="45720" anchor="t" anchorCtr="0"/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(disc &lt; 0)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printf(“has not real roots\n”);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else                                 </a:t>
            </a:r>
            <a:r>
              <a:rPr lang="zh-CN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{  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 = - b/(2.0*a);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q = sqrt(disc)/(2.0*a);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x1 = p + q;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x2 = p -  q;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printf(“real roots:\nx1=%7.2f\nx2=%7.2f\n”, x1, x2);  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6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215265" y="571500"/>
            <a:ext cx="8820785" cy="6167755"/>
          </a:xfrm>
        </p:spPr>
        <p:txBody>
          <a:bodyPr vert="horz" wrap="square" lIns="91440" tIns="45720" rIns="91440" bIns="45720" anchor="t" anchorCtr="0"/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(disc &lt; 0)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printf(“has not real roots\n”);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else                                 </a:t>
            </a:r>
            <a:r>
              <a:rPr lang="zh-CN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{  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 = - b/(2.0*a);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q = sqrt(disc)/(2.0*a);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x1 = p + q;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x2 = p -  q;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printf(“real roots:\nx1=%7.2f\nx2=%7.2f\n”, x1, x2);  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36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99105" y="5643245"/>
            <a:ext cx="5327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选择结构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语句实现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5600" y="571500"/>
            <a:ext cx="8538210" cy="48196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5368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215265" y="571500"/>
            <a:ext cx="8886190" cy="5786120"/>
          </a:xfrm>
        </p:spPr>
        <p:txBody>
          <a:bodyPr vert="horz" wrap="square" lIns="91440" tIns="45720" rIns="91440" bIns="45720" anchor="t" anchorCtr="0"/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(disc &lt; 0)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printf(“has not real roots\n”);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else                                 </a:t>
            </a:r>
            <a:r>
              <a:rPr lang="zh-CN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{  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 = - b/(2.0*a);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q = sqrt(disc)/(2.0*a);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x1 = p + q;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x2 = p -  q;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printf(“real roots:\nx1=%7.2f\nx2=%7.2f\n”, 	x1, x2);  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6040" indent="-66040" defTabSz="0">
              <a:lnSpc>
                <a:spcPts val="3100"/>
              </a:lnSpc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36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67360" y="1910080"/>
            <a:ext cx="8394700" cy="34810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5368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5"/>
          <p:cNvSpPr txBox="1"/>
          <p:nvPr>
            <p:custDataLst>
              <p:tags r:id="rId3"/>
            </p:custDataLst>
          </p:nvPr>
        </p:nvSpPr>
        <p:spPr>
          <a:xfrm>
            <a:off x="3927475" y="5427663"/>
            <a:ext cx="20002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复合语句</a:t>
            </a:r>
            <a:endParaRPr lang="zh-CN" altLang="en-US" sz="3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970280" y="1196975"/>
            <a:ext cx="7715250" cy="1550670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1" action="ppaction://hlinksldjump"/>
              </a:rPr>
              <a:t>4.2.1 用 if 语句处理选择结构举例</a:t>
            </a:r>
            <a:endParaRPr kumimoji="1" lang="en-US" altLang="zh-CN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2" action="ppaction://hlinksldjump"/>
              </a:rPr>
              <a:t>4.2.2  if 语句的一般形式</a:t>
            </a:r>
            <a:endParaRPr kumimoji="1" lang="en-US" altLang="zh-CN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hlinkClick r:id="rId2" action="ppaction://hlinksldjump"/>
            </a:endParaRPr>
          </a:p>
        </p:txBody>
      </p:sp>
      <p:sp>
        <p:nvSpPr>
          <p:cNvPr id="1741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7415" name="图片 6" descr="Untitl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215900" y="405130"/>
            <a:ext cx="564197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 </a:t>
            </a:r>
            <a:r>
              <a:rPr kumimoji="1" lang="zh-CN" altLang="en-US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用</a:t>
            </a: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 if </a:t>
            </a:r>
            <a:r>
              <a:rPr kumimoji="1" lang="zh-CN" altLang="en-US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语句实现选择</a:t>
            </a:r>
            <a:r>
              <a:rPr kumimoji="1" lang="zh-CN" altLang="en-US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结构</a:t>
            </a:r>
            <a:endParaRPr kumimoji="1" lang="zh-CN" altLang="en-US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" y="405130"/>
            <a:ext cx="697166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4.2.1 用 if 语句处理选择结构举例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463915" cy="1168400"/>
          </a:xfrm>
        </p:spPr>
        <p:txBody>
          <a:bodyPr vert="horz" wrap="square" lIns="91440" tIns="45720" rIns="91440" bIns="45720" anchor="t" anchorCtr="0"/>
          <a:p>
            <a:pPr marL="958215" indent="-958215" algn="just" eaLnBrk="1" hangingPunct="1"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例4.2 输入两个实数，按代数值由小到大的顺序输出这两个数。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43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8439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2095" y="1125220"/>
            <a:ext cx="8085455" cy="257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32435" marR="0" lvl="0" indent="-432435" algn="l" rtl="0" eaLnBrk="1" fontAlgn="base" latinLnBrk="0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800" b="0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endParaRPr kumimoji="1" lang="zh-CN" altLang="zh-CN" sz="2800" b="0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6935" marR="0" lvl="1" indent="-44640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只需要做一次比较，然后进行一次交换即可</a:t>
            </a:r>
            <a:endParaRPr kumimoji="1" lang="zh-CN" altLang="zh-CN" sz="2800" b="0" i="0" u="none" strike="noStrike" kern="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6935" marR="0" lvl="1" indent="-44640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语句实现条件判断</a:t>
            </a:r>
            <a:endParaRPr kumimoji="1" lang="zh-CN" altLang="zh-CN" sz="2800" b="0" i="0" u="none" strike="noStrike" kern="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6935" marR="0" lvl="1" indent="-44640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zh-CN" sz="2800" b="0" i="0" u="none" strike="noStrike" kern="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关键是怎样实现两个变量值的互换</a:t>
            </a:r>
            <a:endParaRPr kumimoji="1" lang="zh-CN" altLang="zh-CN" sz="2800" b="0" i="0" u="none" strike="noStrike" kern="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945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圆柱形 6"/>
          <p:cNvSpPr/>
          <p:nvPr/>
        </p:nvSpPr>
        <p:spPr>
          <a:xfrm>
            <a:off x="3715068" y="3712528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8" name="圆柱形 7"/>
          <p:cNvSpPr/>
          <p:nvPr/>
        </p:nvSpPr>
        <p:spPr>
          <a:xfrm>
            <a:off x="5358130" y="3712528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15005" y="3855403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01068" y="3855403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endParaRPr lang="en-US" altLang="zh-CN" sz="32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0505" y="3897313"/>
            <a:ext cx="14287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互换前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2" name="圆柱形 11"/>
          <p:cNvSpPr/>
          <p:nvPr/>
        </p:nvSpPr>
        <p:spPr>
          <a:xfrm>
            <a:off x="3715068" y="4855528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3" name="圆柱形 12"/>
          <p:cNvSpPr/>
          <p:nvPr/>
        </p:nvSpPr>
        <p:spPr>
          <a:xfrm>
            <a:off x="5358130" y="4855528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15005" y="4998403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01068" y="4998403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endParaRPr lang="en-US" altLang="zh-CN" sz="32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0505" y="4998403"/>
            <a:ext cx="14287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互换后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429068" y="4763453"/>
            <a:ext cx="52149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9474" name="图片 18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4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686879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4.2.1 用 if 语句处理选择结构举例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charRg st="38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/>
      <p:bldP spid="10" grpId="0"/>
      <p:bldP spid="11" grpId="0"/>
      <p:bldP spid="12" grpId="0" bldLvl="0" animBg="1"/>
      <p:bldP spid="13" grpId="0" bldLvl="0" animBg="1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5" name="圆柱形 6"/>
          <p:cNvSpPr/>
          <p:nvPr/>
        </p:nvSpPr>
        <p:spPr>
          <a:xfrm>
            <a:off x="3499803" y="3640773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6" name="圆柱形 7"/>
          <p:cNvSpPr/>
          <p:nvPr/>
        </p:nvSpPr>
        <p:spPr>
          <a:xfrm>
            <a:off x="5142865" y="3640773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7" name="TextBox 8"/>
          <p:cNvSpPr txBox="1"/>
          <p:nvPr/>
        </p:nvSpPr>
        <p:spPr>
          <a:xfrm>
            <a:off x="2999740" y="3783648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8" name="TextBox 9"/>
          <p:cNvSpPr txBox="1"/>
          <p:nvPr/>
        </p:nvSpPr>
        <p:spPr>
          <a:xfrm>
            <a:off x="5785803" y="3783648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32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圆柱形 19"/>
          <p:cNvSpPr/>
          <p:nvPr/>
        </p:nvSpPr>
        <p:spPr>
          <a:xfrm>
            <a:off x="4285615" y="1997710"/>
            <a:ext cx="571500" cy="928688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85553" y="2140585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上箭头 23"/>
          <p:cNvSpPr/>
          <p:nvPr/>
        </p:nvSpPr>
        <p:spPr>
          <a:xfrm rot="2133267">
            <a:off x="3909378" y="2885123"/>
            <a:ext cx="357187" cy="785812"/>
          </a:xfrm>
          <a:prstGeom prst="up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47515" y="2115185"/>
            <a:ext cx="642938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494" name="图片 1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4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692086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4.2.1 用 if 语句处理选择结构举例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/>
      <p:bldP spid="24" grpId="0" bldLvl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9" name="圆柱形 6"/>
          <p:cNvSpPr/>
          <p:nvPr/>
        </p:nvSpPr>
        <p:spPr>
          <a:xfrm>
            <a:off x="3499803" y="3640773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0" name="圆柱形 7"/>
          <p:cNvSpPr/>
          <p:nvPr/>
        </p:nvSpPr>
        <p:spPr>
          <a:xfrm>
            <a:off x="5142865" y="3640773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1" name="TextBox 8"/>
          <p:cNvSpPr txBox="1"/>
          <p:nvPr/>
        </p:nvSpPr>
        <p:spPr>
          <a:xfrm>
            <a:off x="2999740" y="3783648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2" name="TextBox 9"/>
          <p:cNvSpPr txBox="1"/>
          <p:nvPr/>
        </p:nvSpPr>
        <p:spPr>
          <a:xfrm>
            <a:off x="5785803" y="3783648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32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3" name="圆柱形 19"/>
          <p:cNvSpPr/>
          <p:nvPr/>
        </p:nvSpPr>
        <p:spPr>
          <a:xfrm>
            <a:off x="4285615" y="1997710"/>
            <a:ext cx="571500" cy="928688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4" name="TextBox 20"/>
          <p:cNvSpPr txBox="1"/>
          <p:nvPr/>
        </p:nvSpPr>
        <p:spPr>
          <a:xfrm>
            <a:off x="3785553" y="2140585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上箭头 23"/>
          <p:cNvSpPr/>
          <p:nvPr/>
        </p:nvSpPr>
        <p:spPr>
          <a:xfrm rot="-5400000">
            <a:off x="4409440" y="3670935"/>
            <a:ext cx="357188" cy="785813"/>
          </a:xfrm>
          <a:prstGeom prst="up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6" name="TextBox 13"/>
          <p:cNvSpPr txBox="1"/>
          <p:nvPr/>
        </p:nvSpPr>
        <p:spPr>
          <a:xfrm>
            <a:off x="4247515" y="2115185"/>
            <a:ext cx="642938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4890" y="3791585"/>
            <a:ext cx="428625" cy="609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>
            <a:spAutoFit/>
          </a:bodyPr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1519" name="图片 1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4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688911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4.2.1 用 if 语句处理选择结构举例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1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3" name="圆柱形 6"/>
          <p:cNvSpPr/>
          <p:nvPr/>
        </p:nvSpPr>
        <p:spPr>
          <a:xfrm>
            <a:off x="3499803" y="3640773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endParaRPr lang="zh-CN" altLang="en-US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4" name="TextBox 8"/>
          <p:cNvSpPr txBox="1"/>
          <p:nvPr/>
        </p:nvSpPr>
        <p:spPr>
          <a:xfrm>
            <a:off x="2999740" y="3783648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5" name="TextBox 9"/>
          <p:cNvSpPr txBox="1"/>
          <p:nvPr/>
        </p:nvSpPr>
        <p:spPr>
          <a:xfrm>
            <a:off x="5785803" y="3783648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32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6" name="圆柱形 19"/>
          <p:cNvSpPr/>
          <p:nvPr/>
        </p:nvSpPr>
        <p:spPr>
          <a:xfrm>
            <a:off x="4285615" y="1997710"/>
            <a:ext cx="571500" cy="928688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7" name="TextBox 20"/>
          <p:cNvSpPr txBox="1"/>
          <p:nvPr/>
        </p:nvSpPr>
        <p:spPr>
          <a:xfrm>
            <a:off x="3785553" y="2140585"/>
            <a:ext cx="428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上箭头 23"/>
          <p:cNvSpPr/>
          <p:nvPr/>
        </p:nvSpPr>
        <p:spPr>
          <a:xfrm rot="8527934">
            <a:off x="4846003" y="2881948"/>
            <a:ext cx="357187" cy="785812"/>
          </a:xfrm>
          <a:prstGeom prst="up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9" name="TextBox 12"/>
          <p:cNvSpPr txBox="1"/>
          <p:nvPr/>
        </p:nvSpPr>
        <p:spPr>
          <a:xfrm>
            <a:off x="4247515" y="2115185"/>
            <a:ext cx="642938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0" name="圆柱形 16"/>
          <p:cNvSpPr/>
          <p:nvPr/>
        </p:nvSpPr>
        <p:spPr>
          <a:xfrm>
            <a:off x="5142865" y="3640773"/>
            <a:ext cx="571500" cy="928687"/>
          </a:xfrm>
          <a:prstGeom prst="can">
            <a:avLst>
              <a:gd name="adj" fmla="val 24995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88903" y="3839210"/>
            <a:ext cx="500062" cy="6159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★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72728" y="3435985"/>
            <a:ext cx="3714750" cy="135731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44" name="图片 1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5" name="TextBox 14"/>
          <p:cNvSpPr txBox="1"/>
          <p:nvPr/>
        </p:nvSpPr>
        <p:spPr>
          <a:xfrm>
            <a:off x="3564890" y="3791585"/>
            <a:ext cx="428625" cy="609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>
            <a:spAutoFit/>
          </a:bodyPr>
          <a:p>
            <a:pPr algn="ctr"/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●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687768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4.2.1 用 if 语句处理选择结构举例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15" grpId="0" bldLvl="0" animBg="1"/>
      <p:bldP spid="1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355600" y="405130"/>
            <a:ext cx="7000875" cy="645287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51180" indent="-55118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float a, b, t;</a:t>
            </a:r>
            <a:endParaRPr kumimoji="1" lang="en-US" altLang="zh-CN" sz="36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scanf("%f, %f", &amp;a, &amp;b);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if( a &gt; b)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t = a;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a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= b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b = 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printf("%5.2f, %5.2f\n", a, b);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return 0 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286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55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3213" y="3932873"/>
            <a:ext cx="3571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的值互换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63345" y="3559810"/>
            <a:ext cx="975995" cy="129730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382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38" y="5787073"/>
            <a:ext cx="2424112" cy="85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2411730" y="2637155"/>
            <a:ext cx="20716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&gt; b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562" name="图片 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355600" y="405130"/>
            <a:ext cx="7000875" cy="645287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51180" indent="-55118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float a, b, t;</a:t>
            </a:r>
            <a:endParaRPr kumimoji="1" lang="en-US" altLang="zh-CN" sz="36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scanf("%f, %f", &amp;a, &amp;b);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if( a &gt; b)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t = a;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a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= b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b = 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printf("%5.2f, %5.2f\n", a, b);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6940" indent="-650240"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return 0 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6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286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55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3920" y="2645410"/>
            <a:ext cx="1717675" cy="26765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3562" name="图片 9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0"/>
          <p:cNvSpPr txBox="1"/>
          <p:nvPr>
            <p:custDataLst>
              <p:tags r:id="rId3"/>
            </p:custDataLst>
          </p:nvPr>
        </p:nvSpPr>
        <p:spPr>
          <a:xfrm>
            <a:off x="2987358" y="3789045"/>
            <a:ext cx="51435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选择结构，用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 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语句实现的</a:t>
            </a:r>
            <a:endParaRPr lang="zh-CN" altLang="en-US" sz="28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5606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Rectangle 3"/>
          <p:cNvSpPr>
            <a:spLocks noGrp="1"/>
          </p:cNvSpPr>
          <p:nvPr/>
        </p:nvSpPr>
        <p:spPr>
          <a:xfrm>
            <a:off x="395605" y="1337945"/>
            <a:ext cx="8501063" cy="42148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可以先用伪代码写出算法：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5030" lvl="1" indent="-417195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a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b，a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对换    （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a、b中的小者）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5030" lvl="1" indent="-417195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a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c，a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对换     （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是三者中最小者）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5030" lvl="1" indent="-417195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b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c，b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对换     （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是三者中次小者）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5030" lvl="1" indent="-417195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顺序输出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a，b，c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/>
          </p:cNvSpPr>
          <p:nvPr>
            <p:ph idx="1"/>
          </p:nvPr>
        </p:nvSpPr>
        <p:spPr>
          <a:xfrm>
            <a:off x="252095" y="476885"/>
            <a:ext cx="8652510" cy="850900"/>
          </a:xfrm>
        </p:spPr>
        <p:txBody>
          <a:bodyPr vert="horz" wrap="square" lIns="91440" tIns="45720" rIns="91440" bIns="45720" anchor="t" anchorCtr="0"/>
          <a:p>
            <a:pPr marL="1029335" indent="-1029335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4.3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个数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，要求按由小到大的顺序输出。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18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charRg st="46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4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74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2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02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254953" y="404813"/>
            <a:ext cx="8501062" cy="6143625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float a, b, c, 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scanf("%f, %f, %f", &amp;a, &amp;b, &amp;c);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 a &gt; b)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t = a;  a = b;  b = t;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 a &gt; c)</a:t>
            </a:r>
            <a:endParaRPr kumimoji="1" lang="en-US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t = a;  a = c;  c = t;   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if(b &gt; c) </a:t>
            </a:r>
            <a:endParaRPr kumimoji="1" lang="zh-CN" altLang="zh-CN" sz="2800" b="0" dirty="0">
              <a:solidFill>
                <a:srgbClr val="FFC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	         t = b;  b = c;  c = t;                </a:t>
            </a:r>
            <a:endParaRPr kumimoji="1" lang="zh-CN" altLang="zh-CN" sz="2800" b="0" dirty="0">
              <a:solidFill>
                <a:srgbClr val="FFC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printf("%5.2f, %5.2f, %5.2f\n", a, b, c);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9658" y="2564448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&gt; b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，将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对换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1728" y="3068638"/>
            <a:ext cx="3143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中的小者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7656" name="图片 9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254953" y="404813"/>
            <a:ext cx="8501062" cy="6143625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float a, b, c, 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scanf("%f, %f, %f", &amp;a, &amp;b, &amp;c);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 a &gt; b)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t = a;  a = b;  b = t;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 a &gt; c)</a:t>
            </a:r>
            <a:endParaRPr kumimoji="1" lang="en-US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t = a;  a = c;  c = t;   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if(b &gt; c) </a:t>
            </a:r>
            <a:endParaRPr kumimoji="1" lang="zh-CN" altLang="zh-CN" sz="2800" b="0" dirty="0">
              <a:solidFill>
                <a:srgbClr val="FFC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	         t = b;  b = c;  c = t;                </a:t>
            </a:r>
            <a:endParaRPr kumimoji="1" lang="zh-CN" altLang="zh-CN" sz="2800" b="0" dirty="0">
              <a:solidFill>
                <a:srgbClr val="FFC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printf("%5.2f, %5.2f, %5.2f\n", a, b, c);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7656" name="图片 9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7"/>
          <p:cNvSpPr txBox="1"/>
          <p:nvPr>
            <p:custDataLst>
              <p:tags r:id="rId3"/>
            </p:custDataLst>
          </p:nvPr>
        </p:nvSpPr>
        <p:spPr>
          <a:xfrm>
            <a:off x="2786063" y="3405823"/>
            <a:ext cx="4857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&gt; c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，将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对换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TextBox 8"/>
          <p:cNvSpPr txBox="1"/>
          <p:nvPr>
            <p:custDataLst>
              <p:tags r:id="rId4"/>
            </p:custDataLst>
          </p:nvPr>
        </p:nvSpPr>
        <p:spPr>
          <a:xfrm>
            <a:off x="5357813" y="3834448"/>
            <a:ext cx="3143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三者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中的小者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254953" y="404813"/>
            <a:ext cx="8501062" cy="6143625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float a, b, c, 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scanf("%f, %f, %f", &amp;a, &amp;b, &amp;c);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 a &gt; b)</a:t>
            </a:r>
            <a:endParaRPr kumimoji="1" lang="en-US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t = a;  a = b;  b = t; 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 a &gt; c)</a:t>
            </a:r>
            <a:endParaRPr kumimoji="1" lang="en-US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t = a;  a = c;  c = t;   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800" b="0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if(b &gt; c) </a:t>
            </a:r>
            <a:endParaRPr kumimoji="1" lang="zh-CN" altLang="zh-CN" sz="2800" b="0" dirty="0">
              <a:solidFill>
                <a:srgbClr val="FFC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	         t = b;  b = c;  c = t;                </a:t>
            </a:r>
            <a:endParaRPr kumimoji="1" lang="zh-CN" altLang="zh-CN" sz="2800" b="0" dirty="0">
              <a:solidFill>
                <a:srgbClr val="FFC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printf("%5.2f, %5.2f, %5.2f\n", a, b, c);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7656" name="图片 9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428240" y="4292600"/>
            <a:ext cx="52012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b&gt;c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，将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对换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5110480" y="4763135"/>
            <a:ext cx="37477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三者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中的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次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小者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39266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39565" y="5733098"/>
            <a:ext cx="3548063" cy="857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" y="405130"/>
            <a:ext cx="509714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4.2.2  if 语句的一般形式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360488" y="2499995"/>
            <a:ext cx="7786687" cy="1643063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(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表达式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[ else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  ]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2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2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2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39975" y="2637155"/>
            <a:ext cx="1156335" cy="39941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sz="36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5075873" y="1793875"/>
            <a:ext cx="2428875" cy="15001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7394"/>
              <a:gd name="adj6" fmla="val -65083"/>
            </a:avLst>
          </a:prstGeom>
          <a:solidFill>
            <a:schemeClr val="accent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关系表达式</a:t>
            </a:r>
            <a:endParaRPr lang="en-US" altLang="zh-CN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逻辑表达式</a:t>
            </a:r>
            <a:endParaRPr lang="en-US" altLang="zh-CN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数值表达式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2113" y="4071620"/>
            <a:ext cx="43576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方括号内的部分为可选的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905635" y="3713480"/>
            <a:ext cx="2090420" cy="381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30731" name="图片 11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 bldLvl="0" animBg="1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1360488" y="2499995"/>
            <a:ext cx="7786687" cy="1643063"/>
          </a:xfrm>
        </p:spPr>
        <p:txBody>
          <a:bodyPr vert="horz" wrap="square" lIns="91440" tIns="45720" rIns="91440" bIns="45720" anchor="t" anchorCtr="0"/>
          <a:p>
            <a:pPr algn="l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if ( 表达式 ) 语句 1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l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[ else  语句 2  ]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174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73475" y="2637155"/>
            <a:ext cx="1106805" cy="4508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8535" y="3356928"/>
            <a:ext cx="2857500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简单的语句</a:t>
            </a:r>
            <a:endParaRPr lang="en-US" altLang="zh-CN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复合语句</a:t>
            </a:r>
            <a:endParaRPr lang="en-US" altLang="zh-CN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另一个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99715" y="3213100"/>
            <a:ext cx="1068070" cy="49974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sz="3600" dirty="0">
              <a:latin typeface="Arial" panose="020B0604020202020204" pitchFamily="34" charset="0"/>
            </a:endParaRPr>
          </a:p>
        </p:txBody>
      </p:sp>
      <p:pic>
        <p:nvPicPr>
          <p:cNvPr id="31754" name="图片 10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51784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0" marR="0" lvl="0" indent="1016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4.2.2  if 语句的一般形式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0" grpId="0"/>
      <p:bldP spid="1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428625" y="476885"/>
            <a:ext cx="8286750" cy="5857875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最常用的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种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形式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if (</a:t>
            </a:r>
            <a:r>
              <a:rPr kumimoji="1" lang="zh-CN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表达式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r>
              <a:rPr kumimoji="1" lang="zh-CN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  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没有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else 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子句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kumimoji="1" lang="en-US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if (</a:t>
            </a:r>
            <a:r>
              <a:rPr kumimoji="1" lang="zh-CN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表达式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r>
              <a:rPr kumimoji="1" lang="zh-CN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        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else  </a:t>
            </a:r>
            <a:r>
              <a:rPr kumimoji="1" lang="zh-CN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          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else 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子句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kumimoji="1" lang="zh-CN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if      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（表达式１）</a:t>
            </a: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语句１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else if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（表达式２） 语句２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else if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（表达式３） 语句３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  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┆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else if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（表达式</a:t>
            </a: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ｍ） 语句</a:t>
            </a: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ｍ</a:t>
            </a:r>
            <a:endParaRPr kumimoji="1" lang="zh-CN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else   </a:t>
            </a:r>
            <a:r>
              <a:rPr kumimoji="1"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m+1</a:t>
            </a:r>
            <a:endParaRPr kumimoji="1" lang="en-US" altLang="zh-CN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(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else 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部分又嵌套了多层的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kumimoji="1" lang="en-US" altLang="zh-CN" sz="2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277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77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77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2774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1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44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9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69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3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103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22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122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4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charRg st="144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66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charRg st="166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86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86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08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charRg st="208" end="2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25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267">
                                            <p:txEl>
                                              <p:charRg st="225" end="2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xfrm>
            <a:off x="397193" y="571500"/>
            <a:ext cx="7929562" cy="27146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( number &gt; 500)  cost = 0.15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if ( number &gt; 300)  cost = 0.10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if ( number &gt; 100)  cost = 0.075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if ( number &gt; 50)   cost = 0.05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   cost = 0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9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6558" y="3219450"/>
            <a:ext cx="7929563" cy="3500438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( number &gt; 500)  cost = 0.15</a:t>
            </a:r>
            <a:r>
              <a:rPr kumimoji="1" lang="en-US" altLang="zh-CN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</a:t>
            </a:r>
            <a:endParaRPr kumimoji="1" lang="zh-CN" altLang="zh-CN" sz="2800" kern="1200" cap="none" spc="0" normalizeH="0" baseline="0" noProof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if ( number &gt; 300)   cost = 0.10</a:t>
            </a:r>
            <a:r>
              <a:rPr kumimoji="1" lang="en-US" altLang="zh-CN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else </a:t>
            </a:r>
            <a:endParaRPr kumimoji="1" lang="zh-CN" altLang="zh-CN" sz="2800" kern="1200" cap="none" spc="0" normalizeH="0" baseline="0" noProof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 ( number &gt; 100)  cost = 0.075</a:t>
            </a:r>
            <a:r>
              <a:rPr kumimoji="1" lang="en-US" altLang="zh-CN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</a:t>
            </a:r>
            <a:endParaRPr kumimoji="1" lang="zh-CN" altLang="zh-CN" sz="2800" kern="1200" cap="none" spc="0" normalizeH="0" baseline="0" noProof="0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if ( number &gt; 50)  cost = 0.05</a:t>
            </a:r>
            <a:r>
              <a:rPr kumimoji="1" lang="en-US" altLang="zh-CN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else   cost = 0</a:t>
            </a:r>
            <a:r>
              <a:rPr kumimoji="1" lang="en-US" altLang="zh-CN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29000" y="2643188"/>
            <a:ext cx="14287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</a:rPr>
              <a:t>等价于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8" name="爆炸形 1 7"/>
          <p:cNvSpPr/>
          <p:nvPr/>
        </p:nvSpPr>
        <p:spPr>
          <a:xfrm>
            <a:off x="1546860" y="3716338"/>
            <a:ext cx="6000750" cy="1714500"/>
          </a:xfrm>
          <a:prstGeom prst="irregularSeal1">
            <a:avLst/>
          </a:prstGeom>
          <a:solidFill>
            <a:srgbClr val="CCECFF"/>
          </a:solidFill>
          <a:ln w="952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分号不能丢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33801" name="图片 8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  <p:bldP spid="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395288" y="405130"/>
            <a:ext cx="8286750" cy="4286250"/>
          </a:xfrm>
        </p:spPr>
        <p:txBody>
          <a:bodyPr vert="horz" wrap="square" lIns="91440" tIns="45720" rIns="91440" bIns="45720" anchor="t" anchorCtr="0"/>
          <a:p>
            <a:pPr marL="432435" indent="-432435" algn="just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说明：</a:t>
            </a:r>
            <a:endParaRPr kumimoji="1" lang="zh-CN" altLang="zh-CN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67055" lvl="1" indent="-517525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整个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语句可写在多行上，也可写在一行上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但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都是一个整体，属于同一个语句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72135" lvl="1" indent="-541655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 1 ”…“语句 m ”是 if 中的内嵌语句内嵌语句也可以是一个 if 语句</a:t>
            </a:r>
            <a:endParaRPr kumimoji="1" lang="zh-CN" altLang="en-US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61975" lvl="1" indent="-534035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(3)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“语句 1 ”…“语句 m ”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可以是简单的语句，也可以是复合语句</a:t>
            </a:r>
            <a:endParaRPr kumimoji="1" lang="zh-CN" altLang="en-US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48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4822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971550" y="1196340"/>
            <a:ext cx="5737225" cy="1623060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1" action="ppaction://hlinksldjump"/>
              </a:rPr>
              <a:t>4.3.1关系运算符及其优先次序</a:t>
            </a:r>
            <a:endParaRPr kumimoji="1" lang="en-US" altLang="zh-CN" sz="32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2" action="ppaction://hlinksldjump"/>
              </a:rPr>
              <a:t>4.3.2 关系表达式</a:t>
            </a:r>
            <a:endParaRPr kumimoji="1" lang="en-US" altLang="zh-CN" sz="32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584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5847" name="图片 6" descr="Untitl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251460" y="405130"/>
            <a:ext cx="592201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 </a:t>
            </a:r>
            <a:r>
              <a:rPr lang="en-US" altLang="zh-CN" sz="3600" kern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4.3关系运算符和关系表达式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4.3.1关系运算符及其优先次序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6957060" cy="4500245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关系运算符：</a:t>
            </a:r>
            <a:endParaRPr kumimoji="1" lang="zh-CN" altLang="zh-CN" sz="28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用来对两个数值进行比较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比较运算符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Ｃ语言提供６种关系运算符：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① ＜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( </a:t>
            </a: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小于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  </a:t>
            </a: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② ＜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     ( </a:t>
            </a: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小于或等于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  </a:t>
            </a:r>
            <a:endParaRPr kumimoji="1" lang="zh-CN" altLang="zh-CN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③ ＞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( </a:t>
            </a: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大于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  </a:t>
            </a: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④ ＞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     ( </a:t>
            </a:r>
            <a:r>
              <a:rPr kumimoji="1" lang="zh-CN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大于或等于</a:t>
            </a: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</a:t>
            </a:r>
            <a:endParaRPr kumimoji="1" lang="en-US" altLang="zh-CN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endParaRPr kumimoji="1" lang="zh-CN" altLang="zh-CN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zh-CN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⑤</a:t>
            </a:r>
            <a:r>
              <a:rPr kumimoji="1" lang="en-US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==   ( </a:t>
            </a:r>
            <a:r>
              <a:rPr kumimoji="1" lang="zh-CN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等于</a:t>
            </a:r>
            <a:r>
              <a:rPr kumimoji="1" lang="en-US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     </a:t>
            </a:r>
            <a:r>
              <a:rPr kumimoji="1" lang="zh-CN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⑥</a:t>
            </a:r>
            <a:r>
              <a:rPr kumimoji="1" lang="en-US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!=   ( </a:t>
            </a:r>
            <a:r>
              <a:rPr kumimoji="1" lang="zh-CN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不等于</a:t>
            </a:r>
            <a:r>
              <a:rPr kumimoji="1" lang="en-US" altLang="zh-CN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) </a:t>
            </a:r>
            <a:endParaRPr kumimoji="1" lang="en-US" altLang="zh-CN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86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86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87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99615" y="4388168"/>
            <a:ext cx="30718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优先级相同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2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3410" y="3141980"/>
            <a:ext cx="6246495" cy="121475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3410" y="4942205"/>
            <a:ext cx="5547360" cy="50546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2320" y="5518785"/>
            <a:ext cx="30718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优先级相同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28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875" name="图片 10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7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39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7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1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charRg st="101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charRg st="105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9" grpId="0" bldLvl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4903"/>
            <a:ext cx="7429500" cy="785812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关系、算术、赋值运算符的优先级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789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89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89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2717800" y="2426653"/>
            <a:ext cx="3643313" cy="2143125"/>
            <a:chOff x="1785918" y="2715414"/>
            <a:chExt cx="3643338" cy="2143140"/>
          </a:xfrm>
        </p:grpSpPr>
        <p:sp>
          <p:nvSpPr>
            <p:cNvPr id="37897" name="TextBox 10"/>
            <p:cNvSpPr txBox="1"/>
            <p:nvPr/>
          </p:nvSpPr>
          <p:spPr>
            <a:xfrm>
              <a:off x="1785918" y="2786058"/>
              <a:ext cx="3643338" cy="5219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算术运算符      </a:t>
              </a:r>
              <a:r>
                <a:rPr lang="en-US" altLang="zh-CN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lang="zh-CN" altLang="en-US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</a:t>
              </a:r>
              <a:r>
                <a:rPr lang="en-US" altLang="zh-CN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zh-CN" altLang="en-US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898" name="TextBox 11"/>
            <p:cNvSpPr txBox="1"/>
            <p:nvPr/>
          </p:nvSpPr>
          <p:spPr>
            <a:xfrm>
              <a:off x="1785918" y="4286256"/>
              <a:ext cx="3643338" cy="5219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赋值运算符      </a:t>
              </a:r>
              <a:r>
                <a:rPr lang="en-US" altLang="zh-CN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lang="zh-CN" altLang="en-US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</a:t>
              </a:r>
              <a:r>
                <a:rPr lang="en-US" altLang="zh-CN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zh-CN" altLang="en-US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899" name="TextBox 12"/>
            <p:cNvSpPr txBox="1"/>
            <p:nvPr/>
          </p:nvSpPr>
          <p:spPr>
            <a:xfrm>
              <a:off x="1823496" y="3579312"/>
              <a:ext cx="2143140" cy="5219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关系运算符 </a:t>
              </a:r>
              <a:endParaRPr lang="zh-CN" altLang="en-US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7900" name="直接箭头连接符 14"/>
            <p:cNvCxnSpPr/>
            <p:nvPr/>
          </p:nvCxnSpPr>
          <p:spPr>
            <a:xfrm rot="5400000" flipH="1" flipV="1">
              <a:off x="2857488" y="3786190"/>
              <a:ext cx="2143140" cy="1588"/>
            </a:xfrm>
            <a:prstGeom prst="straightConnector1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arrow" w="med" len="med"/>
            </a:ln>
          </p:spPr>
        </p:cxnSp>
      </p:grpSp>
      <p:pic>
        <p:nvPicPr>
          <p:cNvPr id="37896" name="图片 11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4.3.1关系运算符及其优先次序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1546225" y="1856105"/>
            <a:ext cx="6121400" cy="3143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4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 &gt; a + b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等效于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c &gt; (a + b)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4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&gt; b == c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等效于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(a &gt; b) == c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4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== b &lt; c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等效于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a == (b &lt; c)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4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= b &gt; c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等效于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a = (b &gt; c)</a:t>
            </a:r>
            <a:endParaRPr kumimoji="1" lang="en-US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891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91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91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8919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4.3.1关系运算符及其优先次序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6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26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1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51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7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charRg st="77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4.3.2 关系表达式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1778" y="1124903"/>
            <a:ext cx="7429500" cy="4071937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关系表达式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12165" lvl="1" indent="-414020" defTabSz="0">
              <a:tabLst>
                <a:tab pos="0" algn="l"/>
              </a:tabLst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用关系运算符将两个数值或数值表达式连接起来的式子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12165" lvl="1" indent="-414020" defTabSz="0">
              <a:tabLst>
                <a:tab pos="0" algn="l"/>
              </a:tabLst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关系表达式的值是一个逻辑值，即“真”或“假”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12165" lvl="1" indent="-414020" defTabSz="0">
              <a:tabLst>
                <a:tab pos="0" algn="l"/>
              </a:tabLst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的逻辑运算中，以“１”代表“真”，以“０”代表“假”</a:t>
            </a:r>
            <a:endParaRPr kumimoji="1" lang="en-US" altLang="zh-CN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994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4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4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9943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6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54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970280" y="1340485"/>
            <a:ext cx="7286625" cy="2714625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1" action="ppaction://hlinksldjump"/>
              </a:rPr>
              <a:t>4.4.1 </a:t>
            </a: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1" action="ppaction://hlinksldjump"/>
              </a:rPr>
              <a:t>逻辑运算符及其优先次序</a:t>
            </a:r>
            <a:endParaRPr kumimoji="1" lang="en-US" altLang="zh-CN" sz="32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2" action="ppaction://hlinksldjump"/>
              </a:rPr>
              <a:t>4.4.2 </a:t>
            </a: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2" action="ppaction://hlinksldjump"/>
              </a:rPr>
              <a:t>逻辑表达式</a:t>
            </a:r>
            <a:endParaRPr kumimoji="1" lang="en-US" altLang="zh-CN" sz="32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3" action="ppaction://hlinksldjump"/>
              </a:rPr>
              <a:t>4.4.3 </a:t>
            </a:r>
            <a:r>
              <a:rPr kumimoji="1" lang="en-US" altLang="zh-CN" sz="3200" b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hlinkClick r:id="rId3" action="ppaction://hlinksldjump"/>
              </a:rPr>
              <a:t>逻辑型变量</a:t>
            </a:r>
            <a:endParaRPr kumimoji="1" lang="en-US" altLang="zh-CN" sz="3200" b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096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6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6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0967" name="图片 6" descr="Untitled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>
            <a:spLocks noGrp="1" noChangeArrowheads="1"/>
          </p:cNvSpPr>
          <p:nvPr>
            <p:ph type="title"/>
            <p:custDataLst>
              <p:tags r:id="rId6"/>
            </p:custDataLst>
          </p:nvPr>
        </p:nvSpPr>
        <p:spPr>
          <a:xfrm>
            <a:off x="251460" y="405130"/>
            <a:ext cx="597344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4.4 逻辑运算符和逻辑表达式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405130"/>
            <a:ext cx="857250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4.4.1 逻辑运算符及其优先次序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201660" cy="4500245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3种逻辑运算符：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&amp;&amp;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kumimoji="1" lang="zh-CN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逻辑与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||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kumimoji="1" lang="zh-CN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逻辑或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!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kumimoji="1" lang="zh-CN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逻辑非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&amp;&amp;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||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是双目(元)运算符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!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是一目(元)运算符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逻辑表达式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91845" lvl="1" indent="-385445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用逻辑运算符将关系表达式或其他逻辑量连接起来的式子</a:t>
            </a:r>
            <a:endParaRPr kumimoji="1" lang="en-US" altLang="zh-CN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198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1991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9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9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charRg st="49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60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charRg st="66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7786688" cy="3286125"/>
          </a:xfrm>
        </p:spPr>
        <p:txBody>
          <a:bodyPr vert="horz" wrap="square" lIns="91440" tIns="45720" rIns="91440" bIns="45720" anchor="t" anchorCtr="0"/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判断年龄在13至17岁之内？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age &gt;= 13 &amp;&amp; age &lt;= 17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判断年龄小于12或大于65？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age &lt; 12 || age &gt; 65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kumimoji="1" lang="en-US" altLang="zh-CN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301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3015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14313" y="405130"/>
            <a:ext cx="857250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4.4.1 逻辑运算符及其优先次序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5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15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9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charRg st="49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27990" y="2069465"/>
          <a:ext cx="8286808" cy="3000395"/>
        </p:xfrm>
        <a:graphic>
          <a:graphicData uri="http://schemas.openxmlformats.org/drawingml/2006/table">
            <a:tbl>
              <a:tblPr/>
              <a:tblGrid>
                <a:gridCol w="1214446"/>
                <a:gridCol w="1214446"/>
                <a:gridCol w="1214446"/>
                <a:gridCol w="1285884"/>
                <a:gridCol w="1643074"/>
                <a:gridCol w="1714512"/>
              </a:tblGrid>
              <a:tr h="600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b="0" kern="100" dirty="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! a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! b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 &amp;&amp; b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 || b 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真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 dirty="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 dirty="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1778" y="1124268"/>
            <a:ext cx="4357688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0" hangingPunct="0">
              <a:lnSpc>
                <a:spcPct val="12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kern="0" cap="none" spc="0" normalizeH="0" baseline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kern="0" cap="none" spc="0" normalizeH="0" baseline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逻辑运算的真值表</a:t>
            </a:r>
            <a:endParaRPr kumimoji="1" lang="zh-CN" altLang="zh-CN" sz="2800" kern="0" cap="none" spc="0" normalizeH="0" baseline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4083" name="图片 9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14313" y="405130"/>
            <a:ext cx="857250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4.4.1 逻辑运算符及其优先次序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06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06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 txBox="1"/>
          <p:nvPr/>
        </p:nvSpPr>
        <p:spPr>
          <a:xfrm>
            <a:off x="252095" y="1125220"/>
            <a:ext cx="8143875" cy="21431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32435" indent="-432435" algn="l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逻辑运算符的优先次序</a:t>
            </a:r>
            <a:endParaRPr kumimoji="1" lang="zh-CN" altLang="zh-CN" sz="2800" kern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00100" lvl="1" indent="-342900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!  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&amp;&amp; 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→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||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! </a:t>
            </a:r>
            <a:r>
              <a:rPr lang="zh-CN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为三者中最高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与其他运算符的优先次序</a:t>
            </a:r>
            <a:endParaRPr kumimoji="1" lang="zh-CN" altLang="zh-CN" sz="2800" kern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/>
          <p:nvPr/>
        </p:nvSpPr>
        <p:spPr>
          <a:xfrm>
            <a:off x="2430145" y="3355658"/>
            <a:ext cx="4300538" cy="26431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!                   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（高）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算术运算符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关系运算符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&amp;&amp;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||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赋值运算符           （低）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00100" lvl="1" indent="-342900" eaLnBrk="0" hangingPunct="0">
              <a:spcBef>
                <a:spcPct val="20000"/>
              </a:spcBef>
            </a:pPr>
            <a:endParaRPr lang="en-US" altLang="zh-CN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rot="5400000" flipH="1" flipV="1">
            <a:off x="3681095" y="4666933"/>
            <a:ext cx="2357438" cy="1587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pic>
        <p:nvPicPr>
          <p:cNvPr id="45065" name="图片 11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14313" y="405130"/>
            <a:ext cx="857250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4.4.1 逻辑运算符及其优先次序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charRg st="1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charRg st="1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charRg st="1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charRg st="1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4.4.2 逻辑表达式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46380" y="1125220"/>
            <a:ext cx="8364220" cy="378587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逻辑表达式的值应该是逻辑量“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”或“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编译系统在表示逻辑运算结果时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2490" lvl="1" indent="-481330"/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以数值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”，以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但在判断一个量是否为“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”时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72490" lvl="1" indent="-481330" algn="l"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”，以非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注意：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将一个非零的数值认作为“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真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608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08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08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6087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1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21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6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6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54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69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67">
                                            <p:txEl>
                                              <p:charRg st="86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981710"/>
            <a:ext cx="7256145" cy="3820160"/>
          </a:xfrm>
        </p:spPr>
        <p:txBody>
          <a:bodyPr vert="horz" wrap="square" lIns="91440" tIns="45720" rIns="91440" bIns="45720" anchor="t" anchorCtr="0"/>
          <a:p>
            <a:pPr algn="just" latinLnBrk="0">
              <a:lnSpc>
                <a:spcPts val="6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= 4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，则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!a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0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 latinLnBrk="0">
              <a:lnSpc>
                <a:spcPts val="6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= 4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 = 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，则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&amp;&amp; b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 latinLnBrk="0">
              <a:lnSpc>
                <a:spcPts val="6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(3) a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值分别为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4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a||b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 latinLnBrk="0">
              <a:lnSpc>
                <a:spcPts val="6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(4) a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值分别为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4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!a||b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 latinLnBrk="0">
              <a:lnSpc>
                <a:spcPts val="6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(5) 4 &amp;&amp; 0 || 2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</a:t>
            </a:r>
            <a:endParaRPr kumimoji="1" lang="en-US" altLang="zh-CN" sz="2800" dirty="0">
              <a:solidFill>
                <a:srgbClr val="9D138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10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0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1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7111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350774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4.4.2 逻辑表达式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17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7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charRg st="67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3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93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5643563" cy="785813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修改后的逻辑运算真值表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kumimoji="1" lang="en-US" altLang="zh-CN" dirty="0">
              <a:latin typeface="+mn-lt"/>
              <a:ea typeface="+mn-ea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endParaRPr kumimoji="1" lang="en-US" altLang="zh-CN" dirty="0">
              <a:solidFill>
                <a:srgbClr val="9D138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13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85495" y="2426970"/>
          <a:ext cx="7644130" cy="2561606"/>
        </p:xfrm>
        <a:graphic>
          <a:graphicData uri="http://schemas.openxmlformats.org/drawingml/2006/table">
            <a:tbl>
              <a:tblPr/>
              <a:tblGrid>
                <a:gridCol w="1071570"/>
                <a:gridCol w="1282050"/>
                <a:gridCol w="1218280"/>
                <a:gridCol w="1214446"/>
                <a:gridCol w="1513965"/>
                <a:gridCol w="1343554"/>
              </a:tblGrid>
              <a:tr h="514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! a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! b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 &amp;&amp; b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 || b 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非</a:t>
                      </a:r>
                      <a:r>
                        <a:rPr lang="en-US" alt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非</a:t>
                      </a:r>
                      <a:r>
                        <a:rPr lang="en-US" alt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非</a:t>
                      </a:r>
                      <a:r>
                        <a:rPr lang="en-US" alt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非</a:t>
                      </a:r>
                      <a:r>
                        <a:rPr lang="en-US" alt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66725" algn="just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假</a:t>
                      </a:r>
                      <a:endParaRPr lang="zh-CN" sz="2800" b="0" kern="1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66725" algn="just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kern="1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b="0" kern="100" dirty="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8179" name="图片 7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460" y="405130"/>
            <a:ext cx="352615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4.4.2 逻辑表达式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0825" y="1125220"/>
            <a:ext cx="8715375" cy="4429125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判别某一年是否闰年，用逻辑表达式表示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闰年的条件是符合下面二者之一：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78765" lvl="1" indent="13843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①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能被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整除，但不能被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100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整除，如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2008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78765" lvl="1" indent="138430" algn="l"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②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能被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400整除，如2000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33755" lvl="1" indent="-40640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(year % 4 == 0 &amp;&amp; year 100 !=0)|| year % 400 == 0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33755" lvl="1" indent="-406400" algn="l">
              <a:buSzTx/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如果表达式值为1，则闰年；否则为非闰年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99085" lvl="1" indent="0" algn="l">
              <a:buSzTx/>
              <a:buNone/>
            </a:pP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915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15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15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9159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4.4.2 逻辑表达式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9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19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5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35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8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charRg st="58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3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73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3" y="42005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4.4.3 逻辑型变量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89645" cy="285750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这是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C99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所增加的一种数据类型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可以将关系运算和逻辑运算的结果存到一个逻辑型变量中，以便于分析和运算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018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018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018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50183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6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16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" y="405130"/>
            <a:ext cx="605663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4.5 条件运算符和条件表达式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42365"/>
            <a:ext cx="8595995" cy="4794250"/>
          </a:xfrm>
        </p:spPr>
        <p:txBody>
          <a:bodyPr vert="horz" wrap="square" lIns="91440" tIns="45720" rIns="91440" bIns="45720" anchor="t" anchorCtr="0"/>
          <a:p>
            <a:pPr marL="432435" indent="-432435" algn="just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有一种 if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语句当被判别的表达式的值为“真”或“假” 时，都执行一个赋值语句且向同一个变量赋值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just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如：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689735" lvl="1" indent="-567690">
              <a:lnSpc>
                <a:spcPct val="100000"/>
              </a:lnSpc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if (a &gt; b)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1" indent="-56769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	               </a:t>
            </a:r>
            <a:r>
              <a:rPr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max = a;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689735" lvl="1" indent="-56769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else 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689735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max = b;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0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29188" y="4571365"/>
            <a:ext cx="38576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= (a &gt; b) </a:t>
            </a:r>
            <a:r>
              <a:rPr lang="en-US" altLang="zh-CN" sz="2800" b="1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;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17980" y="3502025"/>
            <a:ext cx="2714625" cy="22145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349490" y="4428490"/>
            <a:ext cx="320040" cy="78613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858760" y="4428490"/>
            <a:ext cx="314325" cy="78613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96243" y="3856990"/>
            <a:ext cx="24288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条件运算符</a:t>
            </a:r>
            <a:endParaRPr lang="zh-CN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1212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9" grpId="0" animBg="1"/>
      <p:bldP spid="10" grpId="0" animBg="1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" y="405130"/>
            <a:ext cx="6056630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4.5 条件运算符和条件表达式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42365"/>
            <a:ext cx="8595995" cy="4794250"/>
          </a:xfrm>
        </p:spPr>
        <p:txBody>
          <a:bodyPr vert="horz" wrap="square" lIns="91440" tIns="45720" rIns="91440" bIns="45720" anchor="t" anchorCtr="0"/>
          <a:p>
            <a:pPr marL="432435" indent="-432435" algn="just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有一种 if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语句当被判别的表达式的值为“真”或“假” 时，都执行一个赋值语句且向同一个变量赋值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just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如：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689735" lvl="1" indent="-567690">
              <a:lnSpc>
                <a:spcPct val="100000"/>
              </a:lnSpc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if (a &gt; b)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1" indent="-56769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	               </a:t>
            </a:r>
            <a:r>
              <a:rPr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max = a;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689735" lvl="1" indent="-56769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else 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689735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max = b;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0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29188" y="4571365"/>
            <a:ext cx="38576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= (a &gt; b) </a:t>
            </a:r>
            <a:r>
              <a:rPr lang="en-US" altLang="zh-CN" sz="2800" b="1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;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12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072505" y="4643120"/>
            <a:ext cx="2357438" cy="5000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TextBox 10"/>
          <p:cNvSpPr txBox="1"/>
          <p:nvPr>
            <p:custDataLst>
              <p:tags r:id="rId4"/>
            </p:custDataLst>
          </p:nvPr>
        </p:nvSpPr>
        <p:spPr>
          <a:xfrm>
            <a:off x="5715318" y="5357495"/>
            <a:ext cx="2428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条件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表达式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684260" cy="509778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条件表达式的一般形式为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1" indent="457200" algn="l" defTabSz="914400" eaLnBrk="1" hangingPunct="1"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表达式１？表达式２: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表达式３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条件运算符的执行顺序：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42645" lvl="1" indent="-384810"/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求解表达式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1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42645" lvl="1" indent="-384810"/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若为非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0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（真）则求解表达式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2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，此时表达式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的值就作为整个条件表达式的值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42645" lvl="1" indent="-384810"/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若表达式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1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的值为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0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（假），则求解表达式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，表达式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3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的值就是整个条件表达式的值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1" indent="457200" algn="l" defTabSz="914400" eaLnBrk="1" hangingPunct="1"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325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5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5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53255" name="图片 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4.5 条件运算符和条件表达式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96975"/>
            <a:ext cx="8601710" cy="3857625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条件运算符优先于赋值运算符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条件运算符的结合方向为“自右至左”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以下为合法的使用方法：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42645" lvl="1" indent="-415925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&gt; b ? (max = a) : (max = b);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42645" lvl="1" indent="-415925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&gt; b ? printf(“%d”, a) : printf(“%d”, b);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530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530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530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55303" name="图片 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4.5 条件运算符和条件表达式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14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32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charRg st="44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80120" cy="2786380"/>
          </a:xfrm>
        </p:spPr>
        <p:txBody>
          <a:bodyPr vert="horz" wrap="square" lIns="91440" tIns="45720" rIns="91440" bIns="45720" anchor="t" anchorCtr="0"/>
          <a:p>
            <a:pPr marL="893445" indent="-893445" algn="just"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4.4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输入一个字符，判别它是否大写字母，如果是，将它转换成小写字母；如果不是，不转换。然后输出最后得到的字符。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632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632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632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56327" name="图片 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4.5 条件运算符和条件表达式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4" name="Rectangle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52095" y="3062605"/>
            <a:ext cx="8580120" cy="25717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用条件表达式来处理，当字母是大写时，转换成小写字母，否则不转换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30505" y="1149985"/>
            <a:ext cx="7842885" cy="4643755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7165" indent="24384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char ch;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7165" indent="24384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scanf("%c", &amp;ch);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7165" indent="24384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ch = (ch &gt;= 'A' &amp;&amp; ch &lt;= 'Z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'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)?(ch + 32) : ch;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7165" indent="24384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printf("%c\n", ch);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7165" indent="24384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return 0;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837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837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837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710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2870" y="4293870"/>
            <a:ext cx="535940" cy="10052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6" name="图片 7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4.5 条件运算符和条件表达式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2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charRg st="32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43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62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21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charRg st="121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3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charRg st="133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92185" cy="485775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语句中又包含一个或多个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语句称为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语句的嵌套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一般形式：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( )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if ( )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            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else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              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else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if ( )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3            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else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4  </a:t>
            </a:r>
            <a:r>
              <a:rPr kumimoji="1" lang="en-US" altLang="zh-CN" dirty="0">
                <a:latin typeface="+mn-lt"/>
                <a:ea typeface="+mn-ea"/>
              </a:rPr>
              <a:t>          </a:t>
            </a:r>
            <a:endParaRPr kumimoji="1" lang="zh-CN" altLang="zh-CN" dirty="0">
              <a:latin typeface="+mn-lt"/>
              <a:ea typeface="+mn-ea"/>
            </a:endParaRPr>
          </a:p>
        </p:txBody>
      </p:sp>
      <p:sp>
        <p:nvSpPr>
          <p:cNvPr id="5939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939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939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21430" y="5158423"/>
            <a:ext cx="15001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solidFill>
                  <a:srgbClr val="0000CC"/>
                </a:solidFill>
                <a:latin typeface="Arial" panose="020B0604020202020204" pitchFamily="34" charset="0"/>
              </a:rPr>
              <a:t>内嵌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if</a:t>
            </a:r>
            <a:endParaRPr lang="en-US" altLang="zh-CN" sz="28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88085" y="3505200"/>
            <a:ext cx="1948815" cy="10001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88085" y="4942840"/>
            <a:ext cx="1925955" cy="10001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8885" y="3789680"/>
            <a:ext cx="40005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else 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总是与它上面最近的未配对的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配对</a:t>
            </a:r>
            <a:endParaRPr lang="zh-CN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9403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34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4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charRg st="6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charRg st="98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3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103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1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131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bldLvl="0" animBg="1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614410" cy="485775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语句中又包含一个或多个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语句称为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语句的嵌套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()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   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if ()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    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 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else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042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42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42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80155" y="3142298"/>
            <a:ext cx="15001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内嵌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if</a:t>
            </a:r>
            <a:endParaRPr lang="en-US" altLang="zh-CN" sz="28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3895" y="2926080"/>
            <a:ext cx="2495550" cy="1714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19793" y="3934460"/>
            <a:ext cx="4286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{ }</a:t>
            </a:r>
            <a:r>
              <a:rPr lang="zh-CN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限定了内嵌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if</a:t>
            </a:r>
            <a:r>
              <a:rPr lang="zh-CN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范围</a:t>
            </a:r>
            <a:endParaRPr lang="zh-CN" altLang="zh-CN" sz="28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60426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ldLvl="0" animBg="1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Rectangle 3"/>
          <p:cNvSpPr>
            <a:spLocks noGrp="1"/>
          </p:cNvSpPr>
          <p:nvPr>
            <p:ph idx="1"/>
          </p:nvPr>
        </p:nvSpPr>
        <p:spPr>
          <a:xfrm>
            <a:off x="395605" y="1268730"/>
            <a:ext cx="8420100" cy="3786505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4.5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有一函数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1" lang="en-US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3335" indent="-13335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编一程序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输入一个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要求输出相应的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y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值。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05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0" name="Object 1"/>
          <p:cNvGraphicFramePr/>
          <p:nvPr/>
        </p:nvGraphicFramePr>
        <p:xfrm>
          <a:off x="3204210" y="1701483"/>
          <a:ext cx="2500313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078865" imgH="711200" progId="Equation.3">
                  <p:embed/>
                </p:oleObj>
              </mc:Choice>
              <mc:Fallback>
                <p:oleObj name="" r:id="rId1" imgW="1078865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4210" y="1701483"/>
                        <a:ext cx="2500313" cy="165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7" name="图片 8" descr="Untitl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607425" cy="3215005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71525" lvl="1" indent="-405765">
              <a:lnSpc>
                <a:spcPct val="100000"/>
              </a:lnSpc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语句检查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的值，根据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的值决定赋予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y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71525" lvl="1" indent="-405765">
              <a:lnSpc>
                <a:spcPct val="100000"/>
              </a:lnSpc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由于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y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的可能值不是两个而是三个，因此不可能只用一个简单的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无内嵌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)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语句来实现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144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4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4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4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61448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6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30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60985" y="1125220"/>
            <a:ext cx="8622665" cy="428625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en-US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kumimoji="1" lang="en-US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33095" lvl="1" indent="-363220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先后用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3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个独立的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语句处理：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33095" lvl="1" indent="-36322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33095" lvl="1" indent="-36322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&lt; 0,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 =-1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33095" lvl="1" indent="-36322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= 0,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 = 0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33095" lvl="1" indent="-36322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&gt; 0,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 = 1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33095" lvl="1" indent="-36322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x 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y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246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6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7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7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43530" y="4215765"/>
            <a:ext cx="6286500" cy="2571750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</a:ln>
        </p:spPr>
        <p:txBody>
          <a:bodyPr/>
          <a:lstStyle/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scanf("%d", &amp;x);</a:t>
            </a:r>
            <a:endParaRPr kumimoji="1" lang="en-US" altLang="zh-CN" sz="2800" kern="1200" cap="none" spc="0" normalizeH="0" baseline="0" noProof="0" dirty="0" err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if(x &lt; 0)    y = -1;</a:t>
            </a:r>
            <a:endParaRPr kumimoji="1" lang="en-US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if(x==0)    y = 0;</a:t>
            </a:r>
            <a:endParaRPr kumimoji="1" lang="zh-CN" altLang="zh-CN" sz="2800" kern="1200" cap="none" spc="0" normalizeH="0" baseline="0" noProof="0" dirty="0" err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if(x &gt; 0)    y = 1;</a:t>
            </a:r>
            <a:endParaRPr kumimoji="1" lang="en-US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("x = 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d, y 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%d\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n", x, 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 err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853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870" y="2996883"/>
            <a:ext cx="2143125" cy="881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4" name="图片 9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9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29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charRg st="49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1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81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1778" y="1125220"/>
            <a:ext cx="6715125" cy="485775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en-US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方法2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用一个嵌套的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语句处理：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 &lt; 0, 则y = -1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否则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若 x = 0, 则y = 0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否则   y = 1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10210" lvl="1" indent="-140335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349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349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349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349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853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688" y="3643313"/>
            <a:ext cx="2143125" cy="881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637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88" y="4857750"/>
            <a:ext cx="2089150" cy="928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9" name="图片 10" descr="Untitl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71458" y="24130"/>
            <a:ext cx="6357938" cy="32861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d",&amp;x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if(x&lt;0)  y=-1;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if(x==0) y=0;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else  y=1;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("x=%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d,y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=%d\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n",x,y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9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27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1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1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charRg st="48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charRg st="51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7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84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251778" y="1125220"/>
            <a:ext cx="6715125" cy="485775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lnSpc>
                <a:spcPct val="120000"/>
              </a:lnSpc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en-US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方法2</a:t>
            </a:r>
            <a:endParaRPr kumimoji="1" lang="zh-CN" altLang="en-US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用一个嵌套的if语句处理：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 &lt; 0, 则y = -1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否则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若 x = 0, 则y = 0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否则   y = 1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74980"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输出x和y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451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451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451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45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0" y="3857625"/>
            <a:ext cx="6357938" cy="27860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d", &amp;x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(x&gt;=0)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 (x&gt;0) y=1;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else     y=0;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      y=-1;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("x=%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d,y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=%d\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n", x, 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 err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4524" name="图片 1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4813"/>
            <a:ext cx="8429625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4.6 选择结构的嵌套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86063" y="0"/>
            <a:ext cx="6357938" cy="32861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d",&amp;x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if(x&lt;0)  y=-1;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if(x==0) y=0;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else  y=1;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indent="-285750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("x=%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d,y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=%d\</a:t>
            </a:r>
            <a:r>
              <a:rPr kumimoji="1" lang="en-US" altLang="zh-CN" sz="2800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n", x, y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  <a:endParaRPr kumimoji="1" lang="zh-CN" altLang="zh-CN" sz="28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11"/>
          <p:cNvSpPr txBox="1"/>
          <p:nvPr>
            <p:custDataLst>
              <p:tags r:id="rId5"/>
            </p:custDataLst>
          </p:nvPr>
        </p:nvSpPr>
        <p:spPr>
          <a:xfrm>
            <a:off x="4572000" y="1000125"/>
            <a:ext cx="43576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提倡</a:t>
            </a:r>
            <a:r>
              <a:rPr lang="zh-CN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内嵌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放在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else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3131820" y="1584325"/>
            <a:ext cx="2168525" cy="10001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/>
      <p:bldP spid="5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548640"/>
            <a:ext cx="8786813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4.7 用switch语句实现多分支选择结构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395288" y="1268730"/>
            <a:ext cx="7929562" cy="4857750"/>
          </a:xfrm>
        </p:spPr>
        <p:txBody>
          <a:bodyPr vert="horz" wrap="square" lIns="91440" tIns="45720" rIns="91440" bIns="45720" anchor="t" anchorCtr="0"/>
          <a:p>
            <a:pPr marL="450215" indent="-450215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switch语句用来实现多分支选择结构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44855" lvl="1" indent="-415290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学生成绩分类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29565" lvl="1" indent="457200" algn="l"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85分以上为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’A’等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29565" lvl="1" indent="457200" algn="l"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70～84分为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’B’等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29565" lvl="1" indent="457200" algn="l"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60～69分为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’C’等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29565" lvl="1" indent="457200" algn="l"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……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44855" lvl="1" indent="-415290" algn="l">
              <a:buSzTx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人口统计分类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29565" lvl="1" indent="457200" algn="l">
              <a:buSzTx/>
              <a:buFont typeface="Wingdings" panose="05000000000000000000" pitchFamily="2" charset="2"/>
              <a:buNone/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按年龄分为老、中、青、少、儿童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554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554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554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554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65544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2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charRg st="2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27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charRg st="27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38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5539">
                                            <p:txEl>
                                              <p:charRg st="38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5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5539">
                                            <p:txEl>
                                              <p:charRg st="50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62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5539">
                                            <p:txEl>
                                              <p:charRg st="62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65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charRg st="65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72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charRg st="72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15350" cy="2857500"/>
          </a:xfrm>
        </p:spPr>
        <p:txBody>
          <a:bodyPr vert="horz" wrap="square" lIns="91440" tIns="45720" rIns="91440" bIns="45720" anchor="t" anchorCtr="0"/>
          <a:p>
            <a:pPr marL="1015365" indent="-1015365" algn="just"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4.6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要求按照考试成绩的等级输出百分制分数段，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等为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85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分以上，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等为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70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84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分，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等为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60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69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 ，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等为 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60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分以下 。成绩的等级由键盘输入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656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656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656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66568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14313" y="405130"/>
            <a:ext cx="8786813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4.7 用 switch 语句实现多分支选择结构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72500" cy="3929380"/>
          </a:xfrm>
        </p:spPr>
        <p:txBody>
          <a:bodyPr vert="horz" wrap="square" lIns="91440" tIns="45720" rIns="91440" bIns="45720" anchor="t" anchorCtr="0"/>
          <a:p>
            <a:pPr marL="432435" indent="-432435" algn="l" defTabSz="914400" eaLnBrk="1" hangingPunct="1">
              <a:spcBef>
                <a:spcPct val="50000"/>
              </a:spcBef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91845" lvl="1" indent="-385445" algn="just"/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判断出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这是一个多分支选择问题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91845" lvl="1" indent="-385445" algn="just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根据百分制分数将学生成绩分为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个等级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91845" lvl="1" indent="-385445" algn="just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如果用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</a:t>
            </a:r>
            <a:r>
              <a:rPr kumimoji="1" lang="zh-CN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zh-CN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至少要用</a:t>
            </a:r>
            <a:r>
              <a:rPr kumimoji="1"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3 </a:t>
            </a:r>
            <a:r>
              <a:rPr kumimoji="1" lang="zh-CN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层嵌套的</a:t>
            </a:r>
            <a:r>
              <a:rPr kumimoji="1"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if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，进行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次检查判断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791845" lvl="1" indent="-385445" algn="just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 </a:t>
            </a:r>
            <a:r>
              <a:rPr kumimoji="1" lang="zh-CN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进行一次检查即可得到结果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758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758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759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759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67592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14313" y="405130"/>
            <a:ext cx="8786813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4.7 用 switch 语句实现多分支选择结构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6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1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21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charRg st="4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1778" y="333375"/>
            <a:ext cx="8643937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char grade;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 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61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8739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714500"/>
            <a:ext cx="3841750" cy="428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1907540" y="2637155"/>
            <a:ext cx="1040765" cy="48450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1820" y="2637155"/>
            <a:ext cx="15001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值为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215390" y="3787458"/>
            <a:ext cx="49403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8739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143125"/>
            <a:ext cx="3857625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20" name="图片 12" descr="Untitl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1778" y="333375"/>
            <a:ext cx="8643937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char grade;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 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61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63845" y="3357245"/>
            <a:ext cx="1040765" cy="48450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515" y="3381375"/>
            <a:ext cx="15001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不能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少</a:t>
            </a:r>
            <a:endParaRPr lang="zh-CN" altLang="en-US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68620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1778" y="333375"/>
            <a:ext cx="8643937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char grade;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 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61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07540" y="2637155"/>
            <a:ext cx="1040765" cy="48450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1820" y="2637155"/>
            <a:ext cx="15001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值为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 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215390" y="4576763"/>
            <a:ext cx="49403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68620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7396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41215" y="1747838"/>
            <a:ext cx="3786188" cy="419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7397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87253" y="2143125"/>
            <a:ext cx="3714750" cy="471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1778" y="333375"/>
            <a:ext cx="8643937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char grade;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 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61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07540" y="2637155"/>
            <a:ext cx="1040765" cy="48450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1820" y="2637155"/>
            <a:ext cx="15001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值为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F 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215390" y="5366068"/>
            <a:ext cx="49403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68620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8418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56865" y="5501005"/>
            <a:ext cx="528637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8419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56865" y="5858193"/>
            <a:ext cx="5286375" cy="412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1778" y="333375"/>
            <a:ext cx="8643937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char grade;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 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2545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61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68620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711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27020" y="5501640"/>
            <a:ext cx="528637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712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27020" y="5858828"/>
            <a:ext cx="5286375" cy="41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2755583" y="5858828"/>
            <a:ext cx="2000250" cy="5000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397375" y="2061210"/>
            <a:ext cx="332105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此行位置有问题，应如何修改？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899795" y="2287905"/>
            <a:ext cx="3232150" cy="42799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/>
      <p:bldP spid="15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405130"/>
            <a:ext cx="8587740" cy="5572125"/>
          </a:xfrm>
        </p:spPr>
        <p:txBody>
          <a:bodyPr vert="horz" wrap="square" lIns="91440" tIns="45720" rIns="91440" bIns="45720" anchor="t" anchorCtr="0"/>
          <a:p>
            <a:pPr marL="440055" indent="-440055"/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语句的作用是根据表达式的值，使流程跳转到不同的语句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40055" indent="-440055"/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语句的一般形式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（表达式）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 case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常量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case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常量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┇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┇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┇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case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常量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algn="l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default         </a:t>
            </a:r>
            <a:r>
              <a:rPr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语句n+1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373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92300" y="2165985"/>
            <a:ext cx="1496695" cy="4921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7765" y="2133600"/>
            <a:ext cx="40719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solidFill>
                  <a:srgbClr val="0000CC"/>
                </a:solidFill>
                <a:latin typeface="Arial" panose="020B0604020202020204" pitchFamily="34" charset="0"/>
              </a:rPr>
              <a:t>整数类型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zh-CN" sz="2800" b="1" dirty="0">
                <a:solidFill>
                  <a:srgbClr val="0000CC"/>
                </a:solidFill>
                <a:latin typeface="Arial" panose="020B0604020202020204" pitchFamily="34" charset="0"/>
              </a:rPr>
              <a:t>包括字符型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pic>
        <p:nvPicPr>
          <p:cNvPr id="73737" name="图片 10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2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32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7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37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6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charRg st="162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9" grpId="0" bldLvl="0" animBg="1"/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405130"/>
            <a:ext cx="8587740" cy="5572125"/>
          </a:xfrm>
        </p:spPr>
        <p:txBody>
          <a:bodyPr vert="horz" wrap="square" lIns="91440" tIns="45720" rIns="91440" bIns="45720" anchor="t" anchorCtr="0"/>
          <a:p>
            <a:pPr marL="440055" indent="-440055"/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语句的作用是根据表达式的值，使流程跳转到不同的语句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40055" indent="-440055"/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语句的一般形式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switch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（表达式）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 case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常量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case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常量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┇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┇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┇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case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常量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：语句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algn="l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default         </a:t>
            </a:r>
            <a:r>
              <a:rPr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语句n+1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373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3737" name="图片 10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908175" y="2568575"/>
            <a:ext cx="1285875" cy="206121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9"/>
          <p:cNvSpPr txBox="1"/>
          <p:nvPr>
            <p:custDataLst>
              <p:tags r:id="rId4"/>
            </p:custDataLst>
          </p:nvPr>
        </p:nvSpPr>
        <p:spPr>
          <a:xfrm>
            <a:off x="4500245" y="3209608"/>
            <a:ext cx="2000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不能相同</a:t>
            </a:r>
            <a:endParaRPr lang="zh-CN" altLang="en-US" sz="28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2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32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7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37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6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charRg st="162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2" grpId="0" bldLvl="0" animBg="1"/>
      <p:bldP spid="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xfrm>
            <a:off x="251778" y="405130"/>
            <a:ext cx="8643937" cy="5929313"/>
          </a:xfrm>
        </p:spPr>
        <p:txBody>
          <a:bodyPr vert="horz" wrap="square" lIns="91440" tIns="45720" rIns="91440" bIns="45720" anchor="t" anchorCtr="0"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 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7577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5213033" y="2564448"/>
            <a:ext cx="942975" cy="190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0" name="直接连接符 19"/>
          <p:cNvCxnSpPr/>
          <p:nvPr/>
        </p:nvCxnSpPr>
        <p:spPr>
          <a:xfrm flipV="1">
            <a:off x="5285740" y="2997200"/>
            <a:ext cx="726440" cy="1968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" name="直接连接符 20"/>
          <p:cNvCxnSpPr/>
          <p:nvPr/>
        </p:nvCxnSpPr>
        <p:spPr>
          <a:xfrm flipV="1">
            <a:off x="5213033" y="3429000"/>
            <a:ext cx="798830" cy="1968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/>
        </p:nvCxnSpPr>
        <p:spPr>
          <a:xfrm flipV="1">
            <a:off x="4710113" y="3932873"/>
            <a:ext cx="797560" cy="2032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894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4580890"/>
            <a:ext cx="3511550" cy="2214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8" name="图片 11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xfrm>
            <a:off x="251778" y="405130"/>
            <a:ext cx="8643937" cy="5929313"/>
          </a:xfrm>
        </p:spPr>
        <p:txBody>
          <a:bodyPr vert="horz" wrap="square" lIns="91440" tIns="45720" rIns="91440" bIns="45720" anchor="t" anchorCtr="0"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case 'A': printf("85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'B': printf("70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84\n");break;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'C':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 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7577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5788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 flipV="1">
            <a:off x="2411730" y="2492058"/>
            <a:ext cx="3874770" cy="7302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>
            <p:custDataLst>
              <p:tags r:id="rId4"/>
            </p:custDataLst>
          </p:nvPr>
        </p:nvCxnSpPr>
        <p:spPr>
          <a:xfrm flipV="1">
            <a:off x="2411730" y="2924810"/>
            <a:ext cx="3658235" cy="6858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xfrm>
            <a:off x="251778" y="405130"/>
            <a:ext cx="8643937" cy="5929313"/>
          </a:xfrm>
        </p:spPr>
        <p:txBody>
          <a:bodyPr vert="horz" wrap="square" lIns="91440" tIns="45720" rIns="91440" bIns="45720" anchor="t" anchorCtr="0"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scanf("%c",&amp;grade);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printf("Your score:");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switch(grade)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case '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':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':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': printf("60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69\n");break;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case 'D': printf("&lt;60\n");break;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37465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default:  printf("enter data error!\n");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 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7577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5788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0466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00020" y="2348548"/>
            <a:ext cx="3257550" cy="769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405130"/>
            <a:ext cx="8580755" cy="4429125"/>
          </a:xfrm>
        </p:spPr>
        <p:txBody>
          <a:bodyPr vert="horz" wrap="square" lIns="91440" tIns="45720" rIns="91440" bIns="45720" anchor="t" anchorCtr="0"/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4.7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编写程序，用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switch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语句处理菜单命令</a:t>
            </a:r>
            <a:endParaRPr kumimoji="1" lang="zh-CN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9885" indent="-334645" algn="just"/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在许多应用程序中，用菜单对流程进行控制，例如从键盘输入一个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’A’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’a’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字符，就会执行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操作，输入一个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’B’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’b’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字符，就会执行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操作，等等。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885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8855" name="图片 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13043" y="358140"/>
            <a:ext cx="8429625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void action1(int,int),action2(int, int);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char ch;  int a=15,b=23;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ch=getchar();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switch(ch)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case 'a':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case ‘A’: action1(a,b);break;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case 'b':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case ‘B’: action2(a,b);break;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      default:  putchar(‘\a’);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3530" y="2276793"/>
            <a:ext cx="22145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987675" y="4220845"/>
            <a:ext cx="25717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2849880" y="3415983"/>
            <a:ext cx="52149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调用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action1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函数，执行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操作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57688" y="-635"/>
            <a:ext cx="4786312" cy="192881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action1(int x,int y) </a:t>
            </a:r>
            <a:endParaRPr lang="en-US" altLang="zh-C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printf("x+y=%d\n",x+y);</a:t>
            </a:r>
            <a:endParaRPr lang="zh-CN" altLang="zh-C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883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72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67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267">
                                            <p:txEl>
                                              <p:charRg st="131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6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267">
                                            <p:txEl>
                                              <p:charRg st="146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84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charRg st="184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00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267">
                                            <p:txEl>
                                              <p:charRg st="200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3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67">
                                            <p:txEl>
                                              <p:charRg st="23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68" end="2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267">
                                            <p:txEl>
                                              <p:charRg st="268" end="2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73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267">
                                            <p:txEl>
                                              <p:charRg st="273" end="2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86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267">
                                            <p:txEl>
                                              <p:charRg st="286" end="2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7" grpId="0"/>
      <p:bldP spid="10" grpId="0"/>
      <p:bldP spid="11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13043" y="358140"/>
            <a:ext cx="8429625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void action1(int,int),action2(int, int);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char ch;  int a=15,b=23;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ch=getchar();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switch(ch)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case 'a':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case ‘A’: action1(a,b);break;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case 'b':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case ‘B’: action2(a,b);break;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      default:  putchar(‘\a’);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3530" y="2276793"/>
            <a:ext cx="22145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987675" y="4938395"/>
            <a:ext cx="25717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2849880" y="4133533"/>
            <a:ext cx="52149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调用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action2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函数，执行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 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操作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79883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4393565" y="0"/>
            <a:ext cx="4750435" cy="19284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r>
              <a:rPr lang="en-US" altLang="zh-CN" sz="280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action2(int x,int y)</a:t>
            </a:r>
            <a:endParaRPr lang="zh-CN" altLang="zh-CN" sz="2800" dirty="0">
              <a:solidFill>
                <a:srgbClr val="9D13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800" dirty="0">
              <a:solidFill>
                <a:srgbClr val="9D13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printf("x*y=%d\n",x*y);</a:t>
            </a:r>
            <a:endParaRPr lang="zh-CN" altLang="zh-CN" sz="2800" dirty="0">
              <a:solidFill>
                <a:srgbClr val="9D13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9D13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800" dirty="0">
              <a:solidFill>
                <a:srgbClr val="9D13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72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67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31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6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charRg st="146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84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charRg st="184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00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267">
                                            <p:txEl>
                                              <p:charRg st="200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3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charRg st="23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68" end="2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267">
                                            <p:txEl>
                                              <p:charRg st="268" end="2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73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67">
                                            <p:txEl>
                                              <p:charRg st="273" end="2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86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267">
                                            <p:txEl>
                                              <p:charRg st="286" end="2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7" grpId="0"/>
      <p:bldP spid="10" grpId="0"/>
      <p:bldP spid="3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13043" y="358140"/>
            <a:ext cx="8429625" cy="65722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void action1(int,int),action2(int, int);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char ch;  int a=15,b=23;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ch=getchar();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switch(ch)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{ 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case 'a':</a:t>
            </a:r>
            <a:endParaRPr kumimoji="1" lang="zh-CN" altLang="zh-CN" sz="2800" b="0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case ‘A’: action1(a,b);break;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case 'b':</a:t>
            </a:r>
            <a:endParaRPr kumimoji="1" lang="zh-CN" altLang="zh-CN" sz="2800" b="0" dirty="0">
              <a:solidFill>
                <a:srgbClr val="9D138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solidFill>
                  <a:srgbClr val="9D138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case ‘B’: action2(a,b);break;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70840" defTabSz="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626745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      default:  putchar(‘\a’);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5080"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atinLnBrk="0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9883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6"/>
          <p:cNvSpPr txBox="1"/>
          <p:nvPr>
            <p:custDataLst>
              <p:tags r:id="rId3"/>
            </p:custDataLst>
          </p:nvPr>
        </p:nvSpPr>
        <p:spPr>
          <a:xfrm>
            <a:off x="2927985" y="2276793"/>
            <a:ext cx="30003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</a:rPr>
              <a:t>输入其他字符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>
            <a:off x="1708785" y="5358130"/>
            <a:ext cx="25717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" name="TextBox 9"/>
          <p:cNvSpPr txBox="1"/>
          <p:nvPr>
            <p:custDataLst>
              <p:tags r:id="rId5"/>
            </p:custDataLst>
          </p:nvPr>
        </p:nvSpPr>
        <p:spPr>
          <a:xfrm>
            <a:off x="2351405" y="5357813"/>
            <a:ext cx="2000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</a:rPr>
              <a:t>发出警告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charRg st="19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charRg st="3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charRg st="72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100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67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charRg st="131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46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charRg st="146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84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charRg st="184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00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267">
                                            <p:txEl>
                                              <p:charRg st="200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3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charRg st="23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68" end="2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267">
                                            <p:txEl>
                                              <p:charRg st="268" end="2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73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67">
                                            <p:txEl>
                                              <p:charRg st="273" end="2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86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267">
                                            <p:txEl>
                                              <p:charRg st="286" end="2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2" grpId="0"/>
      <p:bldP spid="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3"/>
          <p:cNvSpPr>
            <a:spLocks noGrp="1"/>
          </p:cNvSpPr>
          <p:nvPr>
            <p:ph idx="1"/>
          </p:nvPr>
        </p:nvSpPr>
        <p:spPr>
          <a:xfrm>
            <a:off x="251778" y="404813"/>
            <a:ext cx="8715375" cy="5286375"/>
          </a:xfrm>
        </p:spPr>
        <p:txBody>
          <a:bodyPr vert="horz" wrap="square" lIns="91440" tIns="45720" rIns="91440" bIns="45720" anchor="t" anchorCtr="0"/>
          <a:p>
            <a:pPr marL="448310" indent="-448310"/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这是一个非常简单的示意程序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48310" indent="-448310"/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实际应用中，所指定的操作可能比较复杂：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56615" lvl="1" indent="-39878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：输入全班学生各门课的成绩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56615" lvl="1" indent="-39878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：计算并输出每个学生各门课的平均成绩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56615" lvl="1" indent="-39878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：计算并输出各门课的全班平均成绩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56615" lvl="1" indent="-39878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：对全班学生的平均成绩由高到低排序并输出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70535" indent="-470535"/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可以按以上思路编写程序，把各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action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函数</a:t>
            </a: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设计成不同的功能以实现各要求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294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4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4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5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2951" name="图片 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3" y="405130"/>
            <a:ext cx="8786813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4.8选择结构程序综合举例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37575" cy="3286125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4.8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写一程序，判断某一年是否闰年。</a:t>
            </a:r>
            <a:endParaRPr kumimoji="1" lang="en-US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22605" indent="-365760" algn="l">
              <a:buSzTx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在前面已介绍过判别闰年的方法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522605" indent="-365760" algn="l"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本例用不同的方法编写程序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397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3976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4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41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252095" y="1125220"/>
            <a:ext cx="8569960" cy="3857625"/>
          </a:xfrm>
        </p:spPr>
        <p:txBody>
          <a:bodyPr vert="horz" wrap="square" lIns="91440" tIns="45720" rIns="91440" bIns="45720" anchor="t" anchorCtr="0"/>
          <a:p>
            <a:pPr marL="448310" indent="-448310" algn="just"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用变量leap代表是否闰年的信息。若闰年，令leap=1；非闰年，leap=0。最后判断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是否为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（真），若是，则输出“闰年”信息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48310" indent="-448310" algn="just"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参见教材图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4.13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499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499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499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499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5000" name="图片 7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51143" y="405130"/>
            <a:ext cx="8786813" cy="645160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L="20320" marR="0" lvl="0" indent="-20320" algn="l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3600" b="1" i="0" u="none" strike="noStrike" kern="0" cap="none" spc="0" normalizeH="0" baseline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4.8选择结构程序综合举例</a:t>
            </a:r>
            <a:endParaRPr kumimoji="1" lang="en-US" altLang="zh-CN" sz="3600" b="1" i="0" u="none" strike="noStrike" kern="0" cap="none" spc="0" normalizeH="0" baseline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blinds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xfrm>
            <a:off x="214630" y="430530"/>
            <a:ext cx="9001125" cy="685800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int year,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printf("enter year:"); scanf("%d",&amp;year);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(year%4==0)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if(year%100==0)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if(year%400==0)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    printf("%d is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printf("%d is not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printf("a leap year.\n");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60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15603" y="1628775"/>
            <a:ext cx="23574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标志变量</a:t>
            </a:r>
            <a:endParaRPr lang="zh-CN" altLang="zh-CN" sz="24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071688" y="2057718"/>
            <a:ext cx="555625" cy="1714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2" name="直接连接符 11"/>
          <p:cNvCxnSpPr/>
          <p:nvPr/>
        </p:nvCxnSpPr>
        <p:spPr>
          <a:xfrm flipV="1">
            <a:off x="1188085" y="5229225"/>
            <a:ext cx="793115" cy="25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5436235" y="4797425"/>
            <a:ext cx="32531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(leap!=0)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含义相同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86027" name="图片 10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xfrm>
            <a:off x="214630" y="430530"/>
            <a:ext cx="9001125" cy="685800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int year,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printf("enter year:"); scanf("%d",&amp;year);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(year%4==0)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if(year%100==0)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if(year%400==0)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    printf("%d is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printf("%d is not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printf("a leap year.\n");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60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6027" name="图片 10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1905794" y="3571399"/>
            <a:ext cx="0" cy="2159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1473201" y="3211513"/>
            <a:ext cx="2540" cy="86550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/>
          <p:nvPr>
            <p:custDataLst>
              <p:tags r:id="rId5"/>
            </p:custDataLst>
          </p:nvPr>
        </p:nvCxnSpPr>
        <p:spPr>
          <a:xfrm>
            <a:off x="1044099" y="2852897"/>
            <a:ext cx="0" cy="158432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TextBox 13"/>
          <p:cNvSpPr txBox="1"/>
          <p:nvPr>
            <p:custDataLst>
              <p:tags r:id="rId6"/>
            </p:custDataLst>
          </p:nvPr>
        </p:nvSpPr>
        <p:spPr>
          <a:xfrm>
            <a:off x="4643438" y="3572510"/>
            <a:ext cx="30003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solidFill>
                  <a:srgbClr val="C00000"/>
                </a:solidFill>
                <a:latin typeface="Arial" panose="020B0604020202020204" pitchFamily="34" charset="0"/>
              </a:rPr>
              <a:t>采取锯齿形式</a:t>
            </a:r>
            <a:endParaRPr lang="zh-CN" altLang="zh-CN" sz="28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191490" name="Picture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-16510"/>
            <a:ext cx="3857625" cy="801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1492" name="Picture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71938" y="-16510"/>
            <a:ext cx="5070475" cy="774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xfrm>
            <a:off x="214630" y="430530"/>
            <a:ext cx="9001125" cy="685800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int year,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printf("enter year:"); scanf("%d",&amp;year);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(year%4==0)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if(year%100==0)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if(year%400==0)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    printf("%d is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printf("%d is not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printf("a leap year.\n");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60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6027" name="图片 10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825500" y="2444750"/>
            <a:ext cx="5186680" cy="2413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TextBox 15"/>
          <p:cNvSpPr txBox="1"/>
          <p:nvPr>
            <p:custDataLst>
              <p:tags r:id="rId4"/>
            </p:custDataLst>
          </p:nvPr>
        </p:nvSpPr>
        <p:spPr>
          <a:xfrm>
            <a:off x="2286000" y="5072698"/>
            <a:ext cx="6858000" cy="1814830"/>
          </a:xfrm>
          <a:prstGeom prst="rect">
            <a:avLst/>
          </a:prstGeom>
          <a:solidFill>
            <a:srgbClr val="0000CC"/>
          </a:solidFill>
        </p:spPr>
        <p:txBody>
          <a:bodyPr>
            <a:spAutoFit/>
          </a:bodyPr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if(year%4!=0)  leap=0;</a:t>
            </a:r>
            <a:endParaRPr kumimoji="1" lang="zh-CN" altLang="zh-CN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if (year%100!=0)  leap=1;</a:t>
            </a:r>
            <a:endParaRPr kumimoji="1" lang="zh-CN" altLang="zh-CN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if(year%400!=0)   leap=0;</a:t>
            </a:r>
            <a:endParaRPr kumimoji="1" lang="zh-CN" altLang="zh-CN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 </a:t>
            </a:r>
            <a:r>
              <a:rPr kumimoji="1" lang="zh-CN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　</a:t>
            </a: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leap=1;</a:t>
            </a:r>
            <a:endParaRPr kumimoji="1" lang="zh-CN" altLang="en-US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xfrm>
            <a:off x="214630" y="430530"/>
            <a:ext cx="9001125" cy="685800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int year,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printf("enter year:"); scanf("%d",&amp;year);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(year%4==0)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if(year%100==0)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if(year%400==0)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	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  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</a:t>
            </a:r>
            <a:r>
              <a:rPr kumimoji="1"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leap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    printf("%d is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else  printf("%d is not ",year);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printf("a leap year.\n");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9210"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1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60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6027" name="图片 10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825500" y="2444750"/>
            <a:ext cx="5186680" cy="2413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1477645" y="5083810"/>
            <a:ext cx="7673975" cy="1814830"/>
          </a:xfrm>
          <a:prstGeom prst="rect">
            <a:avLst/>
          </a:prstGeom>
          <a:solidFill>
            <a:srgbClr val="0000CC"/>
          </a:solidFill>
        </p:spPr>
        <p:txBody>
          <a:bodyPr wrap="square">
            <a:spAutoFit/>
          </a:bodyPr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if((year%4==0 &amp;&amp; year%100!=0) || (year%400==0))</a:t>
            </a:r>
            <a:endParaRPr kumimoji="1" lang="zh-CN" altLang="zh-CN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leap=1;</a:t>
            </a:r>
            <a:endParaRPr kumimoji="1" lang="zh-CN" altLang="zh-CN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 </a:t>
            </a:r>
            <a:endParaRPr kumimoji="1" lang="en-US" altLang="zh-CN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leap=0;</a:t>
            </a:r>
            <a:endParaRPr kumimoji="1" lang="zh-CN" altLang="en-US" sz="2800" kern="1200" cap="none" spc="0" normalizeH="0" baseline="0" noProof="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9" name="Rectangle 3"/>
          <p:cNvSpPr>
            <a:spLocks noGrp="1"/>
          </p:cNvSpPr>
          <p:nvPr>
            <p:ph idx="1"/>
          </p:nvPr>
        </p:nvSpPr>
        <p:spPr>
          <a:xfrm>
            <a:off x="108585" y="405130"/>
            <a:ext cx="7510145" cy="786130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4.9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                 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方程的解</a:t>
            </a:r>
            <a:r>
              <a:rPr kumimoji="1" lang="zh-CN" altLang="zh-CN" sz="2800" dirty="0">
                <a:solidFill>
                  <a:srgbClr val="235A67"/>
                </a:solidFill>
                <a:latin typeface="+mn-lt"/>
                <a:ea typeface="+mn-ea"/>
                <a:cs typeface="+mn-cs"/>
              </a:rPr>
              <a:t>。</a:t>
            </a:r>
            <a:endParaRPr kumimoji="1" lang="zh-CN" altLang="zh-CN" sz="2800" dirty="0">
              <a:solidFill>
                <a:srgbClr val="235A6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8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4" name="Object 1"/>
          <p:cNvGraphicFramePr/>
          <p:nvPr/>
        </p:nvGraphicFramePr>
        <p:xfrm>
          <a:off x="1605915" y="435610"/>
          <a:ext cx="2985770" cy="54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016000" imgH="203200" progId="Equation.3">
                  <p:embed/>
                </p:oleObj>
              </mc:Choice>
              <mc:Fallback>
                <p:oleObj name="" r:id="rId1" imgW="1016000" imgH="2032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5915" y="435610"/>
                        <a:ext cx="2985770" cy="541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6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7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8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组合 19"/>
          <p:cNvGrpSpPr/>
          <p:nvPr/>
        </p:nvGrpSpPr>
        <p:grpSpPr>
          <a:xfrm>
            <a:off x="355918" y="1140778"/>
            <a:ext cx="7929562" cy="4857750"/>
            <a:chOff x="571472" y="1714488"/>
            <a:chExt cx="7929618" cy="4857784"/>
          </a:xfrm>
        </p:grpSpPr>
        <p:sp>
          <p:nvSpPr>
            <p:cNvPr id="3091" name="Rectangle 3"/>
            <p:cNvSpPr txBox="1"/>
            <p:nvPr/>
          </p:nvSpPr>
          <p:spPr>
            <a:xfrm>
              <a:off x="571472" y="1714488"/>
              <a:ext cx="7929618" cy="48577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55295" indent="-455295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800" dirty="0">
                  <a:solidFill>
                    <a:srgbClr val="235A67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解题思路：</a:t>
              </a: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处理以下各情况</a:t>
              </a:r>
              <a:endPara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34975" lvl="1" indent="-213360" eaLnBrk="1" hangingPunct="1">
                <a:lnSpc>
                  <a:spcPct val="120000"/>
                </a:lnSpc>
              </a:pP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①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a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，不是二次方程</a:t>
              </a:r>
              <a:endPara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34975" lvl="1" indent="-213360" eaLnBrk="1" hangingPunct="1">
                <a:lnSpc>
                  <a:spcPct val="120000"/>
                </a:lnSpc>
              </a:pP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②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            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，有两个相等实根</a:t>
              </a:r>
              <a:endParaRPr lang="zh-CN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34975" indent="-213360">
                <a:lnSpc>
                  <a:spcPct val="120000"/>
                </a:lnSpc>
              </a:pP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③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              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，有两个不等实根。</a:t>
              </a:r>
              <a:endParaRPr lang="zh-CN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34975" indent="-213360">
                <a:lnSpc>
                  <a:spcPct val="120000"/>
                </a:lnSpc>
              </a:pP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④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              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，有两个共轭复根。</a:t>
              </a:r>
              <a:endParaRPr lang="zh-CN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34975" indent="-34925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应当以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p + qi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p - qi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的形式输出复根</a:t>
              </a:r>
              <a:endPara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34975" indent="-34925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其中，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p = - b/2a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q=(                   )/2a</a:t>
              </a:r>
              <a:endParaRPr lang="zh-CN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24815" indent="-424815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参见教材</a:t>
              </a:r>
              <a:r>
                <a:rPr lang="zh-CN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4.14</a:t>
              </a:r>
              <a:endPara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075" name="Object 3"/>
            <p:cNvGraphicFramePr/>
            <p:nvPr/>
          </p:nvGraphicFramePr>
          <p:xfrm>
            <a:off x="1221716" y="2851779"/>
            <a:ext cx="2107580" cy="497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3" imgW="786765" imgH="203200" progId="Equation.3">
                    <p:embed/>
                  </p:oleObj>
                </mc:Choice>
                <mc:Fallback>
                  <p:oleObj name="" r:id="rId3" imgW="786765" imgH="203200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21716" y="2851779"/>
                          <a:ext cx="2107580" cy="497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5"/>
            <p:cNvGraphicFramePr/>
            <p:nvPr/>
          </p:nvGraphicFramePr>
          <p:xfrm>
            <a:off x="1228066" y="3337559"/>
            <a:ext cx="2173620" cy="485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5" imgW="786765" imgH="203200" progId="Equation.3">
                    <p:embed/>
                  </p:oleObj>
                </mc:Choice>
                <mc:Fallback>
                  <p:oleObj name="" r:id="rId5" imgW="786765" imgH="203200" progId="Equation.3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28066" y="3337559"/>
                          <a:ext cx="2173620" cy="4851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7"/>
            <p:cNvGraphicFramePr/>
            <p:nvPr/>
          </p:nvGraphicFramePr>
          <p:xfrm>
            <a:off x="1228701" y="3874773"/>
            <a:ext cx="2121550" cy="485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774065" imgH="203200" progId="Equation.3">
                    <p:embed/>
                  </p:oleObj>
                </mc:Choice>
                <mc:Fallback>
                  <p:oleObj name="" r:id="rId7" imgW="774065" imgH="203200" progId="Equation.3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28701" y="3874773"/>
                          <a:ext cx="2121550" cy="4851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" name="Object 9"/>
            <p:cNvGraphicFramePr/>
            <p:nvPr/>
          </p:nvGraphicFramePr>
          <p:xfrm>
            <a:off x="4430278" y="4797873"/>
            <a:ext cx="1714512" cy="6429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9" imgW="685800" imgH="254000" progId="Equation.3">
                    <p:embed/>
                  </p:oleObj>
                </mc:Choice>
                <mc:Fallback>
                  <p:oleObj name="" r:id="rId9" imgW="685800" imgH="254000" progId="Equation.3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30278" y="4797873"/>
                          <a:ext cx="1714512" cy="6429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090" name="图片 18" descr="Untitled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3"/>
          <p:cNvSpPr>
            <a:spLocks noGrp="1"/>
          </p:cNvSpPr>
          <p:nvPr>
            <p:ph idx="1"/>
          </p:nvPr>
        </p:nvSpPr>
        <p:spPr>
          <a:xfrm>
            <a:off x="251778" y="404813"/>
            <a:ext cx="8286750" cy="54292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&lt;math.h&gt;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zh-CN" altLang="zh-CN" sz="2800" b="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double a, b, c, disc, x1, x2, realpart, imagpart;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985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scanf("%lf, %lf, %lf", &amp;a, &amp;b, &amp;c);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985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printf("The equation 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985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if ( fabs(a) &lt;= le-6 )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985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 printf("is not a quadratic\n");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011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1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1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1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1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2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22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0123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79838" y="4005580"/>
            <a:ext cx="38576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实型不能用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(a==0)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125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3"/>
          <p:cNvSpPr>
            <a:spLocks noGrp="1"/>
          </p:cNvSpPr>
          <p:nvPr>
            <p:ph idx="1"/>
          </p:nvPr>
        </p:nvSpPr>
        <p:spPr>
          <a:xfrm>
            <a:off x="502285" y="281305"/>
            <a:ext cx="8591550" cy="8395335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else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2800" b="0" dirty="0">
                <a:solidFill>
                  <a:srgbClr val="CC99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0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disc = b*b - 4*a*c;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095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if( fabs(disc) &lt;= 1e-6)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095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	    printf("has two equal roots:%8.4f\n",   -b/(2*a));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095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else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91503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if( disc &gt; 1e-6)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91503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 </a:t>
            </a: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91503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x1 = ( -b + sqrt(disc))/(2*a);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1524635" defTabSz="0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96977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x2 = ( -b - sqrt(disc))/(2*a);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1524635" defTabSz="0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96977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printf("has distinct real roots:%8.4f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1524635" defTabSz="0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96977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and %8.4f\n",x1,x2);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915035" latinLnBrk="0">
              <a:lnSpc>
                <a:spcPts val="386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 </a:t>
            </a:r>
            <a:r>
              <a:rPr lang="en-US" altLang="zh-CN" sz="2800" b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20955">
              <a:buFont typeface="Wingdings" panose="05000000000000000000" pitchFamily="2" charset="2"/>
              <a:buNone/>
            </a:pP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113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6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1147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3710" y="1341755"/>
            <a:ext cx="42462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先算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disc</a:t>
            </a:r>
            <a:r>
              <a:rPr lang="zh-CN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，以减少重复计算</a:t>
            </a:r>
            <a:endParaRPr lang="zh-CN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6145" y="1845945"/>
            <a:ext cx="3857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不能用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(disc==0)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91150" name="图片 1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3"/>
          <p:cNvSpPr>
            <a:spLocks noGrp="1"/>
          </p:cNvSpPr>
          <p:nvPr>
            <p:ph idx="1"/>
          </p:nvPr>
        </p:nvSpPr>
        <p:spPr>
          <a:xfrm>
            <a:off x="394970" y="477520"/>
            <a:ext cx="8501380" cy="6125845"/>
          </a:xfrm>
        </p:spPr>
        <p:txBody>
          <a:bodyPr vert="horz" wrap="square" lIns="91440" tIns="45720" rIns="91440" bIns="45720" anchor="t" anchorCtr="0"/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else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realpart = - b / (2*a);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imagpart = sqrt( - disc) / (2*a);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 has complex roots:\n");        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+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\n“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, realpart, imagpart);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-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\n",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realpart, imagpart);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C99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9318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4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5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3197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3"/>
          <p:cNvSpPr>
            <a:spLocks noGrp="1"/>
          </p:cNvSpPr>
          <p:nvPr>
            <p:ph idx="1"/>
          </p:nvPr>
        </p:nvSpPr>
        <p:spPr>
          <a:xfrm>
            <a:off x="394970" y="477520"/>
            <a:ext cx="8501380" cy="6125845"/>
          </a:xfrm>
        </p:spPr>
        <p:txBody>
          <a:bodyPr vert="horz" wrap="square" lIns="91440" tIns="45720" rIns="91440" bIns="45720" anchor="t" anchorCtr="0"/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else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realpart = - b / (2*a);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imagpart = sqrt( - disc) / (2*a);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 has complex roots:\n");        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+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\n“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, realpart, imagpart);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-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\n",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realpart, imagpart);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C99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9318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4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5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3197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42" name="Picture 2" descr="pic4-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8625" y="4786313"/>
            <a:ext cx="8421688" cy="857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3"/>
          <p:cNvSpPr>
            <a:spLocks noGrp="1"/>
          </p:cNvSpPr>
          <p:nvPr>
            <p:ph idx="1"/>
          </p:nvPr>
        </p:nvSpPr>
        <p:spPr>
          <a:xfrm>
            <a:off x="394970" y="477520"/>
            <a:ext cx="8501380" cy="6125845"/>
          </a:xfrm>
        </p:spPr>
        <p:txBody>
          <a:bodyPr vert="horz" wrap="square" lIns="91440" tIns="45720" rIns="91440" bIns="45720" anchor="t" anchorCtr="0"/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else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realpart = - b / (2*a);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imagpart = sqrt( - disc) / (2*a);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 has complex roots:\n");        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+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\n“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, realpart, imagpart);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-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\n",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realpart, imagpart);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C99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9318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4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5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3197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6066" name="Picture 2" descr="pic4-9(2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2938" y="4572000"/>
            <a:ext cx="7602537" cy="1785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3"/>
          <p:cNvSpPr>
            <a:spLocks noGrp="1"/>
          </p:cNvSpPr>
          <p:nvPr>
            <p:ph idx="1"/>
          </p:nvPr>
        </p:nvSpPr>
        <p:spPr>
          <a:xfrm>
            <a:off x="394970" y="477520"/>
            <a:ext cx="8501380" cy="6125845"/>
          </a:xfrm>
        </p:spPr>
        <p:txBody>
          <a:bodyPr vert="horz" wrap="square" lIns="91440" tIns="45720" rIns="91440" bIns="45720" anchor="t" anchorCtr="0"/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else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realpart = - b / (2*a);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imagpart = sqrt( - disc) / (2*a);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 has complex roots:\n");        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+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\n“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, realpart, imagpart);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printf("%8.4f - %8.4f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\n",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 defTabSz="0">
              <a:lnSpc>
                <a:spcPct val="90000"/>
              </a:lnSpc>
              <a:buFont typeface="Wingdings" panose="05000000000000000000" pitchFamily="2" charset="2"/>
              <a:buNone/>
              <a:tabLst>
                <a:tab pos="358140" algn="l"/>
              </a:tabLst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realpart, imagpart);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60579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dirty="0">
                <a:solidFill>
                  <a:srgbClr val="CC99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9318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4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95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3197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7090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5288" y="4652963"/>
            <a:ext cx="8459787" cy="555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3"/>
          <p:cNvSpPr>
            <a:spLocks noGrp="1"/>
          </p:cNvSpPr>
          <p:nvPr>
            <p:ph idx="1"/>
          </p:nvPr>
        </p:nvSpPr>
        <p:spPr>
          <a:xfrm>
            <a:off x="252095" y="405130"/>
            <a:ext cx="8180705" cy="5500370"/>
          </a:xfrm>
        </p:spPr>
        <p:txBody>
          <a:bodyPr vert="horz" wrap="square" lIns="91440" tIns="45720" rIns="91440" bIns="45720" anchor="t" anchorCtr="0"/>
          <a:p>
            <a:pPr marL="1090295" indent="-1090295"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4.10 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运输公司对用户计算运输费用。路程</a:t>
            </a:r>
            <a:r>
              <a:rPr kumimoji="1" lang="en-US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(s km</a:t>
            </a:r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）越远，每吨·千米运费越低。</a:t>
            </a:r>
            <a:endParaRPr kumimoji="1" lang="en-US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99415" indent="-399415"/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标准如下：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1052195"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 s &lt; 250     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没有折扣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1052195"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250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 &lt; 500                 2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％折扣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1052195"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500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 &lt; 1000               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％折扣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1052195"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1000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 &lt; 2000              8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％折扣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1052195"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2000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 &lt; 3000              10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％折扣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1052195"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3000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                           15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％折扣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625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6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6267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6268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3"/>
          <p:cNvSpPr>
            <a:spLocks noGrp="1"/>
          </p:cNvSpPr>
          <p:nvPr>
            <p:ph idx="1"/>
          </p:nvPr>
        </p:nvSpPr>
        <p:spPr>
          <a:xfrm>
            <a:off x="251778" y="404813"/>
            <a:ext cx="7929562" cy="3357562"/>
          </a:xfrm>
        </p:spPr>
        <p:txBody>
          <a:bodyPr vert="horz" wrap="square" lIns="91440" tIns="45720" rIns="91440" bIns="45720" anchor="t" anchorCtr="0"/>
          <a:p>
            <a:pPr marL="480695" indent="-480695"/>
            <a:r>
              <a:rPr kumimoji="1" lang="zh-CN" altLang="zh-CN" sz="2800" b="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解题思路：</a:t>
            </a:r>
            <a:endParaRPr kumimoji="1" lang="en-US" altLang="zh-CN" sz="2800" b="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05815" lvl="1" indent="-347980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设每吨每千米货物的基本运费为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p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，货物重为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w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，距离为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，折扣为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d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05815" lvl="1" indent="-347980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总运费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f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的计算公式为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 = p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(1-d)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728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8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8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8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8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8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8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90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7291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7292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1778" y="404813"/>
            <a:ext cx="8786812" cy="5429250"/>
          </a:xfrm>
        </p:spPr>
        <p:txBody>
          <a:bodyPr vert="horz" wrap="square" lIns="91440" tIns="45720" rIns="91440" bIns="45720" anchor="t" anchorCtr="0"/>
          <a:p>
            <a:pPr marL="400050" indent="-400050"/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折扣的变化规律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（参见教材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4.15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折扣的“变化点”都是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250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的倍数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在横轴上加一种坐标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的值为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s/250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250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的倍数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当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c &lt; 1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时，表示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 &lt; 250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，无折扣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 &lt; 2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时，表示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250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 &lt;5 00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，折扣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d = 2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 &lt; 4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 = 5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％；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≤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 &lt; 8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 = 8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％；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indent="-444500" algn="l">
              <a:buSzTx/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8 ≤ c &lt; 12 时，d =10％；c ≥ 12 时，d = 15％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98450" lvl="1" indent="0">
              <a:buNone/>
            </a:pPr>
            <a:endParaRPr kumimoji="1" lang="en-US" altLang="zh-CN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830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0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0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1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1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1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1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14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15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98316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2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37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charRg st="37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charRg st="5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8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charRg st="68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6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charRg st="86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12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charRg st="112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3"/>
          <p:cNvSpPr>
            <a:spLocks noGrp="1"/>
          </p:cNvSpPr>
          <p:nvPr>
            <p:ph idx="1"/>
          </p:nvPr>
        </p:nvSpPr>
        <p:spPr>
          <a:xfrm>
            <a:off x="251778" y="404813"/>
            <a:ext cx="7858125" cy="54292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 main()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int c, s;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56845" indent="18288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float p, w, d, f;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56845" indent="18288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printf("please enter price, weight, discount:");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56845" indent="18288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scanf("%f, %f, %d", &amp;p, &amp;w, &amp;s);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56845" indent="18288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if( s &gt;= 3000)  c =12;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56845" indent="18288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else         c =s/250;</a:t>
            </a:r>
            <a:r>
              <a:rPr kumimoji="1" lang="en-US" altLang="zh-CN" sz="2800" dirty="0">
                <a:latin typeface="+mn-lt"/>
                <a:ea typeface="+mn-ea"/>
                <a:cs typeface="+mn-cs"/>
              </a:rPr>
              <a:t> </a:t>
            </a:r>
            <a:endParaRPr kumimoji="1" lang="zh-CN" altLang="zh-CN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99331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8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9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51910" y="4509135"/>
            <a:ext cx="40005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400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输入单价、重量、距离</a:t>
            </a:r>
            <a:endParaRPr lang="zh-CN" altLang="zh-CN" sz="24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9341" name="图片 12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3"/>
          <p:cNvSpPr>
            <a:spLocks noGrp="1"/>
          </p:cNvSpPr>
          <p:nvPr>
            <p:ph idx="1"/>
          </p:nvPr>
        </p:nvSpPr>
        <p:spPr>
          <a:xfrm>
            <a:off x="611505" y="405130"/>
            <a:ext cx="7581265" cy="6071870"/>
          </a:xfrm>
        </p:spPr>
        <p:txBody>
          <a:bodyPr vert="horz" wrap="square" lIns="91440" tIns="45720" rIns="91440" bIns="45720" anchor="t" anchorCtr="0"/>
          <a:p>
            <a:pPr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switch(c)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{ </a:t>
            </a:r>
            <a:endParaRPr kumimoji="1" lang="en-US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case 0:   d=0; break;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case 1:   d=2; break;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2: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3:   d=5; break;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4: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5: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6: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7:   d=8; break;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8:  case 9:  case 10: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11:  d=10; break;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95" indent="223520"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case 12:  d=15; break;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 latinLnBrk="0"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0355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5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57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58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5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6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6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62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63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0364" name="图片 11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3"/>
          <p:cNvSpPr>
            <a:spLocks noGrp="1"/>
          </p:cNvSpPr>
          <p:nvPr>
            <p:ph idx="1"/>
          </p:nvPr>
        </p:nvSpPr>
        <p:spPr>
          <a:xfrm>
            <a:off x="755650" y="836930"/>
            <a:ext cx="7858125" cy="3000375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f = p * w * s * (1 - d / 100);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printf(“freight=%10.2f\n”, f); 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return 0;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137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5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6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7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191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83" y="3500755"/>
            <a:ext cx="9001125" cy="768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389" name="图片 12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2185,&quot;width&quot;:1856}"/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2325.9984251968503,&quot;width&quot;:2295.6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COMMONDATA" val="eyJoZGlkIjoiNzE5MGM0NGRjNTVlNGE2NTg4MDAwZTAxYTZjNmUwOTcifQ=="/>
</p:tagLst>
</file>

<file path=ppt/theme/theme1.xml><?xml version="1.0" encoding="utf-8"?>
<a:theme xmlns:a="http://schemas.openxmlformats.org/drawingml/2006/main" name="Bold Stripes">
  <a:themeElements>
    <a:clrScheme name="Bold Stripes 9">
      <a:dk1>
        <a:srgbClr val="000000"/>
      </a:dk1>
      <a:lt1>
        <a:srgbClr val="F36721"/>
      </a:lt1>
      <a:dk2>
        <a:srgbClr val="000000"/>
      </a:dk2>
      <a:lt2>
        <a:srgbClr val="EAEAEA"/>
      </a:lt2>
      <a:accent1>
        <a:srgbClr val="FFFFFF"/>
      </a:accent1>
      <a:accent2>
        <a:srgbClr val="DDDDDD"/>
      </a:accent2>
      <a:accent3>
        <a:srgbClr val="F8B8AB"/>
      </a:accent3>
      <a:accent4>
        <a:srgbClr val="000000"/>
      </a:accent4>
      <a:accent5>
        <a:srgbClr val="FFFFFF"/>
      </a:accent5>
      <a:accent6>
        <a:srgbClr val="C8C8C8"/>
      </a:accent6>
      <a:hlink>
        <a:srgbClr val="000000"/>
      </a:hlink>
      <a:folHlink>
        <a:srgbClr val="969696"/>
      </a:folHlink>
    </a:clrScheme>
    <a:fontScheme name="Bold Stripes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5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6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7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5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6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7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8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0000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9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00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18512</Words>
  <Application>WPS 演示</Application>
  <PresentationFormat>全屏显示(4:3)</PresentationFormat>
  <Paragraphs>1322</Paragraphs>
  <Slides>95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95</vt:i4>
      </vt:variant>
    </vt:vector>
  </HeadingPairs>
  <TitlesOfParts>
    <vt:vector size="115" baseType="lpstr">
      <vt:lpstr>Arial</vt:lpstr>
      <vt:lpstr>宋体</vt:lpstr>
      <vt:lpstr>Wingdings</vt:lpstr>
      <vt:lpstr>Verdana</vt:lpstr>
      <vt:lpstr>黑体</vt:lpstr>
      <vt:lpstr>华文行楷</vt:lpstr>
      <vt:lpstr>微软雅黑</vt:lpstr>
      <vt:lpstr>Times New Roman</vt:lpstr>
      <vt:lpstr>Arial Unicode MS</vt:lpstr>
      <vt:lpstr>Calibri</vt:lpstr>
      <vt:lpstr>Bold Stripes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第4章 选择结构程序设计</vt:lpstr>
      <vt:lpstr>第4章 选择结构程序设计</vt:lpstr>
      <vt:lpstr>4.1 选择结构和条件判断</vt:lpstr>
      <vt:lpstr>PowerPoint 演示文稿</vt:lpstr>
      <vt:lpstr>4.1 选择结构和条件判断</vt:lpstr>
      <vt:lpstr>4.1 选择结构和条件判断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4.2.1 用 if 语句处理选择结构举例</vt:lpstr>
      <vt:lpstr>4.2.1 用 if 语句处理选择结构举例</vt:lpstr>
      <vt:lpstr>4.2.1 用 if 语句处理选择结构举例</vt:lpstr>
      <vt:lpstr>4.2.1 用 if 语句处理选择结构举例</vt:lpstr>
      <vt:lpstr>4.2.1 用 if 语句处理选择结构举例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4.2.2  if 语句的一般形式</vt:lpstr>
      <vt:lpstr>4.2.2  if 语句的一般形式</vt:lpstr>
      <vt:lpstr>PowerPoint 演示文稿</vt:lpstr>
      <vt:lpstr>PowerPoint 演示文稿</vt:lpstr>
      <vt:lpstr>PowerPoint 演示文稿</vt:lpstr>
      <vt:lpstr>PowerPoint 演示文稿</vt:lpstr>
      <vt:lpstr>4.3.1关系运算符及其优先次序</vt:lpstr>
      <vt:lpstr>4.3.1关系运算符及其优先次序</vt:lpstr>
      <vt:lpstr>4.3.1关系运算符及其优先次序</vt:lpstr>
      <vt:lpstr>4.3.2 关系表达式</vt:lpstr>
      <vt:lpstr>4.4 逻辑运算符和逻辑表达式</vt:lpstr>
      <vt:lpstr>4.4.1 逻辑运算符及其优先次序</vt:lpstr>
      <vt:lpstr>4.4.1 逻辑运算符及其优先次序</vt:lpstr>
      <vt:lpstr>4.4.1 逻辑运算符及其优先次序</vt:lpstr>
      <vt:lpstr>4.4.1 逻辑运算符及其优先次序</vt:lpstr>
      <vt:lpstr>4.4.2 逻辑表达式</vt:lpstr>
      <vt:lpstr>4.4.2 逻辑表达式</vt:lpstr>
      <vt:lpstr>4.4.2 逻辑表达式</vt:lpstr>
      <vt:lpstr>4.4.2 逻辑表达式</vt:lpstr>
      <vt:lpstr>4.4.3 逻辑型变量</vt:lpstr>
      <vt:lpstr>4.5 条件运算符和条件表达式</vt:lpstr>
      <vt:lpstr>4.5 条件运算符和条件表达式</vt:lpstr>
      <vt:lpstr>4.5 条件运算符和条件表达式</vt:lpstr>
      <vt:lpstr>4.5 条件运算符和条件表达式</vt:lpstr>
      <vt:lpstr>4.5 条件运算符和条件表达式</vt:lpstr>
      <vt:lpstr>4.5 条件运算符和条件表达式</vt:lpstr>
      <vt:lpstr>4.6 选择结构的嵌套</vt:lpstr>
      <vt:lpstr>4.6 选择结构的嵌套</vt:lpstr>
      <vt:lpstr>4.6 选择结构的嵌套</vt:lpstr>
      <vt:lpstr>4.6 选择结构的嵌套</vt:lpstr>
      <vt:lpstr>4.6 选择结构的嵌套</vt:lpstr>
      <vt:lpstr>4.6 选择结构的嵌套</vt:lpstr>
      <vt:lpstr>4.6 选择结构的嵌套</vt:lpstr>
      <vt:lpstr>4.7 用switch语句实现多分支选择结构</vt:lpstr>
      <vt:lpstr>4.7 用 switch 语句实现多分支选择结构</vt:lpstr>
      <vt:lpstr>4.7 用 switch 语句实现多分支选择结构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4.8选择结构程序综合举例</vt:lpstr>
      <vt:lpstr>4.8选择结构程序综合举例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谭浩强</dc:creator>
  <cp:lastModifiedBy>Trap</cp:lastModifiedBy>
  <cp:revision>958</cp:revision>
  <dcterms:created xsi:type="dcterms:W3CDTF">2002-12-29T13:24:00Z</dcterms:created>
  <dcterms:modified xsi:type="dcterms:W3CDTF">2023-10-08T13:13:49Z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F6A86D42954244EBA0F40065CA365541_12</vt:lpwstr>
  </property>
  <property fmtid="{D5CDD505-2E9C-101B-9397-08002B2CF9AE}" pid="3" name="KSOProductBuildVer">
    <vt:lpwstr>2052-12.1.0.15374</vt:lpwstr>
  </property>
</Properties>
</file>