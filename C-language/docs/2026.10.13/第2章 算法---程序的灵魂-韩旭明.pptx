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78" r:id="rId3"/>
    <p:sldId id="311" r:id="rId4"/>
    <p:sldId id="312" r:id="rId5"/>
    <p:sldId id="313"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79" r:id="rId20"/>
    <p:sldId id="380" r:id="rId21"/>
    <p:sldId id="330" r:id="rId22"/>
    <p:sldId id="331" r:id="rId23"/>
    <p:sldId id="332" r:id="rId24"/>
    <p:sldId id="334" r:id="rId25"/>
    <p:sldId id="335" r:id="rId26"/>
    <p:sldId id="336" r:id="rId27"/>
    <p:sldId id="337" r:id="rId28"/>
    <p:sldId id="381"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 id="368" r:id="rId59"/>
    <p:sldId id="369" r:id="rId60"/>
    <p:sldId id="370" r:id="rId61"/>
    <p:sldId id="371" r:id="rId62"/>
    <p:sldId id="372" r:id="rId63"/>
    <p:sldId id="374" r:id="rId64"/>
    <p:sldId id="375" r:id="rId65"/>
    <p:sldId id="376" r:id="rId66"/>
    <p:sldId id="377" r:id="rId67"/>
  </p:sldIdLst>
  <p:sldSz cx="9144000" cy="6858000" type="screen4x3"/>
  <p:notesSz cx="6858000" cy="9144000"/>
  <p:custDataLst>
    <p:tags r:id="rId71"/>
  </p:custDataLst>
  <p:defaultTextStyle>
    <a:defPPr>
      <a:defRPr lang="zh-CN"/>
    </a:defPPr>
    <a:lvl1pPr marL="0" lvl="0"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4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3" userDrawn="1">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992317"/>
    <a:srgbClr val="235A67"/>
    <a:srgbClr val="0000CC"/>
    <a:srgbClr val="FF99CC"/>
    <a:srgbClr val="9D138D"/>
    <a:srgbClr val="FFFFCC"/>
    <a:srgbClr val="E1F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41"/>
    <p:restoredTop sz="99826"/>
  </p:normalViewPr>
  <p:slideViewPr>
    <p:cSldViewPr showGuides="1">
      <p:cViewPr varScale="1">
        <p:scale>
          <a:sx n="62" d="100"/>
          <a:sy n="62" d="100"/>
        </p:scale>
        <p:origin x="78" y="150"/>
      </p:cViewPr>
      <p:guideLst>
        <p:guide orient="horz" pos="2183"/>
        <p:guide pos="283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gs" Target="tags/tag4.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Rectangle 66"/>
          <p:cNvSpPr>
            <a:spLocks noChangeArrowheads="1"/>
          </p:cNvSpPr>
          <p:nvPr/>
        </p:nvSpPr>
        <p:spPr bwMode="auto">
          <a:xfrm>
            <a:off x="3505200" y="2590800"/>
            <a:ext cx="4892675" cy="76200"/>
          </a:xfrm>
          <a:prstGeom prst="rect">
            <a:avLst/>
          </a:prstGeom>
          <a:solidFill>
            <a:schemeClr val="hlink">
              <a:alpha val="50195"/>
            </a:schemeClr>
          </a:solidFill>
          <a:ln>
            <a:noFill/>
          </a:ln>
        </p:spPr>
        <p:txBody>
          <a:bodyPr wrap="none" anchor="ct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63" name="Rectangle 67"/>
          <p:cNvSpPr>
            <a:spLocks noGrp="1" noChangeArrowheads="1"/>
          </p:cNvSpPr>
          <p:nvPr>
            <p:ph type="ctrTitle" sz="quarter"/>
          </p:nvPr>
        </p:nvSpPr>
        <p:spPr>
          <a:xfrm>
            <a:off x="779463" y="1766888"/>
            <a:ext cx="7678737" cy="762000"/>
          </a:xfrm>
          <a:effectLst/>
        </p:spPr>
        <p:txBody>
          <a:bodyPr/>
          <a:lstStyle>
            <a:lvl1pPr algn="r">
              <a:defRPr/>
            </a:lvl1pPr>
          </a:lstStyle>
          <a:p>
            <a:r>
              <a:rPr lang="zh-CN" altLang="en-US" noProof="1"/>
              <a:t>单击此处编辑母版标题样式</a:t>
            </a:r>
            <a:endParaRPr lang="zh-CN" altLang="en-US" noProof="1"/>
          </a:p>
        </p:txBody>
      </p:sp>
      <p:sp>
        <p:nvSpPr>
          <p:cNvPr id="4164" name="Rectangle 68"/>
          <p:cNvSpPr>
            <a:spLocks noGrp="1" noChangeArrowheads="1"/>
          </p:cNvSpPr>
          <p:nvPr>
            <p:ph type="subTitle" sz="quarter" idx="1"/>
          </p:nvPr>
        </p:nvSpPr>
        <p:spPr>
          <a:xfrm>
            <a:off x="4021138" y="2860675"/>
            <a:ext cx="4437062" cy="3114675"/>
          </a:xfrm>
        </p:spPr>
        <p:txBody>
          <a:bodyPr/>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8"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73B545F-FC16-44A0-852A-5446E6F3A20D}"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lvl1pPr>
              <a:buClrTx/>
              <a:buFont typeface="Wingdings" panose="05000000000000000000" pitchFamily="2" charset="2"/>
              <a:buChar char="Ø"/>
              <a:defRPr/>
            </a:lvl1pPr>
            <a:lvl2pPr>
              <a:buClrTx/>
              <a:buFont typeface="Wingdings" panose="05000000000000000000" pitchFamily="2" charset="2"/>
              <a:buChar char="u"/>
              <a:defRPr/>
            </a:lvl2pPr>
            <a:lvl3pPr>
              <a:buClrTx/>
              <a:buFont typeface="Wingdings" panose="05000000000000000000" pitchFamily="2" charset="2"/>
              <a:buChar char="l"/>
              <a:defRPr sz="2800"/>
            </a:lvl3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39750" y="1628775"/>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92650" y="1628775"/>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6388" y="762000"/>
            <a:ext cx="2039937" cy="53625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33400" y="762000"/>
            <a:ext cx="5970588" cy="53625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39750" y="1628775"/>
            <a:ext cx="4000500" cy="4495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92650" y="1628775"/>
            <a:ext cx="4000500" cy="21717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92650" y="3952875"/>
            <a:ext cx="4000500" cy="21717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39750" y="1628775"/>
            <a:ext cx="4000500" cy="4495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92650" y="1628775"/>
            <a:ext cx="4000500" cy="4495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0"/>
            <a:ext cx="8162925" cy="762000"/>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539750" y="1628775"/>
            <a:ext cx="81534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65"/>
          <p:cNvSpPr>
            <a:spLocks noGrp="1"/>
          </p:cNvSpPr>
          <p:nvPr>
            <p:ph type="title"/>
          </p:nvPr>
        </p:nvSpPr>
        <p:spPr>
          <a:xfrm>
            <a:off x="533400" y="762000"/>
            <a:ext cx="8162925" cy="762000"/>
          </a:xfrm>
          <a:prstGeom prst="rect">
            <a:avLst/>
          </a:prstGeom>
          <a:noFill/>
          <a:ln w="9525">
            <a:noFill/>
          </a:ln>
          <a:effectLst>
            <a:outerShdw dist="45791" dir="3378595" algn="ctr" rotWithShape="0">
              <a:schemeClr val="accent2"/>
            </a:outerShdw>
          </a:effectLst>
        </p:spPr>
        <p:txBody>
          <a:bodyPr anchor="b" anchorCtr="0">
            <a:spAutoFit/>
          </a:bodyPr>
          <a:lstStyle/>
          <a:p>
            <a:pPr lvl="0"/>
            <a:r>
              <a:rPr lang="zh-CN" altLang="en-US" dirty="0"/>
              <a:t>单击此处编辑母版标题样式</a:t>
            </a:r>
            <a:endParaRPr lang="zh-CN" altLang="en-US" dirty="0"/>
          </a:p>
        </p:txBody>
      </p:sp>
      <p:sp>
        <p:nvSpPr>
          <p:cNvPr id="1027" name="Rectangle 66"/>
          <p:cNvSpPr>
            <a:spLocks noGrp="1"/>
          </p:cNvSpPr>
          <p:nvPr>
            <p:ph type="body"/>
          </p:nvPr>
        </p:nvSpPr>
        <p:spPr>
          <a:xfrm>
            <a:off x="539750" y="1628775"/>
            <a:ext cx="8153400" cy="44958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3139" name="Rectangle 67"/>
          <p:cNvSpPr>
            <a:spLocks noGrp="1" noChangeArrowheads="1"/>
          </p:cNvSpPr>
          <p:nvPr>
            <p:ph type="dt" sz="half" idx="2"/>
          </p:nvPr>
        </p:nvSpPr>
        <p:spPr bwMode="auto">
          <a:xfrm>
            <a:off x="1152525" y="62865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140" name="Rectangle 68"/>
          <p:cNvSpPr>
            <a:spLocks noGrp="1" noChangeArrowheads="1"/>
          </p:cNvSpPr>
          <p:nvPr>
            <p:ph type="ftr" sz="quarter" idx="3"/>
          </p:nvPr>
        </p:nvSpPr>
        <p:spPr bwMode="auto">
          <a:xfrm>
            <a:off x="3590925" y="62865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141" name="Rectangle 69"/>
          <p:cNvSpPr>
            <a:spLocks noGrp="1" noChangeArrowheads="1"/>
          </p:cNvSpPr>
          <p:nvPr>
            <p:ph type="sldNum" sz="quarter" idx="4"/>
          </p:nvPr>
        </p:nvSpPr>
        <p:spPr bwMode="auto">
          <a:xfrm>
            <a:off x="7019925" y="62865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noProof="1">
                <a:latin typeface="Verdan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3EB2043-AA3E-4F89-8C25-0C2037D2EB04}" type="slidenum">
              <a:rPr kumimoji="0" lang="en-US" altLang="zh-CN" sz="14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sldNum="0" hdr="0" ftr="0" dt="0"/>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vl6pPr marL="25146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6pPr>
      <a:lvl7pPr marL="29718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7pPr>
      <a:lvl8pPr marL="34290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8pPr>
      <a:lvl9pPr marL="38862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64.xml"/><Relationship Id="rId4" Type="http://schemas.openxmlformats.org/officeDocument/2006/relationships/slide" Target="slide24.xml"/><Relationship Id="rId3" Type="http://schemas.openxmlformats.org/officeDocument/2006/relationships/slide" Target="slide22.xml"/><Relationship Id="rId2" Type="http://schemas.openxmlformats.org/officeDocument/2006/relationships/slide" Target="slide8.xml"/><Relationship Id="rId1"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slide" Target="slide5.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slide" Target="slide5.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slide" Target="slide5.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slide" Target="slide5.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slide" Target="slide5.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png"/><Relationship Id="rId7" Type="http://schemas.openxmlformats.org/officeDocument/2006/relationships/slide" Target="slide5.xml"/><Relationship Id="rId6" Type="http://schemas.openxmlformats.org/officeDocument/2006/relationships/slide" Target="slide61.xml"/><Relationship Id="rId5" Type="http://schemas.openxmlformats.org/officeDocument/2006/relationships/slide" Target="slide58.xml"/><Relationship Id="rId4" Type="http://schemas.openxmlformats.org/officeDocument/2006/relationships/slide" Target="slide49.xml"/><Relationship Id="rId3" Type="http://schemas.openxmlformats.org/officeDocument/2006/relationships/slide" Target="slide42.xml"/><Relationship Id="rId2" Type="http://schemas.openxmlformats.org/officeDocument/2006/relationships/slide" Target="slide28.xm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5.wmf"/><Relationship Id="rId1"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9.wmf"/><Relationship Id="rId1" Type="http://schemas.openxmlformats.org/officeDocument/2006/relationships/oleObject" Target="../embeddings/oleObject7.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5.wmf"/><Relationship Id="rId1" Type="http://schemas.openxmlformats.org/officeDocument/2006/relationships/oleObject" Target="../embeddings/oleObject8.bin"/></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9.wmf"/><Relationship Id="rId1" Type="http://schemas.openxmlformats.org/officeDocument/2006/relationships/oleObject" Target="../embeddings/oleObject9.bin"/></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9.wmf"/><Relationship Id="rId1" Type="http://schemas.openxmlformats.org/officeDocument/2006/relationships/oleObject" Target="../embeddings/oleObject10.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5.wmf"/><Relationship Id="rId1" Type="http://schemas.openxmlformats.org/officeDocument/2006/relationships/oleObject" Target="../embeddings/oleObject11.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slide" Target="slide25.xml"/><Relationship Id="rId2" Type="http://schemas.openxmlformats.org/officeDocument/2006/relationships/image" Target="../media/image5.wmf"/><Relationship Id="rId1" Type="http://schemas.openxmlformats.org/officeDocument/2006/relationships/oleObject" Target="../embeddings/oleObject12.bin"/></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slide" Target="slide25.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slide" Target="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95438" y="2525713"/>
            <a:ext cx="6016625" cy="706438"/>
          </a:xfrm>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第</a:t>
            </a:r>
            <a:r>
              <a:rPr kumimoji="1" lang="en-US"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2</a:t>
            </a: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章 算法</a:t>
            </a:r>
            <a:r>
              <a:rPr kumimoji="1" lang="en-US"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a:t>
            </a: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程序的灵魂</a:t>
            </a:r>
            <a:endParaRPr kumimoji="1" lang="zh-CN" altLang="en-US"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endParaRPr>
          </a:p>
        </p:txBody>
      </p:sp>
      <p:sp>
        <p:nvSpPr>
          <p:cNvPr id="3" name="标题 1"/>
          <p:cNvSpPr txBox="1">
            <a:spLocks noChangeArrowheads="1"/>
          </p:cNvSpPr>
          <p:nvPr/>
        </p:nvSpPr>
        <p:spPr bwMode="auto">
          <a:xfrm>
            <a:off x="1835150" y="623888"/>
            <a:ext cx="6813550" cy="461963"/>
          </a:xfrm>
          <a:prstGeom prst="rect">
            <a:avLst/>
          </a:prstGeom>
          <a:noFill/>
          <a:ln>
            <a:noFill/>
          </a:ln>
          <a:effectLst>
            <a:outerShdw dist="45791" dir="3378596" algn="ctr" rotWithShape="0">
              <a:schemeClr val="accent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kumimoji="1" sz="4400" b="1">
                <a:solidFill>
                  <a:schemeClr val="tx2"/>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rPr>
              <a:t>“十二五”普通高等教育本科国家级规划教材</a:t>
            </a:r>
            <a:endParaRPr kumimoji="0" lang="zh-CN" altLang="en-US"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p:txBody>
      </p:sp>
      <p:sp>
        <p:nvSpPr>
          <p:cNvPr id="4" name="内容占位符 2"/>
          <p:cNvSpPr>
            <a:spLocks noGrp="1" noChangeArrowheads="1"/>
          </p:cNvSpPr>
          <p:nvPr>
            <p:ph idx="1"/>
          </p:nvPr>
        </p:nvSpPr>
        <p:spPr>
          <a:xfrm>
            <a:off x="3768725" y="4622800"/>
            <a:ext cx="1616075" cy="431800"/>
          </a:xfrm>
        </p:spPr>
        <p:txBody>
          <a:bodyPr vert="horz" wrap="square" lIns="91440" tIns="45720" rIns="91440" bIns="45720" numCol="1" anchor="t" anchorCtr="0" compatLnSpc="1"/>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0" lang="zh-CN" altLang="en-US"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rPr>
              <a:t>谭浩强 著</a:t>
            </a:r>
            <a:endParaRPr kumimoji="0" lang="en-US" altLang="zh-CN"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0" lang="en-US" altLang="zh-CN"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p:txBody>
      </p:sp>
      <p:pic>
        <p:nvPicPr>
          <p:cNvPr id="3077" name="图片 4"/>
          <p:cNvPicPr>
            <a:picLocks noChangeAspect="1"/>
          </p:cNvPicPr>
          <p:nvPr>
            <p:custDataLst>
              <p:tags r:id="rId1"/>
            </p:custDataLst>
          </p:nvPr>
        </p:nvPicPr>
        <p:blipFill>
          <a:blip r:embed="rId2"/>
          <a:stretch>
            <a:fillRect/>
          </a:stretch>
        </p:blipFill>
        <p:spPr>
          <a:xfrm>
            <a:off x="395288" y="333375"/>
            <a:ext cx="1179512" cy="1387475"/>
          </a:xfrm>
          <a:prstGeom prst="rect">
            <a:avLst/>
          </a:prstGeom>
          <a:noFill/>
          <a:ln w="9525">
            <a:noFill/>
          </a:ln>
        </p:spPr>
      </p:pic>
      <p:sp>
        <p:nvSpPr>
          <p:cNvPr id="6" name="内容占位符 2"/>
          <p:cNvSpPr txBox="1">
            <a:spLocks noChangeArrowheads="1"/>
          </p:cNvSpPr>
          <p:nvPr/>
        </p:nvSpPr>
        <p:spPr bwMode="auto">
          <a:xfrm>
            <a:off x="3663950" y="5084763"/>
            <a:ext cx="1824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20000"/>
              </a:lnSpc>
              <a:spcBef>
                <a:spcPct val="20000"/>
              </a:spcBef>
              <a:spcAft>
                <a:spcPct val="0"/>
              </a:spcAft>
              <a:buClrTx/>
              <a:buFont typeface="Wingdings" panose="05000000000000000000" pitchFamily="2" charset="2"/>
              <a:buChar char="Ø"/>
              <a:defRPr kumimoji="1"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Tx/>
              <a:buFont typeface="Wingdings" panose="05000000000000000000" pitchFamily="2" charset="2"/>
              <a:buChar char="u"/>
              <a:defRPr kumimoji="1"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Tx/>
              <a:buFont typeface="Wingdings" panose="05000000000000000000" pitchFamily="2" charset="2"/>
              <a:buChar char="l"/>
              <a:defRPr kumimoji="1"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5pPr>
            <a:lvl6pPr marL="25146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6pPr>
            <a:lvl7pPr marL="29718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7pPr>
            <a:lvl8pPr marL="34290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8pPr>
            <a:lvl9pPr marL="38862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9pPr>
          </a:lstStyle>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en-US" sz="2400" b="1" i="0" u="none" strike="noStrike" kern="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rPr>
              <a:t>韩旭明讲授</a:t>
            </a:r>
            <a:endParaRPr kumimoji="1" lang="zh-CN" altLang="en-US" sz="2400" b="1" i="0" u="none" strike="noStrike" kern="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dirty="0">
              <a:ln>
                <a:noFill/>
              </a:ln>
              <a:solidFill>
                <a:srgbClr val="235A67"/>
              </a:solidFill>
              <a:effectLst/>
              <a:uLnTx/>
              <a:uFillTx/>
              <a:latin typeface="黑体" panose="02010609060101010101" pitchFamily="49" charset="-122"/>
              <a:ea typeface="黑体" panose="02010609060101010101" pitchFamily="49" charset="-122"/>
              <a:cs typeface="+mn-cs"/>
            </a:endParaRPr>
          </a:p>
        </p:txBody>
      </p:sp>
      <p:pic>
        <p:nvPicPr>
          <p:cNvPr id="3079" name="Picture 3"/>
          <p:cNvPicPr>
            <a:picLocks noChangeAspect="1"/>
          </p:cNvPicPr>
          <p:nvPr>
            <p:custDataLst>
              <p:tags r:id="rId3"/>
            </p:custDataLst>
          </p:nvPr>
        </p:nvPicPr>
        <p:blipFill>
          <a:blip r:embed="rId4"/>
          <a:stretch>
            <a:fillRect/>
          </a:stretch>
        </p:blipFill>
        <p:spPr>
          <a:xfrm>
            <a:off x="7612063" y="4672013"/>
            <a:ext cx="1395412" cy="1322387"/>
          </a:xfrm>
          <a:prstGeom prst="rect">
            <a:avLst/>
          </a:prstGeom>
          <a:noFill/>
          <a:ln w="9525">
            <a:noFill/>
          </a:ln>
        </p:spPr>
      </p:pic>
      <p:sp>
        <p:nvSpPr>
          <p:cNvPr id="8" name="矩形 7"/>
          <p:cNvSpPr/>
          <p:nvPr>
            <p:custDataLst>
              <p:tags r:id="rId5"/>
            </p:custDataLst>
          </p:nvPr>
        </p:nvSpPr>
        <p:spPr>
          <a:xfrm>
            <a:off x="6200773" y="4643460"/>
            <a:ext cx="1396375" cy="1377828"/>
          </a:xfrm>
          <a:prstGeom prst="rect">
            <a:avLst/>
          </a:prstGeom>
          <a:gradFill flip="none" rotWithShape="1">
            <a:gsLst>
              <a:gs pos="0">
                <a:srgbClr val="5E9EFF"/>
              </a:gs>
              <a:gs pos="39999">
                <a:srgbClr val="85C2FF"/>
              </a:gs>
              <a:gs pos="70000">
                <a:srgbClr val="C4D6EB"/>
              </a:gs>
              <a:gs pos="100000">
                <a:srgbClr val="FFEBFA"/>
              </a:gs>
            </a:gsLst>
            <a:path path="shape">
              <a:fillToRect l="50000" t="50000" r="50000" b="50000"/>
            </a:path>
            <a:tileRect/>
          </a:gradFill>
          <a:ln w="31750">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lgDash"/>
          </a:ln>
        </p:spPr>
        <p:txBody>
          <a:bodyPr vert="eaVert" lIns="126000" tIns="126000" rIns="126000" bIns="12600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忠信笃敬</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知行合一</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自强不息</a:t>
            </a:r>
            <a:endParaRPr kumimoji="1" lang="en-US" altLang="zh-CN"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base" latinLnBrk="0" hangingPunct="1">
              <a:lnSpc>
                <a:spcPts val="2400"/>
              </a:lnSpc>
              <a:spcBef>
                <a:spcPct val="0"/>
              </a:spcBef>
              <a:spcAft>
                <a:spcPct val="0"/>
              </a:spcAft>
              <a:buClrTx/>
              <a:buSzTx/>
              <a:buFontTx/>
              <a:buNone/>
              <a:defRPr/>
            </a:pPr>
            <a:r>
              <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rPr>
              <a:t>和而不同</a:t>
            </a:r>
            <a:endParaRPr kumimoji="1" lang="zh-CN" altLang="en-US" sz="2000" b="0" i="0" u="none" strike="noStrike" kern="1200" cap="none" spc="0" normalizeH="0" baseline="0" noProof="0" dirty="0">
              <a:ln w="0"/>
              <a:solidFill>
                <a:srgbClr val="000000">
                  <a:lumMod val="95000"/>
                  <a:lumOff val="5000"/>
                </a:srgbClr>
              </a:solidFill>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transition spd="med">
    <p:blinds/>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p:cNvSpPr>
          <p:nvPr>
            <p:ph idx="1"/>
          </p:nvPr>
        </p:nvSpPr>
        <p:spPr>
          <a:xfrm>
            <a:off x="323215" y="1844993"/>
            <a:ext cx="8351838" cy="4643438"/>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一个程序主要包括以下两方面的信息：</a:t>
            </a:r>
            <a:endPar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052830" marR="0" lvl="1" indent="-59563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对数据的描述</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。在程序中要指定用到</a:t>
            </a:r>
            <a:r>
              <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哪</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些</a:t>
            </a:r>
            <a:r>
              <a:rPr kumimoji="1" lang="zh-CN" altLang="zh-CN" sz="24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以及这些数据的类型和数据的组织形式</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9718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这就是</a:t>
            </a:r>
            <a:r>
              <a:rPr kumimoji="1" lang="zh-CN" altLang="zh-CN" sz="24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数据结构</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(data structure) </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1" fontAlgn="base" latinLnBrk="0" hangingPunct="1">
              <a:lnSpc>
                <a:spcPct val="100000"/>
              </a:lnSpc>
              <a:spcBef>
                <a:spcPct val="5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1" lang="en-US"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对操作的描述</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。即要求计算机进行操作的步骤</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19050" algn="l" defTabSz="914400" rtl="0" eaLnBrk="1" fontAlgn="base" latinLnBrk="0" hangingPunct="1">
              <a:lnSpc>
                <a:spcPct val="100000"/>
              </a:lnSpc>
              <a:spcBef>
                <a:spcPct val="50000"/>
              </a:spcBef>
              <a:spcAft>
                <a:spcPct val="0"/>
              </a:spcAft>
              <a:buClrTx/>
              <a:buSzTx/>
              <a:buFont typeface="Wingdings" panose="05000000000000000000" pitchFamily="2" charset="2"/>
              <a:buChar char="u"/>
              <a:defRPr/>
            </a:pP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也就是</a:t>
            </a:r>
            <a:r>
              <a:rPr kumimoji="1" lang="zh-CN" altLang="zh-CN" sz="24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(algorithm)</a:t>
            </a:r>
            <a:endPar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椭圆形标注 1"/>
          <p:cNvSpPr/>
          <p:nvPr/>
        </p:nvSpPr>
        <p:spPr>
          <a:xfrm>
            <a:off x="4363085" y="332740"/>
            <a:ext cx="4644390" cy="1249045"/>
          </a:xfrm>
          <a:prstGeom prst="wedgeEllipseCallout">
            <a:avLst>
              <a:gd name="adj1" fmla="val 10514"/>
              <a:gd name="adj2" fmla="val 144661"/>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1" lang="zh-CN"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什么是数据、信息和知识，</a:t>
            </a:r>
            <a:endParaRPr kumimoji="1" lang="zh-CN"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1" lang="zh-CN"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下节课我们专题讨论</a:t>
            </a:r>
            <a:endParaRPr kumimoji="1" lang="zh-CN"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2"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idx="1"/>
          </p:nvPr>
        </p:nvSpPr>
        <p:spPr>
          <a:xfrm>
            <a:off x="642938" y="765175"/>
            <a:ext cx="8105775" cy="4967288"/>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数据是操作的对象</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操作的目的是对数据进行加工处理，以得到期望的结果</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著名计算机科学家沃思</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(Nikiklaus Wirth)</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提出一个公式：</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数据结构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程序</a:t>
            </a:r>
            <a:endParaRPr kumimoji="1" lang="en-US" altLang="zh-CN"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现代软件的定义</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软件</a:t>
            </a:r>
            <a:r>
              <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程序</a:t>
            </a:r>
            <a:r>
              <a:rPr kumimoji="1" lang="zh-CN" altLang="en-US"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a:t>
            </a:r>
            <a:r>
              <a:rPr kumimoji="1" lang="zh-CN" altLang="en-US"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0" i="0" u="none" strike="noStrike" kern="0" cap="none" spc="0" normalizeH="0" baseline="0" noProof="1">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相关文档</a:t>
            </a:r>
            <a:endParaRPr kumimoji="1" lang="zh-CN" altLang="en-US"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7" dur="500"/>
                                        <p:tgtEl>
                                          <p:spTgt spid="6147">
                                            <p:txEl>
                                              <p:pRg st="2" end="2"/>
                                            </p:txEl>
                                          </p:spTgt>
                                        </p:tgtEl>
                                      </p:cBhvr>
                                    </p:animEffect>
                                  </p:childTnLst>
                                </p:cTn>
                              </p:par>
                              <p:par>
                                <p:cTn id="8" presetID="3" presetClass="entr" presetSubtype="10" fill="hold" nodeType="withEffect">
                                  <p:stCondLst>
                                    <p:cond delay="0"/>
                                  </p:stCondLst>
                                  <p:iterate type="lt">
                                    <p:tmAbs val="0"/>
                                  </p:iterate>
                                  <p:childTnLst>
                                    <p:set>
                                      <p:cBhvr>
                                        <p:cTn id="9"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0" dur="500"/>
                                        <p:tgtEl>
                                          <p:spTgt spid="6147">
                                            <p:txEl>
                                              <p:pRg st="3" end="3"/>
                                            </p:txEl>
                                          </p:spTgt>
                                        </p:tgtEl>
                                      </p:cBhvr>
                                    </p:animEffect>
                                  </p:childTnLst>
                                </p:cTn>
                              </p:par>
                              <p:par>
                                <p:cTn id="11" presetID="3" presetClass="entr" presetSubtype="10" fill="hold" nodeType="withEffect">
                                  <p:stCondLst>
                                    <p:cond delay="0"/>
                                  </p:stCondLst>
                                  <p:iterate type="lt">
                                    <p:tmAbs val="0"/>
                                  </p:iterate>
                                  <p:childTnLst>
                                    <p:set>
                                      <p:cBhvr>
                                        <p:cTn id="12"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3" dur="500"/>
                                        <p:tgtEl>
                                          <p:spTgt spid="6147">
                                            <p:txEl>
                                              <p:pRg st="4" end="4"/>
                                            </p:txEl>
                                          </p:spTgt>
                                        </p:tgtEl>
                                      </p:cBhvr>
                                    </p:animEffect>
                                  </p:childTnLst>
                                </p:cTn>
                              </p:par>
                              <p:par>
                                <p:cTn id="14" presetID="3" presetClass="entr" presetSubtype="10" fill="hold" nodeType="withEffect">
                                  <p:stCondLst>
                                    <p:cond delay="0"/>
                                  </p:stCondLst>
                                  <p:iterate type="lt">
                                    <p:tmAbs val="0"/>
                                  </p:iterate>
                                  <p:childTnLst>
                                    <p:set>
                                      <p:cBhvr>
                                        <p:cTn id="15" dur="1" fill="hold">
                                          <p:stCondLst>
                                            <p:cond delay="0"/>
                                          </p:stCondLst>
                                        </p:cTn>
                                        <p:tgtEl>
                                          <p:spTgt spid="6147">
                                            <p:txEl>
                                              <p:pRg st="5" end="5"/>
                                            </p:txEl>
                                          </p:spTgt>
                                        </p:tgtEl>
                                        <p:attrNameLst>
                                          <p:attrName>style.visibility</p:attrName>
                                        </p:attrNameLst>
                                      </p:cBhvr>
                                      <p:to>
                                        <p:strVal val="visible"/>
                                      </p:to>
                                    </p:set>
                                    <p:animEffect transition="in" filter="blinds(horizontal)">
                                      <p:cBhvr>
                                        <p:cTn id="16" dur="500"/>
                                        <p:tgtEl>
                                          <p:spTgt spid="6147">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mph" presetSubtype="0" fill="hold" nodeType="clickEffect">
                                  <p:stCondLst>
                                    <p:cond delay="0"/>
                                  </p:stCondLst>
                                  <p:iterate type="lt">
                                    <p:tmPct val="4000"/>
                                  </p:iterate>
                                  <p:childTnLst>
                                    <p:set>
                                      <p:cBhvr override="childStyle">
                                        <p:cTn id="20" dur="500" fill="hold"/>
                                        <p:tgtEl>
                                          <p:spTgt spid="6147">
                                            <p:txEl>
                                              <p:pRg st="3" end="3"/>
                                            </p:txEl>
                                          </p:spTgt>
                                        </p:tgtEl>
                                        <p:attrNameLst>
                                          <p:attrName>style.color</p:attrName>
                                        </p:attrNameLst>
                                      </p:cBhvr>
                                      <p:to>
                                        <p:clrVal>
                                          <a:srgbClr val="9D138D"/>
                                        </p:clrVal>
                                      </p:to>
                                    </p:set>
                                    <p:set>
                                      <p:cBhvr>
                                        <p:cTn id="21" dur="500" fill="hold"/>
                                        <p:tgtEl>
                                          <p:spTgt spid="6147">
                                            <p:txEl>
                                              <p:pRg st="3" end="3"/>
                                            </p:txEl>
                                          </p:spTgt>
                                        </p:tgtEl>
                                        <p:attrNameLst>
                                          <p:attrName>fillcolor</p:attrName>
                                        </p:attrNameLst>
                                      </p:cBhvr>
                                      <p:to>
                                        <p:clrVal>
                                          <a:srgbClr val="9D138D"/>
                                        </p:clrVal>
                                      </p:to>
                                    </p:set>
                                    <p:set>
                                      <p:cBhvr>
                                        <p:cTn id="22" dur="500" fill="hold"/>
                                        <p:tgtEl>
                                          <p:spTgt spid="6147">
                                            <p:txEl>
                                              <p:pRg st="3" end="3"/>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16" presetClass="emph" presetSubtype="0" fill="hold" nodeType="clickEffect">
                                  <p:stCondLst>
                                    <p:cond delay="0"/>
                                  </p:stCondLst>
                                  <p:iterate type="lt">
                                    <p:tmPct val="4000"/>
                                  </p:iterate>
                                  <p:childTnLst>
                                    <p:set>
                                      <p:cBhvr override="childStyle">
                                        <p:cTn id="26" dur="500" fill="hold"/>
                                        <p:tgtEl>
                                          <p:spTgt spid="6147">
                                            <p:txEl>
                                              <p:pRg st="4" end="4"/>
                                            </p:txEl>
                                          </p:spTgt>
                                        </p:tgtEl>
                                        <p:attrNameLst>
                                          <p:attrName>style.color</p:attrName>
                                        </p:attrNameLst>
                                      </p:cBhvr>
                                      <p:to>
                                        <p:clrVal>
                                          <a:srgbClr val="9D138D"/>
                                        </p:clrVal>
                                      </p:to>
                                    </p:set>
                                    <p:set>
                                      <p:cBhvr>
                                        <p:cTn id="27" dur="500" fill="hold"/>
                                        <p:tgtEl>
                                          <p:spTgt spid="6147">
                                            <p:txEl>
                                              <p:pRg st="4" end="4"/>
                                            </p:txEl>
                                          </p:spTgt>
                                        </p:tgtEl>
                                        <p:attrNameLst>
                                          <p:attrName>fillcolor</p:attrName>
                                        </p:attrNameLst>
                                      </p:cBhvr>
                                      <p:to>
                                        <p:clrVal>
                                          <a:srgbClr val="9D138D"/>
                                        </p:clrVal>
                                      </p:to>
                                    </p:set>
                                    <p:set>
                                      <p:cBhvr>
                                        <p:cTn id="28" dur="500" fill="hold"/>
                                        <p:tgtEl>
                                          <p:spTgt spid="6147">
                                            <p:txEl>
                                              <p:pRg st="4" end="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16" presetClass="emph" presetSubtype="0" fill="hold" nodeType="clickEffect">
                                  <p:stCondLst>
                                    <p:cond delay="0"/>
                                  </p:stCondLst>
                                  <p:iterate type="lt">
                                    <p:tmPct val="4000"/>
                                  </p:iterate>
                                  <p:childTnLst>
                                    <p:set>
                                      <p:cBhvr override="childStyle">
                                        <p:cTn id="32" dur="500" fill="hold"/>
                                        <p:tgtEl>
                                          <p:spTgt spid="6147">
                                            <p:txEl>
                                              <p:pRg st="5" end="5"/>
                                            </p:txEl>
                                          </p:spTgt>
                                        </p:tgtEl>
                                        <p:attrNameLst>
                                          <p:attrName>style.color</p:attrName>
                                        </p:attrNameLst>
                                      </p:cBhvr>
                                      <p:to>
                                        <p:clrVal>
                                          <a:srgbClr val="9D138D"/>
                                        </p:clrVal>
                                      </p:to>
                                    </p:set>
                                    <p:set>
                                      <p:cBhvr>
                                        <p:cTn id="33" dur="500" fill="hold"/>
                                        <p:tgtEl>
                                          <p:spTgt spid="6147">
                                            <p:txEl>
                                              <p:pRg st="5" end="5"/>
                                            </p:txEl>
                                          </p:spTgt>
                                        </p:tgtEl>
                                        <p:attrNameLst>
                                          <p:attrName>fillcolor</p:attrName>
                                        </p:attrNameLst>
                                      </p:cBhvr>
                                      <p:to>
                                        <p:clrVal>
                                          <a:srgbClr val="9D138D"/>
                                        </p:clrVal>
                                      </p:to>
                                    </p:set>
                                    <p:set>
                                      <p:cBhvr>
                                        <p:cTn id="34" dur="500" fill="hold"/>
                                        <p:tgtEl>
                                          <p:spTgt spid="6147">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p:cNvSpPr>
          <p:nvPr>
            <p:ph idx="1"/>
          </p:nvPr>
        </p:nvSpPr>
        <p:spPr>
          <a:xfrm>
            <a:off x="627063" y="979170"/>
            <a:ext cx="7889875" cy="4824413"/>
          </a:xfrm>
        </p:spPr>
        <p:txBody>
          <a:bodyPr vert="horz" wrap="square" lIns="91440" tIns="45720" rIns="91440" bIns="45720" anchor="t" anchorCtr="0"/>
          <a:lstStyle/>
          <a:p>
            <a:r>
              <a:rPr lang="en-US" altLang="zh-CN" sz="2400" b="0" dirty="0">
                <a:latin typeface="Times New Roman" panose="02020603050405020304" pitchFamily="18" charset="0"/>
                <a:ea typeface="微软雅黑" panose="020B0503020204020204" pitchFamily="34" charset="-122"/>
                <a:cs typeface="+mn-cs"/>
              </a:rPr>
              <a:t>一个程序除了</a:t>
            </a:r>
            <a:r>
              <a:rPr lang="en-US" altLang="en-US" sz="2400" b="0" dirty="0">
                <a:latin typeface="Times New Roman" panose="02020603050405020304" pitchFamily="18" charset="0"/>
                <a:ea typeface="微软雅黑" panose="020B0503020204020204" pitchFamily="34" charset="-122"/>
                <a:cs typeface="+mn-cs"/>
              </a:rPr>
              <a:t>算法和数据结构这</a:t>
            </a:r>
            <a:r>
              <a:rPr lang="en-US" altLang="zh-CN" sz="2400" b="0" dirty="0">
                <a:latin typeface="Times New Roman" panose="02020603050405020304" pitchFamily="18" charset="0"/>
                <a:ea typeface="微软雅黑" panose="020B0503020204020204" pitchFamily="34" charset="-122"/>
                <a:cs typeface="+mn-cs"/>
              </a:rPr>
              <a:t>主要素外，还应当采用结构化程序设计方法进行程序设计，并且用某一种计算机语言表示</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800" b="0" dirty="0">
                <a:solidFill>
                  <a:srgbClr val="C00000"/>
                </a:solidFill>
                <a:latin typeface="Times New Roman" panose="02020603050405020304" pitchFamily="18" charset="0"/>
                <a:ea typeface="微软雅黑" panose="020B0503020204020204" pitchFamily="34" charset="-122"/>
                <a:cs typeface="+mn-cs"/>
              </a:rPr>
              <a:t>算法</a:t>
            </a:r>
            <a:r>
              <a:rPr lang="en-US" altLang="zh-CN" sz="2800" b="0" dirty="0">
                <a:latin typeface="Times New Roman" panose="02020603050405020304" pitchFamily="18" charset="0"/>
                <a:ea typeface="微软雅黑" panose="020B0503020204020204" pitchFamily="34" charset="-122"/>
                <a:cs typeface="+mn-cs"/>
              </a:rPr>
              <a:t>、</a:t>
            </a:r>
            <a:r>
              <a:rPr lang="en-US" altLang="zh-CN" sz="2800" b="0" dirty="0">
                <a:solidFill>
                  <a:srgbClr val="C00000"/>
                </a:solidFill>
                <a:latin typeface="Times New Roman" panose="02020603050405020304" pitchFamily="18" charset="0"/>
                <a:ea typeface="微软雅黑" panose="020B0503020204020204" pitchFamily="34" charset="-122"/>
                <a:cs typeface="+mn-cs"/>
              </a:rPr>
              <a:t>数据结构</a:t>
            </a:r>
            <a:r>
              <a:rPr lang="en-US" altLang="zh-CN" sz="2800" b="0" dirty="0">
                <a:latin typeface="Times New Roman" panose="02020603050405020304" pitchFamily="18" charset="0"/>
                <a:ea typeface="微软雅黑" panose="020B0503020204020204" pitchFamily="34" charset="-122"/>
                <a:cs typeface="+mn-cs"/>
              </a:rPr>
              <a:t>、</a:t>
            </a:r>
            <a:r>
              <a:rPr lang="en-US" altLang="zh-CN" sz="2800" b="0" dirty="0">
                <a:solidFill>
                  <a:srgbClr val="C00000"/>
                </a:solidFill>
                <a:latin typeface="Times New Roman" panose="02020603050405020304" pitchFamily="18" charset="0"/>
                <a:ea typeface="微软雅黑" panose="020B0503020204020204" pitchFamily="34" charset="-122"/>
                <a:cs typeface="+mn-cs"/>
              </a:rPr>
              <a:t>程序设计方法</a:t>
            </a:r>
            <a:r>
              <a:rPr lang="en-US" altLang="zh-CN" sz="2400" b="0" dirty="0">
                <a:latin typeface="Times New Roman" panose="02020603050405020304" pitchFamily="18" charset="0"/>
                <a:ea typeface="微软雅黑" panose="020B0503020204020204" pitchFamily="34" charset="-122"/>
                <a:cs typeface="+mn-cs"/>
              </a:rPr>
              <a:t>和</a:t>
            </a:r>
            <a:r>
              <a:rPr lang="en-US" altLang="zh-CN" sz="2800" b="0" dirty="0">
                <a:solidFill>
                  <a:srgbClr val="C00000"/>
                </a:solidFill>
                <a:latin typeface="Times New Roman" panose="02020603050405020304" pitchFamily="18" charset="0"/>
                <a:ea typeface="微软雅黑" panose="020B0503020204020204" pitchFamily="34" charset="-122"/>
                <a:cs typeface="+mn-cs"/>
              </a:rPr>
              <a:t>语言工具</a:t>
            </a:r>
            <a:r>
              <a:rPr lang="en-US" altLang="zh-CN" sz="2400" b="0" dirty="0">
                <a:latin typeface="Times New Roman" panose="02020603050405020304" pitchFamily="18" charset="0"/>
                <a:ea typeface="微软雅黑" panose="020B0503020204020204" pitchFamily="34" charset="-122"/>
                <a:cs typeface="+mn-cs"/>
              </a:rPr>
              <a:t>是一个程序设计人员应具备的知识</a:t>
            </a:r>
            <a:endParaRPr lang="en-US" altLang="zh-CN" sz="2400" b="0" dirty="0">
              <a:latin typeface="Times New Roman" panose="02020603050405020304" pitchFamily="18" charset="0"/>
              <a:ea typeface="微软雅黑" panose="020B0503020204020204" pitchFamily="34" charset="-122"/>
              <a:cs typeface="+mn-cs"/>
            </a:endParaRPr>
          </a:p>
          <a:p>
            <a:endParaRPr lang="en-US" altLang="zh-CN" sz="28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算法是解决 </a:t>
            </a:r>
            <a:r>
              <a:rPr lang="en-US" altLang="zh-CN" sz="2400" b="0" dirty="0">
                <a:solidFill>
                  <a:srgbClr val="C00000"/>
                </a:solidFill>
                <a:latin typeface="Times New Roman" panose="02020603050405020304" pitchFamily="18" charset="0"/>
                <a:ea typeface="微软雅黑" panose="020B0503020204020204" pitchFamily="34" charset="-122"/>
                <a:cs typeface="+mn-cs"/>
              </a:rPr>
              <a:t>“做什么” </a:t>
            </a:r>
            <a:r>
              <a:rPr lang="en-US" altLang="zh-CN" sz="2400" b="0" dirty="0">
                <a:latin typeface="Times New Roman" panose="02020603050405020304" pitchFamily="18" charset="0"/>
                <a:ea typeface="微软雅黑" panose="020B0503020204020204" pitchFamily="34" charset="-122"/>
                <a:cs typeface="+mn-cs"/>
              </a:rPr>
              <a:t>和 </a:t>
            </a:r>
            <a:r>
              <a:rPr lang="en-US" altLang="zh-CN" sz="2400" b="0" dirty="0">
                <a:solidFill>
                  <a:srgbClr val="C00000"/>
                </a:solidFill>
                <a:latin typeface="Times New Roman" panose="02020603050405020304" pitchFamily="18" charset="0"/>
                <a:ea typeface="微软雅黑" panose="020B0503020204020204" pitchFamily="34" charset="-122"/>
                <a:cs typeface="+mn-cs"/>
              </a:rPr>
              <a:t>“怎么做” </a:t>
            </a:r>
            <a:r>
              <a:rPr lang="en-US" altLang="zh-CN" sz="2400" b="0" dirty="0">
                <a:latin typeface="Times New Roman" panose="02020603050405020304" pitchFamily="18" charset="0"/>
                <a:ea typeface="微软雅黑" panose="020B0503020204020204" pitchFamily="34" charset="-122"/>
                <a:cs typeface="+mn-cs"/>
              </a:rPr>
              <a:t>的问题</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程序中的操作语句，是算法的体现</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不了解算法就谈不上程序设计</a:t>
            </a:r>
            <a:endParaRPr lang="en-US" altLang="en-US" sz="2400" b="0" dirty="0">
              <a:latin typeface="Times New Roman" panose="02020603050405020304" pitchFamily="18" charset="0"/>
              <a:ea typeface="微软雅黑" panose="020B0503020204020204" pitchFamily="34" charset="-122"/>
              <a:cs typeface="+mn-cs"/>
            </a:endParaRPr>
          </a:p>
          <a:p>
            <a:endParaRPr lang="en-US" altLang="en-US" sz="2400" b="0" dirty="0">
              <a:latin typeface="Times New Roman" panose="02020603050405020304" pitchFamily="18" charset="0"/>
              <a:ea typeface="微软雅黑" panose="020B0503020204020204" pitchFamily="34" charset="-122"/>
              <a:cs typeface="+mn-cs"/>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2" dur="500"/>
                                        <p:tgtEl>
                                          <p:spTgt spid="174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17" dur="500"/>
                                        <p:tgtEl>
                                          <p:spTgt spid="174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2" dur="500"/>
                                        <p:tgtEl>
                                          <p:spTgt spid="17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idx="1"/>
          </p:nvPr>
        </p:nvSpPr>
        <p:spPr>
          <a:xfrm>
            <a:off x="1749425" y="1989138"/>
            <a:ext cx="5643563" cy="385762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1" action="ppaction://hlinksldjump"/>
              </a:rPr>
              <a:t>2.1  什么是算法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2" action="ppaction://hlinksldjump"/>
              </a:rPr>
              <a:t>2.2  简单的算法举例</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3" action="ppaction://hlinksldjump"/>
              </a:rPr>
              <a:t>2.3  算法的特性</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4" action="ppaction://hlinksldjump"/>
              </a:rPr>
              <a:t>2.4  怎样表示一个算法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5" action="ppaction://hlinksldjump"/>
              </a:rPr>
              <a:t>2.5  结构化程序设计方法</a:t>
            </a:r>
            <a:endParaRPr lang="en-US" altLang="en-US" b="0" dirty="0">
              <a:latin typeface="Times New Roman" panose="02020603050405020304" pitchFamily="18" charset="0"/>
              <a:ea typeface="微软雅黑" panose="020B0503020204020204" pitchFamily="34" charset="-122"/>
              <a:cs typeface="+mn-cs"/>
            </a:endParaRPr>
          </a:p>
        </p:txBody>
      </p:sp>
      <p:sp>
        <p:nvSpPr>
          <p:cNvPr id="4" name="Rectangle 2"/>
          <p:cNvSpPr>
            <a:spLocks noGrp="1" noChangeArrowheads="1"/>
          </p:cNvSpPr>
          <p:nvPr>
            <p:ph type="title"/>
          </p:nvPr>
        </p:nvSpPr>
        <p:spPr>
          <a:xfrm>
            <a:off x="1563688" y="1011238"/>
            <a:ext cx="6016625" cy="708025"/>
          </a:xfrm>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第</a:t>
            </a:r>
            <a:r>
              <a:rPr kumimoji="1" lang="en-US"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2</a:t>
            </a: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章 算法</a:t>
            </a:r>
            <a:r>
              <a:rPr kumimoji="1" lang="en-US"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a:t>
            </a:r>
            <a:r>
              <a:rPr kumimoji="1" lang="zh-CN" altLang="zh-CN"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rPr>
              <a:t>程序的灵魂</a:t>
            </a:r>
            <a:endParaRPr kumimoji="1" lang="zh-CN" altLang="en-US" sz="4000" b="1" i="0" u="none" strike="noStrike" kern="0" cap="none" spc="0" normalizeH="0" baseline="0" noProof="0" dirty="0">
              <a:ln>
                <a:noFill/>
              </a:ln>
              <a:solidFill>
                <a:srgbClr val="800000"/>
              </a:solidFill>
              <a:effectLst>
                <a:outerShdw blurRad="38100" dist="38100" dir="2700000" algn="tl">
                  <a:srgbClr val="000000"/>
                </a:outerShdw>
              </a:effectLst>
              <a:uLnTx/>
              <a:uFillTx/>
              <a:latin typeface="Arial" panose="020B0604020202020204" pitchFamily="34" charset="0"/>
              <a:ea typeface="黑体" panose="02010609060101010101" pitchFamily="49" charset="-122"/>
              <a:cs typeface="+mj-cs"/>
            </a:endParaRPr>
          </a:p>
        </p:txBody>
      </p:sp>
    </p:spTree>
  </p:cSld>
  <p:clrMapOvr>
    <a:masterClrMapping/>
  </p:clrMapOvr>
  <p:transition spd="med">
    <p:blinds/>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254000" y="568325"/>
            <a:ext cx="3281363" cy="646113"/>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2.1 </a:t>
            </a:r>
            <a:r>
              <a:rPr lang="zh-CN" altLang="zh-CN" sz="3600" dirty="0">
                <a:solidFill>
                  <a:srgbClr val="235A67"/>
                </a:solidFill>
                <a:latin typeface="Times New Roman" panose="02020603050405020304" pitchFamily="18" charset="0"/>
                <a:ea typeface="黑体" panose="02010609060101010101" pitchFamily="49" charset="-122"/>
              </a:rPr>
              <a:t>什么是算法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147" name="Rectangle 3"/>
          <p:cNvSpPr>
            <a:spLocks noGrp="1"/>
          </p:cNvSpPr>
          <p:nvPr>
            <p:ph idx="1"/>
          </p:nvPr>
        </p:nvSpPr>
        <p:spPr>
          <a:xfrm>
            <a:off x="684213" y="1412875"/>
            <a:ext cx="8135937" cy="3382963"/>
          </a:xfrm>
        </p:spPr>
        <p:txBody>
          <a:bodyPr vert="horz" wrap="square" lIns="91440" tIns="45720" rIns="91440" bIns="45720" anchor="t" anchorCtr="0"/>
          <a:lstStyle/>
          <a:p>
            <a:r>
              <a:rPr lang="en-US" altLang="zh-CN" sz="2400" b="0" dirty="0">
                <a:latin typeface="Times New Roman" panose="02020603050405020304" pitchFamily="18" charset="0"/>
                <a:ea typeface="微软雅黑" panose="020B0503020204020204" pitchFamily="34" charset="-122"/>
                <a:cs typeface="+mn-cs"/>
              </a:rPr>
              <a:t>广义地说，为解决一个问题而采取的方法和步骤，就称为 </a:t>
            </a:r>
            <a:r>
              <a:rPr lang="en-US" altLang="zh-CN" sz="2800" b="0" dirty="0">
                <a:solidFill>
                  <a:srgbClr val="C00000"/>
                </a:solidFill>
                <a:latin typeface="Times New Roman" panose="02020603050405020304" pitchFamily="18" charset="0"/>
                <a:ea typeface="微软雅黑" panose="020B0503020204020204" pitchFamily="34" charset="-122"/>
                <a:cs typeface="+mn-cs"/>
              </a:rPr>
              <a:t>“算法”</a:t>
            </a:r>
            <a:r>
              <a:rPr lang="zh-CN" altLang="en-US" sz="2400" b="0" dirty="0">
                <a:solidFill>
                  <a:srgbClr val="C00000"/>
                </a:solidFill>
                <a:latin typeface="Times New Roman" panose="02020603050405020304" pitchFamily="18" charset="0"/>
                <a:ea typeface="微软雅黑" panose="020B0503020204020204" pitchFamily="34" charset="-122"/>
                <a:cs typeface="+mn-cs"/>
              </a:rPr>
              <a:t>。</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对同一个问题，可以有不同的解题方法和步骤</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为了有效地进行解题，不仅需要保证算法正确，还要考虑算法的质量，选择合适的算法</a:t>
            </a:r>
            <a:endParaRPr lang="en-US" altLang="en-US" sz="2400" b="0" dirty="0">
              <a:latin typeface="Times New Roman" panose="02020603050405020304" pitchFamily="18" charset="0"/>
              <a:ea typeface="微软雅黑" panose="020B0503020204020204" pitchFamily="34" charset="-122"/>
              <a:cs typeface="+mn-cs"/>
            </a:endParaRPr>
          </a:p>
        </p:txBody>
      </p:sp>
      <p:pic>
        <p:nvPicPr>
          <p:cNvPr id="8196"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idx="1"/>
          </p:nvPr>
        </p:nvSpPr>
        <p:spPr>
          <a:xfrm>
            <a:off x="684213" y="1412875"/>
            <a:ext cx="7570787" cy="3578225"/>
          </a:xfrm>
        </p:spPr>
        <p:txBody>
          <a:bodyPr vert="horz" wrap="square" lIns="91440" tIns="45720" rIns="91440" bIns="45720" anchor="t" anchorCtr="0"/>
          <a:lstStyle/>
          <a:p>
            <a:r>
              <a:rPr lang="en-US" altLang="zh-CN" sz="2400" b="0" dirty="0">
                <a:latin typeface="Times New Roman" panose="02020603050405020304" pitchFamily="18" charset="0"/>
                <a:ea typeface="微软雅黑" panose="020B0503020204020204" pitchFamily="34" charset="-122"/>
                <a:cs typeface="+mn-cs"/>
              </a:rPr>
              <a:t>计算机算法可分为两大类别：</a:t>
            </a:r>
            <a:endParaRPr lang="en-US" altLang="zh-CN" sz="2400" b="0" dirty="0">
              <a:latin typeface="Times New Roman" panose="02020603050405020304" pitchFamily="18" charset="0"/>
              <a:ea typeface="微软雅黑" panose="020B0503020204020204" pitchFamily="34" charset="-122"/>
              <a:cs typeface="+mn-cs"/>
            </a:endParaRPr>
          </a:p>
          <a:p>
            <a:pPr lvl="1"/>
            <a:r>
              <a:rPr lang="en-US" altLang="zh-CN" sz="2400" b="0" dirty="0">
                <a:latin typeface="Times New Roman" panose="02020603050405020304" pitchFamily="18" charset="0"/>
                <a:ea typeface="微软雅黑" panose="020B0503020204020204" pitchFamily="34" charset="-122"/>
              </a:rPr>
              <a:t>数值运算算法</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非数值运算算法</a:t>
            </a:r>
            <a:endParaRPr lang="en-US" altLang="zh-CN" sz="2400" b="0" dirty="0">
              <a:latin typeface="Times New Roman" panose="02020603050405020304" pitchFamily="18" charset="0"/>
              <a:ea typeface="微软雅黑" panose="020B0503020204020204" pitchFamily="34" charset="-122"/>
            </a:endParaRPr>
          </a:p>
          <a:p>
            <a:r>
              <a:rPr lang="en-US" altLang="zh-CN" sz="2400" b="0" dirty="0">
                <a:solidFill>
                  <a:srgbClr val="C00000"/>
                </a:solidFill>
                <a:latin typeface="Times New Roman" panose="02020603050405020304" pitchFamily="18" charset="0"/>
                <a:ea typeface="微软雅黑" panose="020B0503020204020204" pitchFamily="34" charset="-122"/>
                <a:cs typeface="+mn-cs"/>
              </a:rPr>
              <a:t>数值运算 </a:t>
            </a:r>
            <a:r>
              <a:rPr lang="en-US" altLang="zh-CN" sz="2400" b="0" dirty="0">
                <a:latin typeface="Times New Roman" panose="02020603050405020304" pitchFamily="18" charset="0"/>
                <a:ea typeface="微软雅黑" panose="020B0503020204020204" pitchFamily="34" charset="-122"/>
                <a:cs typeface="+mn-cs"/>
              </a:rPr>
              <a:t>的目的是求数值解</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solidFill>
                  <a:srgbClr val="C00000"/>
                </a:solidFill>
                <a:latin typeface="Times New Roman" panose="02020603050405020304" pitchFamily="18" charset="0"/>
                <a:ea typeface="微软雅黑" panose="020B0503020204020204" pitchFamily="34" charset="-122"/>
                <a:cs typeface="+mn-cs"/>
              </a:rPr>
              <a:t>非数值运算 </a:t>
            </a:r>
            <a:r>
              <a:rPr lang="en-US" altLang="zh-CN" sz="2400" b="0" dirty="0">
                <a:latin typeface="Times New Roman" panose="02020603050405020304" pitchFamily="18" charset="0"/>
                <a:ea typeface="微软雅黑" panose="020B0503020204020204" pitchFamily="34" charset="-122"/>
                <a:cs typeface="+mn-cs"/>
              </a:rPr>
              <a:t>包括的面十分广泛，最常见的是用于事务管理领域</a:t>
            </a:r>
            <a:endParaRPr lang="en-US" altLang="en-US" sz="2400" b="0" dirty="0">
              <a:latin typeface="Times New Roman" panose="02020603050405020304" pitchFamily="18" charset="0"/>
              <a:ea typeface="微软雅黑" panose="020B0503020204020204" pitchFamily="34" charset="-122"/>
              <a:cs typeface="+mn-cs"/>
            </a:endParaRPr>
          </a:p>
        </p:txBody>
      </p:sp>
      <p:pic>
        <p:nvPicPr>
          <p:cNvPr id="9219"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9220" name="Rectangle 2"/>
          <p:cNvSpPr>
            <a:spLocks noGrp="1"/>
          </p:cNvSpPr>
          <p:nvPr>
            <p:ph type="title"/>
          </p:nvPr>
        </p:nvSpPr>
        <p:spPr>
          <a:xfrm>
            <a:off x="268288" y="568325"/>
            <a:ext cx="3281362" cy="646113"/>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2.1 </a:t>
            </a:r>
            <a:r>
              <a:rPr lang="zh-CN" altLang="zh-CN" sz="3600" dirty="0">
                <a:solidFill>
                  <a:srgbClr val="235A67"/>
                </a:solidFill>
                <a:latin typeface="Times New Roman" panose="02020603050405020304" pitchFamily="18" charset="0"/>
                <a:ea typeface="黑体" panose="02010609060101010101" pitchFamily="49" charset="-122"/>
              </a:rPr>
              <a:t>什么是算法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7" dur="500"/>
                                        <p:tgtEl>
                                          <p:spTgt spid="614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2"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idx="1"/>
          </p:nvPr>
        </p:nvSpPr>
        <p:spPr>
          <a:xfrm>
            <a:off x="504825" y="1276350"/>
            <a:ext cx="8014335" cy="4714875"/>
          </a:xfrm>
        </p:spPr>
        <p:txBody>
          <a:bodyPr vert="horz" wrap="square" lIns="91440" tIns="45720" rIns="91440" bIns="45720" anchor="t" anchorCtr="0"/>
          <a:lstStyle/>
          <a:p>
            <a:pPr>
              <a:buFont typeface="Wingdings" panose="05000000000000000000" pitchFamily="2" charset="2"/>
              <a:buNone/>
            </a:pPr>
            <a:r>
              <a:rPr lang="en-US" altLang="zh-CN" sz="2800" b="0" dirty="0">
                <a:solidFill>
                  <a:srgbClr val="235A67"/>
                </a:solidFill>
                <a:latin typeface="Times New Roman" panose="02020603050405020304" pitchFamily="18" charset="0"/>
                <a:ea typeface="微软雅黑" panose="020B0503020204020204" pitchFamily="34" charset="-122"/>
                <a:cs typeface="+mn-cs"/>
              </a:rPr>
              <a:t>例 2.1 求1×2×3×4×5</a:t>
            </a:r>
            <a:endParaRPr lang="en-US" altLang="zh-CN" sz="2800" b="0" dirty="0">
              <a:solidFill>
                <a:srgbClr val="235A67"/>
              </a:solidFill>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可以用最原始的方法进行：</a:t>
            </a:r>
            <a:endParaRPr lang="en-US" altLang="zh-CN" sz="2400" b="0" dirty="0">
              <a:latin typeface="Times New Roman" panose="02020603050405020304" pitchFamily="18" charset="0"/>
              <a:ea typeface="微软雅黑" panose="020B0503020204020204" pitchFamily="34" charset="-122"/>
              <a:cs typeface="+mn-cs"/>
            </a:endParaRPr>
          </a:p>
          <a:p>
            <a:pPr lvl="1"/>
            <a:r>
              <a:rPr lang="en-US" altLang="zh-CN" sz="2400" b="0" dirty="0">
                <a:latin typeface="Times New Roman" panose="02020603050405020304" pitchFamily="18" charset="0"/>
                <a:ea typeface="微软雅黑" panose="020B0503020204020204" pitchFamily="34" charset="-122"/>
              </a:rPr>
              <a:t> 步骤1：先求1*2，得到结果2。</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 步骤2：将步骤1得到的乘积2</a:t>
            </a:r>
            <a:r>
              <a:rPr lang="en-US" altLang="en-US" sz="2400" b="0" dirty="0">
                <a:solidFill>
                  <a:srgbClr val="C00000"/>
                </a:solidFill>
                <a:latin typeface="Times New Roman" panose="02020603050405020304" pitchFamily="18" charset="0"/>
                <a:ea typeface="微软雅黑" panose="020B0503020204020204" pitchFamily="34" charset="-122"/>
              </a:rPr>
              <a:t>，</a:t>
            </a:r>
            <a:r>
              <a:rPr lang="en-US" altLang="zh-CN" sz="2400" b="0" dirty="0">
                <a:latin typeface="Times New Roman" panose="02020603050405020304" pitchFamily="18" charset="0"/>
                <a:ea typeface="微软雅黑" panose="020B0503020204020204" pitchFamily="34" charset="-122"/>
              </a:rPr>
              <a:t>再乘以3，得到结果6。</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 步骤3：将6再乘以4，得24。</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 步骤4：将24再乘以5，得120。这就是最后的结</a:t>
            </a:r>
            <a:r>
              <a:rPr lang="en-US" altLang="en-US" sz="2400" b="0" dirty="0">
                <a:latin typeface="Times New Roman" panose="02020603050405020304" pitchFamily="18" charset="0"/>
                <a:ea typeface="微软雅黑" panose="020B0503020204020204" pitchFamily="34" charset="-122"/>
              </a:rPr>
              <a:t>果。</a:t>
            </a:r>
            <a:endParaRPr lang="en-US" altLang="zh-CN" sz="2400" b="0" dirty="0">
              <a:latin typeface="Times New Roman" panose="02020603050405020304" pitchFamily="18" charset="0"/>
              <a:ea typeface="微软雅黑" panose="020B0503020204020204" pitchFamily="34" charset="-122"/>
            </a:endParaRPr>
          </a:p>
          <a:p>
            <a:pPr>
              <a:buFont typeface="Wingdings" panose="05000000000000000000" pitchFamily="2" charset="2"/>
              <a:buNone/>
            </a:pPr>
            <a:endParaRPr lang="en-US" altLang="en-US" sz="2400" dirty="0">
              <a:latin typeface="+mn-lt"/>
              <a:ea typeface="Times New Roman" panose="02020603050405020304" pitchFamily="18" charset="0"/>
              <a:cs typeface="+mn-cs"/>
            </a:endParaRPr>
          </a:p>
        </p:txBody>
      </p:sp>
      <p:sp>
        <p:nvSpPr>
          <p:cNvPr id="4" name="Rectangle 3"/>
          <p:cNvSpPr txBox="1"/>
          <p:nvPr/>
        </p:nvSpPr>
        <p:spPr>
          <a:xfrm>
            <a:off x="502285" y="1277303"/>
            <a:ext cx="8072438" cy="785812"/>
          </a:xfrm>
          <a:prstGeom prst="rect">
            <a:avLst/>
          </a:prstGeom>
          <a:noFill/>
          <a:ln w="9525">
            <a:noFill/>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342900" lvl="0" indent="-342900">
              <a:buFontTx/>
              <a:buNone/>
            </a:pPr>
            <a:r>
              <a:rPr lang="zh-CN" altLang="zh-CN" sz="2800" b="0" dirty="0">
                <a:solidFill>
                  <a:srgbClr val="235A67"/>
                </a:solidFill>
                <a:latin typeface="Times New Roman" panose="02020603050405020304" pitchFamily="18" charset="0"/>
                <a:ea typeface="微软雅黑" panose="020B0503020204020204" pitchFamily="34" charset="-122"/>
              </a:rPr>
              <a:t>例</a:t>
            </a:r>
            <a:r>
              <a:rPr lang="en-US" altLang="zh-CN" sz="2800" b="0" dirty="0">
                <a:solidFill>
                  <a:srgbClr val="235A67"/>
                </a:solidFill>
                <a:latin typeface="Times New Roman" panose="02020603050405020304" pitchFamily="18" charset="0"/>
                <a:ea typeface="微软雅黑" panose="020B0503020204020204" pitchFamily="34" charset="-122"/>
              </a:rPr>
              <a:t> 2.1 </a:t>
            </a:r>
            <a:r>
              <a:rPr lang="zh-CN" altLang="zh-CN" sz="2800" b="0" dirty="0">
                <a:solidFill>
                  <a:srgbClr val="235A67"/>
                </a:solidFill>
                <a:latin typeface="Times New Roman" panose="02020603050405020304" pitchFamily="18" charset="0"/>
                <a:ea typeface="微软雅黑" panose="020B0503020204020204" pitchFamily="34" charset="-122"/>
              </a:rPr>
              <a:t>求</a:t>
            </a:r>
            <a:r>
              <a:rPr lang="en-US" altLang="zh-CN" sz="2800" b="0" dirty="0">
                <a:solidFill>
                  <a:srgbClr val="235A67"/>
                </a:solidFill>
                <a:latin typeface="Times New Roman" panose="02020603050405020304" pitchFamily="18" charset="0"/>
                <a:ea typeface="微软雅黑" panose="020B0503020204020204" pitchFamily="34" charset="-122"/>
              </a:rPr>
              <a:t>1</a:t>
            </a:r>
            <a:r>
              <a:rPr lang="zh-CN" altLang="zh-CN" sz="2800" b="0" dirty="0">
                <a:solidFill>
                  <a:srgbClr val="235A67"/>
                </a:solidFill>
                <a:latin typeface="Times New Roman" panose="02020603050405020304" pitchFamily="18" charset="0"/>
                <a:ea typeface="微软雅黑" panose="020B0503020204020204" pitchFamily="34" charset="-122"/>
              </a:rPr>
              <a:t>×</a:t>
            </a:r>
            <a:r>
              <a:rPr lang="en-US" altLang="zh-CN" sz="2800" b="0" dirty="0">
                <a:solidFill>
                  <a:srgbClr val="235A67"/>
                </a:solidFill>
                <a:latin typeface="Times New Roman" panose="02020603050405020304" pitchFamily="18" charset="0"/>
                <a:ea typeface="微软雅黑" panose="020B0503020204020204" pitchFamily="34" charset="-122"/>
              </a:rPr>
              <a:t>2</a:t>
            </a:r>
            <a:r>
              <a:rPr lang="zh-CN" altLang="zh-CN" sz="2800" b="0" dirty="0">
                <a:solidFill>
                  <a:srgbClr val="235A67"/>
                </a:solidFill>
                <a:latin typeface="Times New Roman" panose="02020603050405020304" pitchFamily="18" charset="0"/>
                <a:ea typeface="微软雅黑" panose="020B0503020204020204" pitchFamily="34" charset="-122"/>
              </a:rPr>
              <a:t>×</a:t>
            </a:r>
            <a:r>
              <a:rPr lang="en-US" altLang="zh-CN" sz="2800" b="0" dirty="0">
                <a:solidFill>
                  <a:srgbClr val="235A67"/>
                </a:solidFill>
                <a:latin typeface="Times New Roman" panose="02020603050405020304" pitchFamily="18" charset="0"/>
                <a:ea typeface="微软雅黑" panose="020B0503020204020204" pitchFamily="34" charset="-122"/>
              </a:rPr>
              <a:t>3</a:t>
            </a:r>
            <a:r>
              <a:rPr lang="zh-CN" altLang="zh-CN" sz="2800" b="0" dirty="0">
                <a:solidFill>
                  <a:srgbClr val="235A67"/>
                </a:solidFill>
                <a:latin typeface="Times New Roman" panose="02020603050405020304" pitchFamily="18" charset="0"/>
                <a:ea typeface="微软雅黑" panose="020B0503020204020204" pitchFamily="34" charset="-122"/>
              </a:rPr>
              <a:t>×</a:t>
            </a:r>
            <a:r>
              <a:rPr lang="en-US" altLang="zh-CN" sz="2800" b="0" dirty="0">
                <a:solidFill>
                  <a:srgbClr val="235A67"/>
                </a:solidFill>
                <a:latin typeface="Times New Roman" panose="02020603050405020304" pitchFamily="18" charset="0"/>
                <a:ea typeface="微软雅黑" panose="020B0503020204020204" pitchFamily="34" charset="-122"/>
              </a:rPr>
              <a:t>4</a:t>
            </a:r>
            <a:r>
              <a:rPr lang="zh-CN" altLang="zh-CN" sz="2800" b="0" dirty="0">
                <a:solidFill>
                  <a:srgbClr val="235A67"/>
                </a:solidFill>
                <a:latin typeface="Times New Roman" panose="02020603050405020304" pitchFamily="18" charset="0"/>
                <a:ea typeface="微软雅黑" panose="020B0503020204020204" pitchFamily="34" charset="-122"/>
              </a:rPr>
              <a:t>×</a:t>
            </a:r>
            <a:r>
              <a:rPr lang="en-US" altLang="zh-CN" sz="2800" b="0" dirty="0">
                <a:solidFill>
                  <a:srgbClr val="235A67"/>
                </a:solidFill>
                <a:latin typeface="Times New Roman" panose="02020603050405020304" pitchFamily="18" charset="0"/>
                <a:ea typeface="微软雅黑" panose="020B0503020204020204" pitchFamily="34" charset="-122"/>
              </a:rPr>
              <a:t>5</a:t>
            </a:r>
            <a:r>
              <a:rPr lang="zh-CN" altLang="zh-CN" sz="2800" b="0" dirty="0">
                <a:solidFill>
                  <a:srgbClr val="C00000"/>
                </a:solidFill>
                <a:latin typeface="Times New Roman" panose="02020603050405020304" pitchFamily="18" charset="0"/>
                <a:ea typeface="微软雅黑" panose="020B0503020204020204" pitchFamily="34" charset="-122"/>
              </a:rPr>
              <a:t>× …×</a:t>
            </a:r>
            <a:r>
              <a:rPr lang="en-US" altLang="zh-CN" sz="2800" b="0" dirty="0">
                <a:solidFill>
                  <a:srgbClr val="C00000"/>
                </a:solidFill>
                <a:latin typeface="Times New Roman" panose="02020603050405020304" pitchFamily="18" charset="0"/>
                <a:ea typeface="微软雅黑" panose="020B0503020204020204" pitchFamily="34" charset="-122"/>
              </a:rPr>
              <a:t>1000</a:t>
            </a:r>
            <a:endParaRPr lang="en-US" altLang="zh-CN" sz="2800" b="0" dirty="0">
              <a:latin typeface="Times New Roman" panose="02020603050405020304" pitchFamily="18" charset="0"/>
              <a:ea typeface="微软雅黑" panose="020B0503020204020204" pitchFamily="34" charset="-122"/>
            </a:endParaRPr>
          </a:p>
          <a:p>
            <a:pPr marL="342900" lvl="0" indent="-342900">
              <a:buNone/>
            </a:pPr>
            <a:endParaRPr lang="zh-CN" altLang="en-US" sz="2800" dirty="0">
              <a:ea typeface="微软雅黑" panose="020B0503020204020204" pitchFamily="34" charset="-122"/>
            </a:endParaRPr>
          </a:p>
        </p:txBody>
      </p:sp>
      <p:sp>
        <p:nvSpPr>
          <p:cNvPr id="10244" name="Rectangle 2"/>
          <p:cNvSpPr>
            <a:spLocks noGrp="1"/>
          </p:cNvSpPr>
          <p:nvPr>
            <p:ph type="title"/>
          </p:nvPr>
        </p:nvSpPr>
        <p:spPr>
          <a:xfrm>
            <a:off x="268288" y="569913"/>
            <a:ext cx="4433887" cy="646112"/>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2.2 </a:t>
            </a:r>
            <a:r>
              <a:rPr lang="zh-CN" altLang="zh-CN" sz="3600" dirty="0">
                <a:solidFill>
                  <a:srgbClr val="235A67"/>
                </a:solidFill>
                <a:latin typeface="Times New Roman" panose="02020603050405020304" pitchFamily="18" charset="0"/>
                <a:ea typeface="黑体" panose="02010609060101010101" pitchFamily="49" charset="-122"/>
              </a:rPr>
              <a:t>简单的算法举例</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5" name="爆炸形 2 4"/>
          <p:cNvSpPr/>
          <p:nvPr/>
        </p:nvSpPr>
        <p:spPr>
          <a:xfrm>
            <a:off x="4799330" y="3285490"/>
            <a:ext cx="3444875" cy="1303020"/>
          </a:xfrm>
          <a:prstGeom prst="irregularSeal2">
            <a:avLst/>
          </a:prstGeom>
          <a:solidFill>
            <a:srgbClr val="FFFFCC"/>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zh-CN" b="0" dirty="0">
                <a:solidFill>
                  <a:srgbClr val="C00000"/>
                </a:solidFill>
                <a:latin typeface="Times New Roman" panose="02020603050405020304" pitchFamily="18" charset="0"/>
                <a:ea typeface="微软雅黑" panose="020B0503020204020204" pitchFamily="34" charset="-122"/>
              </a:rPr>
              <a:t>太繁</a:t>
            </a:r>
            <a:r>
              <a:rPr lang="en-US" altLang="zh-CN" b="0" dirty="0">
                <a:solidFill>
                  <a:srgbClr val="C00000"/>
                </a:solidFill>
                <a:latin typeface="Times New Roman" panose="02020603050405020304" pitchFamily="18" charset="0"/>
                <a:ea typeface="微软雅黑" panose="020B0503020204020204" pitchFamily="34" charset="-122"/>
                <a:sym typeface="+mn-ea"/>
              </a:rPr>
              <a:t>琐</a:t>
            </a:r>
            <a:endParaRPr lang="zh-CN" altLang="en-US" b="0" dirty="0">
              <a:solidFill>
                <a:srgbClr val="C00000"/>
              </a:solidFill>
              <a:latin typeface="Times New Roman" panose="02020603050405020304" pitchFamily="18" charset="0"/>
              <a:ea typeface="微软雅黑" panose="020B0503020204020204" pitchFamily="34" charset="-122"/>
            </a:endParaRPr>
          </a:p>
        </p:txBody>
      </p:sp>
      <p:pic>
        <p:nvPicPr>
          <p:cNvPr id="10246"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7" dur="500"/>
                                        <p:tgtEl>
                                          <p:spTgt spid="6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5"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1000" fill="hold"/>
                                        <p:tgtEl>
                                          <p:spTgt spid="5"/>
                                        </p:tgtEl>
                                        <p:attrNameLst>
                                          <p:attrName>ppt_w</p:attrName>
                                        </p:attrNameLst>
                                      </p:cBhvr>
                                      <p:tavLst>
                                        <p:tav tm="0">
                                          <p:val>
                                            <p:fltVal val="0"/>
                                          </p:val>
                                        </p:tav>
                                        <p:tav tm="100000">
                                          <p:val>
                                            <p:strVal val="#ppt_w"/>
                                          </p:val>
                                        </p:tav>
                                      </p:tavLst>
                                    </p:anim>
                                    <p:anim calcmode="lin" valueType="num">
                                      <p:cBhvr>
                                        <p:cTn id="39" dur="1000" fill="hold"/>
                                        <p:tgtEl>
                                          <p:spTgt spid="5"/>
                                        </p:tgtEl>
                                        <p:attrNameLst>
                                          <p:attrName>ppt_h</p:attrName>
                                        </p:attrNameLst>
                                      </p:cBhvr>
                                      <p:tavLst>
                                        <p:tav tm="0">
                                          <p:val>
                                            <p:fltVal val="0"/>
                                          </p:val>
                                        </p:tav>
                                        <p:tav tm="100000">
                                          <p:val>
                                            <p:strVal val="#ppt_h"/>
                                          </p:val>
                                        </p:tav>
                                      </p:tavLst>
                                    </p:anim>
                                    <p:anim calcmode="lin" valueType="num">
                                      <p:cBhvr>
                                        <p:cTn id="40"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p:cNvSpPr>
          <p:nvPr>
            <p:ph idx="1"/>
          </p:nvPr>
        </p:nvSpPr>
        <p:spPr>
          <a:xfrm>
            <a:off x="569913" y="1341438"/>
            <a:ext cx="6018212" cy="2649537"/>
          </a:xfrm>
        </p:spPr>
        <p:txBody>
          <a:bodyPr vert="horz" wrap="square" lIns="91440" tIns="45720" rIns="91440" bIns="45720" anchor="t" anchorCtr="0"/>
          <a:lstStyle/>
          <a:p>
            <a:r>
              <a:rPr lang="en-US" altLang="en-US" sz="2800" b="0" dirty="0">
                <a:latin typeface="Times New Roman" panose="02020603050405020304" pitchFamily="18" charset="0"/>
                <a:ea typeface="微软雅黑" panose="020B0503020204020204" pitchFamily="34" charset="-122"/>
                <a:cs typeface="+mn-cs"/>
              </a:rPr>
              <a:t> 改进的算法</a:t>
            </a:r>
            <a:endParaRPr lang="en-US" altLang="zh-CN" sz="2800" b="0" dirty="0">
              <a:latin typeface="Times New Roman" panose="02020603050405020304" pitchFamily="18" charset="0"/>
              <a:ea typeface="微软雅黑" panose="020B0503020204020204" pitchFamily="34" charset="-122"/>
              <a:cs typeface="+mn-cs"/>
            </a:endParaRPr>
          </a:p>
          <a:p>
            <a:pPr lvl="1"/>
            <a:r>
              <a:rPr lang="en-US" altLang="zh-CN" sz="2400" b="0" dirty="0">
                <a:latin typeface="Times New Roman" panose="02020603050405020304" pitchFamily="18" charset="0"/>
                <a:ea typeface="微软雅黑" panose="020B0503020204020204" pitchFamily="34" charset="-122"/>
              </a:rPr>
              <a:t> 设变量 p 为 被乘数</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 变量 i 为乘数</a:t>
            </a:r>
            <a:endParaRPr lang="en-US" altLang="zh-CN" sz="2400" b="0" dirty="0">
              <a:latin typeface="Times New Roman" panose="02020603050405020304" pitchFamily="18" charset="0"/>
              <a:ea typeface="微软雅黑" panose="020B0503020204020204" pitchFamily="34" charset="-122"/>
            </a:endParaRPr>
          </a:p>
          <a:p>
            <a:pPr lvl="1"/>
            <a:r>
              <a:rPr lang="en-US" altLang="zh-CN" sz="2400" b="0" dirty="0">
                <a:latin typeface="Times New Roman" panose="02020603050405020304" pitchFamily="18" charset="0"/>
                <a:ea typeface="微软雅黑" panose="020B0503020204020204" pitchFamily="34" charset="-122"/>
              </a:rPr>
              <a:t> 用循环算法求结果</a:t>
            </a:r>
            <a:endParaRPr lang="en-US" altLang="en-US" sz="2400" b="0" dirty="0">
              <a:latin typeface="Times New Roman" panose="02020603050405020304" pitchFamily="18" charset="0"/>
              <a:ea typeface="微软雅黑" panose="020B0503020204020204" pitchFamily="34" charset="-122"/>
            </a:endParaRPr>
          </a:p>
        </p:txBody>
      </p:sp>
      <p:pic>
        <p:nvPicPr>
          <p:cNvPr id="11267"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11268" name="Rectangle 2"/>
          <p:cNvSpPr>
            <a:spLocks noGrp="1"/>
          </p:cNvSpPr>
          <p:nvPr>
            <p:ph type="title"/>
          </p:nvPr>
        </p:nvSpPr>
        <p:spPr>
          <a:xfrm>
            <a:off x="268288" y="569913"/>
            <a:ext cx="4433887" cy="646112"/>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2.2 </a:t>
            </a:r>
            <a:r>
              <a:rPr lang="zh-CN" altLang="zh-CN" sz="3600" dirty="0">
                <a:solidFill>
                  <a:srgbClr val="235A67"/>
                </a:solidFill>
                <a:latin typeface="Times New Roman" panose="02020603050405020304" pitchFamily="18" charset="0"/>
                <a:ea typeface="黑体" panose="02010609060101010101" pitchFamily="49" charset="-122"/>
              </a:rPr>
              <a:t>简单的算法举例</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idx="1"/>
          </p:nvPr>
        </p:nvSpPr>
        <p:spPr>
          <a:xfrm>
            <a:off x="611188" y="1268413"/>
            <a:ext cx="7948612" cy="4500562"/>
          </a:xfrm>
        </p:spPr>
        <p:txBody>
          <a:bodyPr vert="horz" wrap="square" lIns="91440" tIns="45720" rIns="91440" bIns="45720" anchor="t" anchorCtr="0"/>
          <a:lstStyle/>
          <a:p>
            <a:r>
              <a:rPr lang="en-US" altLang="zh-CN" sz="2400" b="0" dirty="0">
                <a:latin typeface="Times New Roman" panose="02020603050405020304" pitchFamily="18" charset="0"/>
                <a:ea typeface="微软雅黑" panose="020B0503020204020204" pitchFamily="34" charset="-122"/>
                <a:cs typeface="+mn-cs"/>
              </a:rPr>
              <a:t>S1：使 p=1，或写成 1</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p</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S2：使 i=2，或写成 2</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i</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S3：使 p 与 i 相乘，乘积仍放在变量 p 中，可表示为：p*i</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p</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S4：使 i 的值加 1，即 i+1</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 </a:t>
            </a:r>
            <a:r>
              <a:rPr lang="en-US" altLang="zh-CN" sz="2400" b="0" dirty="0">
                <a:latin typeface="Times New Roman" panose="02020603050405020304" pitchFamily="18" charset="0"/>
                <a:ea typeface="微软雅黑" panose="020B0503020204020204" pitchFamily="34" charset="-122"/>
                <a:cs typeface="+mn-cs"/>
              </a:rPr>
              <a:t>i</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S5：如果 i 不大于 5 ，返回重新执行 S3；否则，算法结束</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最后得到 p 的值就是 5! 的值</a:t>
            </a:r>
            <a:endParaRPr lang="en-US" altLang="zh-CN" sz="2400" b="0" dirty="0">
              <a:latin typeface="Times New Roman" panose="02020603050405020304" pitchFamily="18" charset="0"/>
              <a:ea typeface="微软雅黑" panose="020B0503020204020204" pitchFamily="34" charset="-122"/>
              <a:cs typeface="+mn-cs"/>
            </a:endParaRPr>
          </a:p>
        </p:txBody>
      </p:sp>
      <p:sp>
        <p:nvSpPr>
          <p:cNvPr id="9" name="椭圆 8"/>
          <p:cNvSpPr/>
          <p:nvPr/>
        </p:nvSpPr>
        <p:spPr>
          <a:xfrm>
            <a:off x="3419475" y="3751580"/>
            <a:ext cx="357188" cy="571500"/>
          </a:xfrm>
          <a:prstGeom prst="ellipse">
            <a:avLst/>
          </a:prstGeom>
          <a:noFill/>
          <a:ln w="38100" cap="flat" cmpd="sng">
            <a:solidFill>
              <a:srgbClr val="C0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10" name="圆角矩形标注 9"/>
          <p:cNvSpPr/>
          <p:nvPr/>
        </p:nvSpPr>
        <p:spPr>
          <a:xfrm>
            <a:off x="3959860" y="2780983"/>
            <a:ext cx="3857625" cy="644525"/>
          </a:xfrm>
          <a:prstGeom prst="wedgeRoundRectCallout">
            <a:avLst>
              <a:gd name="adj1" fmla="val -55949"/>
              <a:gd name="adj2" fmla="val 124194"/>
              <a:gd name="adj3" fmla="val 16667"/>
            </a:avLst>
          </a:prstGeom>
          <a:solidFill>
            <a:srgbClr val="FFFFCC"/>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400" b="0" dirty="0">
                <a:solidFill>
                  <a:srgbClr val="0000CC"/>
                </a:solidFill>
                <a:latin typeface="Times New Roman" panose="02020603050405020304" pitchFamily="18" charset="0"/>
                <a:ea typeface="微软雅黑" panose="020B0503020204020204" pitchFamily="34" charset="-122"/>
              </a:rPr>
              <a:t>若是</a:t>
            </a:r>
            <a:r>
              <a:rPr lang="en-US" altLang="zh-CN" sz="2400" b="0" dirty="0">
                <a:solidFill>
                  <a:srgbClr val="0000CC"/>
                </a:solidFill>
                <a:latin typeface="Times New Roman" panose="02020603050405020304" pitchFamily="18" charset="0"/>
                <a:ea typeface="微软雅黑" panose="020B0503020204020204" pitchFamily="34" charset="-122"/>
              </a:rPr>
              <a:t>1000</a:t>
            </a:r>
            <a:r>
              <a:rPr lang="zh-CN" altLang="en-US" sz="2400" b="0" dirty="0">
                <a:solidFill>
                  <a:srgbClr val="0000CC"/>
                </a:solidFill>
                <a:latin typeface="Times New Roman" panose="02020603050405020304" pitchFamily="18" charset="0"/>
                <a:ea typeface="微软雅黑" panose="020B0503020204020204" pitchFamily="34" charset="-122"/>
              </a:rPr>
              <a:t>，求什么？</a:t>
            </a:r>
            <a:endParaRPr lang="zh-CN" altLang="en-US" sz="2400" b="0" dirty="0">
              <a:solidFill>
                <a:srgbClr val="0000CC"/>
              </a:solidFill>
              <a:latin typeface="Times New Roman" panose="02020603050405020304" pitchFamily="18" charset="0"/>
              <a:ea typeface="微软雅黑" panose="020B0503020204020204" pitchFamily="34" charset="-122"/>
            </a:endParaRPr>
          </a:p>
        </p:txBody>
      </p:sp>
      <p:pic>
        <p:nvPicPr>
          <p:cNvPr id="12293"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12294" name="Rectangle 2"/>
          <p:cNvSpPr>
            <a:spLocks noGrp="1"/>
          </p:cNvSpPr>
          <p:nvPr>
            <p:ph type="title"/>
          </p:nvPr>
        </p:nvSpPr>
        <p:spPr>
          <a:xfrm>
            <a:off x="268288" y="569913"/>
            <a:ext cx="4433887" cy="646112"/>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2.2 </a:t>
            </a:r>
            <a:r>
              <a:rPr lang="zh-CN" altLang="zh-CN" sz="3600" dirty="0">
                <a:solidFill>
                  <a:srgbClr val="235A67"/>
                </a:solidFill>
                <a:latin typeface="Times New Roman" panose="02020603050405020304" pitchFamily="18" charset="0"/>
                <a:ea typeface="黑体" panose="02010609060101010101" pitchFamily="49" charset="-122"/>
              </a:rPr>
              <a:t>简单的算法举例</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 calcmode="lin" valueType="num">
                                      <p:cBhvr>
                                        <p:cTn id="39" dur="500" fill="hold"/>
                                        <p:tgtEl>
                                          <p:spTgt spid="9"/>
                                        </p:tgtEl>
                                        <p:attrNameLst>
                                          <p:attrName>style.rotation</p:attrName>
                                        </p:attrNameLst>
                                      </p:cBhvr>
                                      <p:tavLst>
                                        <p:tav tm="0">
                                          <p:val>
                                            <p:fltVal val="360"/>
                                          </p:val>
                                        </p:tav>
                                        <p:tav tm="100000">
                                          <p:val>
                                            <p:fltVal val="0"/>
                                          </p:val>
                                        </p:tav>
                                      </p:tavLst>
                                    </p:anim>
                                    <p:animEffect transition="in" filter="fade">
                                      <p:cBhvr>
                                        <p:cTn id="40" dur="500"/>
                                        <p:tgtEl>
                                          <p:spTgt spid="9"/>
                                        </p:tgtEl>
                                      </p:cBhvr>
                                    </p:animEffect>
                                  </p:childTnLst>
                                </p:cTn>
                              </p:par>
                            </p:childTnLst>
                          </p:cTn>
                        </p:par>
                        <p:par>
                          <p:cTn id="41" fill="hold">
                            <p:stCondLst>
                              <p:cond delay="500"/>
                            </p:stCondLst>
                            <p:childTnLst>
                              <p:par>
                                <p:cTn id="42" presetID="3" presetClass="entr" presetSubtype="1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linds(horizontal)">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p:cNvSpPr>
          <p:nvPr>
            <p:ph idx="1"/>
          </p:nvPr>
        </p:nvSpPr>
        <p:spPr>
          <a:xfrm>
            <a:off x="714375" y="1714500"/>
            <a:ext cx="7929563" cy="4500563"/>
          </a:xfrm>
        </p:spPr>
        <p:txBody>
          <a:bodyPr vert="horz" wrap="square" lIns="91440" tIns="45720" rIns="91440" bIns="45720" anchor="t" anchorCtr="0"/>
          <a:lstStyle/>
          <a:p>
            <a:r>
              <a:rPr lang="en-US" altLang="zh-CN" sz="2400" b="0" dirty="0">
                <a:latin typeface="Times New Roman" panose="02020603050405020304" pitchFamily="18" charset="0"/>
                <a:ea typeface="微软雅黑" panose="020B0503020204020204" pitchFamily="34" charset="-122"/>
                <a:cs typeface="+mn-cs"/>
              </a:rPr>
              <a:t>S1：使 p=1，或写成 1</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p</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S2：使 i = 2，或 写成 2</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i</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S3：使 p 与 i 相乘，乘积仍放在变量 p 中，可表示为：p*i</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p</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S4：使 i  的值加 1 ，即 i+ 1 </a:t>
            </a:r>
            <a:r>
              <a:rPr lang="en-US" altLang="zh-CN" sz="2400" b="0" dirty="0">
                <a:latin typeface="Times New Roman" panose="02020603050405020304" pitchFamily="18" charset="0"/>
                <a:ea typeface="微软雅黑" panose="020B0503020204020204" pitchFamily="34" charset="-122"/>
                <a:cs typeface="+mn-cs"/>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cs typeface="+mn-cs"/>
              </a:rPr>
              <a:t>i</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S5：如果 i 不大于 5，返回重新执行 S3；否则，算法结束</a:t>
            </a:r>
            <a:endParaRPr lang="en-US" altLang="zh-CN" sz="2400" b="0" dirty="0">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最后得到 p 的值就是 5!  的值</a:t>
            </a:r>
            <a:endParaRPr lang="en-US" altLang="zh-CN" sz="2400" b="0" dirty="0">
              <a:latin typeface="Times New Roman" panose="02020603050405020304" pitchFamily="18" charset="0"/>
              <a:ea typeface="微软雅黑" panose="020B0503020204020204" pitchFamily="34" charset="-122"/>
              <a:cs typeface="+mn-cs"/>
            </a:endParaRPr>
          </a:p>
        </p:txBody>
      </p:sp>
      <p:sp>
        <p:nvSpPr>
          <p:cNvPr id="9" name="TextBox 8"/>
          <p:cNvSpPr txBox="1"/>
          <p:nvPr/>
        </p:nvSpPr>
        <p:spPr>
          <a:xfrm>
            <a:off x="784225" y="1183005"/>
            <a:ext cx="4371975" cy="521970"/>
          </a:xfrm>
          <a:prstGeom prst="rect">
            <a:avLst/>
          </a:prstGeom>
          <a:solidFill>
            <a:srgbClr val="FFFFCC"/>
          </a:solidFill>
          <a:ln w="9525">
            <a:noFill/>
          </a:ln>
        </p:spPr>
        <p:txBody>
          <a:bodyPr wrap="square">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l" eaLnBrk="1" hangingPunct="1">
              <a:lnSpc>
                <a:spcPct val="100000"/>
              </a:lnSpc>
              <a:spcBef>
                <a:spcPct val="0"/>
              </a:spcBef>
              <a:buFontTx/>
              <a:buNone/>
            </a:pPr>
            <a:r>
              <a:rPr lang="zh-CN" altLang="en-US" sz="2800" b="0" dirty="0">
                <a:latin typeface="Times New Roman" panose="02020603050405020304" pitchFamily="18" charset="0"/>
                <a:ea typeface="微软雅黑" panose="020B0503020204020204" pitchFamily="34" charset="-122"/>
              </a:rPr>
              <a:t>若</a:t>
            </a:r>
            <a:r>
              <a:rPr lang="zh-CN" altLang="zh-CN" sz="2800" b="0" dirty="0">
                <a:latin typeface="Times New Roman" panose="02020603050405020304" pitchFamily="18" charset="0"/>
                <a:ea typeface="微软雅黑" panose="020B0503020204020204" pitchFamily="34" charset="-122"/>
              </a:rPr>
              <a:t>求</a:t>
            </a:r>
            <a:r>
              <a:rPr lang="en-US" altLang="zh-CN" sz="2800" b="0" dirty="0">
                <a:latin typeface="Times New Roman" panose="02020603050405020304" pitchFamily="18" charset="0"/>
                <a:ea typeface="微软雅黑" panose="020B0503020204020204" pitchFamily="34" charset="-122"/>
              </a:rPr>
              <a:t> 1</a:t>
            </a:r>
            <a:r>
              <a:rPr lang="zh-CN"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rPr>
              <a:t>3</a:t>
            </a:r>
            <a:r>
              <a:rPr lang="zh-CN"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rPr>
              <a:t>5</a:t>
            </a:r>
            <a:r>
              <a:rPr lang="zh-CN"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rPr>
              <a:t>7</a:t>
            </a:r>
            <a:r>
              <a:rPr lang="zh-CN"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rPr>
              <a:t>9</a:t>
            </a:r>
            <a:r>
              <a:rPr lang="zh-CN"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rPr>
              <a:t>11</a:t>
            </a:r>
            <a:endParaRPr lang="zh-CN" altLang="en-US" sz="2800" b="0" dirty="0">
              <a:latin typeface="Times New Roman" panose="02020603050405020304" pitchFamily="18" charset="0"/>
              <a:ea typeface="微软雅黑" panose="020B0503020204020204" pitchFamily="34" charset="-122"/>
            </a:endParaRPr>
          </a:p>
        </p:txBody>
      </p:sp>
      <p:sp>
        <p:nvSpPr>
          <p:cNvPr id="10" name="TextBox 9"/>
          <p:cNvSpPr txBox="1"/>
          <p:nvPr/>
        </p:nvSpPr>
        <p:spPr>
          <a:xfrm>
            <a:off x="2427605" y="2270443"/>
            <a:ext cx="357188" cy="521970"/>
          </a:xfrm>
          <a:prstGeom prst="rect">
            <a:avLst/>
          </a:prstGeom>
          <a:solidFill>
            <a:schemeClr val="accent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3</a:t>
            </a:r>
            <a:endParaRPr lang="en-US" altLang="zh-CN"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TextBox 10"/>
          <p:cNvSpPr txBox="1"/>
          <p:nvPr/>
        </p:nvSpPr>
        <p:spPr>
          <a:xfrm>
            <a:off x="4524693" y="2276475"/>
            <a:ext cx="357187" cy="521970"/>
          </a:xfrm>
          <a:prstGeom prst="rect">
            <a:avLst/>
          </a:prstGeom>
          <a:solidFill>
            <a:schemeClr val="accent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3</a:t>
            </a:r>
            <a:endParaRPr lang="zh-CN" altLang="en-US" sz="2800" dirty="0">
              <a:solidFill>
                <a:srgbClr val="FF0000"/>
              </a:solidFill>
              <a:latin typeface="Times New Roman" panose="02020603050405020304" pitchFamily="18" charset="0"/>
              <a:ea typeface="Times New Roman" panose="02020603050405020304" pitchFamily="18" charset="0"/>
            </a:endParaRPr>
          </a:p>
        </p:txBody>
      </p:sp>
      <p:sp>
        <p:nvSpPr>
          <p:cNvPr id="12" name="TextBox 11"/>
          <p:cNvSpPr txBox="1"/>
          <p:nvPr/>
        </p:nvSpPr>
        <p:spPr>
          <a:xfrm>
            <a:off x="3310255" y="3721735"/>
            <a:ext cx="357188" cy="521970"/>
          </a:xfrm>
          <a:prstGeom prst="rect">
            <a:avLst/>
          </a:prstGeom>
          <a:solidFill>
            <a:schemeClr val="accent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2</a:t>
            </a:r>
            <a:endParaRPr lang="en-US" altLang="zh-CN"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 name="TextBox 12"/>
          <p:cNvSpPr txBox="1"/>
          <p:nvPr/>
        </p:nvSpPr>
        <p:spPr>
          <a:xfrm>
            <a:off x="4514215" y="3737928"/>
            <a:ext cx="357188" cy="521970"/>
          </a:xfrm>
          <a:prstGeom prst="rect">
            <a:avLst/>
          </a:prstGeom>
          <a:solidFill>
            <a:schemeClr val="accent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2</a:t>
            </a:r>
            <a:endParaRPr lang="en-US" altLang="zh-CN"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4" name="TextBox 13"/>
          <p:cNvSpPr txBox="1"/>
          <p:nvPr/>
        </p:nvSpPr>
        <p:spPr>
          <a:xfrm>
            <a:off x="3486468" y="4246880"/>
            <a:ext cx="538162" cy="521970"/>
          </a:xfrm>
          <a:prstGeom prst="rect">
            <a:avLst/>
          </a:prstGeom>
          <a:solidFill>
            <a:schemeClr val="accent1"/>
          </a:solidFill>
          <a:ln w="9525">
            <a:noFill/>
          </a:ln>
        </p:spPr>
        <p:txBody>
          <a:bodyPr lIns="0" rIns="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11</a:t>
            </a:r>
            <a:endParaRPr lang="en-US" altLang="zh-CN"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5" name="TextBox 14"/>
          <p:cNvSpPr txBox="1"/>
          <p:nvPr/>
        </p:nvSpPr>
        <p:spPr>
          <a:xfrm>
            <a:off x="3923348" y="5181600"/>
            <a:ext cx="454025" cy="521970"/>
          </a:xfrm>
          <a:prstGeom prst="rect">
            <a:avLst/>
          </a:prstGeom>
          <a:solidFill>
            <a:schemeClr val="accent1"/>
          </a:solidFill>
          <a:ln w="9525">
            <a:noFill/>
          </a:ln>
        </p:spPr>
        <p:txBody>
          <a:bodyPr lIns="0" rIns="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11</a:t>
            </a:r>
            <a:endParaRPr lang="en-US" altLang="zh-CN"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7" name="直接连接符 16"/>
          <p:cNvCxnSpPr/>
          <p:nvPr/>
        </p:nvCxnSpPr>
        <p:spPr>
          <a:xfrm>
            <a:off x="2284730" y="4712970"/>
            <a:ext cx="1928813" cy="0"/>
          </a:xfrm>
          <a:prstGeom prst="line">
            <a:avLst/>
          </a:prstGeom>
          <a:ln w="38100" cap="flat" cmpd="sng">
            <a:solidFill>
              <a:srgbClr val="0000CC"/>
            </a:solidFill>
            <a:prstDash val="solid"/>
            <a:miter/>
            <a:headEnd type="none" w="med" len="med"/>
            <a:tailEnd type="none" w="med" len="med"/>
          </a:ln>
        </p:spPr>
      </p:cxnSp>
      <p:sp>
        <p:nvSpPr>
          <p:cNvPr id="18" name="圆角矩形标注 17"/>
          <p:cNvSpPr/>
          <p:nvPr/>
        </p:nvSpPr>
        <p:spPr>
          <a:xfrm>
            <a:off x="5292090" y="3285173"/>
            <a:ext cx="2643188" cy="642937"/>
          </a:xfrm>
          <a:prstGeom prst="wedgeRoundRectCallout">
            <a:avLst>
              <a:gd name="adj1" fmla="val -104102"/>
              <a:gd name="adj2" fmla="val 133950"/>
              <a:gd name="adj3" fmla="val 16667"/>
            </a:avLst>
          </a:prstGeom>
          <a:solidFill>
            <a:srgbClr val="FFFFCC"/>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00CC"/>
                </a:solidFill>
                <a:latin typeface="Times New Roman" panose="02020603050405020304" pitchFamily="18" charset="0"/>
                <a:ea typeface="微软雅黑" panose="020B0503020204020204" pitchFamily="34" charset="-122"/>
              </a:rPr>
              <a:t>相当于</a:t>
            </a:r>
            <a:r>
              <a:rPr lang="en-US" altLang="zh-CN" sz="2800" b="0" dirty="0">
                <a:solidFill>
                  <a:srgbClr val="0000CC"/>
                </a:solidFill>
                <a:latin typeface="Times New Roman" panose="02020603050405020304" pitchFamily="18" charset="0"/>
                <a:ea typeface="微软雅黑" panose="020B0503020204020204" pitchFamily="34" charset="-122"/>
              </a:rPr>
              <a:t>i ≦11</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pic>
        <p:nvPicPr>
          <p:cNvPr id="13324"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
        <p:nvSpPr>
          <p:cNvPr id="13325" name="Rectangle 2"/>
          <p:cNvSpPr>
            <a:spLocks noGrp="1"/>
          </p:cNvSpPr>
          <p:nvPr>
            <p:ph type="title"/>
          </p:nvPr>
        </p:nvSpPr>
        <p:spPr>
          <a:xfrm>
            <a:off x="268288" y="569913"/>
            <a:ext cx="4433887" cy="646112"/>
          </a:xfrm>
        </p:spPr>
        <p:txBody>
          <a:bodyPr vert="horz" wrap="square" lIns="91440" tIns="45720" rIns="91440" bIns="45720" anchor="ctr"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2.2 </a:t>
            </a:r>
            <a:r>
              <a:rPr lang="zh-CN" altLang="zh-CN" sz="3600" dirty="0">
                <a:solidFill>
                  <a:srgbClr val="235A67"/>
                </a:solidFill>
                <a:latin typeface="Times New Roman" panose="02020603050405020304" pitchFamily="18" charset="0"/>
                <a:ea typeface="黑体" panose="02010609060101010101" pitchFamily="49" charset="-122"/>
              </a:rPr>
              <a:t>简单的算法举例</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 calcmode="lin" valueType="num">
                                      <p:cBhvr>
                                        <p:cTn id="15" dur="500" fill="hold"/>
                                        <p:tgtEl>
                                          <p:spTgt spid="10"/>
                                        </p:tgtEl>
                                        <p:attrNameLst>
                                          <p:attrName>style.rotation</p:attrName>
                                        </p:attrNameLst>
                                      </p:cBhvr>
                                      <p:tavLst>
                                        <p:tav tm="0">
                                          <p:val>
                                            <p:fltVal val="360"/>
                                          </p:val>
                                        </p:tav>
                                        <p:tav tm="100000">
                                          <p:val>
                                            <p:fltVal val="0"/>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49" presetClass="entr" presetSubtype="0" decel="10000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 calcmode="lin" valueType="num">
                                      <p:cBhvr>
                                        <p:cTn id="23" dur="500" fill="hold"/>
                                        <p:tgtEl>
                                          <p:spTgt spid="11"/>
                                        </p:tgtEl>
                                        <p:attrNameLst>
                                          <p:attrName>style.rotation</p:attrName>
                                        </p:attrNameLst>
                                      </p:cBhvr>
                                      <p:tavLst>
                                        <p:tav tm="0">
                                          <p:val>
                                            <p:fltVal val="360"/>
                                          </p:val>
                                        </p:tav>
                                        <p:tav tm="100000">
                                          <p:val>
                                            <p:fltVal val="0"/>
                                          </p:val>
                                        </p:tav>
                                      </p:tavLst>
                                    </p:anim>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 calcmode="lin" valueType="num">
                                      <p:cBhvr>
                                        <p:cTn id="31" dur="500" fill="hold"/>
                                        <p:tgtEl>
                                          <p:spTgt spid="12"/>
                                        </p:tgtEl>
                                        <p:attrNameLst>
                                          <p:attrName>style.rotation</p:attrName>
                                        </p:attrNameLst>
                                      </p:cBhvr>
                                      <p:tavLst>
                                        <p:tav tm="0">
                                          <p:val>
                                            <p:fltVal val="360"/>
                                          </p:val>
                                        </p:tav>
                                        <p:tav tm="100000">
                                          <p:val>
                                            <p:fltVal val="0"/>
                                          </p:val>
                                        </p:tav>
                                      </p:tavLst>
                                    </p:anim>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
                                          </p:val>
                                        </p:tav>
                                        <p:tav tm="100000">
                                          <p:val>
                                            <p:strVal val="#ppt_w"/>
                                          </p:val>
                                        </p:tav>
                                      </p:tavLst>
                                    </p:anim>
                                    <p:anim calcmode="lin" valueType="num">
                                      <p:cBhvr>
                                        <p:cTn id="38" dur="500" fill="hold"/>
                                        <p:tgtEl>
                                          <p:spTgt spid="13"/>
                                        </p:tgtEl>
                                        <p:attrNameLst>
                                          <p:attrName>ppt_h</p:attrName>
                                        </p:attrNameLst>
                                      </p:cBhvr>
                                      <p:tavLst>
                                        <p:tav tm="0">
                                          <p:val>
                                            <p:fltVal val="0"/>
                                          </p:val>
                                        </p:tav>
                                        <p:tav tm="100000">
                                          <p:val>
                                            <p:strVal val="#ppt_h"/>
                                          </p:val>
                                        </p:tav>
                                      </p:tavLst>
                                    </p:anim>
                                    <p:anim calcmode="lin" valueType="num">
                                      <p:cBhvr>
                                        <p:cTn id="39" dur="500" fill="hold"/>
                                        <p:tgtEl>
                                          <p:spTgt spid="13"/>
                                        </p:tgtEl>
                                        <p:attrNameLst>
                                          <p:attrName>style.rotation</p:attrName>
                                        </p:attrNameLst>
                                      </p:cBhvr>
                                      <p:tavLst>
                                        <p:tav tm="0">
                                          <p:val>
                                            <p:fltVal val="360"/>
                                          </p:val>
                                        </p:tav>
                                        <p:tav tm="100000">
                                          <p:val>
                                            <p:fltVal val="0"/>
                                          </p:val>
                                        </p:tav>
                                      </p:tavLst>
                                    </p:anim>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500" fill="hold"/>
                                        <p:tgtEl>
                                          <p:spTgt spid="14"/>
                                        </p:tgtEl>
                                        <p:attrNameLst>
                                          <p:attrName>ppt_w</p:attrName>
                                        </p:attrNameLst>
                                      </p:cBhvr>
                                      <p:tavLst>
                                        <p:tav tm="0">
                                          <p:val>
                                            <p:fltVal val="0"/>
                                          </p:val>
                                        </p:tav>
                                        <p:tav tm="100000">
                                          <p:val>
                                            <p:strVal val="#ppt_w"/>
                                          </p:val>
                                        </p:tav>
                                      </p:tavLst>
                                    </p:anim>
                                    <p:anim calcmode="lin" valueType="num">
                                      <p:cBhvr>
                                        <p:cTn id="46" dur="500" fill="hold"/>
                                        <p:tgtEl>
                                          <p:spTgt spid="14"/>
                                        </p:tgtEl>
                                        <p:attrNameLst>
                                          <p:attrName>ppt_h</p:attrName>
                                        </p:attrNameLst>
                                      </p:cBhvr>
                                      <p:tavLst>
                                        <p:tav tm="0">
                                          <p:val>
                                            <p:fltVal val="0"/>
                                          </p:val>
                                        </p:tav>
                                        <p:tav tm="100000">
                                          <p:val>
                                            <p:strVal val="#ppt_h"/>
                                          </p:val>
                                        </p:tav>
                                      </p:tavLst>
                                    </p:anim>
                                    <p:anim calcmode="lin" valueType="num">
                                      <p:cBhvr>
                                        <p:cTn id="47" dur="500" fill="hold"/>
                                        <p:tgtEl>
                                          <p:spTgt spid="14"/>
                                        </p:tgtEl>
                                        <p:attrNameLst>
                                          <p:attrName>style.rotation</p:attrName>
                                        </p:attrNameLst>
                                      </p:cBhvr>
                                      <p:tavLst>
                                        <p:tav tm="0">
                                          <p:val>
                                            <p:fltVal val="360"/>
                                          </p:val>
                                        </p:tav>
                                        <p:tav tm="100000">
                                          <p:val>
                                            <p:fltVal val="0"/>
                                          </p:val>
                                        </p:tav>
                                      </p:tavLst>
                                    </p:anim>
                                    <p:animEffect transition="in" filter="fade">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49" presetClass="entr" presetSubtype="0" decel="10000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p:cTn id="53" dur="500" fill="hold"/>
                                        <p:tgtEl>
                                          <p:spTgt spid="15"/>
                                        </p:tgtEl>
                                        <p:attrNameLst>
                                          <p:attrName>ppt_w</p:attrName>
                                        </p:attrNameLst>
                                      </p:cBhvr>
                                      <p:tavLst>
                                        <p:tav tm="0">
                                          <p:val>
                                            <p:fltVal val="0"/>
                                          </p:val>
                                        </p:tav>
                                        <p:tav tm="100000">
                                          <p:val>
                                            <p:strVal val="#ppt_w"/>
                                          </p:val>
                                        </p:tav>
                                      </p:tavLst>
                                    </p:anim>
                                    <p:anim calcmode="lin" valueType="num">
                                      <p:cBhvr>
                                        <p:cTn id="54" dur="500" fill="hold"/>
                                        <p:tgtEl>
                                          <p:spTgt spid="15"/>
                                        </p:tgtEl>
                                        <p:attrNameLst>
                                          <p:attrName>ppt_h</p:attrName>
                                        </p:attrNameLst>
                                      </p:cBhvr>
                                      <p:tavLst>
                                        <p:tav tm="0">
                                          <p:val>
                                            <p:fltVal val="0"/>
                                          </p:val>
                                        </p:tav>
                                        <p:tav tm="100000">
                                          <p:val>
                                            <p:strVal val="#ppt_h"/>
                                          </p:val>
                                        </p:tav>
                                      </p:tavLst>
                                    </p:anim>
                                    <p:anim calcmode="lin" valueType="num">
                                      <p:cBhvr>
                                        <p:cTn id="55" dur="500" fill="hold"/>
                                        <p:tgtEl>
                                          <p:spTgt spid="15"/>
                                        </p:tgtEl>
                                        <p:attrNameLst>
                                          <p:attrName>style.rotation</p:attrName>
                                        </p:attrNameLst>
                                      </p:cBhvr>
                                      <p:tavLst>
                                        <p:tav tm="0">
                                          <p:val>
                                            <p:fltVal val="360"/>
                                          </p:val>
                                        </p:tav>
                                        <p:tav tm="100000">
                                          <p:val>
                                            <p:fltVal val="0"/>
                                          </p:val>
                                        </p:tav>
                                      </p:tavLst>
                                    </p:anim>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slide(fromLeft)">
                                      <p:cBhvr>
                                        <p:cTn id="61" dur="500"/>
                                        <p:tgtEl>
                                          <p:spTgt spid="17"/>
                                        </p:tgtEl>
                                      </p:cBhvr>
                                    </p:animEffect>
                                  </p:childTnLst>
                                </p:cTn>
                              </p:par>
                            </p:childTnLst>
                          </p:cTn>
                        </p:par>
                        <p:par>
                          <p:cTn id="62" fill="hold">
                            <p:stCondLst>
                              <p:cond delay="500"/>
                            </p:stCondLst>
                            <p:childTnLst>
                              <p:par>
                                <p:cTn id="63" presetID="3" presetClass="entr" presetSubtype="10"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linds(horizontal)">
                                      <p:cBhvr>
                                        <p:cTn id="6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P spid="13" grpId="0" bldLvl="0" animBg="1"/>
      <p:bldP spid="14" grpId="0" bldLvl="0" animBg="1"/>
      <p:bldP spid="15" grpId="0" bldLvl="0" animBg="1"/>
      <p:bldP spid="1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735" y="620395"/>
            <a:ext cx="9105265" cy="5689600"/>
          </a:xfrm>
        </p:spPr>
        <p:txBody>
          <a:bodyPr vert="horz" wrap="square" lIns="91440" tIns="45720" rIns="91440" bIns="45720" anchor="t" anchorCtr="0"/>
          <a:lstStyle/>
          <a:p>
            <a:pPr>
              <a:spcAft>
                <a:spcPts val="1200"/>
              </a:spcAft>
              <a:buFont typeface="Wingdings" panose="05000000000000000000" pitchFamily="2" charset="2"/>
              <a:buNone/>
            </a:pPr>
            <a:r>
              <a:rPr lang="en-US" altLang="zh-CN" sz="2800" b="0" dirty="0">
                <a:solidFill>
                  <a:srgbClr val="235A67"/>
                </a:solidFill>
                <a:latin typeface="Times New Roman" panose="02020603050405020304" pitchFamily="18" charset="0"/>
                <a:ea typeface="微软雅黑" panose="020B0503020204020204" pitchFamily="34" charset="-122"/>
                <a:cs typeface="+mn-cs"/>
              </a:rPr>
              <a:t> 例 2.2 有50个学生，要求将成绩在80分以上的学生的学号和成绩输出。</a:t>
            </a:r>
            <a:endParaRPr lang="en-US" altLang="zh-CN" sz="2800" b="0" dirty="0">
              <a:solidFill>
                <a:srgbClr val="235A67"/>
              </a:solidFill>
              <a:latin typeface="Times New Roman" panose="02020603050405020304" pitchFamily="18" charset="0"/>
              <a:ea typeface="微软雅黑" panose="020B0503020204020204" pitchFamily="34" charset="-122"/>
              <a:cs typeface="+mn-cs"/>
            </a:endParaRPr>
          </a:p>
          <a:p>
            <a:r>
              <a:rPr lang="en-US" altLang="zh-CN" sz="2400" b="0" dirty="0">
                <a:latin typeface="Times New Roman" panose="02020603050405020304" pitchFamily="18" charset="0"/>
                <a:ea typeface="微软雅黑" panose="020B0503020204020204" pitchFamily="34" charset="-122"/>
                <a:cs typeface="+mn-cs"/>
              </a:rPr>
              <a:t>用 </a:t>
            </a:r>
            <a:r>
              <a:rPr lang="en-US" altLang="zh-CN" sz="2400" b="0" dirty="0">
                <a:solidFill>
                  <a:srgbClr val="C00000"/>
                </a:solidFill>
                <a:latin typeface="Times New Roman" panose="02020603050405020304" pitchFamily="18" charset="0"/>
                <a:ea typeface="微软雅黑" panose="020B0503020204020204" pitchFamily="34" charset="-122"/>
                <a:cs typeface="+mn-cs"/>
              </a:rPr>
              <a:t>n</a:t>
            </a:r>
            <a:r>
              <a:rPr lang="en-US" altLang="zh-CN" sz="2400" b="0" baseline="-25000" dirty="0">
                <a:solidFill>
                  <a:srgbClr val="C00000"/>
                </a:solidFill>
                <a:latin typeface="Times New Roman" panose="02020603050405020304" pitchFamily="18" charset="0"/>
                <a:ea typeface="微软雅黑" panose="020B0503020204020204" pitchFamily="34" charset="-122"/>
                <a:cs typeface="+mn-cs"/>
              </a:rPr>
              <a:t>i  </a:t>
            </a:r>
            <a:r>
              <a:rPr lang="en-US" altLang="zh-CN" sz="2400" b="0" dirty="0">
                <a:latin typeface="Times New Roman" panose="02020603050405020304" pitchFamily="18" charset="0"/>
                <a:ea typeface="微软雅黑" panose="020B0503020204020204" pitchFamily="34" charset="-122"/>
                <a:cs typeface="+mn-cs"/>
              </a:rPr>
              <a:t>代表第 i 个学生</a:t>
            </a:r>
            <a:r>
              <a:rPr lang="en-US" altLang="en-US" sz="2400" b="0" dirty="0">
                <a:latin typeface="Times New Roman" panose="02020603050405020304" pitchFamily="18" charset="0"/>
                <a:ea typeface="微软雅黑" panose="020B0503020204020204" pitchFamily="34" charset="-122"/>
                <a:cs typeface="+mn-cs"/>
              </a:rPr>
              <a:t>学号，</a:t>
            </a:r>
            <a:r>
              <a:rPr lang="en-US" altLang="zh-CN" sz="2400" b="0" dirty="0">
                <a:solidFill>
                  <a:srgbClr val="C00000"/>
                </a:solidFill>
                <a:latin typeface="Times New Roman" panose="02020603050405020304" pitchFamily="18" charset="0"/>
                <a:ea typeface="微软雅黑" panose="020B0503020204020204" pitchFamily="34" charset="-122"/>
                <a:cs typeface="+mn-cs"/>
              </a:rPr>
              <a:t>g</a:t>
            </a:r>
            <a:r>
              <a:rPr lang="en-US" altLang="zh-CN" sz="2400" b="0" baseline="-25000" dirty="0">
                <a:solidFill>
                  <a:srgbClr val="C00000"/>
                </a:solidFill>
                <a:latin typeface="Times New Roman" panose="02020603050405020304" pitchFamily="18" charset="0"/>
                <a:ea typeface="微软雅黑" panose="020B0503020204020204" pitchFamily="34" charset="-122"/>
                <a:cs typeface="+mn-cs"/>
              </a:rPr>
              <a:t>i  </a:t>
            </a:r>
            <a:r>
              <a:rPr lang="en-US" altLang="zh-CN" sz="2400" b="0" dirty="0">
                <a:latin typeface="Times New Roman" panose="02020603050405020304" pitchFamily="18" charset="0"/>
                <a:ea typeface="微软雅黑" panose="020B0503020204020204" pitchFamily="34" charset="-122"/>
                <a:cs typeface="+mn-cs"/>
              </a:rPr>
              <a:t>表示第 i 个学生成绩</a:t>
            </a:r>
            <a:endParaRPr lang="en-US" altLang="zh-CN" sz="2400" b="0" dirty="0">
              <a:latin typeface="Times New Roman" panose="02020603050405020304" pitchFamily="18" charset="0"/>
              <a:ea typeface="微软雅黑" panose="020B0503020204020204" pitchFamily="34" charset="-122"/>
              <a:cs typeface="+mn-cs"/>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S1：1</a:t>
            </a:r>
            <a:r>
              <a:rPr lang="en-US" altLang="zh-CN" sz="24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rPr>
              <a:t>i</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S2：如果 g</a:t>
            </a:r>
            <a:r>
              <a:rPr lang="en-US" altLang="zh-CN" sz="2400" b="0" baseline="-25000" dirty="0">
                <a:latin typeface="Times New Roman" panose="02020603050405020304" pitchFamily="18" charset="0"/>
                <a:ea typeface="微软雅黑" panose="020B0503020204020204" pitchFamily="34" charset="-122"/>
              </a:rPr>
              <a:t>i </a:t>
            </a:r>
            <a:r>
              <a:rPr lang="en-US" altLang="zh-CN" sz="2400" b="0" dirty="0">
                <a:latin typeface="Times New Roman" panose="02020603050405020304" pitchFamily="18" charset="0"/>
                <a:ea typeface="微软雅黑" panose="020B0503020204020204" pitchFamily="34" charset="-122"/>
              </a:rPr>
              <a:t>≥ 80，</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             则 输出 n</a:t>
            </a:r>
            <a:r>
              <a:rPr lang="en-US" altLang="zh-CN" sz="2400" b="0" baseline="-25000" dirty="0">
                <a:latin typeface="Times New Roman" panose="02020603050405020304" pitchFamily="18" charset="0"/>
                <a:ea typeface="微软雅黑" panose="020B0503020204020204" pitchFamily="34" charset="-122"/>
              </a:rPr>
              <a:t>i </a:t>
            </a:r>
            <a:r>
              <a:rPr lang="en-US" altLang="zh-CN" sz="2400" b="0" dirty="0">
                <a:latin typeface="Times New Roman" panose="02020603050405020304" pitchFamily="18" charset="0"/>
                <a:ea typeface="微软雅黑" panose="020B0503020204020204" pitchFamily="34" charset="-122"/>
              </a:rPr>
              <a:t>和 g</a:t>
            </a:r>
            <a:r>
              <a:rPr lang="en-US" altLang="zh-CN" sz="2400" b="0" baseline="-25000" dirty="0">
                <a:latin typeface="Times New Roman" panose="02020603050405020304" pitchFamily="18" charset="0"/>
                <a:ea typeface="微软雅黑" panose="020B0503020204020204" pitchFamily="34" charset="-122"/>
              </a:rPr>
              <a:t>i </a:t>
            </a:r>
            <a:r>
              <a:rPr lang="en-US" altLang="zh-CN" sz="2400" b="0" dirty="0">
                <a:latin typeface="Times New Roman" panose="02020603050405020304" pitchFamily="18" charset="0"/>
                <a:ea typeface="微软雅黑" panose="020B0503020204020204" pitchFamily="34" charset="-122"/>
              </a:rPr>
              <a:t>，</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        否则</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             不输出</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S3：i+1</a:t>
            </a:r>
            <a:r>
              <a:rPr lang="en-US" altLang="zh-CN" sz="24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b="0" dirty="0">
                <a:latin typeface="Times New Roman" panose="02020603050405020304" pitchFamily="18" charset="0"/>
                <a:ea typeface="微软雅黑" panose="020B0503020204020204" pitchFamily="34" charset="-122"/>
              </a:rPr>
              <a:t>i</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S4：如果 i≤50，返回到步骤 S2</a:t>
            </a:r>
            <a:r>
              <a:rPr lang="zh-CN" altLang="en-US" sz="2400" b="0" dirty="0">
                <a:latin typeface="Times New Roman" panose="02020603050405020304" pitchFamily="18" charset="0"/>
                <a:ea typeface="微软雅黑" panose="020B0503020204020204" pitchFamily="34" charset="-122"/>
              </a:rPr>
              <a:t>：</a:t>
            </a:r>
            <a:r>
              <a:rPr lang="en-US" altLang="zh-CN" sz="2400" b="0" dirty="0">
                <a:latin typeface="Times New Roman" panose="02020603050405020304" pitchFamily="18" charset="0"/>
                <a:ea typeface="微软雅黑" panose="020B0503020204020204" pitchFamily="34" charset="-122"/>
              </a:rPr>
              <a:t>继续执行，</a:t>
            </a:r>
            <a:endParaRPr lang="en-US" altLang="zh-CN" sz="24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2400" b="0" dirty="0">
                <a:latin typeface="Times New Roman" panose="02020603050405020304" pitchFamily="18" charset="0"/>
                <a:ea typeface="微软雅黑" panose="020B0503020204020204" pitchFamily="34" charset="-122"/>
              </a:rPr>
              <a:t>        否则</a:t>
            </a:r>
            <a:r>
              <a:rPr lang="zh-CN" altLang="en-US" sz="2400" b="0" dirty="0">
                <a:latin typeface="Times New Roman" panose="02020603050405020304" pitchFamily="18" charset="0"/>
                <a:ea typeface="微软雅黑" panose="020B0503020204020204" pitchFamily="34" charset="-122"/>
              </a:rPr>
              <a:t>：</a:t>
            </a:r>
            <a:r>
              <a:rPr lang="en-US" altLang="zh-CN" sz="2400" b="0" dirty="0">
                <a:latin typeface="Times New Roman" panose="02020603050405020304" pitchFamily="18" charset="0"/>
                <a:ea typeface="微软雅黑" panose="020B0503020204020204" pitchFamily="34" charset="-122"/>
              </a:rPr>
              <a:t>算法结束</a:t>
            </a:r>
            <a:r>
              <a:rPr lang="zh-CN" altLang="en-US" sz="2400" b="0" dirty="0">
                <a:latin typeface="Times New Roman" panose="02020603050405020304" pitchFamily="18" charset="0"/>
                <a:ea typeface="微软雅黑" panose="020B0503020204020204" pitchFamily="34" charset="-122"/>
              </a:rPr>
              <a:t>。</a:t>
            </a:r>
            <a:endParaRPr lang="en-US" altLang="zh-CN" sz="2400" b="0" dirty="0">
              <a:latin typeface="Times New Roman" panose="02020603050405020304" pitchFamily="18" charset="0"/>
              <a:ea typeface="微软雅黑" panose="020B0503020204020204" pitchFamily="34" charset="-122"/>
            </a:endParaRPr>
          </a:p>
          <a:p>
            <a:endParaRPr lang="en-US" altLang="en-US" sz="2400" dirty="0">
              <a:latin typeface="+mn-lt"/>
              <a:ea typeface="+mn-ea"/>
              <a:cs typeface="+mn-cs"/>
            </a:endParaRPr>
          </a:p>
        </p:txBody>
      </p:sp>
      <p:pic>
        <p:nvPicPr>
          <p:cNvPr id="14339"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linds(horizontal)">
                                      <p:cBhvr>
                                        <p:cTn id="25" dur="500"/>
                                        <p:tgtEl>
                                          <p:spTgt spid="3">
                                            <p:txEl>
                                              <p:pRg st="5" end="5"/>
                                            </p:txEl>
                                          </p:spTgt>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linds(horizontal)">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blinds(horizontal)">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733425"/>
            <a:ext cx="7993063" cy="5072063"/>
          </a:xfrm>
        </p:spPr>
        <p:txBody>
          <a:bodyPr vert="horz" wrap="square" lIns="91440" tIns="45720" rIns="91440" bIns="45720" numCol="1" anchor="t" anchorCtr="0" compatLnSpc="1"/>
          <a:lstStyle/>
          <a:p>
            <a:pPr marL="1094105" marR="0" lvl="0" indent="-1094105" algn="l" defTabSz="914400" rtl="0" eaLnBrk="0" fontAlgn="base" latinLnBrk="0" hangingPunct="0">
              <a:lnSpc>
                <a:spcPct val="120000"/>
              </a:lnSpc>
              <a:spcBef>
                <a:spcPct val="20000"/>
              </a:spcBef>
              <a:spcAft>
                <a:spcPts val="1200"/>
              </a:spcAft>
              <a:buClrTx/>
              <a:buSzTx/>
              <a:buFont typeface="Wingdings" panose="05000000000000000000" pitchFamily="2" charset="2"/>
              <a:buNone/>
              <a:defRPr/>
            </a:pPr>
            <a:r>
              <a:rPr kumimoji="1" lang="zh-CN"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a:t>
            </a:r>
            <a:r>
              <a:rPr kumimoji="1" lang="en-US"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2.3 </a:t>
            </a:r>
            <a:r>
              <a:rPr kumimoji="1" lang="zh-CN"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判定</a:t>
            </a:r>
            <a:r>
              <a:rPr kumimoji="1" lang="en-US"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2000</a:t>
            </a:r>
            <a:r>
              <a:rPr kumimoji="1" lang="zh-CN"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2500</a:t>
            </a:r>
            <a:r>
              <a:rPr kumimoji="1" lang="zh-CN"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年中的每一年是否闰年，并将结果输出。</a:t>
            </a:r>
            <a:endParaRPr kumimoji="1" lang="en-US" altLang="zh-CN" sz="2800" b="0" i="0" u="none" strike="noStrike" kern="0" cap="none" spc="0" normalizeH="0" baseline="0" noProof="1">
              <a:ln>
                <a:noFill/>
              </a:ln>
              <a:solidFill>
                <a:srgbClr val="235A6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闰年的条件：</a:t>
            </a:r>
            <a:endPar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052830" marR="0" lvl="1" indent="-58102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能被</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整除，但不能被</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100</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整除的年份都是闰年，如</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2008</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2012</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2048</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年</a:t>
            </a:r>
            <a:endPar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 </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能被</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400</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整除的年份是闰年，如</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2000</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年</a:t>
            </a:r>
            <a:endPar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066800" marR="0" lvl="1" indent="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不符合这两个条件的年份不是闰年</a:t>
            </a:r>
            <a:endPar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066800" marR="0" lvl="1" indent="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例如</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2009</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2100</a:t>
            </a:r>
            <a:r>
              <a:rPr kumimoji="1" lang="zh-CN" altLang="zh-CN"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年</a:t>
            </a:r>
            <a:endParaRPr kumimoji="1" lang="zh-CN" altLang="en-US"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363"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0825" y="642938"/>
            <a:ext cx="8497888" cy="57864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设</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为被检测的年份。</a:t>
            </a:r>
            <a:r>
              <a:rPr kumimoji="1" lang="zh-CN"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算法表示如下</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S1</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2000</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year</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S2</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不能被</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4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整除，则输出</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的值和</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“不是闰年”。然后转到</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S6</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S3</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year</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能被</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4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整除，不能被</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100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则输出</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year</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的值和“是闰年”。然后转到</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S6</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S4</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能被</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400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a:t>
            </a:r>
            <a:r>
              <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则</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输出</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的值和</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“是闰年” ，然后转到</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S6</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S5:  </a:t>
            </a:r>
            <a:r>
              <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其他情况</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输出</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的值和“不是闰年”</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S6</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year+1</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year</a:t>
            </a:r>
            <a:endPar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S7</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year</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2500 </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时，转</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S2</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，否则停止</a:t>
            </a:r>
            <a:endParaRPr kumimoji="1" lang="zh-CN" altLang="en-US"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387"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椭圆 3"/>
          <p:cNvSpPr/>
          <p:nvPr/>
        </p:nvSpPr>
        <p:spPr>
          <a:xfrm rot="-3158859">
            <a:off x="755650" y="1208088"/>
            <a:ext cx="7007225" cy="4568825"/>
          </a:xfrm>
          <a:prstGeom prst="ellipse">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Times New Roman" panose="02020603050405020304" pitchFamily="18" charset="0"/>
              <a:ea typeface="微软雅黑" panose="020B0503020204020204" pitchFamily="34" charset="-122"/>
            </a:endParaRPr>
          </a:p>
        </p:txBody>
      </p:sp>
      <p:sp>
        <p:nvSpPr>
          <p:cNvPr id="5" name="任意多边形 4"/>
          <p:cNvSpPr/>
          <p:nvPr/>
        </p:nvSpPr>
        <p:spPr>
          <a:xfrm>
            <a:off x="3532188" y="1014413"/>
            <a:ext cx="3468687" cy="1763712"/>
          </a:xfrm>
          <a:custGeom>
            <a:avLst/>
            <a:gdLst/>
            <a:ahLst/>
            <a:cxnLst>
              <a:cxn ang="0">
                <a:pos x="0" y="0"/>
              </a:cxn>
              <a:cxn ang="0">
                <a:pos x="1031714" y="1476831"/>
              </a:cxn>
              <a:cxn ang="0">
                <a:pos x="4095591" y="1714626"/>
              </a:cxn>
            </a:cxnLst>
            <a:rect l="0" t="0" r="0" b="0"/>
            <a:pathLst>
              <a:path w="3281819" h="1764082">
                <a:moveTo>
                  <a:pt x="0" y="0"/>
                </a:moveTo>
                <a:cubicBezTo>
                  <a:pt x="139874" y="596030"/>
                  <a:pt x="279748" y="1192060"/>
                  <a:pt x="826718" y="1478071"/>
                </a:cubicBezTo>
                <a:cubicBezTo>
                  <a:pt x="1373688" y="1764082"/>
                  <a:pt x="2327753" y="1740074"/>
                  <a:pt x="3281819" y="1716066"/>
                </a:cubicBezTo>
              </a:path>
            </a:pathLst>
          </a:custGeom>
          <a:noFill/>
          <a:ln w="38100"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 name="TextBox 5"/>
          <p:cNvSpPr txBox="1"/>
          <p:nvPr/>
        </p:nvSpPr>
        <p:spPr>
          <a:xfrm>
            <a:off x="4357688" y="869950"/>
            <a:ext cx="1870075" cy="830263"/>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b="0" dirty="0">
                <a:solidFill>
                  <a:srgbClr val="235A67"/>
                </a:solidFill>
                <a:latin typeface="Times New Roman" panose="02020603050405020304" pitchFamily="18" charset="0"/>
                <a:ea typeface="微软雅黑" panose="020B0503020204020204" pitchFamily="34" charset="-122"/>
              </a:rPr>
              <a:t>year</a:t>
            </a:r>
            <a:r>
              <a:rPr lang="zh-CN" altLang="en-US" sz="2400" b="0" dirty="0">
                <a:solidFill>
                  <a:srgbClr val="235A67"/>
                </a:solidFill>
                <a:latin typeface="Times New Roman" panose="02020603050405020304" pitchFamily="18" charset="0"/>
                <a:ea typeface="微软雅黑" panose="020B0503020204020204" pitchFamily="34" charset="-122"/>
              </a:rPr>
              <a:t>不能被</a:t>
            </a:r>
            <a:r>
              <a:rPr lang="en-US" altLang="zh-CN" sz="2400" b="0" dirty="0">
                <a:solidFill>
                  <a:srgbClr val="235A67"/>
                </a:solidFill>
                <a:latin typeface="Times New Roman" panose="02020603050405020304" pitchFamily="18" charset="0"/>
                <a:ea typeface="微软雅黑" panose="020B0503020204020204" pitchFamily="34" charset="-122"/>
              </a:rPr>
              <a:t>4 </a:t>
            </a:r>
            <a:r>
              <a:rPr lang="zh-CN" altLang="en-US" sz="2400" b="0" dirty="0">
                <a:solidFill>
                  <a:srgbClr val="235A67"/>
                </a:solidFill>
                <a:latin typeface="Times New Roman" panose="02020603050405020304" pitchFamily="18" charset="0"/>
                <a:ea typeface="微软雅黑" panose="020B0503020204020204" pitchFamily="34" charset="-122"/>
              </a:rPr>
              <a:t>整除</a:t>
            </a:r>
            <a:endParaRPr lang="zh-CN" altLang="en-US" sz="2400" b="0" dirty="0">
              <a:solidFill>
                <a:srgbClr val="235A67"/>
              </a:solidFill>
              <a:latin typeface="Times New Roman" panose="02020603050405020304" pitchFamily="18" charset="0"/>
              <a:ea typeface="微软雅黑" panose="020B0503020204020204" pitchFamily="34" charset="-122"/>
            </a:endParaRPr>
          </a:p>
        </p:txBody>
      </p:sp>
      <p:sp>
        <p:nvSpPr>
          <p:cNvPr id="7" name="TextBox 6"/>
          <p:cNvSpPr txBox="1"/>
          <p:nvPr/>
        </p:nvSpPr>
        <p:spPr>
          <a:xfrm>
            <a:off x="4427538" y="1752600"/>
            <a:ext cx="1785937"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非闰年</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8" name="TextBox 7"/>
          <p:cNvSpPr txBox="1"/>
          <p:nvPr/>
        </p:nvSpPr>
        <p:spPr>
          <a:xfrm>
            <a:off x="4211638" y="3068638"/>
            <a:ext cx="2143125" cy="120015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b="0" dirty="0">
                <a:solidFill>
                  <a:srgbClr val="235A67"/>
                </a:solidFill>
                <a:latin typeface="Times New Roman" panose="02020603050405020304" pitchFamily="18" charset="0"/>
                <a:ea typeface="微软雅黑" panose="020B0503020204020204" pitchFamily="34" charset="-122"/>
              </a:rPr>
              <a:t>year</a:t>
            </a:r>
            <a:r>
              <a:rPr lang="zh-CN" altLang="en-US" sz="2400" b="0" dirty="0">
                <a:solidFill>
                  <a:srgbClr val="235A67"/>
                </a:solidFill>
                <a:latin typeface="Times New Roman" panose="02020603050405020304" pitchFamily="18" charset="0"/>
                <a:ea typeface="微软雅黑" panose="020B0503020204020204" pitchFamily="34" charset="-122"/>
              </a:rPr>
              <a:t>被</a:t>
            </a:r>
            <a:r>
              <a:rPr lang="en-US" altLang="zh-CN" sz="2400" b="0" dirty="0">
                <a:solidFill>
                  <a:srgbClr val="235A67"/>
                </a:solidFill>
                <a:latin typeface="Times New Roman" panose="02020603050405020304" pitchFamily="18" charset="0"/>
                <a:ea typeface="微软雅黑" panose="020B0503020204020204" pitchFamily="34" charset="-122"/>
              </a:rPr>
              <a:t>4</a:t>
            </a:r>
            <a:r>
              <a:rPr lang="zh-CN" altLang="en-US" sz="2400" b="0" dirty="0">
                <a:solidFill>
                  <a:srgbClr val="235A67"/>
                </a:solidFill>
                <a:latin typeface="Times New Roman" panose="02020603050405020304" pitchFamily="18" charset="0"/>
                <a:ea typeface="微软雅黑" panose="020B0503020204020204" pitchFamily="34" charset="-122"/>
              </a:rPr>
              <a:t>整除</a:t>
            </a:r>
            <a:endParaRPr lang="en-US" altLang="zh-CN" sz="2400" b="0" dirty="0">
              <a:solidFill>
                <a:srgbClr val="235A67"/>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400" b="0" dirty="0">
                <a:solidFill>
                  <a:srgbClr val="235A67"/>
                </a:solidFill>
                <a:latin typeface="Times New Roman" panose="02020603050405020304" pitchFamily="18" charset="0"/>
                <a:ea typeface="微软雅黑" panose="020B0503020204020204" pitchFamily="34" charset="-122"/>
              </a:rPr>
              <a:t>但不能被</a:t>
            </a:r>
            <a:r>
              <a:rPr lang="en-US" altLang="zh-CN" sz="2400" b="0" dirty="0">
                <a:solidFill>
                  <a:srgbClr val="235A67"/>
                </a:solidFill>
                <a:latin typeface="Times New Roman" panose="02020603050405020304" pitchFamily="18" charset="0"/>
                <a:ea typeface="微软雅黑" panose="020B0503020204020204" pitchFamily="34" charset="-122"/>
              </a:rPr>
              <a:t>100</a:t>
            </a:r>
            <a:r>
              <a:rPr lang="zh-CN" altLang="en-US" sz="2400" b="0" dirty="0">
                <a:solidFill>
                  <a:srgbClr val="235A67"/>
                </a:solidFill>
                <a:latin typeface="Times New Roman" panose="02020603050405020304" pitchFamily="18" charset="0"/>
                <a:ea typeface="微软雅黑" panose="020B0503020204020204" pitchFamily="34" charset="-122"/>
              </a:rPr>
              <a:t>整除</a:t>
            </a:r>
            <a:endParaRPr lang="zh-CN" altLang="en-US" sz="2400" b="0" dirty="0">
              <a:solidFill>
                <a:srgbClr val="235A67"/>
              </a:solidFill>
              <a:latin typeface="Times New Roman" panose="02020603050405020304" pitchFamily="18" charset="0"/>
              <a:ea typeface="微软雅黑" panose="020B0503020204020204" pitchFamily="34" charset="-122"/>
            </a:endParaRPr>
          </a:p>
        </p:txBody>
      </p:sp>
      <p:sp>
        <p:nvSpPr>
          <p:cNvPr id="9" name="任意多边形 8"/>
          <p:cNvSpPr/>
          <p:nvPr/>
        </p:nvSpPr>
        <p:spPr>
          <a:xfrm>
            <a:off x="3776663" y="2500313"/>
            <a:ext cx="1108075" cy="3500437"/>
          </a:xfrm>
          <a:custGeom>
            <a:avLst/>
            <a:gdLst/>
            <a:ahLst/>
            <a:cxnLst>
              <a:cxn ang="0">
                <a:pos x="618967" y="0"/>
              </a:cxn>
              <a:cxn ang="0">
                <a:pos x="81279" y="1355969"/>
              </a:cxn>
              <a:cxn ang="0">
                <a:pos x="1106639" y="3633473"/>
              </a:cxn>
            </a:cxnLst>
            <a:rect l="0" t="0" r="0" b="0"/>
            <a:pathLst>
              <a:path w="1108554" h="3457183">
                <a:moveTo>
                  <a:pt x="620039" y="0"/>
                </a:moveTo>
                <a:cubicBezTo>
                  <a:pt x="310019" y="356991"/>
                  <a:pt x="0" y="713983"/>
                  <a:pt x="81419" y="1290180"/>
                </a:cubicBezTo>
                <a:cubicBezTo>
                  <a:pt x="162838" y="1866377"/>
                  <a:pt x="635696" y="2661780"/>
                  <a:pt x="1108554" y="3457183"/>
                </a:cubicBezTo>
              </a:path>
            </a:pathLst>
          </a:custGeom>
          <a:noFill/>
          <a:ln w="38100"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10" name="TextBox 9"/>
          <p:cNvSpPr txBox="1"/>
          <p:nvPr/>
        </p:nvSpPr>
        <p:spPr>
          <a:xfrm>
            <a:off x="4286250" y="4357688"/>
            <a:ext cx="1785938"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闰年</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11" name="任意多边形 10"/>
          <p:cNvSpPr/>
          <p:nvPr/>
        </p:nvSpPr>
        <p:spPr>
          <a:xfrm>
            <a:off x="1476375" y="4710113"/>
            <a:ext cx="2657475" cy="623887"/>
          </a:xfrm>
          <a:custGeom>
            <a:avLst/>
            <a:gdLst/>
            <a:ahLst/>
            <a:cxnLst>
              <a:cxn ang="0">
                <a:pos x="2258448" y="0"/>
              </a:cxn>
              <a:cxn ang="0">
                <a:pos x="1834990" y="262495"/>
              </a:cxn>
              <a:cxn ang="0">
                <a:pos x="1169554" y="187499"/>
              </a:cxn>
              <a:cxn ang="0">
                <a:pos x="574693" y="574991"/>
              </a:cxn>
              <a:cxn ang="0">
                <a:pos x="0" y="474993"/>
              </a:cxn>
            </a:cxnLst>
            <a:rect l="0" t="0" r="0" b="0"/>
            <a:pathLst>
              <a:path w="2805830" h="624214">
                <a:moveTo>
                  <a:pt x="2805830" y="0"/>
                </a:moveTo>
                <a:cubicBezTo>
                  <a:pt x="2655517" y="115866"/>
                  <a:pt x="2505205" y="231732"/>
                  <a:pt x="2279737" y="263047"/>
                </a:cubicBezTo>
                <a:cubicBezTo>
                  <a:pt x="2054269" y="294362"/>
                  <a:pt x="1713978" y="135699"/>
                  <a:pt x="1453019" y="187891"/>
                </a:cubicBezTo>
                <a:cubicBezTo>
                  <a:pt x="1192060" y="240083"/>
                  <a:pt x="956153" y="528182"/>
                  <a:pt x="713983" y="576198"/>
                </a:cubicBezTo>
                <a:cubicBezTo>
                  <a:pt x="471813" y="624214"/>
                  <a:pt x="0" y="475989"/>
                  <a:pt x="0" y="475989"/>
                </a:cubicBezTo>
              </a:path>
            </a:pathLst>
          </a:custGeom>
          <a:solidFill>
            <a:schemeClr val="accent1">
              <a:alpha val="100000"/>
            </a:schemeClr>
          </a:solidFill>
          <a:ln w="38100"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12" name="TextBox 11"/>
          <p:cNvSpPr txBox="1"/>
          <p:nvPr/>
        </p:nvSpPr>
        <p:spPr>
          <a:xfrm>
            <a:off x="1800225" y="3141663"/>
            <a:ext cx="1990725" cy="120015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400" b="0" dirty="0">
                <a:solidFill>
                  <a:srgbClr val="235A67"/>
                </a:solidFill>
                <a:latin typeface="Times New Roman" panose="02020603050405020304" pitchFamily="18" charset="0"/>
                <a:ea typeface="微软雅黑" panose="020B0503020204020204" pitchFamily="34" charset="-122"/>
              </a:rPr>
              <a:t>year</a:t>
            </a:r>
            <a:r>
              <a:rPr lang="zh-CN" altLang="en-US" sz="2400" b="0" dirty="0">
                <a:solidFill>
                  <a:srgbClr val="235A67"/>
                </a:solidFill>
                <a:latin typeface="Times New Roman" panose="02020603050405020304" pitchFamily="18" charset="0"/>
                <a:ea typeface="微软雅黑" panose="020B0503020204020204" pitchFamily="34" charset="-122"/>
              </a:rPr>
              <a:t>被</a:t>
            </a:r>
            <a:r>
              <a:rPr lang="en-US" altLang="zh-CN" sz="2400" b="0" dirty="0">
                <a:solidFill>
                  <a:srgbClr val="235A67"/>
                </a:solidFill>
                <a:latin typeface="Times New Roman" panose="02020603050405020304" pitchFamily="18" charset="0"/>
                <a:ea typeface="微软雅黑" panose="020B0503020204020204" pitchFamily="34" charset="-122"/>
              </a:rPr>
              <a:t>100</a:t>
            </a:r>
            <a:r>
              <a:rPr lang="zh-CN" altLang="en-US" sz="2400" b="0" dirty="0">
                <a:solidFill>
                  <a:srgbClr val="235A67"/>
                </a:solidFill>
                <a:latin typeface="Times New Roman" panose="02020603050405020304" pitchFamily="18" charset="0"/>
                <a:ea typeface="微软雅黑" panose="020B0503020204020204" pitchFamily="34" charset="-122"/>
              </a:rPr>
              <a:t>整除，又能被</a:t>
            </a:r>
            <a:r>
              <a:rPr lang="en-US" altLang="zh-CN" sz="2400" b="0" dirty="0">
                <a:solidFill>
                  <a:srgbClr val="235A67"/>
                </a:solidFill>
                <a:latin typeface="Times New Roman" panose="02020603050405020304" pitchFamily="18" charset="0"/>
                <a:ea typeface="微软雅黑" panose="020B0503020204020204" pitchFamily="34" charset="-122"/>
              </a:rPr>
              <a:t>400</a:t>
            </a:r>
            <a:r>
              <a:rPr lang="zh-CN" altLang="en-US" sz="2400" b="0" dirty="0">
                <a:solidFill>
                  <a:srgbClr val="235A67"/>
                </a:solidFill>
                <a:latin typeface="Times New Roman" panose="02020603050405020304" pitchFamily="18" charset="0"/>
                <a:ea typeface="微软雅黑" panose="020B0503020204020204" pitchFamily="34" charset="-122"/>
              </a:rPr>
              <a:t>整除</a:t>
            </a:r>
            <a:endParaRPr lang="zh-CN" altLang="en-US" sz="2400" b="0" dirty="0">
              <a:solidFill>
                <a:srgbClr val="235A67"/>
              </a:solidFill>
              <a:latin typeface="Times New Roman" panose="02020603050405020304" pitchFamily="18" charset="0"/>
              <a:ea typeface="微软雅黑" panose="020B0503020204020204" pitchFamily="34" charset="-122"/>
            </a:endParaRPr>
          </a:p>
        </p:txBody>
      </p:sp>
      <p:sp>
        <p:nvSpPr>
          <p:cNvPr id="13" name="TextBox 12"/>
          <p:cNvSpPr txBox="1"/>
          <p:nvPr/>
        </p:nvSpPr>
        <p:spPr>
          <a:xfrm>
            <a:off x="2214563" y="2357438"/>
            <a:ext cx="1785937"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闰年</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14" name="TextBox 13"/>
          <p:cNvSpPr txBox="1"/>
          <p:nvPr/>
        </p:nvSpPr>
        <p:spPr>
          <a:xfrm>
            <a:off x="2771775" y="5143500"/>
            <a:ext cx="909638" cy="461963"/>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400" b="0" dirty="0">
                <a:solidFill>
                  <a:srgbClr val="235A67"/>
                </a:solidFill>
                <a:latin typeface="Times New Roman" panose="02020603050405020304" pitchFamily="18" charset="0"/>
                <a:ea typeface="微软雅黑" panose="020B0503020204020204" pitchFamily="34" charset="-122"/>
              </a:rPr>
              <a:t>其他</a:t>
            </a:r>
            <a:endParaRPr lang="zh-CN" altLang="en-US" sz="2400" b="0" dirty="0">
              <a:solidFill>
                <a:srgbClr val="235A67"/>
              </a:solidFill>
              <a:latin typeface="Times New Roman" panose="02020603050405020304" pitchFamily="18" charset="0"/>
              <a:ea typeface="微软雅黑" panose="020B0503020204020204" pitchFamily="34" charset="-122"/>
            </a:endParaRPr>
          </a:p>
        </p:txBody>
      </p:sp>
      <p:sp>
        <p:nvSpPr>
          <p:cNvPr id="15" name="TextBox 14"/>
          <p:cNvSpPr txBox="1"/>
          <p:nvPr/>
        </p:nvSpPr>
        <p:spPr>
          <a:xfrm>
            <a:off x="2281238" y="5661025"/>
            <a:ext cx="1785937"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非闰年</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16" name="圆角矩形标注 15"/>
          <p:cNvSpPr/>
          <p:nvPr/>
        </p:nvSpPr>
        <p:spPr>
          <a:xfrm>
            <a:off x="6326188" y="5035550"/>
            <a:ext cx="2354262" cy="1017588"/>
          </a:xfrm>
          <a:prstGeom prst="wedgeRoundRectCallout">
            <a:avLst>
              <a:gd name="adj1" fmla="val -74296"/>
              <a:gd name="adj2" fmla="val -39977"/>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逐渐缩小判断的范围</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pic>
        <p:nvPicPr>
          <p:cNvPr id="17423"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ox(in)">
                                      <p:cBhvr>
                                        <p:cTn id="21" dur="500"/>
                                        <p:tgtEl>
                                          <p:spTgt spid="9"/>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ox(in)">
                                      <p:cBhvr>
                                        <p:cTn id="35" dur="500"/>
                                        <p:tgtEl>
                                          <p:spTgt spid="11"/>
                                        </p:tgtEl>
                                      </p:cBhvr>
                                    </p:animEffect>
                                  </p:childTnLst>
                                </p:cTn>
                              </p:par>
                            </p:childTnLst>
                          </p:cTn>
                        </p:par>
                        <p:par>
                          <p:cTn id="36" fill="hold">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blinds(horizontal)">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linds(horizontal)">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blinds(horizontal)">
                                      <p:cBhvr>
                                        <p:cTn id="49" dur="500"/>
                                        <p:tgtEl>
                                          <p:spTgt spid="14"/>
                                        </p:tgtEl>
                                      </p:cBhvr>
                                    </p:animEffect>
                                  </p:childTnLst>
                                </p:cTn>
                              </p:par>
                            </p:childTnLst>
                          </p:cTn>
                        </p:par>
                        <p:par>
                          <p:cTn id="50" fill="hold">
                            <p:stCondLst>
                              <p:cond delay="500"/>
                            </p:stCondLst>
                            <p:childTnLst>
                              <p:par>
                                <p:cTn id="51" presetID="3" presetClass="entr" presetSubtype="10"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blinds(horizontal)">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linds(horizontal)">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2" grpId="0"/>
      <p:bldP spid="13" grpId="0"/>
      <p:bldP spid="14" grpId="0"/>
      <p:bldP spid="15"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0850" y="836613"/>
            <a:ext cx="8153400" cy="5086350"/>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a:t>
            </a: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2.4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求</a:t>
            </a:r>
            <a:endPar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ts val="2400"/>
              </a:spcBef>
              <a:spcAft>
                <a:spcPct val="0"/>
              </a:spcAft>
              <a:buClrTx/>
              <a:buSzTx/>
              <a:buFont typeface="Wingdings" panose="05000000000000000000" pitchFamily="2" charset="2"/>
              <a:buChar char="Ø"/>
              <a:defRPr/>
            </a:pPr>
            <a:r>
              <a:rPr kumimoji="1" lang="zh-CN" altLang="en-US" sz="32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规律：</a:t>
            </a:r>
            <a:endParaRPr kumimoji="1" lang="en-US" altLang="zh-CN" sz="32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1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项的</a:t>
            </a:r>
            <a:r>
              <a:rPr kumimoji="1" lang="zh-CN"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分子</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分母都是</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1</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984250" marR="0" lvl="1" indent="-5270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② </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项的</a:t>
            </a:r>
            <a:r>
              <a:rPr kumimoji="1" lang="zh-CN"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分母</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，以后每一项的分母子都是前一项的分母加</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1</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984250" marR="0" lvl="1" indent="-5270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③</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1" lang="en-US"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 </a:t>
            </a:r>
            <a:r>
              <a:rPr kumimoji="1" lang="zh-CN"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前的运算符为“</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zh-CN" sz="280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后一项</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前面的运算符都与前一项前的运算符相反</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1" lang="zh-CN" altLang="en-US" sz="3200" b="1" i="0" u="none" strike="noStrike" kern="0" cap="none" spc="0" normalizeH="0" baseline="0" noProof="1">
              <a:ln>
                <a:noFill/>
              </a:ln>
              <a:solidFill>
                <a:schemeClr val="tx1"/>
              </a:solidFill>
              <a:effectLst/>
              <a:uLnTx/>
              <a:uFillTx/>
              <a:latin typeface="+mn-lt"/>
              <a:ea typeface="+mn-ea"/>
              <a:cs typeface="+mn-cs"/>
            </a:endParaRPr>
          </a:p>
        </p:txBody>
      </p:sp>
      <p:graphicFrame>
        <p:nvGraphicFramePr>
          <p:cNvPr id="18435" name="Object 1"/>
          <p:cNvGraphicFramePr>
            <a:graphicFrameLocks noChangeAspect="1"/>
          </p:cNvGraphicFramePr>
          <p:nvPr/>
        </p:nvGraphicFramePr>
        <p:xfrm>
          <a:off x="2211388" y="620713"/>
          <a:ext cx="5240337" cy="1143000"/>
        </p:xfrm>
        <a:graphic>
          <a:graphicData uri="http://schemas.openxmlformats.org/presentationml/2006/ole">
            <mc:AlternateContent xmlns:mc="http://schemas.openxmlformats.org/markup-compatibility/2006">
              <mc:Choice xmlns:v="urn:schemas-microsoft-com:vml" Requires="v">
                <p:oleObj spid="_x0000_s3087" name="" r:id="rId1" imgW="1790700" imgH="393700" progId="Equation.3">
                  <p:embed/>
                </p:oleObj>
              </mc:Choice>
              <mc:Fallback>
                <p:oleObj name="" r:id="rId1" imgW="1790700" imgH="393700" progId="Equation.3">
                  <p:embed/>
                  <p:pic>
                    <p:nvPicPr>
                      <p:cNvPr id="0" name="图片 3082"/>
                      <p:cNvPicPr/>
                      <p:nvPr/>
                    </p:nvPicPr>
                    <p:blipFill>
                      <a:blip r:embed="rId2"/>
                      <a:stretch>
                        <a:fillRect/>
                      </a:stretch>
                    </p:blipFill>
                    <p:spPr>
                      <a:xfrm>
                        <a:off x="2211388" y="620713"/>
                        <a:ext cx="5240337" cy="1143000"/>
                      </a:xfrm>
                      <a:prstGeom prst="rect">
                        <a:avLst/>
                      </a:prstGeom>
                      <a:noFill/>
                      <a:ln w="38100">
                        <a:noFill/>
                        <a:miter/>
                      </a:ln>
                    </p:spPr>
                  </p:pic>
                </p:oleObj>
              </mc:Fallback>
            </mc:AlternateContent>
          </a:graphicData>
        </a:graphic>
      </p:graphicFrame>
      <p:pic>
        <p:nvPicPr>
          <p:cNvPr id="18436" name="图片 4"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793750"/>
            <a:ext cx="8153400" cy="551497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2.4 求</a:t>
            </a:r>
            <a:endParaRPr lang="en-US" altLang="zh-CN" b="0" dirty="0">
              <a:latin typeface="Times New Roman" panose="02020603050405020304" pitchFamily="18" charset="0"/>
              <a:ea typeface="微软雅黑" panose="020B0503020204020204" pitchFamily="34" charset="-122"/>
              <a:cs typeface="+mn-cs"/>
            </a:endParaRPr>
          </a:p>
          <a:p>
            <a:pPr>
              <a:lnSpc>
                <a:spcPct val="100000"/>
              </a:lnSpc>
              <a:spcBef>
                <a:spcPts val="3000"/>
              </a:spcBef>
            </a:pPr>
            <a:r>
              <a:rPr lang="en-US" altLang="zh-CN" sz="2800" b="0" dirty="0">
                <a:latin typeface="Times New Roman" panose="02020603050405020304" pitchFamily="18" charset="0"/>
                <a:ea typeface="微软雅黑" panose="020B0503020204020204" pitchFamily="34" charset="-122"/>
                <a:cs typeface="+mn-cs"/>
              </a:rPr>
              <a:t>S1：</a:t>
            </a:r>
            <a:r>
              <a:rPr lang="en-US" altLang="zh-CN" sz="2800" b="0" dirty="0">
                <a:solidFill>
                  <a:srgbClr val="C00000"/>
                </a:solidFill>
                <a:latin typeface="Times New Roman" panose="02020603050405020304" pitchFamily="18" charset="0"/>
                <a:ea typeface="微软雅黑" panose="020B0503020204020204" pitchFamily="34" charset="-122"/>
                <a:cs typeface="+mn-cs"/>
              </a:rPr>
              <a:t>sign=1</a:t>
            </a:r>
            <a:endParaRPr lang="en-US" altLang="zh-CN" sz="2800" b="0" dirty="0">
              <a:solidFill>
                <a:srgbClr val="C00000"/>
              </a:solidFill>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S2：sum=1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S3：deno=2</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S4：sign=(-1)*sign</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S5：term=sign*(1/deno)</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S6：sum=sum+term</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S7：deno=deno+1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S8：若 deno≤100 返回 S4；否则算法结束</a:t>
            </a:r>
            <a:endParaRPr lang="en-US" altLang="en-US" sz="2800" b="0" dirty="0">
              <a:latin typeface="Times New Roman" panose="02020603050405020304" pitchFamily="18" charset="0"/>
              <a:ea typeface="微软雅黑" panose="020B0503020204020204" pitchFamily="34" charset="-122"/>
              <a:cs typeface="+mn-cs"/>
            </a:endParaRPr>
          </a:p>
        </p:txBody>
      </p:sp>
      <p:graphicFrame>
        <p:nvGraphicFramePr>
          <p:cNvPr id="19459" name="Object 1"/>
          <p:cNvGraphicFramePr>
            <a:graphicFrameLocks noChangeAspect="1"/>
          </p:cNvGraphicFramePr>
          <p:nvPr/>
        </p:nvGraphicFramePr>
        <p:xfrm>
          <a:off x="2285841" y="549275"/>
          <a:ext cx="5091430" cy="1143000"/>
        </p:xfrm>
        <a:graphic>
          <a:graphicData uri="http://schemas.openxmlformats.org/presentationml/2006/ole">
            <mc:AlternateContent xmlns:mc="http://schemas.openxmlformats.org/markup-compatibility/2006">
              <mc:Choice xmlns:v="urn:schemas-microsoft-com:vml" Requires="v">
                <p:oleObj spid="_x0000_s4099" name="" r:id="rId1" imgW="1739900" imgH="393700" progId="Equation.3">
                  <p:embed/>
                </p:oleObj>
              </mc:Choice>
              <mc:Fallback>
                <p:oleObj name="" r:id="rId1" imgW="1739900" imgH="393700" progId="Equation.3">
                  <p:embed/>
                  <p:pic>
                    <p:nvPicPr>
                      <p:cNvPr id="0" name="图片 3083"/>
                      <p:cNvPicPr/>
                      <p:nvPr/>
                    </p:nvPicPr>
                    <p:blipFill>
                      <a:blip r:embed="rId2"/>
                      <a:stretch>
                        <a:fillRect/>
                      </a:stretch>
                    </p:blipFill>
                    <p:spPr>
                      <a:xfrm>
                        <a:off x="2285841" y="549275"/>
                        <a:ext cx="5091430" cy="1143000"/>
                      </a:xfrm>
                      <a:prstGeom prst="rect">
                        <a:avLst/>
                      </a:prstGeom>
                      <a:noFill/>
                      <a:ln w="38100">
                        <a:noFill/>
                        <a:miter/>
                      </a:ln>
                    </p:spPr>
                  </p:pic>
                </p:oleObj>
              </mc:Fallback>
            </mc:AlternateContent>
          </a:graphicData>
        </a:graphic>
      </p:graphicFrame>
      <p:sp>
        <p:nvSpPr>
          <p:cNvPr id="4" name="TextBox 3"/>
          <p:cNvSpPr txBox="1"/>
          <p:nvPr/>
        </p:nvSpPr>
        <p:spPr>
          <a:xfrm>
            <a:off x="4929188" y="1736725"/>
            <a:ext cx="3857625" cy="1816100"/>
          </a:xfrm>
          <a:prstGeom prst="rect">
            <a:avLst/>
          </a:prstGeom>
          <a:solidFill>
            <a:srgbClr val="E1FFE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sign—</a:t>
            </a:r>
            <a:r>
              <a:rPr lang="zh-CN" altLang="zh-CN" sz="2800" b="0" dirty="0">
                <a:latin typeface="Times New Roman" panose="02020603050405020304" pitchFamily="18" charset="0"/>
                <a:ea typeface="微软雅黑" panose="020B0503020204020204" pitchFamily="34" charset="-122"/>
              </a:rPr>
              <a:t>当前项符号</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term—</a:t>
            </a:r>
            <a:r>
              <a:rPr lang="zh-CN" altLang="zh-CN" sz="2800" b="0" dirty="0">
                <a:latin typeface="Times New Roman" panose="02020603050405020304" pitchFamily="18" charset="0"/>
                <a:ea typeface="微软雅黑" panose="020B0503020204020204" pitchFamily="34" charset="-122"/>
              </a:rPr>
              <a:t>当前项的值</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sum—</a:t>
            </a:r>
            <a:r>
              <a:rPr lang="zh-CN" altLang="zh-CN" sz="2800" b="0" dirty="0">
                <a:latin typeface="Times New Roman" panose="02020603050405020304" pitchFamily="18" charset="0"/>
                <a:ea typeface="微软雅黑" panose="020B0503020204020204" pitchFamily="34" charset="-122"/>
              </a:rPr>
              <a:t>当前各项的和</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deno—</a:t>
            </a:r>
            <a:r>
              <a:rPr lang="zh-CN" altLang="zh-CN" sz="2800" b="0" dirty="0">
                <a:latin typeface="Times New Roman" panose="02020603050405020304" pitchFamily="18" charset="0"/>
                <a:ea typeface="微软雅黑" panose="020B0503020204020204" pitchFamily="34" charset="-122"/>
              </a:rPr>
              <a:t>当前项分母</a:t>
            </a:r>
            <a:endParaRPr lang="zh-CN" altLang="en-US" sz="2800" b="0" dirty="0">
              <a:latin typeface="Times New Roman" panose="02020603050405020304" pitchFamily="18" charset="0"/>
              <a:ea typeface="微软雅黑" panose="020B0503020204020204" pitchFamily="34" charset="-122"/>
            </a:endParaRPr>
          </a:p>
        </p:txBody>
      </p:sp>
      <p:sp>
        <p:nvSpPr>
          <p:cNvPr id="5" name="圆角矩形标注 4"/>
          <p:cNvSpPr/>
          <p:nvPr/>
        </p:nvSpPr>
        <p:spPr>
          <a:xfrm>
            <a:off x="2997200" y="2676525"/>
            <a:ext cx="857250" cy="571500"/>
          </a:xfrm>
          <a:prstGeom prst="wedgeRoundRectCallout">
            <a:avLst>
              <a:gd name="adj1" fmla="val -162708"/>
              <a:gd name="adj2" fmla="val 99833"/>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6" name="圆角矩形标注 5"/>
          <p:cNvSpPr/>
          <p:nvPr/>
        </p:nvSpPr>
        <p:spPr>
          <a:xfrm>
            <a:off x="3857625" y="3265488"/>
            <a:ext cx="1071563" cy="571500"/>
          </a:xfrm>
          <a:prstGeom prst="wedgeRoundRectCallout">
            <a:avLst>
              <a:gd name="adj1" fmla="val -219653"/>
              <a:gd name="adj2" fmla="val 80009"/>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-1/2</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 name="圆角矩形标注 6"/>
          <p:cNvSpPr/>
          <p:nvPr/>
        </p:nvSpPr>
        <p:spPr>
          <a:xfrm>
            <a:off x="4786313" y="3943350"/>
            <a:ext cx="1285875" cy="571500"/>
          </a:xfrm>
          <a:prstGeom prst="wedgeRoundRectCallout">
            <a:avLst>
              <a:gd name="adj1" fmla="val -255551"/>
              <a:gd name="adj2" fmla="val 49884"/>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1-1/2</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 name="圆角矩形标注 7"/>
          <p:cNvSpPr/>
          <p:nvPr/>
        </p:nvSpPr>
        <p:spPr>
          <a:xfrm>
            <a:off x="3996055" y="4514850"/>
            <a:ext cx="928688" cy="571500"/>
          </a:xfrm>
          <a:prstGeom prst="wedgeRoundRectCallout">
            <a:avLst>
              <a:gd name="adj1" fmla="val -260074"/>
              <a:gd name="adj2" fmla="val 36273"/>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3</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9" name="圆角矩形标注 8"/>
          <p:cNvSpPr/>
          <p:nvPr/>
        </p:nvSpPr>
        <p:spPr>
          <a:xfrm>
            <a:off x="6143625" y="4645025"/>
            <a:ext cx="2643188" cy="571500"/>
          </a:xfrm>
          <a:prstGeom prst="wedgeRoundRectCallout">
            <a:avLst>
              <a:gd name="adj1" fmla="val -103199"/>
              <a:gd name="adj2" fmla="val 100894"/>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满足，返回</a:t>
            </a:r>
            <a:r>
              <a:rPr lang="en-US" altLang="zh-CN" sz="2800" b="0" dirty="0">
                <a:solidFill>
                  <a:srgbClr val="003399"/>
                </a:solidFill>
                <a:latin typeface="Times New Roman" panose="02020603050405020304" pitchFamily="18" charset="0"/>
                <a:ea typeface="微软雅黑" panose="020B0503020204020204" pitchFamily="34" charset="-122"/>
              </a:rPr>
              <a:t>S4</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19466" name="图片 4" descr="Untitled.png">
            <a:hlinkClick r:id="rId3" action="ppaction://hlinksldjump"/>
          </p:cNvPr>
          <p:cNvPicPr>
            <a:picLocks noChangeAspect="1"/>
          </p:cNvPicPr>
          <p:nvPr/>
        </p:nvPicPr>
        <p:blipFill>
          <a:blip r:embed="rId4"/>
          <a:stretch>
            <a:fillRect/>
          </a:stretch>
        </p:blipFill>
        <p:spPr>
          <a:xfrm>
            <a:off x="8202613" y="593090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horizontal)">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blinds(horizontal)">
                                      <p:cBhvr>
                                        <p:cTn id="57" dur="500"/>
                                        <p:tgtEl>
                                          <p:spTgt spid="3">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blinds(horizontal)">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blinds(horizontal)">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blinds(horizontal)">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bldLvl="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793750"/>
            <a:ext cx="8153400" cy="551497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2.4 求</a:t>
            </a:r>
            <a:endParaRPr lang="en-US" altLang="zh-CN" b="0" dirty="0">
              <a:latin typeface="Times New Roman" panose="02020603050405020304" pitchFamily="18" charset="0"/>
              <a:ea typeface="微软雅黑" panose="020B0503020204020204" pitchFamily="34" charset="-122"/>
              <a:cs typeface="+mn-cs"/>
            </a:endParaRPr>
          </a:p>
          <a:p>
            <a:pPr>
              <a:lnSpc>
                <a:spcPct val="100000"/>
              </a:lnSpc>
              <a:spcBef>
                <a:spcPts val="3000"/>
              </a:spcBef>
            </a:pPr>
            <a:r>
              <a:rPr lang="en-US" altLang="zh-CN" sz="2800" b="0" dirty="0">
                <a:latin typeface="Times New Roman" panose="02020603050405020304" pitchFamily="18" charset="0"/>
                <a:ea typeface="微软雅黑" panose="020B0503020204020204" pitchFamily="34" charset="-122"/>
                <a:cs typeface="+mn-cs"/>
              </a:rPr>
              <a:t>S1：sign=1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S2：sum=1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S3：deno=2</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S4：sign=(-1)*sign</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S5：term=sign*(1/deno)</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S6：sum=sum+term</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S7：deno=deno+1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S8：若 deno≤100 返回 S4；否则算法结束</a:t>
            </a:r>
            <a:endParaRPr lang="en-US" altLang="en-US" sz="2800" b="0" dirty="0">
              <a:latin typeface="Times New Roman" panose="02020603050405020304" pitchFamily="18" charset="0"/>
              <a:ea typeface="微软雅黑" panose="020B0503020204020204" pitchFamily="34" charset="-122"/>
              <a:cs typeface="+mn-cs"/>
            </a:endParaRPr>
          </a:p>
        </p:txBody>
      </p:sp>
      <p:graphicFrame>
        <p:nvGraphicFramePr>
          <p:cNvPr id="20483" name="Object 1"/>
          <p:cNvGraphicFramePr>
            <a:graphicFrameLocks noChangeAspect="1"/>
          </p:cNvGraphicFramePr>
          <p:nvPr/>
        </p:nvGraphicFramePr>
        <p:xfrm>
          <a:off x="2211388" y="549275"/>
          <a:ext cx="5240337" cy="1143000"/>
        </p:xfrm>
        <a:graphic>
          <a:graphicData uri="http://schemas.openxmlformats.org/presentationml/2006/ole">
            <mc:AlternateContent xmlns:mc="http://schemas.openxmlformats.org/markup-compatibility/2006">
              <mc:Choice xmlns:v="urn:schemas-microsoft-com:vml" Requires="v">
                <p:oleObj spid="_x0000_s5123" name="" r:id="rId1" imgW="1790700" imgH="393700" progId="Equation.3">
                  <p:embed/>
                </p:oleObj>
              </mc:Choice>
              <mc:Fallback>
                <p:oleObj name="" r:id="rId1" imgW="1790700" imgH="393700" progId="Equation.3">
                  <p:embed/>
                  <p:pic>
                    <p:nvPicPr>
                      <p:cNvPr id="0" name="图片 3084"/>
                      <p:cNvPicPr/>
                      <p:nvPr/>
                    </p:nvPicPr>
                    <p:blipFill>
                      <a:blip r:embed="rId2"/>
                      <a:stretch>
                        <a:fillRect/>
                      </a:stretch>
                    </p:blipFill>
                    <p:spPr>
                      <a:xfrm>
                        <a:off x="2211388" y="549275"/>
                        <a:ext cx="5240337" cy="1143000"/>
                      </a:xfrm>
                      <a:prstGeom prst="rect">
                        <a:avLst/>
                      </a:prstGeom>
                      <a:noFill/>
                      <a:ln w="38100">
                        <a:noFill/>
                        <a:miter/>
                      </a:ln>
                    </p:spPr>
                  </p:pic>
                </p:oleObj>
              </mc:Fallback>
            </mc:AlternateContent>
          </a:graphicData>
        </a:graphic>
      </p:graphicFrame>
      <p:sp>
        <p:nvSpPr>
          <p:cNvPr id="4" name="TextBox 3"/>
          <p:cNvSpPr txBox="1"/>
          <p:nvPr/>
        </p:nvSpPr>
        <p:spPr>
          <a:xfrm>
            <a:off x="4929188" y="1736725"/>
            <a:ext cx="3857625" cy="1816100"/>
          </a:xfrm>
          <a:prstGeom prst="rect">
            <a:avLst/>
          </a:prstGeom>
          <a:solidFill>
            <a:srgbClr val="E1FFE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sign—</a:t>
            </a:r>
            <a:r>
              <a:rPr lang="zh-CN" altLang="zh-CN" sz="2800" b="0" dirty="0">
                <a:latin typeface="Times New Roman" panose="02020603050405020304" pitchFamily="18" charset="0"/>
                <a:ea typeface="微软雅黑" panose="020B0503020204020204" pitchFamily="34" charset="-122"/>
              </a:rPr>
              <a:t>当前项符号</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term—</a:t>
            </a:r>
            <a:r>
              <a:rPr lang="zh-CN" altLang="zh-CN" sz="2800" b="0" dirty="0">
                <a:latin typeface="Times New Roman" panose="02020603050405020304" pitchFamily="18" charset="0"/>
                <a:ea typeface="微软雅黑" panose="020B0503020204020204" pitchFamily="34" charset="-122"/>
              </a:rPr>
              <a:t>当前项的值</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sum—</a:t>
            </a:r>
            <a:r>
              <a:rPr lang="zh-CN" altLang="zh-CN" sz="2800" b="0" dirty="0">
                <a:latin typeface="Times New Roman" panose="02020603050405020304" pitchFamily="18" charset="0"/>
                <a:ea typeface="微软雅黑" panose="020B0503020204020204" pitchFamily="34" charset="-122"/>
              </a:rPr>
              <a:t>当前各项的和</a:t>
            </a:r>
            <a:endParaRPr lang="en-US" altLang="zh-CN" sz="2800" b="0" dirty="0">
              <a:latin typeface="Times New Roman" panose="02020603050405020304" pitchFamily="18" charset="0"/>
              <a:ea typeface="微软雅黑" panose="020B0503020204020204" pitchFamily="34" charset="-122"/>
            </a:endParaRPr>
          </a:p>
          <a:p>
            <a:pPr marL="0" lvl="0" indent="0" eaLnBrk="1" hangingPunct="1">
              <a:lnSpc>
                <a:spcPct val="100000"/>
              </a:lnSpc>
              <a:spcBef>
                <a:spcPct val="0"/>
              </a:spcBef>
              <a:buFontTx/>
              <a:buNone/>
            </a:pPr>
            <a:r>
              <a:rPr lang="en-US" altLang="zh-CN" sz="2800" b="0" dirty="0">
                <a:latin typeface="Times New Roman" panose="02020603050405020304" pitchFamily="18" charset="0"/>
                <a:ea typeface="微软雅黑" panose="020B0503020204020204" pitchFamily="34" charset="-122"/>
              </a:rPr>
              <a:t>deno—</a:t>
            </a:r>
            <a:r>
              <a:rPr lang="zh-CN" altLang="zh-CN" sz="2800" b="0" dirty="0">
                <a:latin typeface="Times New Roman" panose="02020603050405020304" pitchFamily="18" charset="0"/>
                <a:ea typeface="微软雅黑" panose="020B0503020204020204" pitchFamily="34" charset="-122"/>
              </a:rPr>
              <a:t>当前项分母</a:t>
            </a:r>
            <a:endParaRPr lang="zh-CN" altLang="en-US" sz="2800" b="0" dirty="0">
              <a:latin typeface="Times New Roman" panose="02020603050405020304" pitchFamily="18" charset="0"/>
              <a:ea typeface="微软雅黑" panose="020B0503020204020204" pitchFamily="34" charset="-122"/>
            </a:endParaRPr>
          </a:p>
        </p:txBody>
      </p:sp>
      <p:sp>
        <p:nvSpPr>
          <p:cNvPr id="5" name="圆角矩形标注 4"/>
          <p:cNvSpPr/>
          <p:nvPr/>
        </p:nvSpPr>
        <p:spPr>
          <a:xfrm>
            <a:off x="2997200" y="2676525"/>
            <a:ext cx="857250" cy="571500"/>
          </a:xfrm>
          <a:prstGeom prst="wedgeRoundRectCallout">
            <a:avLst>
              <a:gd name="adj1" fmla="val -162708"/>
              <a:gd name="adj2" fmla="val 99833"/>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6" name="圆角矩形标注 5"/>
          <p:cNvSpPr/>
          <p:nvPr/>
        </p:nvSpPr>
        <p:spPr>
          <a:xfrm>
            <a:off x="3857625" y="3265488"/>
            <a:ext cx="1071563" cy="571500"/>
          </a:xfrm>
          <a:prstGeom prst="wedgeRoundRectCallout">
            <a:avLst>
              <a:gd name="adj1" fmla="val -219653"/>
              <a:gd name="adj2" fmla="val 80009"/>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1/3</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 name="圆角矩形标注 6"/>
          <p:cNvSpPr/>
          <p:nvPr/>
        </p:nvSpPr>
        <p:spPr>
          <a:xfrm>
            <a:off x="4786313" y="3943350"/>
            <a:ext cx="1657350" cy="571500"/>
          </a:xfrm>
          <a:prstGeom prst="wedgeRoundRectCallout">
            <a:avLst>
              <a:gd name="adj1" fmla="val -212949"/>
              <a:gd name="adj2" fmla="val 57157"/>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1-1/2+1/3</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 name="圆角矩形标注 7"/>
          <p:cNvSpPr/>
          <p:nvPr/>
        </p:nvSpPr>
        <p:spPr>
          <a:xfrm>
            <a:off x="4000500" y="4619625"/>
            <a:ext cx="928688" cy="571500"/>
          </a:xfrm>
          <a:prstGeom prst="wedgeRoundRectCallout">
            <a:avLst>
              <a:gd name="adj1" fmla="val -260074"/>
              <a:gd name="adj2" fmla="val 36273"/>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4</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9" name="圆角矩形标注 8"/>
          <p:cNvSpPr/>
          <p:nvPr/>
        </p:nvSpPr>
        <p:spPr>
          <a:xfrm>
            <a:off x="6143625" y="4645025"/>
            <a:ext cx="2643188" cy="571500"/>
          </a:xfrm>
          <a:prstGeom prst="wedgeRoundRectCallout">
            <a:avLst>
              <a:gd name="adj1" fmla="val -103199"/>
              <a:gd name="adj2" fmla="val 100894"/>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满足，返回</a:t>
            </a:r>
            <a:r>
              <a:rPr lang="en-US" altLang="zh-CN" sz="2800" b="0" dirty="0">
                <a:solidFill>
                  <a:srgbClr val="003399"/>
                </a:solidFill>
                <a:latin typeface="Times New Roman" panose="02020603050405020304" pitchFamily="18" charset="0"/>
                <a:ea typeface="微软雅黑" panose="020B0503020204020204" pitchFamily="34" charset="-122"/>
              </a:rPr>
              <a:t>S4</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20490" name="图片 4" descr="Untitled.png">
            <a:hlinkClick r:id="rId3" action="ppaction://hlinksldjump"/>
          </p:cNvPr>
          <p:cNvPicPr>
            <a:picLocks noChangeAspect="1"/>
          </p:cNvPicPr>
          <p:nvPr/>
        </p:nvPicPr>
        <p:blipFill>
          <a:blip r:embed="rId4"/>
          <a:stretch>
            <a:fillRect/>
          </a:stretch>
        </p:blipFill>
        <p:spPr>
          <a:xfrm>
            <a:off x="8202613" y="593090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horizontal)">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blinds(horizontal)">
                                      <p:cBhvr>
                                        <p:cTn id="57" dur="500"/>
                                        <p:tgtEl>
                                          <p:spTgt spid="3">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blinds(horizontal)">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blinds(horizontal)">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blinds(horizontal)">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793750"/>
            <a:ext cx="8153400" cy="551497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2.4 求</a:t>
            </a:r>
            <a:endParaRPr lang="en-US" altLang="zh-CN" b="0" dirty="0">
              <a:latin typeface="Times New Roman" panose="02020603050405020304" pitchFamily="18" charset="0"/>
              <a:ea typeface="微软雅黑" panose="020B0503020204020204" pitchFamily="34" charset="-122"/>
              <a:cs typeface="+mn-cs"/>
            </a:endParaRPr>
          </a:p>
          <a:p>
            <a:pPr>
              <a:lnSpc>
                <a:spcPct val="100000"/>
              </a:lnSpc>
              <a:spcBef>
                <a:spcPts val="3000"/>
              </a:spcBef>
            </a:pPr>
            <a:r>
              <a:rPr lang="en-US" altLang="zh-CN" sz="2800" b="0" dirty="0">
                <a:latin typeface="Times New Roman" panose="02020603050405020304" pitchFamily="18" charset="0"/>
                <a:ea typeface="微软雅黑" panose="020B0503020204020204" pitchFamily="34" charset="-122"/>
                <a:cs typeface="+mn-cs"/>
              </a:rPr>
              <a:t>S1：sign=1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S2：sum=1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S3：deno=2</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S4：sign=(-1)*sign</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S5：term=sign*(1/deno)</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S6：sum=sum+term</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S7：deno=deno+1</a:t>
            </a:r>
            <a:endParaRPr lang="en-US" altLang="zh-CN" sz="2800" b="0" dirty="0">
              <a:latin typeface="Times New Roman" panose="02020603050405020304" pitchFamily="18" charset="0"/>
              <a:ea typeface="微软雅黑" panose="020B0503020204020204" pitchFamily="34" charset="-122"/>
              <a:cs typeface="+mn-cs"/>
            </a:endParaRPr>
          </a:p>
          <a:p>
            <a:pPr>
              <a:lnSpc>
                <a:spcPct val="100000"/>
              </a:lnSpc>
            </a:pPr>
            <a:r>
              <a:rPr lang="en-US" altLang="zh-CN" sz="2800" b="0" dirty="0">
                <a:latin typeface="Times New Roman" panose="02020603050405020304" pitchFamily="18" charset="0"/>
                <a:ea typeface="微软雅黑" panose="020B0503020204020204" pitchFamily="34" charset="-122"/>
                <a:cs typeface="+mn-cs"/>
              </a:rPr>
              <a:t>S8：若 deno≤100 返回 S4；否则算法结束</a:t>
            </a:r>
            <a:endParaRPr lang="en-US" altLang="en-US" sz="2800" b="0" dirty="0">
              <a:latin typeface="Times New Roman" panose="02020603050405020304" pitchFamily="18" charset="0"/>
              <a:ea typeface="微软雅黑" panose="020B0503020204020204" pitchFamily="34" charset="-122"/>
              <a:cs typeface="+mn-cs"/>
            </a:endParaRPr>
          </a:p>
        </p:txBody>
      </p:sp>
      <p:graphicFrame>
        <p:nvGraphicFramePr>
          <p:cNvPr id="21507" name="Object 1"/>
          <p:cNvGraphicFramePr>
            <a:graphicFrameLocks noChangeAspect="1"/>
          </p:cNvGraphicFramePr>
          <p:nvPr/>
        </p:nvGraphicFramePr>
        <p:xfrm>
          <a:off x="2211388" y="549275"/>
          <a:ext cx="5240337" cy="1143000"/>
        </p:xfrm>
        <a:graphic>
          <a:graphicData uri="http://schemas.openxmlformats.org/presentationml/2006/ole">
            <mc:AlternateContent xmlns:mc="http://schemas.openxmlformats.org/markup-compatibility/2006">
              <mc:Choice xmlns:v="urn:schemas-microsoft-com:vml" Requires="v">
                <p:oleObj spid="_x0000_s6147" name="" r:id="rId1" imgW="1790700" imgH="393700" progId="Equation.3">
                  <p:embed/>
                </p:oleObj>
              </mc:Choice>
              <mc:Fallback>
                <p:oleObj name="" r:id="rId1" imgW="1790700" imgH="393700" progId="Equation.3">
                  <p:embed/>
                  <p:pic>
                    <p:nvPicPr>
                      <p:cNvPr id="0" name="图片 3085"/>
                      <p:cNvPicPr/>
                      <p:nvPr/>
                    </p:nvPicPr>
                    <p:blipFill>
                      <a:blip r:embed="rId2"/>
                      <a:stretch>
                        <a:fillRect/>
                      </a:stretch>
                    </p:blipFill>
                    <p:spPr>
                      <a:xfrm>
                        <a:off x="2211388" y="549275"/>
                        <a:ext cx="5240337" cy="1143000"/>
                      </a:xfrm>
                      <a:prstGeom prst="rect">
                        <a:avLst/>
                      </a:prstGeom>
                      <a:noFill/>
                      <a:ln w="38100">
                        <a:noFill/>
                        <a:miter/>
                      </a:ln>
                    </p:spPr>
                  </p:pic>
                </p:oleObj>
              </mc:Fallback>
            </mc:AlternateContent>
          </a:graphicData>
        </a:graphic>
      </p:graphicFrame>
      <p:pic>
        <p:nvPicPr>
          <p:cNvPr id="21508" name="图片 4" descr="Untitled.png">
            <a:hlinkClick r:id="rId3" action="ppaction://hlinksldjump"/>
          </p:cNvPr>
          <p:cNvPicPr>
            <a:picLocks noChangeAspect="1"/>
          </p:cNvPicPr>
          <p:nvPr/>
        </p:nvPicPr>
        <p:blipFill>
          <a:blip r:embed="rId4"/>
          <a:stretch>
            <a:fillRect/>
          </a:stretch>
        </p:blipFill>
        <p:spPr>
          <a:xfrm>
            <a:off x="8202613" y="5930900"/>
            <a:ext cx="927100" cy="920750"/>
          </a:xfrm>
          <a:prstGeom prst="rect">
            <a:avLst/>
          </a:prstGeom>
          <a:noFill/>
          <a:ln w="9525">
            <a:noFill/>
          </a:ln>
        </p:spPr>
      </p:pic>
      <p:sp>
        <p:nvSpPr>
          <p:cNvPr id="11" name="TextBox 3"/>
          <p:cNvSpPr txBox="1"/>
          <p:nvPr/>
        </p:nvSpPr>
        <p:spPr>
          <a:xfrm>
            <a:off x="4705350" y="2133600"/>
            <a:ext cx="3611563" cy="954088"/>
          </a:xfrm>
          <a:prstGeom prst="rect">
            <a:avLst/>
          </a:prstGeom>
          <a:solidFill>
            <a:srgbClr val="E1FFE1"/>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b="0" dirty="0">
                <a:solidFill>
                  <a:srgbClr val="992317"/>
                </a:solidFill>
                <a:latin typeface="Times New Roman" panose="02020603050405020304" pitchFamily="18" charset="0"/>
                <a:ea typeface="微软雅黑" panose="020B0503020204020204" pitchFamily="34" charset="-122"/>
              </a:rPr>
              <a:t>99 </a:t>
            </a:r>
            <a:r>
              <a:rPr lang="zh-CN" altLang="en-US" sz="2800" b="0" dirty="0">
                <a:solidFill>
                  <a:srgbClr val="992317"/>
                </a:solidFill>
                <a:latin typeface="Times New Roman" panose="02020603050405020304" pitchFamily="18" charset="0"/>
                <a:ea typeface="微软雅黑" panose="020B0503020204020204" pitchFamily="34" charset="-122"/>
              </a:rPr>
              <a:t>次循环后 </a:t>
            </a:r>
            <a:r>
              <a:rPr lang="en-US" altLang="zh-CN" sz="2800" b="0" dirty="0">
                <a:solidFill>
                  <a:srgbClr val="992317"/>
                </a:solidFill>
                <a:latin typeface="Times New Roman" panose="02020603050405020304" pitchFamily="18" charset="0"/>
                <a:ea typeface="微软雅黑" panose="020B0503020204020204" pitchFamily="34" charset="-122"/>
              </a:rPr>
              <a:t>sum </a:t>
            </a:r>
            <a:r>
              <a:rPr lang="zh-CN" altLang="en-US" sz="2800" b="0" dirty="0">
                <a:solidFill>
                  <a:srgbClr val="992317"/>
                </a:solidFill>
                <a:latin typeface="Times New Roman" panose="02020603050405020304" pitchFamily="18" charset="0"/>
                <a:ea typeface="微软雅黑" panose="020B0503020204020204" pitchFamily="34" charset="-122"/>
              </a:rPr>
              <a:t>的值就是所要求的结果</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linds(horizontal)">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95300" y="908050"/>
            <a:ext cx="8153400" cy="4495800"/>
          </a:xfrm>
        </p:spPr>
        <p:txBody>
          <a:bodyPr vert="horz" wrap="square" lIns="91440" tIns="45720" rIns="91440" bIns="45720" numCol="1" anchor="t" anchorCtr="0" compatLnSpc="1"/>
          <a:lstStyle/>
          <a:p>
            <a:pPr marL="1081405" marR="0" lvl="0" indent="-108140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2.5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给出一个大于</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或</a:t>
            </a:r>
            <a:r>
              <a:rPr kumimoji="1" lang="en-US" altLang="zh-CN" sz="28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等于</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正整数</a:t>
            </a:r>
            <a:r>
              <a:rPr kumimoji="1" lang="en-US" altLang="zh-CN" sz="280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，判断它是不是一个</a:t>
            </a:r>
            <a:r>
              <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素数（质数）</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所谓</a:t>
            </a:r>
            <a:r>
              <a:rPr kumimoji="1" lang="zh-CN" altLang="zh-CN" sz="2800" b="0" i="0" u="none" strike="noStrike" kern="0" cap="none" spc="0" normalizeH="0" baseline="0" noProof="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素数</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(prime)</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，是指除了</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和该数本身之外，不能被其他任何整数整除的数</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例如，</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13</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是素数，因为它不能被</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12</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整除。</a:t>
            </a:r>
            <a:endPar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2531"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714375"/>
            <a:ext cx="8153400" cy="5857875"/>
          </a:xfrm>
        </p:spPr>
        <p:txBody>
          <a:bodyPr vert="horz" wrap="square" lIns="91440" tIns="45720" rIns="91440" bIns="45720" anchor="t" anchorCtr="0"/>
          <a:lstStyle/>
          <a:p>
            <a:r>
              <a:rPr lang="en-US" altLang="zh-CN" sz="2800" b="0" dirty="0">
                <a:latin typeface="Times New Roman" panose="02020603050405020304" pitchFamily="18" charset="0"/>
                <a:ea typeface="微软雅黑" panose="020B0503020204020204" pitchFamily="34" charset="-122"/>
                <a:cs typeface="+mn-cs"/>
              </a:rPr>
              <a:t>判断一个数n(n≥3)是否素数：将 n 作为被除数，将 2 到 (n-1) 各个整数先后作为除数，如果都不能被整除，则 n 为素数</a:t>
            </a:r>
            <a:endParaRPr lang="en-US" altLang="zh-CN" sz="2800" b="0" dirty="0">
              <a:latin typeface="Times New Roman" panose="02020603050405020304" pitchFamily="18" charset="0"/>
              <a:ea typeface="微软雅黑" panose="020B0503020204020204" pitchFamily="34" charset="-122"/>
              <a:cs typeface="+mn-cs"/>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S1：输入 n 的值</a:t>
            </a:r>
            <a:endParaRPr lang="en-US" altLang="zh-CN" sz="2800"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S2：i=2           （ i 作为除数）</a:t>
            </a:r>
            <a:endParaRPr lang="en-US" altLang="zh-CN" sz="2800"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S3：n 被 i 除，得余数 r</a:t>
            </a:r>
            <a:endParaRPr lang="en-US" altLang="zh-CN" sz="2800"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S4：如果 r=0，表示 n 能被 i 整除，则输出 n“不是素数”，算法结束；否则执行S5</a:t>
            </a:r>
            <a:endParaRPr lang="en-US" altLang="zh-CN" sz="2800"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S5：i+1</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i</a:t>
            </a:r>
            <a:endParaRPr lang="en-US" altLang="zh-CN" sz="2800"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rPr>
              <a:t>S6：如果 i ≤  n-1 ，返回 S3；否则输出 n “是素数”，然后结束。</a:t>
            </a:r>
            <a:endParaRPr lang="en-US" altLang="zh-CN" sz="2800" b="0" dirty="0">
              <a:latin typeface="Times New Roman" panose="02020603050405020304" pitchFamily="18" charset="0"/>
              <a:ea typeface="微软雅黑" panose="020B0503020204020204" pitchFamily="34" charset="-122"/>
            </a:endParaRPr>
          </a:p>
        </p:txBody>
      </p:sp>
      <p:sp>
        <p:nvSpPr>
          <p:cNvPr id="6" name="椭圆 5"/>
          <p:cNvSpPr/>
          <p:nvPr/>
        </p:nvSpPr>
        <p:spPr>
          <a:xfrm>
            <a:off x="3087370" y="5312410"/>
            <a:ext cx="642620" cy="571500"/>
          </a:xfrm>
          <a:prstGeom prst="ellipse">
            <a:avLst/>
          </a:prstGeom>
          <a:noFill/>
          <a:ln w="38100" cap="flat" cmpd="sng">
            <a:solidFill>
              <a:srgbClr val="C0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23556" name="Rectangle 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grpSp>
        <p:nvGrpSpPr>
          <p:cNvPr id="2" name="组合 8"/>
          <p:cNvGrpSpPr/>
          <p:nvPr/>
        </p:nvGrpSpPr>
        <p:grpSpPr>
          <a:xfrm>
            <a:off x="3923347" y="5983289"/>
            <a:ext cx="2786062" cy="680372"/>
            <a:chOff x="2561972" y="7914845"/>
            <a:chExt cx="2786082" cy="681082"/>
          </a:xfrm>
        </p:grpSpPr>
        <p:sp>
          <p:nvSpPr>
            <p:cNvPr id="23559" name="圆角矩形标注 4"/>
            <p:cNvSpPr/>
            <p:nvPr/>
          </p:nvSpPr>
          <p:spPr>
            <a:xfrm>
              <a:off x="2561972" y="7952985"/>
              <a:ext cx="2786082" cy="642942"/>
            </a:xfrm>
            <a:prstGeom prst="wedgeRoundRectCallout">
              <a:avLst>
                <a:gd name="adj1" fmla="val -66763"/>
                <a:gd name="adj2" fmla="val -93254"/>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可改为 </a:t>
              </a:r>
              <a:r>
                <a:rPr lang="en-US" altLang="zh-CN" sz="2800" b="0" dirty="0">
                  <a:solidFill>
                    <a:srgbClr val="992317"/>
                  </a:solidFill>
                  <a:latin typeface="Times New Roman" panose="02020603050405020304" pitchFamily="18" charset="0"/>
                  <a:ea typeface="微软雅黑" panose="020B0503020204020204" pitchFamily="34" charset="-122"/>
                </a:rPr>
                <a:t>n/2</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graphicFrame>
          <p:nvGraphicFramePr>
            <p:cNvPr id="23560" name="Object 1"/>
            <p:cNvGraphicFramePr>
              <a:graphicFrameLocks noChangeAspect="1"/>
            </p:cNvGraphicFramePr>
            <p:nvPr/>
          </p:nvGraphicFramePr>
          <p:xfrm>
            <a:off x="4446983" y="7914845"/>
            <a:ext cx="647705" cy="621360"/>
          </p:xfrm>
          <a:graphic>
            <a:graphicData uri="http://schemas.openxmlformats.org/presentationml/2006/ole">
              <mc:AlternateContent xmlns:mc="http://schemas.openxmlformats.org/markup-compatibility/2006">
                <mc:Choice xmlns:v="urn:schemas-microsoft-com:vml" Requires="v">
                  <p:oleObj spid="_x0000_s7171" name="" r:id="rId1" imgW="241300" imgH="228600" progId="Equation.3">
                    <p:embed/>
                  </p:oleObj>
                </mc:Choice>
                <mc:Fallback>
                  <p:oleObj name="" r:id="rId1" imgW="241300" imgH="228600" progId="Equation.3">
                    <p:embed/>
                    <p:pic>
                      <p:nvPicPr>
                        <p:cNvPr id="0" name="图片 3086"/>
                        <p:cNvPicPr/>
                        <p:nvPr/>
                      </p:nvPicPr>
                      <p:blipFill>
                        <a:blip r:embed="rId2"/>
                        <a:stretch>
                          <a:fillRect/>
                        </a:stretch>
                      </p:blipFill>
                      <p:spPr>
                        <a:xfrm>
                          <a:off x="4446983" y="7914845"/>
                          <a:ext cx="647705" cy="621360"/>
                        </a:xfrm>
                        <a:prstGeom prst="rect">
                          <a:avLst/>
                        </a:prstGeom>
                        <a:noFill/>
                        <a:ln w="38100">
                          <a:noFill/>
                          <a:miter/>
                        </a:ln>
                      </p:spPr>
                    </p:pic>
                  </p:oleObj>
                </mc:Fallback>
              </mc:AlternateContent>
            </a:graphicData>
          </a:graphic>
        </p:graphicFrame>
      </p:grpSp>
      <p:pic>
        <p:nvPicPr>
          <p:cNvPr id="23558" name="图片 4" descr="Untitled.png">
            <a:hlinkClick r:id="rId3" action="ppaction://hlinksldjump"/>
          </p:cNvPr>
          <p:cNvPicPr>
            <a:picLocks noChangeAspect="1"/>
          </p:cNvPicPr>
          <p:nvPr/>
        </p:nvPicPr>
        <p:blipFill>
          <a:blip r:embed="rId4"/>
          <a:stretch>
            <a:fillRect/>
          </a:stretch>
        </p:blipFill>
        <p:spPr>
          <a:xfrm>
            <a:off x="8216900" y="5937250"/>
            <a:ext cx="927100" cy="9207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 calcmode="lin" valueType="num">
                                      <p:cBhvr>
                                        <p:cTn id="39" dur="500" fill="hold"/>
                                        <p:tgtEl>
                                          <p:spTgt spid="6"/>
                                        </p:tgtEl>
                                        <p:attrNameLst>
                                          <p:attrName>style.rotation</p:attrName>
                                        </p:attrNameLst>
                                      </p:cBhvr>
                                      <p:tavLst>
                                        <p:tav tm="0">
                                          <p:val>
                                            <p:fltVal val="360"/>
                                          </p:val>
                                        </p:tav>
                                        <p:tav tm="100000">
                                          <p:val>
                                            <p:fltVal val="0"/>
                                          </p:val>
                                        </p:tav>
                                      </p:tavLst>
                                    </p:anim>
                                    <p:animEffect transition="in" filter="fade">
                                      <p:cBhvr>
                                        <p:cTn id="40" dur="500"/>
                                        <p:tgtEl>
                                          <p:spTgt spid="6"/>
                                        </p:tgtEl>
                                      </p:cBhvr>
                                    </p:animEffect>
                                  </p:childTnLst>
                                </p:cTn>
                              </p:par>
                            </p:childTnLst>
                          </p:cTn>
                        </p:par>
                        <p:par>
                          <p:cTn id="41" fill="hold">
                            <p:stCondLst>
                              <p:cond delay="500"/>
                            </p:stCondLst>
                            <p:childTnLst>
                              <p:par>
                                <p:cTn id="42" presetID="3" presetClass="entr" presetSubtype="10"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linds(horizontal)">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57175" y="550863"/>
            <a:ext cx="3209925" cy="646112"/>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2.3 </a:t>
            </a:r>
            <a:r>
              <a:rPr lang="zh-CN" altLang="zh-CN" sz="3600" dirty="0">
                <a:solidFill>
                  <a:srgbClr val="235A67"/>
                </a:solidFill>
                <a:latin typeface="Times New Roman" panose="02020603050405020304" pitchFamily="18" charset="0"/>
                <a:ea typeface="黑体" panose="02010609060101010101" pitchFamily="49" charset="-122"/>
              </a:rPr>
              <a:t>算法的特性</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147" name="Rectangle 3"/>
          <p:cNvSpPr>
            <a:spLocks noGrp="1"/>
          </p:cNvSpPr>
          <p:nvPr>
            <p:ph idx="1"/>
          </p:nvPr>
        </p:nvSpPr>
        <p:spPr>
          <a:xfrm>
            <a:off x="34925" y="1125538"/>
            <a:ext cx="9001125" cy="5472113"/>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一个有效算法应该具有以下</a:t>
            </a:r>
            <a:r>
              <a:rPr kumimoji="1" lang="zh-CN"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特点</a:t>
            </a:r>
            <a:r>
              <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有穷性</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。一个算法应包含有限的操作步骤，而不能是无限的</a:t>
            </a: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995805" marR="0" lvl="0" indent="-199580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确定性</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。算法中的每一个步骤都应当是确定的，而不应当是含糊的、模棱两可的。</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532505" marR="0" lvl="0" indent="-353250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(3)</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有零个或多个输入</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。所谓输入是指在执行算法时需要从外界取得必要的信息。</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177925" marR="0" lvl="1" indent="-72072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有一个或多个输出</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。算法的目的是为了求解，“解” 就是输出。</a:t>
            </a:r>
            <a:r>
              <a:rPr kumimoji="1" lang="zh-CN" altLang="zh-CN" sz="24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没有输出的算法是没有意义的</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119630" marR="0" lvl="1" indent="-166243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400" b="0" i="0" u="none" strike="noStrike" kern="0" cap="none" spc="0" normalizeH="0" baseline="0" noProof="1">
                <a:ln>
                  <a:noFill/>
                </a:ln>
                <a:solidFill>
                  <a:srgbClr val="0033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有效性</a:t>
            </a:r>
            <a:r>
              <a:rPr kumimoji="1" lang="zh-CN" altLang="zh-CN" sz="24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。算法中的每一个步骤都应当能有效地执行，并得到确定的结果</a:t>
            </a:r>
            <a:r>
              <a:rPr kumimoji="1" lang="zh-CN" altLang="zh-CN" sz="2400" b="1" i="0" u="none" strike="noStrike" kern="0" cap="none" spc="0" normalizeH="0" baseline="0" noProof="1">
                <a:ln>
                  <a:noFill/>
                </a:ln>
                <a:solidFill>
                  <a:schemeClr val="tx1"/>
                </a:solidFill>
                <a:effectLst/>
                <a:uLnTx/>
                <a:uFillTx/>
                <a:latin typeface="+mn-lt"/>
                <a:ea typeface="+mn-ea"/>
                <a:cs typeface="+mn-ea"/>
              </a:rPr>
              <a:t>。</a:t>
            </a:r>
            <a:endParaRPr kumimoji="1" lang="zh-CN" altLang="en-US" sz="2400" b="1" i="0" u="none" strike="noStrike" kern="0" cap="none" spc="0" normalizeH="0" baseline="0" noProof="1">
              <a:ln>
                <a:noFill/>
              </a:ln>
              <a:solidFill>
                <a:schemeClr val="tx1"/>
              </a:solidFill>
              <a:effectLst/>
              <a:uLnTx/>
              <a:uFillTx/>
              <a:latin typeface="+mn-lt"/>
              <a:ea typeface="+mn-ea"/>
              <a:cs typeface="+mn-ea"/>
            </a:endParaRPr>
          </a:p>
          <a:p>
            <a:pPr marL="2383155" marR="0" lvl="1" indent="-1925955"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endPar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4580"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530225" y="1341438"/>
            <a:ext cx="8154988" cy="359092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对于一般最终用户来说</a:t>
            </a: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900430" marR="0" lvl="1" indent="-44323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他们并不需要在处理每一个问题时都要自己设计算法和编写程序</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可以使用别人已设计好的现成算法和程序</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914400" marR="0" lvl="1" indent="-457200" algn="l" defTabSz="914400" rtl="0" eaLnBrk="0" fontAlgn="base" latinLnBrk="0" hangingPunct="0">
              <a:lnSpc>
                <a:spcPct val="120000"/>
              </a:lnSpc>
              <a:spcBef>
                <a:spcPct val="20000"/>
              </a:spcBef>
              <a:spcAft>
                <a:spcPct val="0"/>
              </a:spcAft>
              <a:buClrTx/>
              <a:buSzTx/>
              <a:buFont typeface="Wingdings" panose="05000000000000000000" pitchFamily="2" charset="2"/>
              <a:buChar char="u"/>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只需根据已知算法的要求给予必要的输入，就能得到输出的结果</a:t>
            </a:r>
            <a:endPar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6" name="直接箭头连接符 5"/>
          <p:cNvCxnSpPr/>
          <p:nvPr/>
        </p:nvCxnSpPr>
        <p:spPr>
          <a:xfrm>
            <a:off x="611188" y="5514975"/>
            <a:ext cx="2428875" cy="1588"/>
          </a:xfrm>
          <a:prstGeom prst="straightConnector1">
            <a:avLst/>
          </a:prstGeom>
          <a:ln w="38100" cap="flat" cmpd="sng">
            <a:solidFill>
              <a:srgbClr val="00B050"/>
            </a:solidFill>
            <a:prstDash val="solid"/>
            <a:miter/>
            <a:headEnd type="none" w="med" len="med"/>
            <a:tailEnd type="arrow" w="med" len="med"/>
          </a:ln>
        </p:spPr>
      </p:cxnSp>
      <p:sp>
        <p:nvSpPr>
          <p:cNvPr id="8" name="TextBox 7"/>
          <p:cNvSpPr txBox="1"/>
          <p:nvPr/>
        </p:nvSpPr>
        <p:spPr>
          <a:xfrm>
            <a:off x="682625" y="4943475"/>
            <a:ext cx="21431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3</a:t>
            </a:r>
            <a:r>
              <a:rPr lang="zh-CN" altLang="en-US" sz="2800" b="0" dirty="0">
                <a:solidFill>
                  <a:srgbClr val="003399"/>
                </a:solidFill>
                <a:latin typeface="Times New Roman" panose="02020603050405020304" pitchFamily="18" charset="0"/>
                <a:ea typeface="微软雅黑" panose="020B0503020204020204" pitchFamily="34" charset="-122"/>
              </a:rPr>
              <a:t>个数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9" name="TextBox 8"/>
          <p:cNvSpPr txBox="1"/>
          <p:nvPr/>
        </p:nvSpPr>
        <p:spPr>
          <a:xfrm>
            <a:off x="3173413" y="5191125"/>
            <a:ext cx="21431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latin typeface="Times New Roman" panose="02020603050405020304" pitchFamily="18" charset="0"/>
                <a:ea typeface="微软雅黑" panose="020B0503020204020204" pitchFamily="34" charset="-122"/>
              </a:rPr>
              <a:t>黑箱子</a:t>
            </a:r>
            <a:endParaRPr lang="zh-CN" altLang="en-US" sz="2800" b="0" dirty="0">
              <a:latin typeface="Times New Roman" panose="02020603050405020304" pitchFamily="18" charset="0"/>
              <a:ea typeface="微软雅黑" panose="020B0503020204020204" pitchFamily="34" charset="-122"/>
            </a:endParaRPr>
          </a:p>
        </p:txBody>
      </p:sp>
      <p:cxnSp>
        <p:nvCxnSpPr>
          <p:cNvPr id="10" name="直接箭头连接符 9"/>
          <p:cNvCxnSpPr/>
          <p:nvPr/>
        </p:nvCxnSpPr>
        <p:spPr>
          <a:xfrm>
            <a:off x="5419725" y="5524500"/>
            <a:ext cx="2714625" cy="1588"/>
          </a:xfrm>
          <a:prstGeom prst="straightConnector1">
            <a:avLst/>
          </a:prstGeom>
          <a:ln w="38100" cap="flat" cmpd="sng">
            <a:solidFill>
              <a:srgbClr val="00B050"/>
            </a:solidFill>
            <a:prstDash val="solid"/>
            <a:miter/>
            <a:headEnd type="none" w="med" len="med"/>
            <a:tailEnd type="arrow" w="med" len="med"/>
          </a:ln>
        </p:spPr>
      </p:cxnSp>
      <p:sp>
        <p:nvSpPr>
          <p:cNvPr id="11" name="TextBox 10"/>
          <p:cNvSpPr txBox="1"/>
          <p:nvPr/>
        </p:nvSpPr>
        <p:spPr>
          <a:xfrm>
            <a:off x="5243513" y="4953000"/>
            <a:ext cx="2857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3</a:t>
            </a:r>
            <a:r>
              <a:rPr lang="zh-CN" altLang="en-US" sz="2800" b="0" dirty="0">
                <a:solidFill>
                  <a:srgbClr val="003399"/>
                </a:solidFill>
                <a:latin typeface="Times New Roman" panose="02020603050405020304" pitchFamily="18" charset="0"/>
                <a:ea typeface="微软雅黑" panose="020B0503020204020204" pitchFamily="34" charset="-122"/>
              </a:rPr>
              <a:t>个数中最大数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3" name="TextBox 12"/>
          <p:cNvSpPr txBox="1"/>
          <p:nvPr/>
        </p:nvSpPr>
        <p:spPr>
          <a:xfrm>
            <a:off x="3146425" y="4975225"/>
            <a:ext cx="2143125" cy="955675"/>
          </a:xfrm>
          <a:prstGeom prst="rect">
            <a:avLst/>
          </a:prstGeom>
          <a:solidFill>
            <a:schemeClr val="accent1"/>
          </a:solidFill>
          <a:ln w="381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求</a:t>
            </a:r>
            <a:r>
              <a:rPr lang="en-US" altLang="zh-CN" sz="2800" dirty="0">
                <a:latin typeface="Arial" panose="020B0604020202020204" pitchFamily="34" charset="0"/>
              </a:rPr>
              <a:t>3</a:t>
            </a:r>
            <a:r>
              <a:rPr lang="zh-CN" altLang="en-US" sz="2800" dirty="0">
                <a:latin typeface="Arial" panose="020B0604020202020204" pitchFamily="34" charset="0"/>
              </a:rPr>
              <a:t>个数的最大数</a:t>
            </a:r>
            <a:endParaRPr lang="zh-CN" altLang="en-US" sz="2800" dirty="0">
              <a:latin typeface="Arial" panose="020B0604020202020204" pitchFamily="34" charset="0"/>
            </a:endParaRPr>
          </a:p>
        </p:txBody>
      </p:sp>
      <p:pic>
        <p:nvPicPr>
          <p:cNvPr id="25609" name="图片 4" descr="Untitled.png">
            <a:hlinkClick r:id="rId1" action="ppaction://hlinksldjump"/>
          </p:cNvPr>
          <p:cNvPicPr>
            <a:picLocks noChangeAspect="1"/>
          </p:cNvPicPr>
          <p:nvPr/>
        </p:nvPicPr>
        <p:blipFill>
          <a:blip r:embed="rId2"/>
          <a:stretch>
            <a:fillRect/>
          </a:stretch>
        </p:blipFill>
        <p:spPr>
          <a:xfrm>
            <a:off x="6588125" y="6856413"/>
            <a:ext cx="927100" cy="920750"/>
          </a:xfrm>
          <a:prstGeom prst="rect">
            <a:avLst/>
          </a:prstGeom>
          <a:noFill/>
          <a:ln w="9525">
            <a:noFill/>
          </a:ln>
        </p:spPr>
      </p:pic>
      <p:sp>
        <p:nvSpPr>
          <p:cNvPr id="25610" name="Rectangle 2"/>
          <p:cNvSpPr>
            <a:spLocks noGrp="1"/>
          </p:cNvSpPr>
          <p:nvPr>
            <p:ph type="title"/>
          </p:nvPr>
        </p:nvSpPr>
        <p:spPr>
          <a:xfrm>
            <a:off x="257175" y="550863"/>
            <a:ext cx="3209925" cy="646112"/>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2.3 </a:t>
            </a:r>
            <a:r>
              <a:rPr lang="zh-CN" altLang="zh-CN" sz="3600" dirty="0">
                <a:solidFill>
                  <a:srgbClr val="235A67"/>
                </a:solidFill>
                <a:latin typeface="Times New Roman" panose="02020603050405020304" pitchFamily="18" charset="0"/>
                <a:ea typeface="黑体" panose="02010609060101010101" pitchFamily="49" charset="-122"/>
              </a:rPr>
              <a:t>算法的特性</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slide(fromLeft)">
                                      <p:cBhvr>
                                        <p:cTn id="25" dur="500"/>
                                        <p:tgtEl>
                                          <p:spTgt spid="10"/>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lide(fromLeft)">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65113" y="561975"/>
            <a:ext cx="4649787"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 </a:t>
            </a:r>
            <a:r>
              <a:rPr lang="zh-CN" altLang="zh-CN" sz="3600" dirty="0">
                <a:solidFill>
                  <a:srgbClr val="235A67"/>
                </a:solidFill>
                <a:latin typeface="Times New Roman" panose="02020603050405020304" pitchFamily="18" charset="0"/>
                <a:ea typeface="黑体" panose="02010609060101010101" pitchFamily="49" charset="-122"/>
              </a:rPr>
              <a:t>怎样表示一个算法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26627" name="Rectangle 3"/>
          <p:cNvSpPr>
            <a:spLocks noGrp="1"/>
          </p:cNvSpPr>
          <p:nvPr>
            <p:ph idx="1"/>
          </p:nvPr>
        </p:nvSpPr>
        <p:spPr>
          <a:xfrm>
            <a:off x="820738" y="1341438"/>
            <a:ext cx="7500937" cy="3852862"/>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 常用的方法有：</a:t>
            </a:r>
            <a:endParaRPr lang="en-US" altLang="zh-CN" b="0" dirty="0">
              <a:latin typeface="Times New Roman" panose="02020603050405020304" pitchFamily="18" charset="0"/>
              <a:ea typeface="微软雅黑" panose="020B0503020204020204" pitchFamily="34" charset="-122"/>
              <a:cs typeface="+mn-cs"/>
            </a:endParaRPr>
          </a:p>
          <a:p>
            <a:pPr lvl="1"/>
            <a:r>
              <a:rPr lang="en-US" altLang="zh-CN" b="0" dirty="0">
                <a:latin typeface="Times New Roman" panose="02020603050405020304" pitchFamily="18" charset="0"/>
                <a:ea typeface="微软雅黑" panose="020B0503020204020204" pitchFamily="34" charset="-122"/>
              </a:rPr>
              <a:t> 自然语言</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传统流程图</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结构化流程图</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伪代码</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a:t>
            </a:r>
            <a:endParaRPr lang="en-US" altLang="en-US" b="0" dirty="0">
              <a:latin typeface="Times New Roman" panose="02020603050405020304" pitchFamily="18" charset="0"/>
              <a:ea typeface="微软雅黑" panose="020B0503020204020204" pitchFamily="34" charset="-122"/>
            </a:endParaRPr>
          </a:p>
        </p:txBody>
      </p:sp>
      <p:pic>
        <p:nvPicPr>
          <p:cNvPr id="26628"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p:cNvSpPr>
          <p:nvPr>
            <p:ph idx="1"/>
          </p:nvPr>
        </p:nvSpPr>
        <p:spPr>
          <a:xfrm>
            <a:off x="755650" y="1412875"/>
            <a:ext cx="7345363" cy="471487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1" action="ppaction://hlinksldjump"/>
              </a:rPr>
              <a:t>2.4.1 用自然语言表示算法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2" action="ppaction://hlinksldjump"/>
              </a:rPr>
              <a:t>2.4.2 用流程图表示算法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3" action="ppaction://hlinksldjump"/>
              </a:rPr>
              <a:t>2.4.3 三种基本结构和改进的流程图</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4" action="ppaction://hlinksldjump"/>
              </a:rPr>
              <a:t>2.4.4 用N-S流程图表示算法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5" action="ppaction://hlinksldjump"/>
              </a:rPr>
              <a:t>2.4.5 用伪代码表示算法</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hlinkClick r:id="rId6" action="ppaction://hlinksldjump"/>
              </a:rPr>
              <a:t>2.4.6 用计算机语言表示算法</a:t>
            </a:r>
            <a:endParaRPr lang="en-US" altLang="en-US" b="0" dirty="0">
              <a:latin typeface="Times New Roman" panose="02020603050405020304" pitchFamily="18" charset="0"/>
              <a:ea typeface="微软雅黑" panose="020B0503020204020204" pitchFamily="34" charset="-122"/>
              <a:cs typeface="+mn-cs"/>
            </a:endParaRPr>
          </a:p>
        </p:txBody>
      </p:sp>
      <p:pic>
        <p:nvPicPr>
          <p:cNvPr id="27651" name="图片 4" descr="Untitled.png">
            <a:hlinkClick r:id="rId7" action="ppaction://hlinksldjump"/>
          </p:cNvPr>
          <p:cNvPicPr>
            <a:picLocks noChangeAspect="1"/>
          </p:cNvPicPr>
          <p:nvPr/>
        </p:nvPicPr>
        <p:blipFill>
          <a:blip r:embed="rId8"/>
          <a:stretch>
            <a:fillRect/>
          </a:stretch>
        </p:blipFill>
        <p:spPr>
          <a:xfrm>
            <a:off x="8216900" y="5937250"/>
            <a:ext cx="927100" cy="920750"/>
          </a:xfrm>
          <a:prstGeom prst="rect">
            <a:avLst/>
          </a:prstGeom>
          <a:noFill/>
          <a:ln w="9525">
            <a:noFill/>
          </a:ln>
        </p:spPr>
      </p:pic>
      <p:sp>
        <p:nvSpPr>
          <p:cNvPr id="27652" name="Rectangle 2"/>
          <p:cNvSpPr>
            <a:spLocks noGrp="1"/>
          </p:cNvSpPr>
          <p:nvPr>
            <p:ph type="title"/>
          </p:nvPr>
        </p:nvSpPr>
        <p:spPr>
          <a:xfrm>
            <a:off x="265113" y="561975"/>
            <a:ext cx="4649787"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 </a:t>
            </a:r>
            <a:r>
              <a:rPr lang="zh-CN" altLang="zh-CN" sz="3600" dirty="0">
                <a:solidFill>
                  <a:srgbClr val="235A67"/>
                </a:solidFill>
                <a:latin typeface="Times New Roman" panose="02020603050405020304" pitchFamily="18" charset="0"/>
                <a:ea typeface="黑体" panose="02010609060101010101" pitchFamily="49" charset="-122"/>
              </a:rPr>
              <a:t>怎样表示一个算法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Tree>
  </p:cSld>
  <p:clrMapOvr>
    <a:masterClrMapping/>
  </p:clrMapOvr>
  <p:transition spd="med">
    <p:blinds/>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257175" y="561975"/>
            <a:ext cx="5513388"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2.4.1 </a:t>
            </a:r>
            <a:r>
              <a:rPr lang="zh-CN" altLang="zh-CN" sz="3600" dirty="0">
                <a:solidFill>
                  <a:srgbClr val="235A67"/>
                </a:solidFill>
                <a:latin typeface="Times New Roman" panose="02020603050405020304" pitchFamily="18" charset="0"/>
                <a:ea typeface="黑体" panose="02010609060101010101" pitchFamily="49" charset="-122"/>
              </a:rPr>
              <a:t>用</a:t>
            </a:r>
            <a:r>
              <a:rPr lang="zh-CN" altLang="zh-CN" sz="3600" dirty="0">
                <a:solidFill>
                  <a:srgbClr val="C00000"/>
                </a:solidFill>
                <a:latin typeface="Times New Roman" panose="02020603050405020304" pitchFamily="18" charset="0"/>
                <a:ea typeface="黑体" panose="02010609060101010101" pitchFamily="49" charset="-122"/>
              </a:rPr>
              <a:t>自然语言</a:t>
            </a:r>
            <a:r>
              <a:rPr lang="zh-CN" altLang="zh-CN" sz="3600" dirty="0">
                <a:solidFill>
                  <a:srgbClr val="235A67"/>
                </a:solidFill>
                <a:latin typeface="Times New Roman" panose="02020603050405020304" pitchFamily="18" charset="0"/>
                <a:ea typeface="黑体" panose="02010609060101010101" pitchFamily="49" charset="-122"/>
              </a:rPr>
              <a:t>表示算法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28675" name="Rectangle 3"/>
          <p:cNvSpPr>
            <a:spLocks noGrp="1"/>
          </p:cNvSpPr>
          <p:nvPr>
            <p:ph idx="1"/>
          </p:nvPr>
        </p:nvSpPr>
        <p:spPr>
          <a:xfrm>
            <a:off x="541338" y="1341438"/>
            <a:ext cx="8358187" cy="4103687"/>
          </a:xfrm>
        </p:spPr>
        <p:txBody>
          <a:bodyPr vert="horz" wrap="square" lIns="91440" tIns="45720" rIns="91440" bIns="45720" anchor="t" anchorCtr="0"/>
          <a:lstStyle/>
          <a:p>
            <a:pPr marL="465455" indent="-465455"/>
            <a:r>
              <a:rPr lang="en-US" altLang="zh-CN" b="0" dirty="0">
                <a:latin typeface="Times New Roman" panose="02020603050405020304" pitchFamily="18" charset="0"/>
                <a:ea typeface="微软雅黑" panose="020B0503020204020204" pitchFamily="34" charset="-122"/>
                <a:cs typeface="+mn-cs"/>
              </a:rPr>
              <a:t>2.2</a:t>
            </a:r>
            <a:r>
              <a:rPr lang="en-US" altLang="zh-CN" b="0" dirty="0">
                <a:latin typeface="微软雅黑" panose="020B0503020204020204" pitchFamily="34" charset="-122"/>
                <a:ea typeface="微软雅黑" panose="020B0503020204020204" pitchFamily="34" charset="-122"/>
                <a:cs typeface="+mn-cs"/>
              </a:rPr>
              <a:t>节介绍的算法是用自然语言表示的</a:t>
            </a:r>
            <a:endParaRPr lang="en-US" altLang="zh-CN" b="0" dirty="0">
              <a:latin typeface="微软雅黑" panose="020B0503020204020204" pitchFamily="34" charset="-122"/>
              <a:ea typeface="微软雅黑" panose="020B0503020204020204" pitchFamily="34" charset="-122"/>
              <a:cs typeface="+mn-cs"/>
            </a:endParaRPr>
          </a:p>
          <a:p>
            <a:pPr marL="465455" indent="-465455"/>
            <a:r>
              <a:rPr lang="en-US" altLang="zh-CN" b="0" dirty="0">
                <a:latin typeface="微软雅黑" panose="020B0503020204020204" pitchFamily="34" charset="-122"/>
                <a:ea typeface="微软雅黑" panose="020B0503020204020204" pitchFamily="34" charset="-122"/>
                <a:cs typeface="+mn-cs"/>
              </a:rPr>
              <a:t>用</a:t>
            </a:r>
            <a:r>
              <a:rPr lang="en-US" altLang="zh-CN" b="0" dirty="0">
                <a:solidFill>
                  <a:srgbClr val="C00000"/>
                </a:solidFill>
                <a:latin typeface="微软雅黑" panose="020B0503020204020204" pitchFamily="34" charset="-122"/>
                <a:ea typeface="微软雅黑" panose="020B0503020204020204" pitchFamily="34" charset="-122"/>
                <a:cs typeface="+mn-cs"/>
              </a:rPr>
              <a:t>自然语言</a:t>
            </a:r>
            <a:r>
              <a:rPr lang="en-US" altLang="zh-CN" b="0" dirty="0">
                <a:latin typeface="微软雅黑" panose="020B0503020204020204" pitchFamily="34" charset="-122"/>
                <a:ea typeface="微软雅黑" panose="020B0503020204020204" pitchFamily="34" charset="-122"/>
                <a:cs typeface="+mn-cs"/>
              </a:rPr>
              <a:t>表示</a:t>
            </a:r>
            <a:r>
              <a:rPr lang="en-US" altLang="zh-CN" b="0" dirty="0">
                <a:solidFill>
                  <a:srgbClr val="C00000"/>
                </a:solidFill>
                <a:latin typeface="微软雅黑" panose="020B0503020204020204" pitchFamily="34" charset="-122"/>
                <a:ea typeface="微软雅黑" panose="020B0503020204020204" pitchFamily="34" charset="-122"/>
                <a:cs typeface="+mn-cs"/>
              </a:rPr>
              <a:t>通俗易懂</a:t>
            </a:r>
            <a:r>
              <a:rPr lang="en-US" altLang="zh-CN" b="0" dirty="0">
                <a:latin typeface="微软雅黑" panose="020B0503020204020204" pitchFamily="34" charset="-122"/>
                <a:ea typeface="微软雅黑" panose="020B0503020204020204" pitchFamily="34" charset="-122"/>
                <a:cs typeface="+mn-cs"/>
              </a:rPr>
              <a:t>，但文字冗长，容易出现歧义性</a:t>
            </a:r>
            <a:endParaRPr lang="en-US" altLang="zh-CN" b="0" dirty="0">
              <a:latin typeface="微软雅黑" panose="020B0503020204020204" pitchFamily="34" charset="-122"/>
              <a:ea typeface="微软雅黑" panose="020B0503020204020204" pitchFamily="34" charset="-122"/>
              <a:cs typeface="+mn-cs"/>
            </a:endParaRPr>
          </a:p>
          <a:p>
            <a:pPr marL="465455" indent="-465455"/>
            <a:r>
              <a:rPr lang="en-US" altLang="zh-CN" b="0" dirty="0">
                <a:latin typeface="微软雅黑" panose="020B0503020204020204" pitchFamily="34" charset="-122"/>
                <a:ea typeface="微软雅黑" panose="020B0503020204020204" pitchFamily="34" charset="-122"/>
                <a:cs typeface="+mn-cs"/>
              </a:rPr>
              <a:t>用自然语言描述包含分支和循环的算法，不很方便</a:t>
            </a:r>
            <a:endParaRPr lang="en-US" altLang="zh-CN" b="0" dirty="0">
              <a:latin typeface="微软雅黑" panose="020B0503020204020204" pitchFamily="34" charset="-122"/>
              <a:ea typeface="微软雅黑" panose="020B0503020204020204" pitchFamily="34" charset="-122"/>
              <a:cs typeface="+mn-cs"/>
            </a:endParaRPr>
          </a:p>
          <a:p>
            <a:pPr marL="465455" indent="-465455"/>
            <a:r>
              <a:rPr lang="en-US" altLang="zh-CN" b="0" dirty="0">
                <a:latin typeface="微软雅黑" panose="020B0503020204020204" pitchFamily="34" charset="-122"/>
                <a:ea typeface="微软雅黑" panose="020B0503020204020204" pitchFamily="34" charset="-122"/>
                <a:cs typeface="+mn-cs"/>
              </a:rPr>
              <a:t>除了很简单的问题外，一般不用自然语言</a:t>
            </a:r>
            <a:endParaRPr lang="en-US" altLang="en-US" b="0" dirty="0">
              <a:latin typeface="微软雅黑" panose="020B0503020204020204" pitchFamily="34" charset="-122"/>
              <a:ea typeface="微软雅黑" panose="020B0503020204020204" pitchFamily="34" charset="-122"/>
              <a:cs typeface="+mn-cs"/>
            </a:endParaRPr>
          </a:p>
        </p:txBody>
      </p:sp>
      <p:pic>
        <p:nvPicPr>
          <p:cNvPr id="28676"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p:cNvSpPr>
          <p:nvPr>
            <p:ph idx="1"/>
          </p:nvPr>
        </p:nvSpPr>
        <p:spPr>
          <a:xfrm>
            <a:off x="642938" y="1714500"/>
            <a:ext cx="8358187" cy="1428750"/>
          </a:xfrm>
        </p:spPr>
        <p:txBody>
          <a:bodyPr vert="horz" wrap="square" lIns="91440" tIns="45720" rIns="91440" bIns="45720" anchor="t" anchorCtr="0"/>
          <a:lstStyle/>
          <a:p>
            <a:r>
              <a:rPr lang="en-US" altLang="zh-CN" dirty="0">
                <a:solidFill>
                  <a:srgbClr val="C00000"/>
                </a:solidFill>
                <a:latin typeface="+mn-lt"/>
                <a:ea typeface="+mn-ea"/>
                <a:cs typeface="+mn-cs"/>
              </a:rPr>
              <a:t>流程图</a:t>
            </a:r>
            <a:r>
              <a:rPr lang="en-US" altLang="zh-CN" dirty="0">
                <a:latin typeface="+mn-lt"/>
                <a:ea typeface="+mn-ea"/>
                <a:cs typeface="+mn-cs"/>
              </a:rPr>
              <a:t>是用一些图框来表示各种操作</a:t>
            </a:r>
            <a:endParaRPr lang="en-US" altLang="zh-CN" dirty="0">
              <a:latin typeface="+mn-lt"/>
              <a:ea typeface="+mn-ea"/>
              <a:cs typeface="+mn-cs"/>
            </a:endParaRPr>
          </a:p>
          <a:p>
            <a:r>
              <a:rPr lang="en-US" altLang="zh-CN" dirty="0">
                <a:latin typeface="+mn-lt"/>
                <a:ea typeface="+mn-ea"/>
                <a:cs typeface="+mn-cs"/>
              </a:rPr>
              <a:t>用图形表示算法，直观形象，易于理解</a:t>
            </a:r>
            <a:endParaRPr lang="en-US" altLang="en-US" dirty="0">
              <a:latin typeface="+mn-lt"/>
              <a:ea typeface="+mn-ea"/>
              <a:cs typeface="+mn-cs"/>
            </a:endParaRPr>
          </a:p>
        </p:txBody>
      </p:sp>
      <p:sp>
        <p:nvSpPr>
          <p:cNvPr id="31" name="矩形 30"/>
          <p:cNvSpPr/>
          <p:nvPr/>
        </p:nvSpPr>
        <p:spPr>
          <a:xfrm>
            <a:off x="428625" y="1240790"/>
            <a:ext cx="8286750" cy="2428875"/>
          </a:xfrm>
          <a:prstGeom prst="rect">
            <a:avLst/>
          </a:prstGeom>
          <a:solidFill>
            <a:schemeClr val="accent1"/>
          </a:solidFill>
          <a:ln w="9525">
            <a:noFill/>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32" name="流程图: 决策 31"/>
          <p:cNvSpPr/>
          <p:nvPr/>
        </p:nvSpPr>
        <p:spPr>
          <a:xfrm>
            <a:off x="4929188" y="1717040"/>
            <a:ext cx="1714500" cy="857250"/>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dirty="0">
                <a:solidFill>
                  <a:srgbClr val="0000CC"/>
                </a:solidFill>
                <a:latin typeface="Arial" panose="020B0604020202020204" pitchFamily="34" charset="0"/>
              </a:rPr>
              <a:t>x≧0</a:t>
            </a:r>
            <a:endParaRPr lang="zh-CN" altLang="en-US" dirty="0">
              <a:solidFill>
                <a:srgbClr val="0000CC"/>
              </a:solidFill>
              <a:latin typeface="Arial" panose="020B0604020202020204" pitchFamily="34" charset="0"/>
            </a:endParaRPr>
          </a:p>
        </p:txBody>
      </p:sp>
      <p:cxnSp>
        <p:nvCxnSpPr>
          <p:cNvPr id="34" name="直接箭头连接符 33"/>
          <p:cNvCxnSpPr/>
          <p:nvPr/>
        </p:nvCxnSpPr>
        <p:spPr>
          <a:xfrm rot="5400000">
            <a:off x="5614988" y="1512253"/>
            <a:ext cx="428625" cy="1587"/>
          </a:xfrm>
          <a:prstGeom prst="straightConnector1">
            <a:avLst/>
          </a:prstGeom>
          <a:ln w="38100" cap="flat" cmpd="sng">
            <a:solidFill>
              <a:srgbClr val="00B050"/>
            </a:solidFill>
            <a:prstDash val="solid"/>
            <a:miter/>
            <a:headEnd type="none" w="med" len="med"/>
            <a:tailEnd type="arrow" w="med" len="med"/>
          </a:ln>
        </p:spPr>
      </p:cxnSp>
      <p:sp>
        <p:nvSpPr>
          <p:cNvPr id="35" name="TextBox 34"/>
          <p:cNvSpPr txBox="1"/>
          <p:nvPr/>
        </p:nvSpPr>
        <p:spPr>
          <a:xfrm>
            <a:off x="4214813" y="1602740"/>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00CC"/>
                </a:solidFill>
                <a:latin typeface="Arial" panose="020B0604020202020204" pitchFamily="34" charset="0"/>
              </a:rPr>
              <a:t>Y</a:t>
            </a:r>
            <a:endParaRPr lang="zh-CN" altLang="en-US" sz="2800" dirty="0">
              <a:solidFill>
                <a:srgbClr val="0000CC"/>
              </a:solidFill>
              <a:latin typeface="Arial" panose="020B0604020202020204" pitchFamily="34" charset="0"/>
            </a:endParaRPr>
          </a:p>
        </p:txBody>
      </p:sp>
      <p:cxnSp>
        <p:nvCxnSpPr>
          <p:cNvPr id="36" name="直接箭头连接符 35"/>
          <p:cNvCxnSpPr/>
          <p:nvPr/>
        </p:nvCxnSpPr>
        <p:spPr>
          <a:xfrm rot="5400000">
            <a:off x="3713163" y="2356803"/>
            <a:ext cx="428625" cy="1587"/>
          </a:xfrm>
          <a:prstGeom prst="straightConnector1">
            <a:avLst/>
          </a:prstGeom>
          <a:ln w="38100" cap="flat" cmpd="sng">
            <a:solidFill>
              <a:srgbClr val="00B050"/>
            </a:solidFill>
            <a:prstDash val="solid"/>
            <a:miter/>
            <a:headEnd type="none" w="med" len="med"/>
            <a:tailEnd type="arrow" w="med" len="med"/>
          </a:ln>
        </p:spPr>
      </p:cxnSp>
      <p:cxnSp>
        <p:nvCxnSpPr>
          <p:cNvPr id="40" name="直接连接符 39"/>
          <p:cNvCxnSpPr>
            <a:stCxn id="32" idx="1"/>
          </p:cNvCxnSpPr>
          <p:nvPr/>
        </p:nvCxnSpPr>
        <p:spPr>
          <a:xfrm rot="10800000">
            <a:off x="3929063" y="2145665"/>
            <a:ext cx="1000125" cy="0"/>
          </a:xfrm>
          <a:prstGeom prst="line">
            <a:avLst/>
          </a:prstGeom>
          <a:ln w="38100" cap="flat" cmpd="sng">
            <a:solidFill>
              <a:srgbClr val="00B050"/>
            </a:solidFill>
            <a:prstDash val="solid"/>
            <a:miter/>
            <a:headEnd type="none" w="med" len="med"/>
            <a:tailEnd type="none" w="med" len="med"/>
          </a:ln>
        </p:spPr>
      </p:cxnSp>
      <p:sp>
        <p:nvSpPr>
          <p:cNvPr id="41" name="TextBox 40"/>
          <p:cNvSpPr txBox="1"/>
          <p:nvPr/>
        </p:nvSpPr>
        <p:spPr>
          <a:xfrm>
            <a:off x="3143250" y="2359978"/>
            <a:ext cx="1571625" cy="58420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dirty="0">
                <a:solidFill>
                  <a:srgbClr val="00B050"/>
                </a:solidFill>
                <a:latin typeface="Arial" panose="020B0604020202020204" pitchFamily="34" charset="0"/>
              </a:rPr>
              <a:t>……</a:t>
            </a:r>
            <a:endParaRPr lang="zh-CN" altLang="en-US" dirty="0">
              <a:solidFill>
                <a:srgbClr val="00B050"/>
              </a:solidFill>
              <a:latin typeface="Arial" panose="020B0604020202020204" pitchFamily="34" charset="0"/>
            </a:endParaRPr>
          </a:p>
        </p:txBody>
      </p:sp>
      <p:sp>
        <p:nvSpPr>
          <p:cNvPr id="42" name="TextBox 41"/>
          <p:cNvSpPr txBox="1"/>
          <p:nvPr/>
        </p:nvSpPr>
        <p:spPr>
          <a:xfrm>
            <a:off x="6715125" y="164560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00CC"/>
                </a:solidFill>
                <a:latin typeface="Arial" panose="020B0604020202020204" pitchFamily="34" charset="0"/>
              </a:rPr>
              <a:t>N</a:t>
            </a:r>
            <a:endParaRPr lang="zh-CN" altLang="en-US" sz="2800" dirty="0">
              <a:solidFill>
                <a:srgbClr val="0000CC"/>
              </a:solidFill>
              <a:latin typeface="Arial" panose="020B0604020202020204" pitchFamily="34" charset="0"/>
            </a:endParaRPr>
          </a:p>
        </p:txBody>
      </p:sp>
      <p:cxnSp>
        <p:nvCxnSpPr>
          <p:cNvPr id="43" name="直接连接符 42"/>
          <p:cNvCxnSpPr>
            <a:stCxn id="32" idx="1"/>
          </p:cNvCxnSpPr>
          <p:nvPr/>
        </p:nvCxnSpPr>
        <p:spPr>
          <a:xfrm rot="10800000">
            <a:off x="6642100" y="2145665"/>
            <a:ext cx="930275" cy="0"/>
          </a:xfrm>
          <a:prstGeom prst="line">
            <a:avLst/>
          </a:prstGeom>
          <a:ln w="38100" cap="flat" cmpd="sng">
            <a:solidFill>
              <a:srgbClr val="00B050"/>
            </a:solidFill>
            <a:prstDash val="solid"/>
            <a:miter/>
            <a:headEnd type="none" w="med" len="med"/>
            <a:tailEnd type="none" w="med" len="med"/>
          </a:ln>
        </p:spPr>
      </p:cxnSp>
      <p:cxnSp>
        <p:nvCxnSpPr>
          <p:cNvPr id="44" name="直接箭头连接符 43"/>
          <p:cNvCxnSpPr>
            <a:stCxn id="32" idx="1"/>
          </p:cNvCxnSpPr>
          <p:nvPr/>
        </p:nvCxnSpPr>
        <p:spPr>
          <a:xfrm rot="5400000">
            <a:off x="7358063" y="2356803"/>
            <a:ext cx="428625" cy="3175"/>
          </a:xfrm>
          <a:prstGeom prst="straightConnector1">
            <a:avLst/>
          </a:prstGeom>
          <a:ln w="38100" cap="flat" cmpd="sng">
            <a:solidFill>
              <a:srgbClr val="00B050"/>
            </a:solidFill>
            <a:prstDash val="solid"/>
            <a:miter/>
            <a:headEnd type="none" w="med" len="med"/>
            <a:tailEnd type="arrow" w="med" len="med"/>
          </a:ln>
        </p:spPr>
      </p:cxnSp>
      <p:sp>
        <p:nvSpPr>
          <p:cNvPr id="45" name="TextBox 44"/>
          <p:cNvSpPr txBox="1"/>
          <p:nvPr/>
        </p:nvSpPr>
        <p:spPr>
          <a:xfrm>
            <a:off x="6786563" y="2359978"/>
            <a:ext cx="1571625" cy="58420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dirty="0">
                <a:solidFill>
                  <a:srgbClr val="00B050"/>
                </a:solidFill>
                <a:latin typeface="Arial" panose="020B0604020202020204" pitchFamily="34" charset="0"/>
              </a:rPr>
              <a:t>……</a:t>
            </a:r>
            <a:endParaRPr lang="zh-CN" altLang="en-US" dirty="0">
              <a:solidFill>
                <a:srgbClr val="00B050"/>
              </a:solidFill>
              <a:latin typeface="Arial" panose="020B0604020202020204" pitchFamily="34" charset="0"/>
            </a:endParaRPr>
          </a:p>
        </p:txBody>
      </p:sp>
      <p:cxnSp>
        <p:nvCxnSpPr>
          <p:cNvPr id="47" name="直接连接符 46"/>
          <p:cNvCxnSpPr>
            <a:stCxn id="32" idx="1"/>
          </p:cNvCxnSpPr>
          <p:nvPr/>
        </p:nvCxnSpPr>
        <p:spPr>
          <a:xfrm rot="5400000">
            <a:off x="3786188" y="3145790"/>
            <a:ext cx="285750" cy="0"/>
          </a:xfrm>
          <a:prstGeom prst="line">
            <a:avLst/>
          </a:prstGeom>
          <a:ln w="38100" cap="flat" cmpd="sng">
            <a:solidFill>
              <a:srgbClr val="00B050"/>
            </a:solidFill>
            <a:prstDash val="solid"/>
            <a:miter/>
            <a:headEnd type="none" w="med" len="med"/>
            <a:tailEnd type="none" w="med" len="med"/>
          </a:ln>
        </p:spPr>
      </p:cxnSp>
      <p:cxnSp>
        <p:nvCxnSpPr>
          <p:cNvPr id="48" name="直接连接符 47"/>
          <p:cNvCxnSpPr>
            <a:stCxn id="32" idx="1"/>
          </p:cNvCxnSpPr>
          <p:nvPr/>
        </p:nvCxnSpPr>
        <p:spPr>
          <a:xfrm rot="5400000">
            <a:off x="7429500" y="3145790"/>
            <a:ext cx="285750" cy="0"/>
          </a:xfrm>
          <a:prstGeom prst="line">
            <a:avLst/>
          </a:prstGeom>
          <a:ln w="38100" cap="flat" cmpd="sng">
            <a:solidFill>
              <a:srgbClr val="00B050"/>
            </a:solidFill>
            <a:prstDash val="solid"/>
            <a:miter/>
            <a:headEnd type="none" w="med" len="med"/>
            <a:tailEnd type="none" w="med" len="med"/>
          </a:ln>
        </p:spPr>
      </p:cxnSp>
      <p:cxnSp>
        <p:nvCxnSpPr>
          <p:cNvPr id="49" name="直接连接符 48"/>
          <p:cNvCxnSpPr>
            <a:stCxn id="32" idx="1"/>
          </p:cNvCxnSpPr>
          <p:nvPr/>
        </p:nvCxnSpPr>
        <p:spPr>
          <a:xfrm rot="10800000">
            <a:off x="3929063" y="3288665"/>
            <a:ext cx="3643312" cy="0"/>
          </a:xfrm>
          <a:prstGeom prst="line">
            <a:avLst/>
          </a:prstGeom>
          <a:ln w="38100" cap="flat" cmpd="sng">
            <a:solidFill>
              <a:srgbClr val="00B050"/>
            </a:solidFill>
            <a:prstDash val="solid"/>
            <a:miter/>
            <a:headEnd type="none" w="med" len="med"/>
            <a:tailEnd type="none" w="med" len="med"/>
          </a:ln>
        </p:spPr>
      </p:cxnSp>
      <p:cxnSp>
        <p:nvCxnSpPr>
          <p:cNvPr id="51" name="直接箭头连接符 50"/>
          <p:cNvCxnSpPr>
            <a:stCxn id="32" idx="1"/>
          </p:cNvCxnSpPr>
          <p:nvPr/>
        </p:nvCxnSpPr>
        <p:spPr>
          <a:xfrm rot="5400000">
            <a:off x="5570538" y="3499803"/>
            <a:ext cx="428625" cy="1587"/>
          </a:xfrm>
          <a:prstGeom prst="straightConnector1">
            <a:avLst/>
          </a:prstGeom>
          <a:ln w="38100" cap="flat" cmpd="sng">
            <a:solidFill>
              <a:srgbClr val="00B050"/>
            </a:solidFill>
            <a:prstDash val="solid"/>
            <a:miter/>
            <a:headEnd type="none" w="med" len="med"/>
            <a:tailEnd type="arrow" w="med" len="med"/>
          </a:ln>
        </p:spPr>
      </p:cxnSp>
      <p:sp>
        <p:nvSpPr>
          <p:cNvPr id="56" name="椭圆 55"/>
          <p:cNvSpPr/>
          <p:nvPr/>
        </p:nvSpPr>
        <p:spPr>
          <a:xfrm>
            <a:off x="5500688" y="1502728"/>
            <a:ext cx="642937" cy="428625"/>
          </a:xfrm>
          <a:prstGeom prst="ellipse">
            <a:avLst/>
          </a:prstGeom>
          <a:noFill/>
          <a:ln w="38100" cap="flat" cmpd="sng">
            <a:solidFill>
              <a:srgbClr val="FF000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57" name="圆角矩形标注 56"/>
          <p:cNvSpPr/>
          <p:nvPr/>
        </p:nvSpPr>
        <p:spPr>
          <a:xfrm>
            <a:off x="2357438" y="931228"/>
            <a:ext cx="1928812" cy="642937"/>
          </a:xfrm>
          <a:prstGeom prst="wedgeRoundRectCallout">
            <a:avLst>
              <a:gd name="adj1" fmla="val 112093"/>
              <a:gd name="adj2" fmla="val 63037"/>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C00000"/>
                </a:solidFill>
                <a:latin typeface="Arial" panose="020B0604020202020204" pitchFamily="34" charset="0"/>
              </a:rPr>
              <a:t>一个入口</a:t>
            </a:r>
            <a:endParaRPr lang="zh-CN" altLang="en-US" sz="2800" dirty="0">
              <a:solidFill>
                <a:srgbClr val="C00000"/>
              </a:solidFill>
              <a:latin typeface="Arial" panose="020B0604020202020204" pitchFamily="34" charset="0"/>
            </a:endParaRPr>
          </a:p>
        </p:txBody>
      </p:sp>
      <p:sp>
        <p:nvSpPr>
          <p:cNvPr id="58" name="椭圆 57"/>
          <p:cNvSpPr/>
          <p:nvPr/>
        </p:nvSpPr>
        <p:spPr>
          <a:xfrm>
            <a:off x="4643438" y="1859915"/>
            <a:ext cx="642937" cy="428625"/>
          </a:xfrm>
          <a:prstGeom prst="ellipse">
            <a:avLst/>
          </a:prstGeom>
          <a:noFill/>
          <a:ln w="38100" cap="flat" cmpd="sng">
            <a:solidFill>
              <a:srgbClr val="9D138D"/>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59" name="椭圆 58"/>
          <p:cNvSpPr/>
          <p:nvPr/>
        </p:nvSpPr>
        <p:spPr>
          <a:xfrm>
            <a:off x="6215063" y="1859915"/>
            <a:ext cx="642937" cy="428625"/>
          </a:xfrm>
          <a:prstGeom prst="ellipse">
            <a:avLst/>
          </a:prstGeom>
          <a:noFill/>
          <a:ln w="38100" cap="flat" cmpd="sng">
            <a:solidFill>
              <a:srgbClr val="9D138D"/>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60" name="圆角矩形标注 59"/>
          <p:cNvSpPr/>
          <p:nvPr/>
        </p:nvSpPr>
        <p:spPr>
          <a:xfrm>
            <a:off x="1643063" y="2217103"/>
            <a:ext cx="1928812" cy="642937"/>
          </a:xfrm>
          <a:prstGeom prst="wedgeRoundRectCallout">
            <a:avLst>
              <a:gd name="adj1" fmla="val 107546"/>
              <a:gd name="adj2" fmla="val -59704"/>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C00000"/>
                </a:solidFill>
                <a:latin typeface="Arial" panose="020B0604020202020204" pitchFamily="34" charset="0"/>
              </a:rPr>
              <a:t>两个出口</a:t>
            </a:r>
            <a:endParaRPr lang="zh-CN" altLang="en-US" sz="2800" dirty="0">
              <a:solidFill>
                <a:srgbClr val="C00000"/>
              </a:solidFill>
              <a:latin typeface="Arial" panose="020B0604020202020204" pitchFamily="34" charset="0"/>
            </a:endParaRPr>
          </a:p>
        </p:txBody>
      </p:sp>
      <p:pic>
        <p:nvPicPr>
          <p:cNvPr id="30743" name="图片 4" descr="Untitled2.png">
            <a:hlinkClick r:id="rId1" action="ppaction://hlinksldjump"/>
          </p:cNvPr>
          <p:cNvPicPr>
            <a:picLocks noChangeAspect="1"/>
          </p:cNvPicPr>
          <p:nvPr/>
        </p:nvPicPr>
        <p:blipFill>
          <a:blip r:embed="rId2"/>
          <a:stretch>
            <a:fillRect/>
          </a:stretch>
        </p:blipFill>
        <p:spPr>
          <a:xfrm>
            <a:off x="8429625" y="6358890"/>
            <a:ext cx="469900" cy="469900"/>
          </a:xfrm>
          <a:prstGeom prst="rect">
            <a:avLst/>
          </a:prstGeom>
          <a:noFill/>
          <a:ln w="9525">
            <a:noFill/>
          </a:ln>
        </p:spPr>
      </p:pic>
      <p:sp>
        <p:nvSpPr>
          <p:cNvPr id="46" name="流程图: 终止 45"/>
          <p:cNvSpPr/>
          <p:nvPr/>
        </p:nvSpPr>
        <p:spPr>
          <a:xfrm>
            <a:off x="785813" y="3977958"/>
            <a:ext cx="1428750" cy="500062"/>
          </a:xfrm>
          <a:prstGeom prst="flowChartTerminator">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50" name="TextBox 4"/>
          <p:cNvSpPr txBox="1"/>
          <p:nvPr/>
        </p:nvSpPr>
        <p:spPr>
          <a:xfrm>
            <a:off x="757238" y="4478020"/>
            <a:ext cx="142875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起止框</a:t>
            </a:r>
            <a:endParaRPr lang="zh-CN" altLang="en-US" sz="2800" dirty="0">
              <a:solidFill>
                <a:srgbClr val="000000"/>
              </a:solidFill>
              <a:latin typeface="Arial" panose="020B0604020202020204" pitchFamily="34" charset="0"/>
            </a:endParaRPr>
          </a:p>
        </p:txBody>
      </p:sp>
      <p:sp>
        <p:nvSpPr>
          <p:cNvPr id="52" name="TextBox 6"/>
          <p:cNvSpPr txBox="1"/>
          <p:nvPr/>
        </p:nvSpPr>
        <p:spPr>
          <a:xfrm>
            <a:off x="2428875" y="4478020"/>
            <a:ext cx="2214563"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输入输出框</a:t>
            </a:r>
            <a:endParaRPr lang="zh-CN" altLang="en-US" sz="2800" dirty="0">
              <a:solidFill>
                <a:srgbClr val="000000"/>
              </a:solidFill>
              <a:latin typeface="Arial" panose="020B0604020202020204" pitchFamily="34" charset="0"/>
            </a:endParaRPr>
          </a:p>
        </p:txBody>
      </p:sp>
      <p:sp>
        <p:nvSpPr>
          <p:cNvPr id="53" name="流程图: 数据 52"/>
          <p:cNvSpPr/>
          <p:nvPr/>
        </p:nvSpPr>
        <p:spPr>
          <a:xfrm>
            <a:off x="2643188" y="3977958"/>
            <a:ext cx="1785937" cy="500062"/>
          </a:xfrm>
          <a:prstGeom prst="flowChartInputOutput">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54" name="TextBox 8"/>
          <p:cNvSpPr txBox="1"/>
          <p:nvPr/>
        </p:nvSpPr>
        <p:spPr>
          <a:xfrm>
            <a:off x="6929438" y="447802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处理框</a:t>
            </a:r>
            <a:endParaRPr lang="zh-CN" altLang="en-US" sz="2800" dirty="0">
              <a:solidFill>
                <a:srgbClr val="000000"/>
              </a:solidFill>
              <a:latin typeface="Arial" panose="020B0604020202020204" pitchFamily="34" charset="0"/>
            </a:endParaRPr>
          </a:p>
        </p:txBody>
      </p:sp>
      <p:sp>
        <p:nvSpPr>
          <p:cNvPr id="55" name="流程图: 决策 54"/>
          <p:cNvSpPr/>
          <p:nvPr/>
        </p:nvSpPr>
        <p:spPr>
          <a:xfrm>
            <a:off x="4929188" y="3906520"/>
            <a:ext cx="1643062" cy="571500"/>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61" name="流程图: 过程 60"/>
          <p:cNvSpPr/>
          <p:nvPr/>
        </p:nvSpPr>
        <p:spPr>
          <a:xfrm>
            <a:off x="7072313" y="3906520"/>
            <a:ext cx="1357312" cy="571500"/>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cxnSp>
        <p:nvCxnSpPr>
          <p:cNvPr id="62" name="直接箭头连接符 61"/>
          <p:cNvCxnSpPr/>
          <p:nvPr/>
        </p:nvCxnSpPr>
        <p:spPr>
          <a:xfrm rot="5400000">
            <a:off x="822325" y="5512753"/>
            <a:ext cx="642938" cy="1587"/>
          </a:xfrm>
          <a:prstGeom prst="straightConnector1">
            <a:avLst/>
          </a:prstGeom>
          <a:ln w="38100" cap="flat" cmpd="sng">
            <a:solidFill>
              <a:schemeClr val="tx1"/>
            </a:solidFill>
            <a:prstDash val="solid"/>
            <a:miter/>
            <a:headEnd type="none" w="med" len="med"/>
            <a:tailEnd type="arrow" w="med" len="med"/>
          </a:ln>
        </p:spPr>
      </p:cxnSp>
      <p:cxnSp>
        <p:nvCxnSpPr>
          <p:cNvPr id="63" name="直接箭头连接符 62"/>
          <p:cNvCxnSpPr/>
          <p:nvPr/>
        </p:nvCxnSpPr>
        <p:spPr>
          <a:xfrm>
            <a:off x="1428750" y="5477828"/>
            <a:ext cx="712788" cy="1587"/>
          </a:xfrm>
          <a:prstGeom prst="straightConnector1">
            <a:avLst/>
          </a:prstGeom>
          <a:ln w="38100" cap="flat" cmpd="sng">
            <a:solidFill>
              <a:schemeClr val="tx1"/>
            </a:solidFill>
            <a:prstDash val="solid"/>
            <a:miter/>
            <a:headEnd type="none" w="med" len="med"/>
            <a:tailEnd type="arrow" w="med" len="med"/>
          </a:ln>
        </p:spPr>
      </p:cxnSp>
      <p:sp>
        <p:nvSpPr>
          <p:cNvPr id="64" name="流程图: 联系 16"/>
          <p:cNvSpPr/>
          <p:nvPr/>
        </p:nvSpPr>
        <p:spPr>
          <a:xfrm>
            <a:off x="3143250" y="5192078"/>
            <a:ext cx="714375" cy="642937"/>
          </a:xfrm>
          <a:prstGeom prst="flowChartConnector">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0000"/>
              </a:solidFill>
              <a:latin typeface="Arial" panose="020B0604020202020204" pitchFamily="34" charset="0"/>
            </a:endParaRPr>
          </a:p>
        </p:txBody>
      </p:sp>
      <p:sp>
        <p:nvSpPr>
          <p:cNvPr id="65" name="TextBox 17"/>
          <p:cNvSpPr txBox="1"/>
          <p:nvPr/>
        </p:nvSpPr>
        <p:spPr>
          <a:xfrm>
            <a:off x="5000625" y="4478338"/>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判断框</a:t>
            </a:r>
            <a:endParaRPr lang="zh-CN" altLang="en-US" sz="2800" dirty="0">
              <a:solidFill>
                <a:srgbClr val="000000"/>
              </a:solidFill>
              <a:latin typeface="Arial" panose="020B0604020202020204" pitchFamily="34" charset="0"/>
            </a:endParaRPr>
          </a:p>
        </p:txBody>
      </p:sp>
      <p:sp>
        <p:nvSpPr>
          <p:cNvPr id="66" name="TextBox 18"/>
          <p:cNvSpPr txBox="1"/>
          <p:nvPr/>
        </p:nvSpPr>
        <p:spPr>
          <a:xfrm>
            <a:off x="785813" y="597789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流程线</a:t>
            </a:r>
            <a:endParaRPr lang="zh-CN" altLang="en-US" sz="2800" dirty="0">
              <a:solidFill>
                <a:srgbClr val="000000"/>
              </a:solidFill>
              <a:latin typeface="Arial" panose="020B0604020202020204" pitchFamily="34" charset="0"/>
            </a:endParaRPr>
          </a:p>
        </p:txBody>
      </p:sp>
      <p:sp>
        <p:nvSpPr>
          <p:cNvPr id="67" name="TextBox 19"/>
          <p:cNvSpPr txBox="1"/>
          <p:nvPr/>
        </p:nvSpPr>
        <p:spPr>
          <a:xfrm>
            <a:off x="2786063" y="597789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连接点</a:t>
            </a:r>
            <a:endParaRPr lang="zh-CN" altLang="en-US" sz="2800" dirty="0">
              <a:solidFill>
                <a:srgbClr val="000000"/>
              </a:solidFill>
              <a:latin typeface="Arial" panose="020B0604020202020204" pitchFamily="34" charset="0"/>
            </a:endParaRPr>
          </a:p>
        </p:txBody>
      </p:sp>
      <p:cxnSp>
        <p:nvCxnSpPr>
          <p:cNvPr id="68" name="直接连接符 67"/>
          <p:cNvCxnSpPr/>
          <p:nvPr/>
        </p:nvCxnSpPr>
        <p:spPr>
          <a:xfrm>
            <a:off x="5214938" y="5549265"/>
            <a:ext cx="785812" cy="0"/>
          </a:xfrm>
          <a:prstGeom prst="line">
            <a:avLst/>
          </a:prstGeom>
          <a:ln w="38100" cap="flat" cmpd="sng">
            <a:solidFill>
              <a:schemeClr val="tx1"/>
            </a:solidFill>
            <a:prstDash val="dash"/>
            <a:miter/>
            <a:headEnd type="none" w="med" len="med"/>
            <a:tailEnd type="none" w="med" len="med"/>
          </a:ln>
        </p:spPr>
      </p:cxnSp>
      <p:cxnSp>
        <p:nvCxnSpPr>
          <p:cNvPr id="69" name="直接连接符 68"/>
          <p:cNvCxnSpPr/>
          <p:nvPr/>
        </p:nvCxnSpPr>
        <p:spPr>
          <a:xfrm>
            <a:off x="6000750" y="5111115"/>
            <a:ext cx="428625" cy="0"/>
          </a:xfrm>
          <a:prstGeom prst="line">
            <a:avLst/>
          </a:prstGeom>
          <a:ln w="38100" cap="flat" cmpd="sng">
            <a:solidFill>
              <a:schemeClr val="tx1"/>
            </a:solidFill>
            <a:prstDash val="solid"/>
            <a:miter/>
            <a:headEnd type="none" w="med" len="med"/>
            <a:tailEnd type="none" w="med" len="med"/>
          </a:ln>
        </p:spPr>
      </p:cxnSp>
      <p:cxnSp>
        <p:nvCxnSpPr>
          <p:cNvPr id="70" name="直接连接符 69"/>
          <p:cNvCxnSpPr/>
          <p:nvPr/>
        </p:nvCxnSpPr>
        <p:spPr>
          <a:xfrm rot="5400000">
            <a:off x="5572125" y="5549265"/>
            <a:ext cx="857250" cy="0"/>
          </a:xfrm>
          <a:prstGeom prst="line">
            <a:avLst/>
          </a:prstGeom>
          <a:ln w="38100" cap="flat" cmpd="sng">
            <a:solidFill>
              <a:schemeClr val="tx1"/>
            </a:solidFill>
            <a:prstDash val="solid"/>
            <a:miter/>
            <a:headEnd type="none" w="med" len="med"/>
            <a:tailEnd type="none" w="med" len="med"/>
          </a:ln>
        </p:spPr>
      </p:cxnSp>
      <p:cxnSp>
        <p:nvCxnSpPr>
          <p:cNvPr id="71" name="直接连接符 70"/>
          <p:cNvCxnSpPr/>
          <p:nvPr/>
        </p:nvCxnSpPr>
        <p:spPr>
          <a:xfrm>
            <a:off x="6000750" y="5977890"/>
            <a:ext cx="428625" cy="0"/>
          </a:xfrm>
          <a:prstGeom prst="line">
            <a:avLst/>
          </a:prstGeom>
          <a:ln w="38100" cap="flat" cmpd="sng">
            <a:solidFill>
              <a:schemeClr val="tx1"/>
            </a:solidFill>
            <a:prstDash val="solid"/>
            <a:miter/>
            <a:headEnd type="none" w="med" len="med"/>
            <a:tailEnd type="none" w="med" len="med"/>
          </a:ln>
        </p:spPr>
      </p:cxnSp>
      <p:sp>
        <p:nvSpPr>
          <p:cNvPr id="72" name="TextBox 28"/>
          <p:cNvSpPr txBox="1"/>
          <p:nvPr/>
        </p:nvSpPr>
        <p:spPr>
          <a:xfrm>
            <a:off x="5143500" y="597789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0000"/>
                </a:solidFill>
                <a:latin typeface="Arial" panose="020B0604020202020204" pitchFamily="34" charset="0"/>
              </a:rPr>
              <a:t>注释框</a:t>
            </a:r>
            <a:endParaRPr lang="zh-CN" altLang="en-US" sz="2800" dirty="0">
              <a:solidFill>
                <a:srgbClr val="000000"/>
              </a:solidFill>
              <a:latin typeface="Arial" panose="020B0604020202020204" pitchFamily="34" charset="0"/>
            </a:endParaRPr>
          </a:p>
        </p:txBody>
      </p:sp>
      <p:sp>
        <p:nvSpPr>
          <p:cNvPr id="30762" name="Rectangle 2"/>
          <p:cNvSpPr>
            <a:spLocks noGrp="1"/>
          </p:cNvSpPr>
          <p:nvPr>
            <p:ph type="title"/>
          </p:nvPr>
        </p:nvSpPr>
        <p:spPr>
          <a:xfrm>
            <a:off x="261938" y="488474"/>
            <a:ext cx="5253038" cy="646112"/>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黑体" panose="02010609060101010101" pitchFamily="49" charset="-122"/>
                <a:cs typeface="Times New Roman" panose="02020603050405020304" pitchFamily="18" charset="0"/>
              </a:rPr>
              <a:t>2.4.2 </a:t>
            </a:r>
            <a:r>
              <a:rPr lang="zh-CN" altLang="zh-CN" sz="3600" b="0" dirty="0">
                <a:solidFill>
                  <a:srgbClr val="235A67"/>
                </a:solidFill>
                <a:latin typeface="Times New Roman" panose="02020603050405020304" pitchFamily="18" charset="0"/>
                <a:ea typeface="黑体" panose="02010609060101010101" pitchFamily="49" charset="-122"/>
                <a:cs typeface="Times New Roman" panose="02020603050405020304" pitchFamily="18" charset="0"/>
              </a:rPr>
              <a:t>用流程图表示算法</a:t>
            </a:r>
            <a:endParaRPr lang="zh-CN" altLang="en-US" sz="3600" b="0" dirty="0">
              <a:solidFill>
                <a:srgbClr val="235A67"/>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lide(fromTop)">
                                      <p:cBhvr>
                                        <p:cTn id="12" dur="500"/>
                                        <p:tgtEl>
                                          <p:spTgt spid="34"/>
                                        </p:tgtEl>
                                      </p:cBhvr>
                                    </p:animEffect>
                                  </p:childTnLst>
                                </p:cTn>
                              </p:par>
                            </p:childTnLst>
                          </p:cTn>
                        </p:par>
                        <p:par>
                          <p:cTn id="13" fill="hold">
                            <p:stCondLst>
                              <p:cond delay="1000"/>
                            </p:stCondLst>
                            <p:childTnLst>
                              <p:par>
                                <p:cTn id="14" presetID="3" presetClass="entr" presetSubtype="10" fill="hold" grpId="0"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blinds(horizontal)">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blinds(horizontal)">
                                      <p:cBhvr>
                                        <p:cTn id="21" dur="500"/>
                                        <p:tgtEl>
                                          <p:spTgt spid="35"/>
                                        </p:tgtEl>
                                      </p:cBhvr>
                                    </p:animEffect>
                                  </p:childTnLst>
                                </p:cTn>
                              </p:par>
                            </p:childTnLst>
                          </p:cTn>
                        </p:par>
                        <p:par>
                          <p:cTn id="22" fill="hold">
                            <p:stCondLst>
                              <p:cond delay="500"/>
                            </p:stCondLst>
                            <p:childTnLst>
                              <p:par>
                                <p:cTn id="23" presetID="12" presetClass="entr" presetSubtype="2"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slide(fromRight)">
                                      <p:cBhvr>
                                        <p:cTn id="25" dur="500"/>
                                        <p:tgtEl>
                                          <p:spTgt spid="40"/>
                                        </p:tgtEl>
                                      </p:cBhvr>
                                    </p:animEffect>
                                  </p:childTnLst>
                                </p:cTn>
                              </p:par>
                            </p:childTnLst>
                          </p:cTn>
                        </p:par>
                        <p:par>
                          <p:cTn id="26" fill="hold">
                            <p:stCondLst>
                              <p:cond delay="1000"/>
                            </p:stCondLst>
                            <p:childTnLst>
                              <p:par>
                                <p:cTn id="27" presetID="12" presetClass="entr" presetSubtype="1"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slide(fromTop)">
                                      <p:cBhvr>
                                        <p:cTn id="29" dur="500"/>
                                        <p:tgtEl>
                                          <p:spTgt spid="36"/>
                                        </p:tgtEl>
                                      </p:cBhvr>
                                    </p:animEffect>
                                  </p:childTnLst>
                                </p:cTn>
                              </p:par>
                            </p:childTnLst>
                          </p:cTn>
                        </p:par>
                        <p:par>
                          <p:cTn id="30" fill="hold">
                            <p:stCondLst>
                              <p:cond delay="1500"/>
                            </p:stCondLst>
                            <p:childTnLst>
                              <p:par>
                                <p:cTn id="31" presetID="3" presetClass="entr" presetSubtype="10" fill="hold" grpId="0" nodeType="after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blinds(horizontal)">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linds(horizontal)">
                                      <p:cBhvr>
                                        <p:cTn id="38" dur="500"/>
                                        <p:tgtEl>
                                          <p:spTgt spid="42"/>
                                        </p:tgtEl>
                                      </p:cBhvr>
                                    </p:animEffect>
                                  </p:childTnLst>
                                </p:cTn>
                              </p:par>
                            </p:childTnLst>
                          </p:cTn>
                        </p:par>
                        <p:par>
                          <p:cTn id="39" fill="hold">
                            <p:stCondLst>
                              <p:cond delay="500"/>
                            </p:stCondLst>
                            <p:childTnLst>
                              <p:par>
                                <p:cTn id="40" presetID="12" presetClass="entr" presetSubtype="8" fill="hold" nodeType="after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slide(fromLeft)">
                                      <p:cBhvr>
                                        <p:cTn id="42" dur="500"/>
                                        <p:tgtEl>
                                          <p:spTgt spid="43"/>
                                        </p:tgtEl>
                                      </p:cBhvr>
                                    </p:animEffect>
                                  </p:childTnLst>
                                </p:cTn>
                              </p:par>
                            </p:childTnLst>
                          </p:cTn>
                        </p:par>
                        <p:par>
                          <p:cTn id="43" fill="hold">
                            <p:stCondLst>
                              <p:cond delay="1000"/>
                            </p:stCondLst>
                            <p:childTnLst>
                              <p:par>
                                <p:cTn id="44" presetID="12" presetClass="entr" presetSubtype="1" fill="hold" nodeType="after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slide(fromTop)">
                                      <p:cBhvr>
                                        <p:cTn id="46" dur="500"/>
                                        <p:tgtEl>
                                          <p:spTgt spid="44"/>
                                        </p:tgtEl>
                                      </p:cBhvr>
                                    </p:animEffect>
                                  </p:childTnLst>
                                </p:cTn>
                              </p:par>
                            </p:childTnLst>
                          </p:cTn>
                        </p:par>
                        <p:par>
                          <p:cTn id="47" fill="hold">
                            <p:stCondLst>
                              <p:cond delay="1500"/>
                            </p:stCondLst>
                            <p:childTnLst>
                              <p:par>
                                <p:cTn id="48" presetID="3" presetClass="entr" presetSubtype="10" fill="hold" grpId="0" nodeType="after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blinds(horizontal)">
                                      <p:cBhvr>
                                        <p:cTn id="50" dur="500"/>
                                        <p:tgtEl>
                                          <p:spTgt spid="45"/>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slide(fromTop)">
                                      <p:cBhvr>
                                        <p:cTn id="55" dur="500"/>
                                        <p:tgtEl>
                                          <p:spTgt spid="47"/>
                                        </p:tgtEl>
                                      </p:cBhvr>
                                    </p:animEffect>
                                  </p:childTnLst>
                                </p:cTn>
                              </p:par>
                              <p:par>
                                <p:cTn id="56" presetID="12" presetClass="entr" presetSubtype="1" fill="hold"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slide(fromTop)">
                                      <p:cBhvr>
                                        <p:cTn id="58" dur="500"/>
                                        <p:tgtEl>
                                          <p:spTgt spid="48"/>
                                        </p:tgtEl>
                                      </p:cBhvr>
                                    </p:animEffect>
                                  </p:childTnLst>
                                </p:cTn>
                              </p:par>
                            </p:childTnLst>
                          </p:cTn>
                        </p:par>
                        <p:par>
                          <p:cTn id="59" fill="hold">
                            <p:stCondLst>
                              <p:cond delay="500"/>
                            </p:stCondLst>
                            <p:childTnLst>
                              <p:par>
                                <p:cTn id="60" presetID="4" presetClass="entr" presetSubtype="16" fill="hold" nodeType="after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box(in)">
                                      <p:cBhvr>
                                        <p:cTn id="62" dur="500"/>
                                        <p:tgtEl>
                                          <p:spTgt spid="49"/>
                                        </p:tgtEl>
                                      </p:cBhvr>
                                    </p:animEffect>
                                  </p:childTnLst>
                                </p:cTn>
                              </p:par>
                            </p:childTnLst>
                          </p:cTn>
                        </p:par>
                        <p:par>
                          <p:cTn id="63" fill="hold">
                            <p:stCondLst>
                              <p:cond delay="1000"/>
                            </p:stCondLst>
                            <p:childTnLst>
                              <p:par>
                                <p:cTn id="64" presetID="12" presetClass="entr" presetSubtype="1" fill="hold" nodeType="after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slide(fromTop)">
                                      <p:cBhvr>
                                        <p:cTn id="66" dur="500"/>
                                        <p:tgtEl>
                                          <p:spTgt spid="51"/>
                                        </p:tgtEl>
                                      </p:cBhvr>
                                    </p:animEffect>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anim calcmode="lin" valueType="num">
                                      <p:cBhvr>
                                        <p:cTn id="71" dur="1000" fill="hold"/>
                                        <p:tgtEl>
                                          <p:spTgt spid="56"/>
                                        </p:tgtEl>
                                        <p:attrNameLst>
                                          <p:attrName>ppt_w</p:attrName>
                                        </p:attrNameLst>
                                      </p:cBhvr>
                                      <p:tavLst>
                                        <p:tav tm="0">
                                          <p:val>
                                            <p:fltVal val="0"/>
                                          </p:val>
                                        </p:tav>
                                        <p:tav tm="100000">
                                          <p:val>
                                            <p:strVal val="#ppt_w"/>
                                          </p:val>
                                        </p:tav>
                                      </p:tavLst>
                                    </p:anim>
                                    <p:anim calcmode="lin" valueType="num">
                                      <p:cBhvr>
                                        <p:cTn id="72" dur="1000" fill="hold"/>
                                        <p:tgtEl>
                                          <p:spTgt spid="56"/>
                                        </p:tgtEl>
                                        <p:attrNameLst>
                                          <p:attrName>ppt_h</p:attrName>
                                        </p:attrNameLst>
                                      </p:cBhvr>
                                      <p:tavLst>
                                        <p:tav tm="0">
                                          <p:val>
                                            <p:fltVal val="0"/>
                                          </p:val>
                                        </p:tav>
                                        <p:tav tm="100000">
                                          <p:val>
                                            <p:strVal val="#ppt_h"/>
                                          </p:val>
                                        </p:tav>
                                      </p:tavLst>
                                    </p:anim>
                                    <p:anim calcmode="lin" valueType="num">
                                      <p:cBhvr>
                                        <p:cTn id="7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par>
                          <p:cTn id="75" fill="hold">
                            <p:stCondLst>
                              <p:cond delay="1000"/>
                            </p:stCondLst>
                            <p:childTnLst>
                              <p:par>
                                <p:cTn id="76" presetID="3" presetClass="entr" presetSubtype="10" fill="hold" grpId="0" nodeType="after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blinds(horizontal)">
                                      <p:cBhvr>
                                        <p:cTn id="78" dur="500"/>
                                        <p:tgtEl>
                                          <p:spTgt spid="57"/>
                                        </p:tgtEl>
                                      </p:cBhvr>
                                    </p:animEffect>
                                  </p:childTnLst>
                                </p:cTn>
                              </p:par>
                            </p:childTnLst>
                          </p:cTn>
                        </p:par>
                      </p:childTnLst>
                    </p:cTn>
                  </p:par>
                  <p:par>
                    <p:cTn id="79" fill="hold">
                      <p:stCondLst>
                        <p:cond delay="indefinite"/>
                      </p:stCondLst>
                      <p:childTnLst>
                        <p:par>
                          <p:cTn id="80" fill="hold">
                            <p:stCondLst>
                              <p:cond delay="0"/>
                            </p:stCondLst>
                            <p:childTnLst>
                              <p:par>
                                <p:cTn id="81" presetID="15" presetClass="entr" presetSubtype="0" fill="hold" grpId="0" nodeType="clickEffect">
                                  <p:stCondLst>
                                    <p:cond delay="0"/>
                                  </p:stCondLst>
                                  <p:childTnLst>
                                    <p:set>
                                      <p:cBhvr>
                                        <p:cTn id="82" dur="1" fill="hold">
                                          <p:stCondLst>
                                            <p:cond delay="0"/>
                                          </p:stCondLst>
                                        </p:cTn>
                                        <p:tgtEl>
                                          <p:spTgt spid="58"/>
                                        </p:tgtEl>
                                        <p:attrNameLst>
                                          <p:attrName>style.visibility</p:attrName>
                                        </p:attrNameLst>
                                      </p:cBhvr>
                                      <p:to>
                                        <p:strVal val="visible"/>
                                      </p:to>
                                    </p:set>
                                    <p:anim calcmode="lin" valueType="num">
                                      <p:cBhvr>
                                        <p:cTn id="83" dur="1000" fill="hold"/>
                                        <p:tgtEl>
                                          <p:spTgt spid="58"/>
                                        </p:tgtEl>
                                        <p:attrNameLst>
                                          <p:attrName>ppt_w</p:attrName>
                                        </p:attrNameLst>
                                      </p:cBhvr>
                                      <p:tavLst>
                                        <p:tav tm="0">
                                          <p:val>
                                            <p:fltVal val="0"/>
                                          </p:val>
                                        </p:tav>
                                        <p:tav tm="100000">
                                          <p:val>
                                            <p:strVal val="#ppt_w"/>
                                          </p:val>
                                        </p:tav>
                                      </p:tavLst>
                                    </p:anim>
                                    <p:anim calcmode="lin" valueType="num">
                                      <p:cBhvr>
                                        <p:cTn id="84" dur="1000" fill="hold"/>
                                        <p:tgtEl>
                                          <p:spTgt spid="58"/>
                                        </p:tgtEl>
                                        <p:attrNameLst>
                                          <p:attrName>ppt_h</p:attrName>
                                        </p:attrNameLst>
                                      </p:cBhvr>
                                      <p:tavLst>
                                        <p:tav tm="0">
                                          <p:val>
                                            <p:fltVal val="0"/>
                                          </p:val>
                                        </p:tav>
                                        <p:tav tm="100000">
                                          <p:val>
                                            <p:strVal val="#ppt_h"/>
                                          </p:val>
                                        </p:tav>
                                      </p:tavLst>
                                    </p:anim>
                                    <p:anim calcmode="lin" valueType="num">
                                      <p:cBhvr>
                                        <p:cTn id="85" dur="1000" fill="hold"/>
                                        <p:tgtEl>
                                          <p:spTgt spid="58"/>
                                        </p:tgtEl>
                                        <p:attrNameLst>
                                          <p:attrName>ppt_x</p:attrName>
                                        </p:attrNameLst>
                                      </p:cBhvr>
                                      <p:tavLst>
                                        <p:tav tm="0" fmla="#ppt_x+(cos(-2*pi*(1-$))*-#ppt_x-sin(-2*pi*(1-$))*(1-#ppt_y))*(1-$)">
                                          <p:val>
                                            <p:fltVal val="0"/>
                                          </p:val>
                                        </p:tav>
                                        <p:tav tm="100000">
                                          <p:val>
                                            <p:fltVal val="1"/>
                                          </p:val>
                                        </p:tav>
                                      </p:tavLst>
                                    </p:anim>
                                    <p:anim calcmode="lin" valueType="num">
                                      <p:cBhvr>
                                        <p:cTn id="86" dur="1000" fill="hold"/>
                                        <p:tgtEl>
                                          <p:spTgt spid="58"/>
                                        </p:tgtEl>
                                        <p:attrNameLst>
                                          <p:attrName>ppt_y</p:attrName>
                                        </p:attrNameLst>
                                      </p:cBhvr>
                                      <p:tavLst>
                                        <p:tav tm="0" fmla="#ppt_y+(sin(-2*pi*(1-$))*-#ppt_x+cos(-2*pi*(1-$))*(1-#ppt_y))*(1-$)">
                                          <p:val>
                                            <p:fltVal val="0"/>
                                          </p:val>
                                        </p:tav>
                                        <p:tav tm="100000">
                                          <p:val>
                                            <p:fltVal val="1"/>
                                          </p:val>
                                        </p:tav>
                                      </p:tavLst>
                                    </p:anim>
                                  </p:childTnLst>
                                </p:cTn>
                              </p:par>
                              <p:par>
                                <p:cTn id="87" presetID="15" presetClass="entr" presetSubtype="0" fill="hold" grpId="0" nodeType="withEffect">
                                  <p:stCondLst>
                                    <p:cond delay="0"/>
                                  </p:stCondLst>
                                  <p:childTnLst>
                                    <p:set>
                                      <p:cBhvr>
                                        <p:cTn id="88" dur="1" fill="hold">
                                          <p:stCondLst>
                                            <p:cond delay="0"/>
                                          </p:stCondLst>
                                        </p:cTn>
                                        <p:tgtEl>
                                          <p:spTgt spid="59"/>
                                        </p:tgtEl>
                                        <p:attrNameLst>
                                          <p:attrName>style.visibility</p:attrName>
                                        </p:attrNameLst>
                                      </p:cBhvr>
                                      <p:to>
                                        <p:strVal val="visible"/>
                                      </p:to>
                                    </p:set>
                                    <p:anim calcmode="lin" valueType="num">
                                      <p:cBhvr>
                                        <p:cTn id="89" dur="1000" fill="hold"/>
                                        <p:tgtEl>
                                          <p:spTgt spid="59"/>
                                        </p:tgtEl>
                                        <p:attrNameLst>
                                          <p:attrName>ppt_w</p:attrName>
                                        </p:attrNameLst>
                                      </p:cBhvr>
                                      <p:tavLst>
                                        <p:tav tm="0">
                                          <p:val>
                                            <p:fltVal val="0"/>
                                          </p:val>
                                        </p:tav>
                                        <p:tav tm="100000">
                                          <p:val>
                                            <p:strVal val="#ppt_w"/>
                                          </p:val>
                                        </p:tav>
                                      </p:tavLst>
                                    </p:anim>
                                    <p:anim calcmode="lin" valueType="num">
                                      <p:cBhvr>
                                        <p:cTn id="90" dur="1000" fill="hold"/>
                                        <p:tgtEl>
                                          <p:spTgt spid="59"/>
                                        </p:tgtEl>
                                        <p:attrNameLst>
                                          <p:attrName>ppt_h</p:attrName>
                                        </p:attrNameLst>
                                      </p:cBhvr>
                                      <p:tavLst>
                                        <p:tav tm="0">
                                          <p:val>
                                            <p:fltVal val="0"/>
                                          </p:val>
                                        </p:tav>
                                        <p:tav tm="100000">
                                          <p:val>
                                            <p:strVal val="#ppt_h"/>
                                          </p:val>
                                        </p:tav>
                                      </p:tavLst>
                                    </p:anim>
                                    <p:anim calcmode="lin" valueType="num">
                                      <p:cBhvr>
                                        <p:cTn id="91" dur="1000" fill="hold"/>
                                        <p:tgtEl>
                                          <p:spTgt spid="59"/>
                                        </p:tgtEl>
                                        <p:attrNameLst>
                                          <p:attrName>ppt_x</p:attrName>
                                        </p:attrNameLst>
                                      </p:cBhvr>
                                      <p:tavLst>
                                        <p:tav tm="0" fmla="#ppt_x+(cos(-2*pi*(1-$))*-#ppt_x-sin(-2*pi*(1-$))*(1-#ppt_y))*(1-$)">
                                          <p:val>
                                            <p:fltVal val="0"/>
                                          </p:val>
                                        </p:tav>
                                        <p:tav tm="100000">
                                          <p:val>
                                            <p:fltVal val="1"/>
                                          </p:val>
                                        </p:tav>
                                      </p:tavLst>
                                    </p:anim>
                                    <p:anim calcmode="lin" valueType="num">
                                      <p:cBhvr>
                                        <p:cTn id="92" dur="1000" fill="hold"/>
                                        <p:tgtEl>
                                          <p:spTgt spid="59"/>
                                        </p:tgtEl>
                                        <p:attrNameLst>
                                          <p:attrName>ppt_y</p:attrName>
                                        </p:attrNameLst>
                                      </p:cBhvr>
                                      <p:tavLst>
                                        <p:tav tm="0" fmla="#ppt_y+(sin(-2*pi*(1-$))*-#ppt_x+cos(-2*pi*(1-$))*(1-#ppt_y))*(1-$)">
                                          <p:val>
                                            <p:fltVal val="0"/>
                                          </p:val>
                                        </p:tav>
                                        <p:tav tm="100000">
                                          <p:val>
                                            <p:fltVal val="1"/>
                                          </p:val>
                                        </p:tav>
                                      </p:tavLst>
                                    </p:anim>
                                  </p:childTnLst>
                                </p:cTn>
                              </p:par>
                            </p:childTnLst>
                          </p:cTn>
                        </p:par>
                        <p:par>
                          <p:cTn id="93" fill="hold">
                            <p:stCondLst>
                              <p:cond delay="1000"/>
                            </p:stCondLst>
                            <p:childTnLst>
                              <p:par>
                                <p:cTn id="94" presetID="3" presetClass="entr" presetSubtype="10" fill="hold" grpId="0" nodeType="after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blinds(horizontal)">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blinds(horizontal)">
                                      <p:cBhvr>
                                        <p:cTn id="101" dur="500"/>
                                        <p:tgtEl>
                                          <p:spTgt spid="46"/>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blinds(horizontal)">
                                      <p:cBhvr>
                                        <p:cTn id="104" dur="500"/>
                                        <p:tgtEl>
                                          <p:spTgt spid="50"/>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blinds(horizontal)">
                                      <p:cBhvr>
                                        <p:cTn id="109" dur="500"/>
                                        <p:tgtEl>
                                          <p:spTgt spid="53"/>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blinds(horizontal)">
                                      <p:cBhvr>
                                        <p:cTn id="112" dur="500"/>
                                        <p:tgtEl>
                                          <p:spTgt spid="52"/>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blinds(horizontal)">
                                      <p:cBhvr>
                                        <p:cTn id="117" dur="500"/>
                                        <p:tgtEl>
                                          <p:spTgt spid="55"/>
                                        </p:tgtEl>
                                      </p:cBhvr>
                                    </p:animEffect>
                                  </p:childTnLst>
                                </p:cTn>
                              </p:par>
                              <p:par>
                                <p:cTn id="118" presetID="3" presetClass="entr" presetSubtype="10" fill="hold" grpId="0" nodeType="withEffect">
                                  <p:stCondLst>
                                    <p:cond delay="0"/>
                                  </p:stCondLst>
                                  <p:iterate type="lt">
                                    <p:tmAbs val="0"/>
                                  </p:iterate>
                                  <p:childTnLst>
                                    <p:set>
                                      <p:cBhvr>
                                        <p:cTn id="119" dur="1" fill="hold">
                                          <p:stCondLst>
                                            <p:cond delay="0"/>
                                          </p:stCondLst>
                                        </p:cTn>
                                        <p:tgtEl>
                                          <p:spTgt spid="65">
                                            <p:txEl>
                                              <p:pRg st="0" end="0"/>
                                            </p:txEl>
                                          </p:spTgt>
                                        </p:tgtEl>
                                        <p:attrNameLst>
                                          <p:attrName>style.visibility</p:attrName>
                                        </p:attrNameLst>
                                      </p:cBhvr>
                                      <p:to>
                                        <p:strVal val="visible"/>
                                      </p:to>
                                    </p:set>
                                    <p:animEffect transition="in" filter="blinds(horizontal)">
                                      <p:cBhvr>
                                        <p:cTn id="120" dur="500"/>
                                        <p:tgtEl>
                                          <p:spTgt spid="65">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61"/>
                                        </p:tgtEl>
                                        <p:attrNameLst>
                                          <p:attrName>style.visibility</p:attrName>
                                        </p:attrNameLst>
                                      </p:cBhvr>
                                      <p:to>
                                        <p:strVal val="visible"/>
                                      </p:to>
                                    </p:set>
                                    <p:animEffect transition="in" filter="blinds(horizontal)">
                                      <p:cBhvr>
                                        <p:cTn id="125" dur="500"/>
                                        <p:tgtEl>
                                          <p:spTgt spid="61"/>
                                        </p:tgtEl>
                                      </p:cBhvr>
                                    </p:animEffect>
                                  </p:childTnLst>
                                </p:cTn>
                              </p:par>
                              <p:par>
                                <p:cTn id="126" presetID="3" presetClass="entr" presetSubtype="10" fill="hold" grpId="0" nodeType="withEffect">
                                  <p:stCondLst>
                                    <p:cond delay="0"/>
                                  </p:stCondLst>
                                  <p:childTnLst>
                                    <p:set>
                                      <p:cBhvr>
                                        <p:cTn id="127" dur="1" fill="hold">
                                          <p:stCondLst>
                                            <p:cond delay="0"/>
                                          </p:stCondLst>
                                        </p:cTn>
                                        <p:tgtEl>
                                          <p:spTgt spid="54"/>
                                        </p:tgtEl>
                                        <p:attrNameLst>
                                          <p:attrName>style.visibility</p:attrName>
                                        </p:attrNameLst>
                                      </p:cBhvr>
                                      <p:to>
                                        <p:strVal val="visible"/>
                                      </p:to>
                                    </p:set>
                                    <p:animEffect transition="in" filter="blinds(horizontal)">
                                      <p:cBhvr>
                                        <p:cTn id="128" dur="500"/>
                                        <p:tgtEl>
                                          <p:spTgt spid="54"/>
                                        </p:tgtEl>
                                      </p:cBhvr>
                                    </p:animEffec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62"/>
                                        </p:tgtEl>
                                        <p:attrNameLst>
                                          <p:attrName>style.visibility</p:attrName>
                                        </p:attrNameLst>
                                      </p:cBhvr>
                                      <p:to>
                                        <p:strVal val="visible"/>
                                      </p:to>
                                    </p:set>
                                    <p:animEffect transition="in" filter="blinds(horizontal)">
                                      <p:cBhvr>
                                        <p:cTn id="133" dur="500"/>
                                        <p:tgtEl>
                                          <p:spTgt spid="62"/>
                                        </p:tgtEl>
                                      </p:cBhvr>
                                    </p:animEffect>
                                  </p:childTnLst>
                                </p:cTn>
                              </p:par>
                              <p:par>
                                <p:cTn id="134" presetID="3" presetClass="entr" presetSubtype="10" fill="hold" nodeType="withEffect">
                                  <p:stCondLst>
                                    <p:cond delay="0"/>
                                  </p:stCondLst>
                                  <p:childTnLst>
                                    <p:set>
                                      <p:cBhvr>
                                        <p:cTn id="135" dur="1" fill="hold">
                                          <p:stCondLst>
                                            <p:cond delay="0"/>
                                          </p:stCondLst>
                                        </p:cTn>
                                        <p:tgtEl>
                                          <p:spTgt spid="63"/>
                                        </p:tgtEl>
                                        <p:attrNameLst>
                                          <p:attrName>style.visibility</p:attrName>
                                        </p:attrNameLst>
                                      </p:cBhvr>
                                      <p:to>
                                        <p:strVal val="visible"/>
                                      </p:to>
                                    </p:set>
                                    <p:animEffect transition="in" filter="blinds(horizontal)">
                                      <p:cBhvr>
                                        <p:cTn id="136" dur="500"/>
                                        <p:tgtEl>
                                          <p:spTgt spid="63"/>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66"/>
                                        </p:tgtEl>
                                        <p:attrNameLst>
                                          <p:attrName>style.visibility</p:attrName>
                                        </p:attrNameLst>
                                      </p:cBhvr>
                                      <p:to>
                                        <p:strVal val="visible"/>
                                      </p:to>
                                    </p:set>
                                    <p:animEffect transition="in" filter="blinds(horizontal)">
                                      <p:cBhvr>
                                        <p:cTn id="139" dur="500"/>
                                        <p:tgtEl>
                                          <p:spTgt spid="66"/>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grpId="0" nodeType="clickEffect">
                                  <p:stCondLst>
                                    <p:cond delay="0"/>
                                  </p:stCondLst>
                                  <p:childTnLst>
                                    <p:set>
                                      <p:cBhvr>
                                        <p:cTn id="143" dur="1" fill="hold">
                                          <p:stCondLst>
                                            <p:cond delay="0"/>
                                          </p:stCondLst>
                                        </p:cTn>
                                        <p:tgtEl>
                                          <p:spTgt spid="64"/>
                                        </p:tgtEl>
                                        <p:attrNameLst>
                                          <p:attrName>style.visibility</p:attrName>
                                        </p:attrNameLst>
                                      </p:cBhvr>
                                      <p:to>
                                        <p:strVal val="visible"/>
                                      </p:to>
                                    </p:set>
                                    <p:animEffect transition="in" filter="blinds(horizontal)">
                                      <p:cBhvr>
                                        <p:cTn id="144" dur="500"/>
                                        <p:tgtEl>
                                          <p:spTgt spid="64"/>
                                        </p:tgtEl>
                                      </p:cBhvr>
                                    </p:animEffect>
                                  </p:childTnLst>
                                </p:cTn>
                              </p:par>
                              <p:par>
                                <p:cTn id="145" presetID="3" presetClass="entr" presetSubtype="10" fill="hold" grpId="0" nodeType="with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blinds(horizontal)">
                                      <p:cBhvr>
                                        <p:cTn id="147" dur="500"/>
                                        <p:tgtEl>
                                          <p:spTgt spid="67"/>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68"/>
                                        </p:tgtEl>
                                        <p:attrNameLst>
                                          <p:attrName>style.visibility</p:attrName>
                                        </p:attrNameLst>
                                      </p:cBhvr>
                                      <p:to>
                                        <p:strVal val="visible"/>
                                      </p:to>
                                    </p:set>
                                    <p:animEffect transition="in" filter="blinds(horizontal)">
                                      <p:cBhvr>
                                        <p:cTn id="152" dur="500"/>
                                        <p:tgtEl>
                                          <p:spTgt spid="68"/>
                                        </p:tgtEl>
                                      </p:cBhvr>
                                    </p:animEffect>
                                  </p:childTnLst>
                                </p:cTn>
                              </p:par>
                              <p:par>
                                <p:cTn id="153" presetID="3" presetClass="entr" presetSubtype="10" fill="hold" nodeType="withEffect">
                                  <p:stCondLst>
                                    <p:cond delay="0"/>
                                  </p:stCondLst>
                                  <p:childTnLst>
                                    <p:set>
                                      <p:cBhvr>
                                        <p:cTn id="154" dur="1" fill="hold">
                                          <p:stCondLst>
                                            <p:cond delay="0"/>
                                          </p:stCondLst>
                                        </p:cTn>
                                        <p:tgtEl>
                                          <p:spTgt spid="69"/>
                                        </p:tgtEl>
                                        <p:attrNameLst>
                                          <p:attrName>style.visibility</p:attrName>
                                        </p:attrNameLst>
                                      </p:cBhvr>
                                      <p:to>
                                        <p:strVal val="visible"/>
                                      </p:to>
                                    </p:set>
                                    <p:animEffect transition="in" filter="blinds(horizontal)">
                                      <p:cBhvr>
                                        <p:cTn id="155" dur="500"/>
                                        <p:tgtEl>
                                          <p:spTgt spid="69"/>
                                        </p:tgtEl>
                                      </p:cBhvr>
                                    </p:animEffect>
                                  </p:childTnLst>
                                </p:cTn>
                              </p:par>
                              <p:par>
                                <p:cTn id="156" presetID="3" presetClass="entr" presetSubtype="10" fill="hold" nodeType="withEffect">
                                  <p:stCondLst>
                                    <p:cond delay="0"/>
                                  </p:stCondLst>
                                  <p:childTnLst>
                                    <p:set>
                                      <p:cBhvr>
                                        <p:cTn id="157" dur="1" fill="hold">
                                          <p:stCondLst>
                                            <p:cond delay="0"/>
                                          </p:stCondLst>
                                        </p:cTn>
                                        <p:tgtEl>
                                          <p:spTgt spid="70"/>
                                        </p:tgtEl>
                                        <p:attrNameLst>
                                          <p:attrName>style.visibility</p:attrName>
                                        </p:attrNameLst>
                                      </p:cBhvr>
                                      <p:to>
                                        <p:strVal val="visible"/>
                                      </p:to>
                                    </p:set>
                                    <p:animEffect transition="in" filter="blinds(horizontal)">
                                      <p:cBhvr>
                                        <p:cTn id="158" dur="500"/>
                                        <p:tgtEl>
                                          <p:spTgt spid="70"/>
                                        </p:tgtEl>
                                      </p:cBhvr>
                                    </p:animEffect>
                                  </p:childTnLst>
                                </p:cTn>
                              </p:par>
                              <p:par>
                                <p:cTn id="159" presetID="3" presetClass="entr" presetSubtype="10" fill="hold" nodeType="withEffect">
                                  <p:stCondLst>
                                    <p:cond delay="0"/>
                                  </p:stCondLst>
                                  <p:childTnLst>
                                    <p:set>
                                      <p:cBhvr>
                                        <p:cTn id="160" dur="1" fill="hold">
                                          <p:stCondLst>
                                            <p:cond delay="0"/>
                                          </p:stCondLst>
                                        </p:cTn>
                                        <p:tgtEl>
                                          <p:spTgt spid="71"/>
                                        </p:tgtEl>
                                        <p:attrNameLst>
                                          <p:attrName>style.visibility</p:attrName>
                                        </p:attrNameLst>
                                      </p:cBhvr>
                                      <p:to>
                                        <p:strVal val="visible"/>
                                      </p:to>
                                    </p:set>
                                    <p:animEffect transition="in" filter="blinds(horizontal)">
                                      <p:cBhvr>
                                        <p:cTn id="161" dur="500"/>
                                        <p:tgtEl>
                                          <p:spTgt spid="71"/>
                                        </p:tgtEl>
                                      </p:cBhvr>
                                    </p:animEffect>
                                  </p:childTnLst>
                                </p:cTn>
                              </p:par>
                              <p:par>
                                <p:cTn id="162" presetID="3" presetClass="entr" presetSubtype="10" fill="hold" grpId="0" nodeType="withEffect">
                                  <p:stCondLst>
                                    <p:cond delay="0"/>
                                  </p:stCondLst>
                                  <p:childTnLst>
                                    <p:set>
                                      <p:cBhvr>
                                        <p:cTn id="163" dur="1" fill="hold">
                                          <p:stCondLst>
                                            <p:cond delay="0"/>
                                          </p:stCondLst>
                                        </p:cTn>
                                        <p:tgtEl>
                                          <p:spTgt spid="72"/>
                                        </p:tgtEl>
                                        <p:attrNameLst>
                                          <p:attrName>style.visibility</p:attrName>
                                        </p:attrNameLst>
                                      </p:cBhvr>
                                      <p:to>
                                        <p:strVal val="visible"/>
                                      </p:to>
                                    </p:set>
                                    <p:animEffect transition="in" filter="blinds(horizontal)">
                                      <p:cBhvr>
                                        <p:cTn id="164" dur="500"/>
                                        <p:tgtEl>
                                          <p:spTgt spid="72"/>
                                        </p:tgtEl>
                                      </p:cBhvr>
                                    </p:animEffect>
                                  </p:childTnLst>
                                </p:cTn>
                              </p:par>
                            </p:childTnLst>
                          </p:cTn>
                        </p:par>
                      </p:childTnLst>
                    </p:cTn>
                  </p:par>
                  <p:par>
                    <p:cTn id="165" fill="hold">
                      <p:stCondLst>
                        <p:cond delay="indefinite"/>
                      </p:stCondLst>
                      <p:childTnLst>
                        <p:par>
                          <p:cTn id="166" fill="hold">
                            <p:stCondLst>
                              <p:cond delay="0"/>
                            </p:stCondLst>
                            <p:childTnLst>
                              <p:par>
                                <p:cTn id="167" presetID="16" presetClass="emph" presetSubtype="0" fill="hold" nodeType="clickEffect">
                                  <p:stCondLst>
                                    <p:cond delay="0"/>
                                  </p:stCondLst>
                                  <p:iterate type="lt">
                                    <p:tmPct val="4000"/>
                                  </p:iterate>
                                  <p:childTnLst>
                                    <p:set>
                                      <p:cBhvr override="childStyle">
                                        <p:cTn id="168" dur="500" fill="hold"/>
                                        <p:tgtEl>
                                          <p:spTgt spid="65">
                                            <p:txEl>
                                              <p:pRg st="0" end="0"/>
                                            </p:txEl>
                                          </p:spTgt>
                                        </p:tgtEl>
                                        <p:attrNameLst>
                                          <p:attrName>style.color</p:attrName>
                                        </p:attrNameLst>
                                      </p:cBhvr>
                                      <p:to>
                                        <p:clrVal>
                                          <a:srgbClr val="FF3300"/>
                                        </p:clrVal>
                                      </p:to>
                                    </p:set>
                                    <p:set>
                                      <p:cBhvr>
                                        <p:cTn id="169" dur="500" fill="hold"/>
                                        <p:tgtEl>
                                          <p:spTgt spid="65">
                                            <p:txEl>
                                              <p:pRg st="0" end="0"/>
                                            </p:txEl>
                                          </p:spTgt>
                                        </p:tgtEl>
                                        <p:attrNameLst>
                                          <p:attrName>fillcolor</p:attrName>
                                        </p:attrNameLst>
                                      </p:cBhvr>
                                      <p:to>
                                        <p:clrVal>
                                          <a:srgbClr val="FF3300"/>
                                        </p:clrVal>
                                      </p:to>
                                    </p:set>
                                    <p:set>
                                      <p:cBhvr>
                                        <p:cTn id="170" dur="500" fill="hold"/>
                                        <p:tgtEl>
                                          <p:spTgt spid="6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P spid="35" grpId="0"/>
      <p:bldP spid="41" grpId="0"/>
      <p:bldP spid="42" grpId="0"/>
      <p:bldP spid="45" grpId="0"/>
      <p:bldP spid="56" grpId="0" bldLvl="0" animBg="1"/>
      <p:bldP spid="57" grpId="0" bldLvl="0" animBg="1"/>
      <p:bldP spid="58" grpId="0" bldLvl="0" animBg="1"/>
      <p:bldP spid="59" grpId="0" bldLvl="0" animBg="1"/>
      <p:bldP spid="60" grpId="0" bldLvl="0" animBg="1"/>
      <p:bldP spid="46" grpId="0" bldLvl="0" animBg="1"/>
      <p:bldP spid="50" grpId="0"/>
      <p:bldP spid="52" grpId="0"/>
      <p:bldP spid="53" grpId="0" bldLvl="0" animBg="1"/>
      <p:bldP spid="54" grpId="0"/>
      <p:bldP spid="55" grpId="0" bldLvl="0" animBg="1"/>
      <p:bldP spid="61" grpId="0" bldLvl="0" animBg="1"/>
      <p:bldP spid="64" grpId="0" bldLvl="0" animBg="1"/>
      <p:bldP spid="65" grpId="0" build="allAtOnce"/>
      <p:bldP spid="66" grpId="0"/>
      <p:bldP spid="67" grpId="0"/>
      <p:bldP spid="7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idx="1"/>
          </p:nvPr>
        </p:nvSpPr>
        <p:spPr>
          <a:xfrm>
            <a:off x="642938" y="2575560"/>
            <a:ext cx="8358187" cy="1428750"/>
          </a:xfrm>
        </p:spPr>
        <p:txBody>
          <a:bodyPr vert="horz" wrap="square" lIns="91440" tIns="45720" rIns="91440" bIns="45720" anchor="t" anchorCtr="0"/>
          <a:lstStyle/>
          <a:p>
            <a:r>
              <a:rPr lang="en-US" altLang="zh-CN" dirty="0">
                <a:solidFill>
                  <a:srgbClr val="C00000"/>
                </a:solidFill>
                <a:latin typeface="+mn-lt"/>
                <a:ea typeface="+mn-ea"/>
                <a:cs typeface="+mn-cs"/>
              </a:rPr>
              <a:t>流程图</a:t>
            </a:r>
            <a:r>
              <a:rPr lang="en-US" altLang="zh-CN" dirty="0">
                <a:latin typeface="+mn-lt"/>
                <a:ea typeface="+mn-ea"/>
                <a:cs typeface="+mn-cs"/>
              </a:rPr>
              <a:t>是用一些图框来表示各种操作</a:t>
            </a:r>
            <a:endParaRPr lang="en-US" altLang="zh-CN" dirty="0">
              <a:latin typeface="+mn-lt"/>
              <a:ea typeface="+mn-ea"/>
              <a:cs typeface="+mn-cs"/>
            </a:endParaRPr>
          </a:p>
          <a:p>
            <a:r>
              <a:rPr lang="en-US" altLang="zh-CN" dirty="0">
                <a:latin typeface="+mn-lt"/>
                <a:ea typeface="+mn-ea"/>
                <a:cs typeface="+mn-cs"/>
              </a:rPr>
              <a:t>用图形表示算法，直观形象，易于理解</a:t>
            </a:r>
            <a:endParaRPr lang="en-US" altLang="en-US" dirty="0">
              <a:latin typeface="+mn-lt"/>
              <a:ea typeface="+mn-ea"/>
              <a:cs typeface="+mn-cs"/>
            </a:endParaRPr>
          </a:p>
        </p:txBody>
      </p:sp>
      <p:sp>
        <p:nvSpPr>
          <p:cNvPr id="31748" name="流程图: 终止 3"/>
          <p:cNvSpPr/>
          <p:nvPr/>
        </p:nvSpPr>
        <p:spPr>
          <a:xfrm>
            <a:off x="927100" y="4480243"/>
            <a:ext cx="1428750" cy="500062"/>
          </a:xfrm>
          <a:prstGeom prst="flowChartTerminator">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31749" name="TextBox 4"/>
          <p:cNvSpPr txBox="1"/>
          <p:nvPr/>
        </p:nvSpPr>
        <p:spPr>
          <a:xfrm>
            <a:off x="828993" y="5052060"/>
            <a:ext cx="142875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起止框</a:t>
            </a:r>
            <a:endParaRPr lang="zh-CN" altLang="en-US" sz="2800" dirty="0">
              <a:latin typeface="Arial" panose="020B0604020202020204" pitchFamily="34" charset="0"/>
            </a:endParaRPr>
          </a:p>
        </p:txBody>
      </p:sp>
      <p:sp>
        <p:nvSpPr>
          <p:cNvPr id="31750" name="TextBox 6"/>
          <p:cNvSpPr txBox="1"/>
          <p:nvPr/>
        </p:nvSpPr>
        <p:spPr>
          <a:xfrm>
            <a:off x="2500630" y="5052060"/>
            <a:ext cx="2214563"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输入输出框</a:t>
            </a:r>
            <a:endParaRPr lang="zh-CN" altLang="en-US" sz="2800" dirty="0">
              <a:latin typeface="Arial" panose="020B0604020202020204" pitchFamily="34" charset="0"/>
            </a:endParaRPr>
          </a:p>
        </p:txBody>
      </p:sp>
      <p:sp>
        <p:nvSpPr>
          <p:cNvPr id="31751" name="流程图: 数据 7"/>
          <p:cNvSpPr/>
          <p:nvPr/>
        </p:nvSpPr>
        <p:spPr>
          <a:xfrm>
            <a:off x="2714943" y="4480243"/>
            <a:ext cx="1785937" cy="500062"/>
          </a:xfrm>
          <a:prstGeom prst="flowChartInputOutput">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31752" name="TextBox 8"/>
          <p:cNvSpPr txBox="1"/>
          <p:nvPr/>
        </p:nvSpPr>
        <p:spPr>
          <a:xfrm>
            <a:off x="7001193" y="4909185"/>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处理框</a:t>
            </a:r>
            <a:endParaRPr lang="zh-CN" altLang="en-US" sz="2800" dirty="0">
              <a:latin typeface="Arial" panose="020B0604020202020204" pitchFamily="34" charset="0"/>
            </a:endParaRPr>
          </a:p>
        </p:txBody>
      </p:sp>
      <p:sp>
        <p:nvSpPr>
          <p:cNvPr id="31753" name="流程图: 决策 10"/>
          <p:cNvSpPr/>
          <p:nvPr/>
        </p:nvSpPr>
        <p:spPr>
          <a:xfrm>
            <a:off x="5000943" y="4322445"/>
            <a:ext cx="1643062" cy="571500"/>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31754" name="流程图: 过程 11"/>
          <p:cNvSpPr/>
          <p:nvPr/>
        </p:nvSpPr>
        <p:spPr>
          <a:xfrm>
            <a:off x="7144068" y="4337685"/>
            <a:ext cx="1357312" cy="571500"/>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cxnSp>
        <p:nvCxnSpPr>
          <p:cNvPr id="31755" name="直接箭头连接符 13"/>
          <p:cNvCxnSpPr/>
          <p:nvPr/>
        </p:nvCxnSpPr>
        <p:spPr>
          <a:xfrm rot="5400000">
            <a:off x="894080" y="6158548"/>
            <a:ext cx="642938" cy="1587"/>
          </a:xfrm>
          <a:prstGeom prst="straightConnector1">
            <a:avLst/>
          </a:prstGeom>
          <a:ln w="38100" cap="flat" cmpd="sng">
            <a:solidFill>
              <a:schemeClr val="tx1"/>
            </a:solidFill>
            <a:prstDash val="solid"/>
            <a:miter/>
            <a:headEnd type="none" w="med" len="med"/>
            <a:tailEnd type="arrow" w="med" len="med"/>
          </a:ln>
        </p:spPr>
      </p:cxnSp>
      <p:cxnSp>
        <p:nvCxnSpPr>
          <p:cNvPr id="31756" name="直接箭头连接符 14"/>
          <p:cNvCxnSpPr/>
          <p:nvPr/>
        </p:nvCxnSpPr>
        <p:spPr>
          <a:xfrm>
            <a:off x="1500505" y="6123623"/>
            <a:ext cx="712788" cy="1587"/>
          </a:xfrm>
          <a:prstGeom prst="straightConnector1">
            <a:avLst/>
          </a:prstGeom>
          <a:ln w="38100" cap="flat" cmpd="sng">
            <a:solidFill>
              <a:schemeClr val="tx1"/>
            </a:solidFill>
            <a:prstDash val="solid"/>
            <a:miter/>
            <a:headEnd type="none" w="med" len="med"/>
            <a:tailEnd type="arrow" w="med" len="med"/>
          </a:ln>
        </p:spPr>
      </p:cxnSp>
      <p:sp>
        <p:nvSpPr>
          <p:cNvPr id="31757" name="流程图: 联系 16"/>
          <p:cNvSpPr/>
          <p:nvPr/>
        </p:nvSpPr>
        <p:spPr>
          <a:xfrm>
            <a:off x="3215005" y="5837873"/>
            <a:ext cx="714375" cy="642937"/>
          </a:xfrm>
          <a:prstGeom prst="flowChartConnector">
            <a:avLst/>
          </a:prstGeom>
          <a:solidFill>
            <a:schemeClr val="accent1"/>
          </a:solid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31758" name="TextBox 17"/>
          <p:cNvSpPr txBox="1"/>
          <p:nvPr/>
        </p:nvSpPr>
        <p:spPr>
          <a:xfrm>
            <a:off x="5072380" y="4966018"/>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判断框</a:t>
            </a:r>
            <a:endParaRPr lang="zh-CN" altLang="en-US" sz="2800" dirty="0">
              <a:latin typeface="Arial" panose="020B0604020202020204" pitchFamily="34" charset="0"/>
            </a:endParaRPr>
          </a:p>
        </p:txBody>
      </p:sp>
      <p:sp>
        <p:nvSpPr>
          <p:cNvPr id="31759" name="TextBox 18"/>
          <p:cNvSpPr txBox="1"/>
          <p:nvPr/>
        </p:nvSpPr>
        <p:spPr>
          <a:xfrm>
            <a:off x="857568" y="569087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流程线</a:t>
            </a:r>
            <a:endParaRPr lang="zh-CN" altLang="en-US" sz="2800" dirty="0">
              <a:latin typeface="Arial" panose="020B0604020202020204" pitchFamily="34" charset="0"/>
            </a:endParaRPr>
          </a:p>
        </p:txBody>
      </p:sp>
      <p:sp>
        <p:nvSpPr>
          <p:cNvPr id="20" name="TextBox 19"/>
          <p:cNvSpPr txBox="1"/>
          <p:nvPr/>
        </p:nvSpPr>
        <p:spPr>
          <a:xfrm>
            <a:off x="2857818" y="569087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连接点</a:t>
            </a:r>
            <a:endParaRPr lang="zh-CN" altLang="en-US" sz="2800" dirty="0">
              <a:latin typeface="Arial" panose="020B0604020202020204" pitchFamily="34" charset="0"/>
            </a:endParaRPr>
          </a:p>
        </p:txBody>
      </p:sp>
      <p:cxnSp>
        <p:nvCxnSpPr>
          <p:cNvPr id="31761" name="直接连接符 21"/>
          <p:cNvCxnSpPr/>
          <p:nvPr/>
        </p:nvCxnSpPr>
        <p:spPr>
          <a:xfrm>
            <a:off x="5286693" y="6195060"/>
            <a:ext cx="785812" cy="0"/>
          </a:xfrm>
          <a:prstGeom prst="line">
            <a:avLst/>
          </a:prstGeom>
          <a:ln w="38100" cap="flat" cmpd="sng">
            <a:solidFill>
              <a:schemeClr val="tx1"/>
            </a:solidFill>
            <a:prstDash val="dash"/>
            <a:miter/>
            <a:headEnd type="none" w="med" len="med"/>
            <a:tailEnd type="none" w="med" len="med"/>
          </a:ln>
        </p:spPr>
      </p:cxnSp>
      <p:cxnSp>
        <p:nvCxnSpPr>
          <p:cNvPr id="31762" name="直接连接符 22"/>
          <p:cNvCxnSpPr/>
          <p:nvPr/>
        </p:nvCxnSpPr>
        <p:spPr>
          <a:xfrm>
            <a:off x="6072505" y="5453698"/>
            <a:ext cx="428625" cy="0"/>
          </a:xfrm>
          <a:prstGeom prst="line">
            <a:avLst/>
          </a:prstGeom>
          <a:ln w="38100" cap="flat" cmpd="sng">
            <a:solidFill>
              <a:schemeClr val="tx1"/>
            </a:solidFill>
            <a:prstDash val="solid"/>
            <a:miter/>
            <a:headEnd type="none" w="med" len="med"/>
            <a:tailEnd type="none" w="med" len="med"/>
          </a:ln>
        </p:spPr>
      </p:cxnSp>
      <p:cxnSp>
        <p:nvCxnSpPr>
          <p:cNvPr id="31763" name="直接连接符 23"/>
          <p:cNvCxnSpPr/>
          <p:nvPr/>
        </p:nvCxnSpPr>
        <p:spPr>
          <a:xfrm rot="5400000">
            <a:off x="5643880" y="5262245"/>
            <a:ext cx="857250" cy="0"/>
          </a:xfrm>
          <a:prstGeom prst="line">
            <a:avLst/>
          </a:prstGeom>
          <a:ln w="38100" cap="flat" cmpd="sng">
            <a:solidFill>
              <a:schemeClr val="tx1"/>
            </a:solidFill>
            <a:prstDash val="solid"/>
            <a:miter/>
            <a:headEnd type="none" w="med" len="med"/>
            <a:tailEnd type="none" w="med" len="med"/>
          </a:ln>
        </p:spPr>
      </p:cxnSp>
      <p:cxnSp>
        <p:nvCxnSpPr>
          <p:cNvPr id="31764" name="直接连接符 27"/>
          <p:cNvCxnSpPr/>
          <p:nvPr/>
        </p:nvCxnSpPr>
        <p:spPr>
          <a:xfrm>
            <a:off x="6072505" y="5690870"/>
            <a:ext cx="428625" cy="0"/>
          </a:xfrm>
          <a:prstGeom prst="line">
            <a:avLst/>
          </a:prstGeom>
          <a:ln w="38100" cap="flat" cmpd="sng">
            <a:solidFill>
              <a:schemeClr val="tx1"/>
            </a:solidFill>
            <a:prstDash val="solid"/>
            <a:miter/>
            <a:headEnd type="none" w="med" len="med"/>
            <a:tailEnd type="none" w="med" len="med"/>
          </a:ln>
        </p:spPr>
      </p:cxnSp>
      <p:sp>
        <p:nvSpPr>
          <p:cNvPr id="31765" name="TextBox 28"/>
          <p:cNvSpPr txBox="1"/>
          <p:nvPr/>
        </p:nvSpPr>
        <p:spPr>
          <a:xfrm>
            <a:off x="5215255" y="5690870"/>
            <a:ext cx="15716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latin typeface="Arial" panose="020B0604020202020204" pitchFamily="34" charset="0"/>
              </a:rPr>
              <a:t>注释框</a:t>
            </a:r>
            <a:endParaRPr lang="zh-CN" altLang="en-US" sz="2800" dirty="0">
              <a:latin typeface="Arial" panose="020B0604020202020204" pitchFamily="34" charset="0"/>
            </a:endParaRPr>
          </a:p>
        </p:txBody>
      </p:sp>
      <p:sp>
        <p:nvSpPr>
          <p:cNvPr id="31766" name="矩形 30"/>
          <p:cNvSpPr/>
          <p:nvPr/>
        </p:nvSpPr>
        <p:spPr>
          <a:xfrm>
            <a:off x="714375" y="1804670"/>
            <a:ext cx="8286750" cy="4808855"/>
          </a:xfrm>
          <a:prstGeom prst="rect">
            <a:avLst/>
          </a:prstGeom>
          <a:solidFill>
            <a:schemeClr val="accent1"/>
          </a:solidFill>
          <a:ln w="9525">
            <a:noFill/>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32" name="流程图: 决策 31"/>
          <p:cNvSpPr/>
          <p:nvPr/>
        </p:nvSpPr>
        <p:spPr>
          <a:xfrm>
            <a:off x="1357630" y="3004185"/>
            <a:ext cx="1428750" cy="642938"/>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dirty="0">
              <a:solidFill>
                <a:srgbClr val="0000CC"/>
              </a:solidFill>
              <a:latin typeface="Arial" panose="020B0604020202020204" pitchFamily="34" charset="0"/>
            </a:endParaRPr>
          </a:p>
        </p:txBody>
      </p:sp>
      <p:cxnSp>
        <p:nvCxnSpPr>
          <p:cNvPr id="34" name="直接箭头连接符 33"/>
          <p:cNvCxnSpPr/>
          <p:nvPr/>
        </p:nvCxnSpPr>
        <p:spPr>
          <a:xfrm rot="5400000">
            <a:off x="1835468" y="1832610"/>
            <a:ext cx="428625" cy="1588"/>
          </a:xfrm>
          <a:prstGeom prst="straightConnector1">
            <a:avLst/>
          </a:prstGeom>
          <a:ln w="38100" cap="flat" cmpd="sng">
            <a:solidFill>
              <a:srgbClr val="00B050"/>
            </a:solidFill>
            <a:prstDash val="solid"/>
            <a:miter/>
            <a:headEnd type="none" w="med" len="med"/>
            <a:tailEnd type="arrow" w="med" len="med"/>
          </a:ln>
        </p:spPr>
      </p:cxnSp>
      <p:sp>
        <p:nvSpPr>
          <p:cNvPr id="35" name="TextBox 34"/>
          <p:cNvSpPr txBox="1"/>
          <p:nvPr/>
        </p:nvSpPr>
        <p:spPr>
          <a:xfrm>
            <a:off x="133668" y="3051810"/>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00CC"/>
                </a:solidFill>
                <a:latin typeface="Arial" panose="020B0604020202020204" pitchFamily="34" charset="0"/>
              </a:rPr>
              <a:t>③</a:t>
            </a:r>
            <a:endParaRPr lang="zh-CN" altLang="en-US" sz="2800" dirty="0">
              <a:solidFill>
                <a:srgbClr val="0000CC"/>
              </a:solidFill>
              <a:latin typeface="Arial" panose="020B0604020202020204" pitchFamily="34" charset="0"/>
            </a:endParaRPr>
          </a:p>
        </p:txBody>
      </p:sp>
      <p:cxnSp>
        <p:nvCxnSpPr>
          <p:cNvPr id="36" name="直接箭头连接符 35"/>
          <p:cNvCxnSpPr/>
          <p:nvPr/>
        </p:nvCxnSpPr>
        <p:spPr>
          <a:xfrm rot="10800000">
            <a:off x="571818" y="3321685"/>
            <a:ext cx="785812" cy="1588"/>
          </a:xfrm>
          <a:prstGeom prst="straightConnector1">
            <a:avLst/>
          </a:prstGeom>
          <a:ln w="38100" cap="flat" cmpd="sng">
            <a:solidFill>
              <a:srgbClr val="00B050"/>
            </a:solidFill>
            <a:prstDash val="solid"/>
            <a:miter/>
            <a:headEnd type="none" w="med" len="med"/>
            <a:tailEnd type="arrow" w="med" len="med"/>
          </a:ln>
        </p:spPr>
      </p:cxnSp>
      <p:sp>
        <p:nvSpPr>
          <p:cNvPr id="41" name="TextBox 40"/>
          <p:cNvSpPr txBox="1"/>
          <p:nvPr/>
        </p:nvSpPr>
        <p:spPr>
          <a:xfrm>
            <a:off x="1668780" y="2050098"/>
            <a:ext cx="7858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dirty="0">
              <a:solidFill>
                <a:srgbClr val="00B050"/>
              </a:solidFill>
              <a:latin typeface="Arial" panose="020B0604020202020204" pitchFamily="34" charset="0"/>
            </a:endParaRPr>
          </a:p>
        </p:txBody>
      </p:sp>
      <p:cxnSp>
        <p:nvCxnSpPr>
          <p:cNvPr id="46" name="直接箭头连接符 45"/>
          <p:cNvCxnSpPr/>
          <p:nvPr/>
        </p:nvCxnSpPr>
        <p:spPr>
          <a:xfrm rot="5400000">
            <a:off x="1857693" y="2786698"/>
            <a:ext cx="428625" cy="3175"/>
          </a:xfrm>
          <a:prstGeom prst="straightConnector1">
            <a:avLst/>
          </a:prstGeom>
          <a:ln w="38100" cap="flat" cmpd="sng">
            <a:solidFill>
              <a:srgbClr val="00B050"/>
            </a:solidFill>
            <a:prstDash val="solid"/>
            <a:miter/>
            <a:headEnd type="none" w="med" len="med"/>
            <a:tailEnd type="arrow" w="med" len="med"/>
          </a:ln>
        </p:spPr>
      </p:cxnSp>
      <p:cxnSp>
        <p:nvCxnSpPr>
          <p:cNvPr id="50" name="直接箭头连接符 49"/>
          <p:cNvCxnSpPr/>
          <p:nvPr/>
        </p:nvCxnSpPr>
        <p:spPr>
          <a:xfrm rot="5400000">
            <a:off x="1856105" y="3858260"/>
            <a:ext cx="428625" cy="1588"/>
          </a:xfrm>
          <a:prstGeom prst="straightConnector1">
            <a:avLst/>
          </a:prstGeom>
          <a:ln w="38100" cap="flat" cmpd="sng">
            <a:solidFill>
              <a:srgbClr val="00B050"/>
            </a:solidFill>
            <a:prstDash val="solid"/>
            <a:miter/>
            <a:headEnd type="none" w="med" len="med"/>
            <a:tailEnd type="arrow" w="med" len="med"/>
          </a:ln>
        </p:spPr>
      </p:cxnSp>
      <p:sp>
        <p:nvSpPr>
          <p:cNvPr id="52" name="TextBox 51"/>
          <p:cNvSpPr txBox="1"/>
          <p:nvPr/>
        </p:nvSpPr>
        <p:spPr>
          <a:xfrm>
            <a:off x="1681480" y="4075748"/>
            <a:ext cx="7858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dirty="0">
              <a:solidFill>
                <a:srgbClr val="00B050"/>
              </a:solidFill>
              <a:latin typeface="Arial" panose="020B0604020202020204" pitchFamily="34" charset="0"/>
            </a:endParaRPr>
          </a:p>
        </p:txBody>
      </p:sp>
      <p:cxnSp>
        <p:nvCxnSpPr>
          <p:cNvPr id="53" name="直接箭头连接符 52"/>
          <p:cNvCxnSpPr/>
          <p:nvPr/>
        </p:nvCxnSpPr>
        <p:spPr>
          <a:xfrm rot="5400000">
            <a:off x="1856105" y="4820285"/>
            <a:ext cx="428625" cy="1588"/>
          </a:xfrm>
          <a:prstGeom prst="straightConnector1">
            <a:avLst/>
          </a:prstGeom>
          <a:ln w="38100" cap="flat" cmpd="sng">
            <a:solidFill>
              <a:srgbClr val="00B050"/>
            </a:solidFill>
            <a:prstDash val="solid"/>
            <a:miter/>
            <a:headEnd type="none" w="med" len="med"/>
            <a:tailEnd type="arrow" w="med" len="med"/>
          </a:ln>
        </p:spPr>
      </p:cxnSp>
      <p:sp>
        <p:nvSpPr>
          <p:cNvPr id="61" name="TextBox 60"/>
          <p:cNvSpPr txBox="1"/>
          <p:nvPr/>
        </p:nvSpPr>
        <p:spPr>
          <a:xfrm>
            <a:off x="1798955" y="490759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C00000"/>
                </a:solidFill>
                <a:latin typeface="Arial" panose="020B0604020202020204" pitchFamily="34" charset="0"/>
              </a:rPr>
              <a:t>①</a:t>
            </a:r>
            <a:endParaRPr lang="zh-CN" altLang="en-US" sz="2800" dirty="0">
              <a:solidFill>
                <a:srgbClr val="C00000"/>
              </a:solidFill>
              <a:latin typeface="Arial" panose="020B0604020202020204" pitchFamily="34" charset="0"/>
            </a:endParaRPr>
          </a:p>
        </p:txBody>
      </p:sp>
      <p:cxnSp>
        <p:nvCxnSpPr>
          <p:cNvPr id="62" name="直接箭头连接符 61"/>
          <p:cNvCxnSpPr/>
          <p:nvPr/>
        </p:nvCxnSpPr>
        <p:spPr>
          <a:xfrm rot="10800000">
            <a:off x="2072005" y="2789873"/>
            <a:ext cx="785813" cy="1587"/>
          </a:xfrm>
          <a:prstGeom prst="straightConnector1">
            <a:avLst/>
          </a:prstGeom>
          <a:ln w="38100" cap="flat" cmpd="sng">
            <a:solidFill>
              <a:srgbClr val="00B050"/>
            </a:solidFill>
            <a:prstDash val="solid"/>
            <a:miter/>
            <a:headEnd type="none" w="med" len="med"/>
            <a:tailEnd type="arrow" w="med" len="med"/>
          </a:ln>
        </p:spPr>
      </p:cxnSp>
      <p:sp>
        <p:nvSpPr>
          <p:cNvPr id="63" name="TextBox 62"/>
          <p:cNvSpPr txBox="1"/>
          <p:nvPr/>
        </p:nvSpPr>
        <p:spPr>
          <a:xfrm>
            <a:off x="2748280" y="2529523"/>
            <a:ext cx="571500" cy="52228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9D138D"/>
                </a:solidFill>
                <a:latin typeface="Arial" panose="020B0604020202020204" pitchFamily="34" charset="0"/>
              </a:rPr>
              <a:t>②</a:t>
            </a:r>
            <a:endParaRPr lang="zh-CN" altLang="en-US" sz="2800" dirty="0">
              <a:solidFill>
                <a:srgbClr val="9D138D"/>
              </a:solidFill>
              <a:latin typeface="Arial" panose="020B0604020202020204" pitchFamily="34" charset="0"/>
            </a:endParaRPr>
          </a:p>
        </p:txBody>
      </p:sp>
      <p:sp>
        <p:nvSpPr>
          <p:cNvPr id="64" name="TextBox 63"/>
          <p:cNvSpPr txBox="1"/>
          <p:nvPr/>
        </p:nvSpPr>
        <p:spPr>
          <a:xfrm>
            <a:off x="4643755" y="1256348"/>
            <a:ext cx="571500" cy="52228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C00000"/>
                </a:solidFill>
                <a:latin typeface="Arial" panose="020B0604020202020204" pitchFamily="34" charset="0"/>
              </a:rPr>
              <a:t>①</a:t>
            </a:r>
            <a:endParaRPr lang="zh-CN" altLang="en-US" sz="2800" dirty="0">
              <a:solidFill>
                <a:srgbClr val="C00000"/>
              </a:solidFill>
              <a:latin typeface="Arial" panose="020B0604020202020204" pitchFamily="34" charset="0"/>
            </a:endParaRPr>
          </a:p>
        </p:txBody>
      </p:sp>
      <p:cxnSp>
        <p:nvCxnSpPr>
          <p:cNvPr id="65" name="直接箭头连接符 64"/>
          <p:cNvCxnSpPr/>
          <p:nvPr/>
        </p:nvCxnSpPr>
        <p:spPr>
          <a:xfrm rot="5400000">
            <a:off x="4715193" y="1878648"/>
            <a:ext cx="428625" cy="3175"/>
          </a:xfrm>
          <a:prstGeom prst="straightConnector1">
            <a:avLst/>
          </a:prstGeom>
          <a:ln w="38100" cap="flat" cmpd="sng">
            <a:solidFill>
              <a:srgbClr val="00B050"/>
            </a:solidFill>
            <a:prstDash val="solid"/>
            <a:miter/>
            <a:headEnd type="none" w="med" len="med"/>
            <a:tailEnd type="arrow" w="med" len="med"/>
          </a:ln>
        </p:spPr>
      </p:cxnSp>
      <p:cxnSp>
        <p:nvCxnSpPr>
          <p:cNvPr id="67" name="直接箭头连接符 66"/>
          <p:cNvCxnSpPr/>
          <p:nvPr/>
        </p:nvCxnSpPr>
        <p:spPr>
          <a:xfrm rot="5400000">
            <a:off x="4740593" y="2653348"/>
            <a:ext cx="428625" cy="3175"/>
          </a:xfrm>
          <a:prstGeom prst="straightConnector1">
            <a:avLst/>
          </a:prstGeom>
          <a:ln w="38100" cap="flat" cmpd="sng">
            <a:solidFill>
              <a:srgbClr val="00B050"/>
            </a:solidFill>
            <a:prstDash val="solid"/>
            <a:miter/>
            <a:headEnd type="none" w="med" len="med"/>
            <a:tailEnd type="arrow" w="med" len="med"/>
          </a:ln>
        </p:spPr>
      </p:cxnSp>
      <p:sp>
        <p:nvSpPr>
          <p:cNvPr id="68" name="TextBox 67"/>
          <p:cNvSpPr txBox="1"/>
          <p:nvPr/>
        </p:nvSpPr>
        <p:spPr>
          <a:xfrm>
            <a:off x="4572318" y="2848610"/>
            <a:ext cx="785812" cy="4000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dirty="0">
              <a:solidFill>
                <a:srgbClr val="00B050"/>
              </a:solidFill>
              <a:latin typeface="Arial" panose="020B0604020202020204" pitchFamily="34" charset="0"/>
            </a:endParaRPr>
          </a:p>
        </p:txBody>
      </p:sp>
      <p:sp>
        <p:nvSpPr>
          <p:cNvPr id="69" name="平行四边形 68"/>
          <p:cNvSpPr/>
          <p:nvPr/>
        </p:nvSpPr>
        <p:spPr>
          <a:xfrm>
            <a:off x="4215130" y="2085023"/>
            <a:ext cx="1428750" cy="357187"/>
          </a:xfrm>
          <a:prstGeom prst="parallelogram">
            <a:avLst>
              <a:gd name="adj" fmla="val 25000"/>
            </a:avLst>
          </a:prstGeom>
          <a:solidFill>
            <a:schemeClr val="accent1"/>
          </a:solidFill>
          <a:ln w="38100" cap="flat" cmpd="sng">
            <a:solidFill>
              <a:srgbClr val="00B05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70" name="流程图: 决策 69"/>
          <p:cNvSpPr/>
          <p:nvPr/>
        </p:nvSpPr>
        <p:spPr>
          <a:xfrm>
            <a:off x="4227830" y="3664585"/>
            <a:ext cx="1428750" cy="500063"/>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dirty="0">
              <a:solidFill>
                <a:srgbClr val="0000CC"/>
              </a:solidFill>
              <a:latin typeface="Arial" panose="020B0604020202020204" pitchFamily="34" charset="0"/>
            </a:endParaRPr>
          </a:p>
        </p:txBody>
      </p:sp>
      <p:sp>
        <p:nvSpPr>
          <p:cNvPr id="71" name="TextBox 70"/>
          <p:cNvSpPr txBox="1"/>
          <p:nvPr/>
        </p:nvSpPr>
        <p:spPr>
          <a:xfrm>
            <a:off x="2980055" y="365029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00CC"/>
                </a:solidFill>
                <a:latin typeface="Arial" panose="020B0604020202020204" pitchFamily="34" charset="0"/>
              </a:rPr>
              <a:t>③</a:t>
            </a:r>
            <a:endParaRPr lang="zh-CN" altLang="en-US" sz="2800" dirty="0">
              <a:solidFill>
                <a:srgbClr val="0000CC"/>
              </a:solidFill>
              <a:latin typeface="Arial" panose="020B0604020202020204" pitchFamily="34" charset="0"/>
            </a:endParaRPr>
          </a:p>
        </p:txBody>
      </p:sp>
      <p:cxnSp>
        <p:nvCxnSpPr>
          <p:cNvPr id="72" name="直接箭头连接符 71"/>
          <p:cNvCxnSpPr/>
          <p:nvPr/>
        </p:nvCxnSpPr>
        <p:spPr>
          <a:xfrm rot="10800000">
            <a:off x="3416618" y="3920173"/>
            <a:ext cx="785812" cy="1587"/>
          </a:xfrm>
          <a:prstGeom prst="straightConnector1">
            <a:avLst/>
          </a:prstGeom>
          <a:ln w="38100" cap="flat" cmpd="sng">
            <a:solidFill>
              <a:srgbClr val="00B050"/>
            </a:solidFill>
            <a:prstDash val="solid"/>
            <a:miter/>
            <a:headEnd type="none" w="med" len="med"/>
            <a:tailEnd type="arrow" w="med" len="med"/>
          </a:ln>
        </p:spPr>
      </p:cxnSp>
      <p:cxnSp>
        <p:nvCxnSpPr>
          <p:cNvPr id="73" name="直接箭头连接符 72"/>
          <p:cNvCxnSpPr/>
          <p:nvPr/>
        </p:nvCxnSpPr>
        <p:spPr>
          <a:xfrm rot="5400000">
            <a:off x="4740593" y="3472498"/>
            <a:ext cx="428625" cy="3175"/>
          </a:xfrm>
          <a:prstGeom prst="straightConnector1">
            <a:avLst/>
          </a:prstGeom>
          <a:ln w="38100" cap="flat" cmpd="sng">
            <a:solidFill>
              <a:srgbClr val="00B050"/>
            </a:solidFill>
            <a:prstDash val="solid"/>
            <a:miter/>
            <a:headEnd type="none" w="med" len="med"/>
            <a:tailEnd type="arrow" w="med" len="med"/>
          </a:ln>
        </p:spPr>
      </p:cxnSp>
      <p:cxnSp>
        <p:nvCxnSpPr>
          <p:cNvPr id="74" name="直接箭头连接符 73"/>
          <p:cNvCxnSpPr/>
          <p:nvPr/>
        </p:nvCxnSpPr>
        <p:spPr>
          <a:xfrm rot="5400000">
            <a:off x="4726305" y="4375785"/>
            <a:ext cx="428625" cy="1588"/>
          </a:xfrm>
          <a:prstGeom prst="straightConnector1">
            <a:avLst/>
          </a:prstGeom>
          <a:ln w="38100" cap="flat" cmpd="sng">
            <a:solidFill>
              <a:srgbClr val="00B050"/>
            </a:solidFill>
            <a:prstDash val="solid"/>
            <a:miter/>
            <a:headEnd type="none" w="med" len="med"/>
            <a:tailEnd type="arrow" w="med" len="med"/>
          </a:ln>
        </p:spPr>
      </p:cxnSp>
      <p:sp>
        <p:nvSpPr>
          <p:cNvPr id="75" name="TextBox 74"/>
          <p:cNvSpPr txBox="1"/>
          <p:nvPr/>
        </p:nvSpPr>
        <p:spPr>
          <a:xfrm>
            <a:off x="4538980" y="4593273"/>
            <a:ext cx="785813" cy="369887"/>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1800" dirty="0">
              <a:solidFill>
                <a:srgbClr val="00B050"/>
              </a:solidFill>
              <a:latin typeface="Arial" panose="020B0604020202020204" pitchFamily="34" charset="0"/>
            </a:endParaRPr>
          </a:p>
        </p:txBody>
      </p:sp>
      <p:cxnSp>
        <p:nvCxnSpPr>
          <p:cNvPr id="76" name="直接箭头连接符 75"/>
          <p:cNvCxnSpPr/>
          <p:nvPr/>
        </p:nvCxnSpPr>
        <p:spPr>
          <a:xfrm rot="5400000">
            <a:off x="4753293" y="5186998"/>
            <a:ext cx="428625" cy="3175"/>
          </a:xfrm>
          <a:prstGeom prst="straightConnector1">
            <a:avLst/>
          </a:prstGeom>
          <a:ln w="38100" cap="flat" cmpd="sng">
            <a:solidFill>
              <a:srgbClr val="00B050"/>
            </a:solidFill>
            <a:prstDash val="solid"/>
            <a:miter/>
            <a:headEnd type="none" w="med" len="med"/>
            <a:tailEnd type="arrow" w="med" len="med"/>
          </a:ln>
        </p:spPr>
      </p:cxnSp>
      <p:sp>
        <p:nvSpPr>
          <p:cNvPr id="77" name="TextBox 76"/>
          <p:cNvSpPr txBox="1"/>
          <p:nvPr/>
        </p:nvSpPr>
        <p:spPr>
          <a:xfrm>
            <a:off x="4694555" y="527748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9D138D"/>
                </a:solidFill>
                <a:latin typeface="Arial" panose="020B0604020202020204" pitchFamily="34" charset="0"/>
              </a:rPr>
              <a:t>②</a:t>
            </a:r>
            <a:endParaRPr lang="zh-CN" altLang="en-US" sz="2800" dirty="0">
              <a:solidFill>
                <a:srgbClr val="9D138D"/>
              </a:solidFill>
              <a:latin typeface="Arial" panose="020B0604020202020204" pitchFamily="34" charset="0"/>
            </a:endParaRPr>
          </a:p>
        </p:txBody>
      </p:sp>
      <p:sp>
        <p:nvSpPr>
          <p:cNvPr id="78" name="TextBox 77"/>
          <p:cNvSpPr txBox="1"/>
          <p:nvPr/>
        </p:nvSpPr>
        <p:spPr>
          <a:xfrm>
            <a:off x="7131368" y="1629410"/>
            <a:ext cx="571500" cy="522288"/>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00CC"/>
                </a:solidFill>
                <a:latin typeface="Arial" panose="020B0604020202020204" pitchFamily="34" charset="0"/>
              </a:rPr>
              <a:t>③</a:t>
            </a:r>
            <a:endParaRPr lang="zh-CN" altLang="en-US" sz="2800" dirty="0">
              <a:solidFill>
                <a:srgbClr val="0000CC"/>
              </a:solidFill>
              <a:latin typeface="Arial" panose="020B0604020202020204" pitchFamily="34" charset="0"/>
            </a:endParaRPr>
          </a:p>
        </p:txBody>
      </p:sp>
      <p:cxnSp>
        <p:nvCxnSpPr>
          <p:cNvPr id="79" name="直接箭头连接符 78"/>
          <p:cNvCxnSpPr/>
          <p:nvPr/>
        </p:nvCxnSpPr>
        <p:spPr>
          <a:xfrm rot="5400000">
            <a:off x="7201218" y="2253298"/>
            <a:ext cx="428625" cy="1587"/>
          </a:xfrm>
          <a:prstGeom prst="straightConnector1">
            <a:avLst/>
          </a:prstGeom>
          <a:ln w="38100" cap="flat" cmpd="sng">
            <a:solidFill>
              <a:srgbClr val="00B050"/>
            </a:solidFill>
            <a:prstDash val="solid"/>
            <a:miter/>
            <a:headEnd type="none" w="med" len="med"/>
            <a:tailEnd type="arrow" w="med" len="med"/>
          </a:ln>
        </p:spPr>
      </p:cxnSp>
      <p:cxnSp>
        <p:nvCxnSpPr>
          <p:cNvPr id="80" name="直接箭头连接符 79"/>
          <p:cNvCxnSpPr/>
          <p:nvPr/>
        </p:nvCxnSpPr>
        <p:spPr>
          <a:xfrm rot="5400000">
            <a:off x="7226618" y="3039110"/>
            <a:ext cx="428625" cy="1588"/>
          </a:xfrm>
          <a:prstGeom prst="straightConnector1">
            <a:avLst/>
          </a:prstGeom>
          <a:ln w="38100" cap="flat" cmpd="sng">
            <a:solidFill>
              <a:srgbClr val="00B050"/>
            </a:solidFill>
            <a:prstDash val="solid"/>
            <a:miter/>
            <a:headEnd type="none" w="med" len="med"/>
            <a:tailEnd type="arrow" w="med" len="med"/>
          </a:ln>
        </p:spPr>
      </p:cxnSp>
      <p:sp>
        <p:nvSpPr>
          <p:cNvPr id="81" name="TextBox 80"/>
          <p:cNvSpPr txBox="1"/>
          <p:nvPr/>
        </p:nvSpPr>
        <p:spPr>
          <a:xfrm>
            <a:off x="7059930" y="3247073"/>
            <a:ext cx="785813" cy="4000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dirty="0">
              <a:solidFill>
                <a:srgbClr val="00B050"/>
              </a:solidFill>
              <a:latin typeface="Arial" panose="020B0604020202020204" pitchFamily="34" charset="0"/>
            </a:endParaRPr>
          </a:p>
        </p:txBody>
      </p:sp>
      <p:sp>
        <p:nvSpPr>
          <p:cNvPr id="82" name="平行四边形 81"/>
          <p:cNvSpPr/>
          <p:nvPr/>
        </p:nvSpPr>
        <p:spPr>
          <a:xfrm>
            <a:off x="6702743" y="2470785"/>
            <a:ext cx="1428750" cy="357188"/>
          </a:xfrm>
          <a:prstGeom prst="parallelogram">
            <a:avLst>
              <a:gd name="adj" fmla="val 24999"/>
            </a:avLst>
          </a:prstGeom>
          <a:solidFill>
            <a:schemeClr val="accent1"/>
          </a:solidFill>
          <a:ln w="38100" cap="flat" cmpd="sng">
            <a:solidFill>
              <a:srgbClr val="00B050"/>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latin typeface="Arial" panose="020B0604020202020204" pitchFamily="34" charset="0"/>
            </a:endParaRPr>
          </a:p>
        </p:txBody>
      </p:sp>
      <p:sp>
        <p:nvSpPr>
          <p:cNvPr id="83" name="流程图: 决策 82"/>
          <p:cNvSpPr/>
          <p:nvPr/>
        </p:nvSpPr>
        <p:spPr>
          <a:xfrm>
            <a:off x="6715443" y="4075748"/>
            <a:ext cx="1428750" cy="500062"/>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dirty="0">
              <a:solidFill>
                <a:srgbClr val="0000CC"/>
              </a:solidFill>
              <a:latin typeface="Arial" panose="020B0604020202020204" pitchFamily="34" charset="0"/>
            </a:endParaRPr>
          </a:p>
        </p:txBody>
      </p:sp>
      <p:cxnSp>
        <p:nvCxnSpPr>
          <p:cNvPr id="84" name="直接箭头连接符 83"/>
          <p:cNvCxnSpPr/>
          <p:nvPr/>
        </p:nvCxnSpPr>
        <p:spPr>
          <a:xfrm rot="5400000">
            <a:off x="7226618" y="3870960"/>
            <a:ext cx="428625" cy="1588"/>
          </a:xfrm>
          <a:prstGeom prst="straightConnector1">
            <a:avLst/>
          </a:prstGeom>
          <a:ln w="38100" cap="flat" cmpd="sng">
            <a:solidFill>
              <a:srgbClr val="00B050"/>
            </a:solidFill>
            <a:prstDash val="solid"/>
            <a:miter/>
            <a:headEnd type="none" w="med" len="med"/>
            <a:tailEnd type="arrow" w="med" len="med"/>
          </a:ln>
        </p:spPr>
      </p:cxnSp>
      <p:cxnSp>
        <p:nvCxnSpPr>
          <p:cNvPr id="87" name="直接连接符 86"/>
          <p:cNvCxnSpPr/>
          <p:nvPr/>
        </p:nvCxnSpPr>
        <p:spPr>
          <a:xfrm rot="5400000">
            <a:off x="7286943" y="4718685"/>
            <a:ext cx="285750" cy="0"/>
          </a:xfrm>
          <a:prstGeom prst="line">
            <a:avLst/>
          </a:prstGeom>
          <a:ln w="38100" cap="flat" cmpd="sng">
            <a:solidFill>
              <a:srgbClr val="00B050"/>
            </a:solidFill>
            <a:prstDash val="solid"/>
            <a:miter/>
            <a:headEnd type="none" w="med" len="med"/>
            <a:tailEnd type="none" w="med" len="med"/>
          </a:ln>
        </p:spPr>
      </p:cxnSp>
      <p:cxnSp>
        <p:nvCxnSpPr>
          <p:cNvPr id="88" name="直接连接符 87"/>
          <p:cNvCxnSpPr/>
          <p:nvPr/>
        </p:nvCxnSpPr>
        <p:spPr>
          <a:xfrm rot="10800000">
            <a:off x="6429693" y="4861560"/>
            <a:ext cx="1000125" cy="0"/>
          </a:xfrm>
          <a:prstGeom prst="line">
            <a:avLst/>
          </a:prstGeom>
          <a:ln w="38100" cap="flat" cmpd="sng">
            <a:solidFill>
              <a:srgbClr val="00B050"/>
            </a:solidFill>
            <a:prstDash val="solid"/>
            <a:miter/>
            <a:headEnd type="none" w="med" len="med"/>
            <a:tailEnd type="none" w="med" len="med"/>
          </a:ln>
        </p:spPr>
      </p:cxnSp>
      <p:cxnSp>
        <p:nvCxnSpPr>
          <p:cNvPr id="91" name="直接连接符 90"/>
          <p:cNvCxnSpPr/>
          <p:nvPr/>
        </p:nvCxnSpPr>
        <p:spPr>
          <a:xfrm rot="5400000" flipH="1" flipV="1">
            <a:off x="5501005" y="3932873"/>
            <a:ext cx="1857375" cy="0"/>
          </a:xfrm>
          <a:prstGeom prst="line">
            <a:avLst/>
          </a:prstGeom>
          <a:ln w="38100" cap="flat" cmpd="sng">
            <a:solidFill>
              <a:srgbClr val="00B050"/>
            </a:solidFill>
            <a:prstDash val="solid"/>
            <a:miter/>
            <a:headEnd type="none" w="med" len="med"/>
            <a:tailEnd type="none" w="med" len="med"/>
          </a:ln>
        </p:spPr>
      </p:cxnSp>
      <p:cxnSp>
        <p:nvCxnSpPr>
          <p:cNvPr id="94" name="直接箭头连接符 93"/>
          <p:cNvCxnSpPr/>
          <p:nvPr/>
        </p:nvCxnSpPr>
        <p:spPr>
          <a:xfrm>
            <a:off x="6429693" y="3004185"/>
            <a:ext cx="1000125" cy="1588"/>
          </a:xfrm>
          <a:prstGeom prst="straightConnector1">
            <a:avLst/>
          </a:prstGeom>
          <a:ln w="38100" cap="flat" cmpd="sng">
            <a:solidFill>
              <a:srgbClr val="00B050"/>
            </a:solidFill>
            <a:prstDash val="solid"/>
            <a:miter/>
            <a:headEnd type="none" w="med" len="med"/>
            <a:tailEnd type="arrow" w="med" len="med"/>
          </a:ln>
        </p:spPr>
      </p:cxnSp>
      <p:cxnSp>
        <p:nvCxnSpPr>
          <p:cNvPr id="97" name="直接连接符 96"/>
          <p:cNvCxnSpPr/>
          <p:nvPr/>
        </p:nvCxnSpPr>
        <p:spPr>
          <a:xfrm rot="10800000">
            <a:off x="8142605" y="4328160"/>
            <a:ext cx="501650" cy="0"/>
          </a:xfrm>
          <a:prstGeom prst="line">
            <a:avLst/>
          </a:prstGeom>
          <a:ln w="38100" cap="flat" cmpd="sng">
            <a:solidFill>
              <a:srgbClr val="00B050"/>
            </a:solidFill>
            <a:prstDash val="solid"/>
            <a:miter/>
            <a:headEnd type="none" w="med" len="med"/>
            <a:tailEnd type="none" w="med" len="med"/>
          </a:ln>
        </p:spPr>
      </p:cxnSp>
      <p:cxnSp>
        <p:nvCxnSpPr>
          <p:cNvPr id="99" name="直接连接符 98"/>
          <p:cNvCxnSpPr/>
          <p:nvPr/>
        </p:nvCxnSpPr>
        <p:spPr>
          <a:xfrm rot="5400000">
            <a:off x="8248968" y="4752023"/>
            <a:ext cx="785812" cy="0"/>
          </a:xfrm>
          <a:prstGeom prst="line">
            <a:avLst/>
          </a:prstGeom>
          <a:ln w="38100" cap="flat" cmpd="sng">
            <a:solidFill>
              <a:srgbClr val="00B050"/>
            </a:solidFill>
            <a:prstDash val="solid"/>
            <a:miter/>
            <a:headEnd type="none" w="med" len="med"/>
            <a:tailEnd type="none" w="med" len="med"/>
          </a:ln>
        </p:spPr>
      </p:cxnSp>
      <p:cxnSp>
        <p:nvCxnSpPr>
          <p:cNvPr id="101" name="直接连接符 100"/>
          <p:cNvCxnSpPr/>
          <p:nvPr/>
        </p:nvCxnSpPr>
        <p:spPr>
          <a:xfrm rot="10800000">
            <a:off x="7429818" y="5147310"/>
            <a:ext cx="1216025" cy="0"/>
          </a:xfrm>
          <a:prstGeom prst="line">
            <a:avLst/>
          </a:prstGeom>
          <a:ln w="38100" cap="flat" cmpd="sng">
            <a:solidFill>
              <a:srgbClr val="00B050"/>
            </a:solidFill>
            <a:prstDash val="solid"/>
            <a:miter/>
            <a:headEnd type="none" w="med" len="med"/>
            <a:tailEnd type="none" w="med" len="med"/>
          </a:ln>
        </p:spPr>
      </p:cxnSp>
      <p:cxnSp>
        <p:nvCxnSpPr>
          <p:cNvPr id="103" name="直接箭头连接符 102"/>
          <p:cNvCxnSpPr/>
          <p:nvPr/>
        </p:nvCxnSpPr>
        <p:spPr>
          <a:xfrm rot="5400000">
            <a:off x="7213918" y="5358448"/>
            <a:ext cx="428625" cy="1587"/>
          </a:xfrm>
          <a:prstGeom prst="straightConnector1">
            <a:avLst/>
          </a:prstGeom>
          <a:ln w="38100" cap="flat" cmpd="sng">
            <a:solidFill>
              <a:srgbClr val="00B050"/>
            </a:solidFill>
            <a:prstDash val="solid"/>
            <a:miter/>
            <a:headEnd type="none" w="med" len="med"/>
            <a:tailEnd type="arrow" w="med" len="med"/>
          </a:ln>
        </p:spPr>
      </p:cxnSp>
      <p:sp>
        <p:nvSpPr>
          <p:cNvPr id="105" name="圆角矩形标注 104"/>
          <p:cNvSpPr/>
          <p:nvPr/>
        </p:nvSpPr>
        <p:spPr>
          <a:xfrm>
            <a:off x="2195195" y="5733415"/>
            <a:ext cx="1928813" cy="642938"/>
          </a:xfrm>
          <a:prstGeom prst="wedgeRoundRectCallout">
            <a:avLst>
              <a:gd name="adj1" fmla="val -50592"/>
              <a:gd name="adj2" fmla="val -131481"/>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C00000"/>
                </a:solidFill>
                <a:latin typeface="Arial" panose="020B0604020202020204" pitchFamily="34" charset="0"/>
              </a:rPr>
              <a:t>位置不够</a:t>
            </a:r>
            <a:endParaRPr lang="zh-CN" altLang="en-US" sz="2800" dirty="0">
              <a:solidFill>
                <a:srgbClr val="C00000"/>
              </a:solidFill>
              <a:latin typeface="Arial" panose="020B0604020202020204" pitchFamily="34" charset="0"/>
            </a:endParaRPr>
          </a:p>
        </p:txBody>
      </p:sp>
      <p:sp>
        <p:nvSpPr>
          <p:cNvPr id="106" name="圆角矩形标注 105"/>
          <p:cNvSpPr/>
          <p:nvPr/>
        </p:nvSpPr>
        <p:spPr>
          <a:xfrm>
            <a:off x="5723573" y="5733098"/>
            <a:ext cx="1928812" cy="642937"/>
          </a:xfrm>
          <a:prstGeom prst="wedgeRoundRectCallout">
            <a:avLst>
              <a:gd name="adj1" fmla="val -83991"/>
              <a:gd name="adj2" fmla="val -76518"/>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C00000"/>
                </a:solidFill>
                <a:latin typeface="Arial" panose="020B0604020202020204" pitchFamily="34" charset="0"/>
              </a:rPr>
              <a:t>防止交叉</a:t>
            </a:r>
            <a:endParaRPr lang="zh-CN" altLang="en-US" sz="2800" dirty="0">
              <a:solidFill>
                <a:srgbClr val="C00000"/>
              </a:solidFill>
              <a:latin typeface="Arial" panose="020B0604020202020204" pitchFamily="34" charset="0"/>
            </a:endParaRPr>
          </a:p>
        </p:txBody>
      </p:sp>
      <p:pic>
        <p:nvPicPr>
          <p:cNvPr id="31810" name="图片 4" descr="Untitled2.png">
            <a:hlinkClick r:id="rId1" action="ppaction://hlinksldjump"/>
          </p:cNvPr>
          <p:cNvPicPr>
            <a:picLocks noChangeAspect="1"/>
          </p:cNvPicPr>
          <p:nvPr/>
        </p:nvPicPr>
        <p:blipFill>
          <a:blip r:embed="rId2"/>
          <a:stretch>
            <a:fillRect/>
          </a:stretch>
        </p:blipFill>
        <p:spPr>
          <a:xfrm>
            <a:off x="8501380" y="6143625"/>
            <a:ext cx="469900" cy="469900"/>
          </a:xfrm>
          <a:prstGeom prst="rect">
            <a:avLst/>
          </a:prstGeom>
          <a:noFill/>
          <a:ln w="9525">
            <a:noFill/>
          </a:ln>
        </p:spPr>
      </p:pic>
      <p:sp>
        <p:nvSpPr>
          <p:cNvPr id="85" name="Rectangle 2"/>
          <p:cNvSpPr>
            <a:spLocks noGrp="1"/>
          </p:cNvSpPr>
          <p:nvPr>
            <p:ph type="title"/>
          </p:nvPr>
        </p:nvSpPr>
        <p:spPr>
          <a:xfrm>
            <a:off x="261938" y="631984"/>
            <a:ext cx="5253038" cy="646112"/>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微软雅黑" panose="020B0503020204020204" pitchFamily="34" charset="-122"/>
              </a:rPr>
              <a:t>2.4.2 </a:t>
            </a:r>
            <a:r>
              <a:rPr lang="zh-CN" altLang="zh-CN" sz="3600" b="0" dirty="0">
                <a:solidFill>
                  <a:srgbClr val="235A67"/>
                </a:solidFill>
                <a:latin typeface="Times New Roman" panose="02020603050405020304" pitchFamily="18" charset="0"/>
                <a:ea typeface="微软雅黑" panose="020B0503020204020204" pitchFamily="34" charset="-122"/>
              </a:rPr>
              <a:t>用流程图表示算法</a:t>
            </a:r>
            <a:endParaRPr lang="zh-CN" altLang="en-US" sz="3600" b="0" dirty="0">
              <a:solidFill>
                <a:srgbClr val="235A67"/>
              </a:solidFill>
              <a:latin typeface="Times New Roman" panose="02020603050405020304" pitchFamily="18" charset="0"/>
              <a:ea typeface="微软雅黑" panose="020B0503020204020204" pitchFamily="34"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9" presetClass="entr" presetSubtype="0" decel="100000" fill="hold"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 calcmode="lin" valueType="num">
                                      <p:cBhvr>
                                        <p:cTn id="11"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20">
                                            <p:txEl>
                                              <p:pRg st="0" end="0"/>
                                            </p:txEl>
                                          </p:spTgt>
                                        </p:tgtEl>
                                        <p:attrNameLst>
                                          <p:attrName>ppt_h</p:attrName>
                                        </p:attrNameLst>
                                      </p:cBhvr>
                                      <p:tavLst>
                                        <p:tav tm="0">
                                          <p:val>
                                            <p:fltVal val="0"/>
                                          </p:val>
                                        </p:tav>
                                        <p:tav tm="100000">
                                          <p:val>
                                            <p:strVal val="#ppt_h"/>
                                          </p:val>
                                        </p:tav>
                                      </p:tavLst>
                                    </p:anim>
                                    <p:anim calcmode="lin" valueType="num">
                                      <p:cBhvr>
                                        <p:cTn id="13" dur="500" fill="hold"/>
                                        <p:tgtEl>
                                          <p:spTgt spid="20">
                                            <p:txEl>
                                              <p:pRg st="0" end="0"/>
                                            </p:txEl>
                                          </p:spTgt>
                                        </p:tgtEl>
                                        <p:attrNameLst>
                                          <p:attrName>style.rotation</p:attrName>
                                        </p:attrNameLst>
                                      </p:cBhvr>
                                      <p:tavLst>
                                        <p:tav tm="0">
                                          <p:val>
                                            <p:fltVal val="360"/>
                                          </p:val>
                                        </p:tav>
                                        <p:tav tm="100000">
                                          <p:val>
                                            <p:fltVal val="0"/>
                                          </p:val>
                                        </p:tav>
                                      </p:tavLst>
                                    </p:anim>
                                    <p:animEffect transition="in" filter="fade">
                                      <p:cBhvr>
                                        <p:cTn id="14" dur="500"/>
                                        <p:tgtEl>
                                          <p:spTgt spid="2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slide(fromTop)">
                                      <p:cBhvr>
                                        <p:cTn id="19" dur="500"/>
                                        <p:tgtEl>
                                          <p:spTgt spid="34"/>
                                        </p:tgtEl>
                                      </p:cBhvr>
                                    </p:animEffect>
                                  </p:childTnLst>
                                </p:cTn>
                              </p:par>
                            </p:childTnLst>
                          </p:cTn>
                        </p:par>
                        <p:par>
                          <p:cTn id="20" fill="hold">
                            <p:stCondLst>
                              <p:cond delay="500"/>
                            </p:stCondLst>
                            <p:childTnLst>
                              <p:par>
                                <p:cTn id="21" presetID="3" presetClass="entr" presetSubtype="10"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blinds(horizontal)">
                                      <p:cBhvr>
                                        <p:cTn id="23" dur="500"/>
                                        <p:tgtEl>
                                          <p:spTgt spid="41"/>
                                        </p:tgtEl>
                                      </p:cBhvr>
                                    </p:animEffect>
                                  </p:childTnLst>
                                </p:cTn>
                              </p:par>
                            </p:childTnLst>
                          </p:cTn>
                        </p:par>
                        <p:par>
                          <p:cTn id="24" fill="hold">
                            <p:stCondLst>
                              <p:cond delay="1000"/>
                            </p:stCondLst>
                            <p:childTnLst>
                              <p:par>
                                <p:cTn id="25" presetID="12" presetClass="entr" presetSubtype="1"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slide(fromTop)">
                                      <p:cBhvr>
                                        <p:cTn id="27" dur="500"/>
                                        <p:tgtEl>
                                          <p:spTgt spid="46"/>
                                        </p:tgtEl>
                                      </p:cBhvr>
                                    </p:animEffect>
                                  </p:childTnLst>
                                </p:cTn>
                              </p:par>
                            </p:childTnLst>
                          </p:cTn>
                        </p:par>
                        <p:par>
                          <p:cTn id="28" fill="hold">
                            <p:stCondLst>
                              <p:cond delay="1500"/>
                            </p:stCondLst>
                            <p:childTnLst>
                              <p:par>
                                <p:cTn id="29" presetID="3" presetClass="entr" presetSubtype="1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linds(horizontal)">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slide(fromTop)">
                                      <p:cBhvr>
                                        <p:cTn id="36" dur="500"/>
                                        <p:tgtEl>
                                          <p:spTgt spid="50"/>
                                        </p:tgtEl>
                                      </p:cBhvr>
                                    </p:animEffect>
                                  </p:childTnLst>
                                </p:cTn>
                              </p:par>
                            </p:childTnLst>
                          </p:cTn>
                        </p:par>
                        <p:par>
                          <p:cTn id="37" fill="hold">
                            <p:stCondLst>
                              <p:cond delay="500"/>
                            </p:stCondLst>
                            <p:childTnLst>
                              <p:par>
                                <p:cTn id="38" presetID="3" presetClass="entr" presetSubtype="10" fill="hold" grpId="0" nodeType="after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blinds(horizontal)">
                                      <p:cBhvr>
                                        <p:cTn id="40" dur="500"/>
                                        <p:tgtEl>
                                          <p:spTgt spid="52"/>
                                        </p:tgtEl>
                                      </p:cBhvr>
                                    </p:animEffect>
                                  </p:childTnLst>
                                </p:cTn>
                              </p:par>
                            </p:childTnLst>
                          </p:cTn>
                        </p:par>
                        <p:par>
                          <p:cTn id="41" fill="hold">
                            <p:stCondLst>
                              <p:cond delay="1000"/>
                            </p:stCondLst>
                            <p:childTnLst>
                              <p:par>
                                <p:cTn id="42" presetID="12" presetClass="entr" presetSubtype="1" fill="hold"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slide(fromTop)">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05"/>
                                        </p:tgtEl>
                                        <p:attrNameLst>
                                          <p:attrName>style.visibility</p:attrName>
                                        </p:attrNameLst>
                                      </p:cBhvr>
                                      <p:to>
                                        <p:strVal val="visible"/>
                                      </p:to>
                                    </p:set>
                                    <p:animEffect transition="in" filter="blinds(horizontal)">
                                      <p:cBhvr>
                                        <p:cTn id="49" dur="500"/>
                                        <p:tgtEl>
                                          <p:spTgt spid="105"/>
                                        </p:tgtEl>
                                      </p:cBhvr>
                                    </p:animEffect>
                                  </p:childTnLst>
                                  <p:subTnLst>
                                    <p:set>
                                      <p:cBhvr override="childStyle">
                                        <p:cTn dur="1" fill="hold" display="0" masterRel="nextClick" afterEffect="1"/>
                                        <p:tgtEl>
                                          <p:spTgt spid="105"/>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61"/>
                                        </p:tgtEl>
                                        <p:attrNameLst>
                                          <p:attrName>style.visibility</p:attrName>
                                        </p:attrNameLst>
                                      </p:cBhvr>
                                      <p:to>
                                        <p:strVal val="visible"/>
                                      </p:to>
                                    </p:set>
                                    <p:animEffect transition="in" filter="blinds(horizontal)">
                                      <p:cBhvr>
                                        <p:cTn id="54" dur="500"/>
                                        <p:tgtEl>
                                          <p:spTgt spid="61"/>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blinds(horizontal)">
                                      <p:cBhvr>
                                        <p:cTn id="59" dur="500"/>
                                        <p:tgtEl>
                                          <p:spTgt spid="64"/>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1" fill="hold" nodeType="click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slide(fromTop)">
                                      <p:cBhvr>
                                        <p:cTn id="64" dur="500"/>
                                        <p:tgtEl>
                                          <p:spTgt spid="65"/>
                                        </p:tgtEl>
                                      </p:cBhvr>
                                    </p:animEffect>
                                  </p:childTnLst>
                                </p:cTn>
                              </p:par>
                            </p:childTnLst>
                          </p:cTn>
                        </p:par>
                        <p:par>
                          <p:cTn id="65" fill="hold">
                            <p:stCondLst>
                              <p:cond delay="500"/>
                            </p:stCondLst>
                            <p:childTnLst>
                              <p:par>
                                <p:cTn id="66" presetID="3" presetClass="entr" presetSubtype="10" fill="hold" grpId="0" nodeType="after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blinds(horizontal)">
                                      <p:cBhvr>
                                        <p:cTn id="68" dur="500"/>
                                        <p:tgtEl>
                                          <p:spTgt spid="69"/>
                                        </p:tgtEl>
                                      </p:cBhvr>
                                    </p:animEffect>
                                  </p:childTnLst>
                                </p:cTn>
                              </p:par>
                            </p:childTnLst>
                          </p:cTn>
                        </p:par>
                        <p:par>
                          <p:cTn id="69" fill="hold">
                            <p:stCondLst>
                              <p:cond delay="1000"/>
                            </p:stCondLst>
                            <p:childTnLst>
                              <p:par>
                                <p:cTn id="70" presetID="12" presetClass="entr" presetSubtype="1" fill="hold" nodeType="afterEffect">
                                  <p:stCondLst>
                                    <p:cond delay="0"/>
                                  </p:stCondLst>
                                  <p:childTnLst>
                                    <p:set>
                                      <p:cBhvr>
                                        <p:cTn id="71" dur="1" fill="hold">
                                          <p:stCondLst>
                                            <p:cond delay="0"/>
                                          </p:stCondLst>
                                        </p:cTn>
                                        <p:tgtEl>
                                          <p:spTgt spid="67"/>
                                        </p:tgtEl>
                                        <p:attrNameLst>
                                          <p:attrName>style.visibility</p:attrName>
                                        </p:attrNameLst>
                                      </p:cBhvr>
                                      <p:to>
                                        <p:strVal val="visible"/>
                                      </p:to>
                                    </p:set>
                                    <p:animEffect transition="in" filter="slide(fromTop)">
                                      <p:cBhvr>
                                        <p:cTn id="72" dur="500"/>
                                        <p:tgtEl>
                                          <p:spTgt spid="67"/>
                                        </p:tgtEl>
                                      </p:cBhvr>
                                    </p:animEffect>
                                  </p:childTnLst>
                                </p:cTn>
                              </p:par>
                            </p:childTnLst>
                          </p:cTn>
                        </p:par>
                        <p:par>
                          <p:cTn id="73" fill="hold">
                            <p:stCondLst>
                              <p:cond delay="1500"/>
                            </p:stCondLst>
                            <p:childTnLst>
                              <p:par>
                                <p:cTn id="74" presetID="3" presetClass="entr" presetSubtype="10" fill="hold" grpId="0" nodeType="afterEffect">
                                  <p:stCondLst>
                                    <p:cond delay="0"/>
                                  </p:stCondLst>
                                  <p:childTnLst>
                                    <p:set>
                                      <p:cBhvr>
                                        <p:cTn id="75" dur="1" fill="hold">
                                          <p:stCondLst>
                                            <p:cond delay="0"/>
                                          </p:stCondLst>
                                        </p:cTn>
                                        <p:tgtEl>
                                          <p:spTgt spid="68"/>
                                        </p:tgtEl>
                                        <p:attrNameLst>
                                          <p:attrName>style.visibility</p:attrName>
                                        </p:attrNameLst>
                                      </p:cBhvr>
                                      <p:to>
                                        <p:strVal val="visible"/>
                                      </p:to>
                                    </p:set>
                                    <p:animEffect transition="in" filter="blinds(horizontal)">
                                      <p:cBhvr>
                                        <p:cTn id="76" dur="500"/>
                                        <p:tgtEl>
                                          <p:spTgt spid="68"/>
                                        </p:tgtEl>
                                      </p:cBhvr>
                                    </p:animEffect>
                                  </p:childTnLst>
                                </p:cTn>
                              </p:par>
                            </p:childTnLst>
                          </p:cTn>
                        </p:par>
                        <p:par>
                          <p:cTn id="77" fill="hold">
                            <p:stCondLst>
                              <p:cond delay="2000"/>
                            </p:stCondLst>
                            <p:childTnLst>
                              <p:par>
                                <p:cTn id="78" presetID="12" presetClass="entr" presetSubtype="1" fill="hold" nodeType="afterEffect">
                                  <p:stCondLst>
                                    <p:cond delay="0"/>
                                  </p:stCondLst>
                                  <p:childTnLst>
                                    <p:set>
                                      <p:cBhvr>
                                        <p:cTn id="79" dur="1" fill="hold">
                                          <p:stCondLst>
                                            <p:cond delay="0"/>
                                          </p:stCondLst>
                                        </p:cTn>
                                        <p:tgtEl>
                                          <p:spTgt spid="73"/>
                                        </p:tgtEl>
                                        <p:attrNameLst>
                                          <p:attrName>style.visibility</p:attrName>
                                        </p:attrNameLst>
                                      </p:cBhvr>
                                      <p:to>
                                        <p:strVal val="visible"/>
                                      </p:to>
                                    </p:set>
                                    <p:animEffect transition="in" filter="slide(fromTop)">
                                      <p:cBhvr>
                                        <p:cTn id="80" dur="500"/>
                                        <p:tgtEl>
                                          <p:spTgt spid="73"/>
                                        </p:tgtEl>
                                      </p:cBhvr>
                                    </p:animEffect>
                                  </p:childTnLst>
                                </p:cTn>
                              </p:par>
                            </p:childTnLst>
                          </p:cTn>
                        </p:par>
                        <p:par>
                          <p:cTn id="81" fill="hold">
                            <p:stCondLst>
                              <p:cond delay="2500"/>
                            </p:stCondLst>
                            <p:childTnLst>
                              <p:par>
                                <p:cTn id="82" presetID="3" presetClass="entr" presetSubtype="10" fill="hold" grpId="0" nodeType="afterEffect">
                                  <p:stCondLst>
                                    <p:cond delay="0"/>
                                  </p:stCondLst>
                                  <p:childTnLst>
                                    <p:set>
                                      <p:cBhvr>
                                        <p:cTn id="83" dur="1" fill="hold">
                                          <p:stCondLst>
                                            <p:cond delay="0"/>
                                          </p:stCondLst>
                                        </p:cTn>
                                        <p:tgtEl>
                                          <p:spTgt spid="70"/>
                                        </p:tgtEl>
                                        <p:attrNameLst>
                                          <p:attrName>style.visibility</p:attrName>
                                        </p:attrNameLst>
                                      </p:cBhvr>
                                      <p:to>
                                        <p:strVal val="visible"/>
                                      </p:to>
                                    </p:set>
                                    <p:animEffect transition="in" filter="blinds(horizontal)">
                                      <p:cBhvr>
                                        <p:cTn id="84" dur="500"/>
                                        <p:tgtEl>
                                          <p:spTgt spid="70"/>
                                        </p:tgtEl>
                                      </p:cBhvr>
                                    </p:animEffect>
                                  </p:childTnLst>
                                </p:cTn>
                              </p:par>
                            </p:childTnLst>
                          </p:cTn>
                        </p:par>
                      </p:childTnLst>
                    </p:cTn>
                  </p:par>
                  <p:par>
                    <p:cTn id="85" fill="hold">
                      <p:stCondLst>
                        <p:cond delay="indefinite"/>
                      </p:stCondLst>
                      <p:childTnLst>
                        <p:par>
                          <p:cTn id="86" fill="hold">
                            <p:stCondLst>
                              <p:cond delay="0"/>
                            </p:stCondLst>
                            <p:childTnLst>
                              <p:par>
                                <p:cTn id="87" presetID="12" presetClass="entr" presetSubtype="1" fill="hold" nodeType="click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slide(fromTop)">
                                      <p:cBhvr>
                                        <p:cTn id="89" dur="500"/>
                                        <p:tgtEl>
                                          <p:spTgt spid="74"/>
                                        </p:tgtEl>
                                      </p:cBhvr>
                                    </p:animEffect>
                                  </p:childTnLst>
                                </p:cTn>
                              </p:par>
                            </p:childTnLst>
                          </p:cTn>
                        </p:par>
                        <p:par>
                          <p:cTn id="90" fill="hold">
                            <p:stCondLst>
                              <p:cond delay="500"/>
                            </p:stCondLst>
                            <p:childTnLst>
                              <p:par>
                                <p:cTn id="91" presetID="3" presetClass="entr" presetSubtype="10" fill="hold" grpId="0" nodeType="afterEffect">
                                  <p:stCondLst>
                                    <p:cond delay="0"/>
                                  </p:stCondLst>
                                  <p:childTnLst>
                                    <p:set>
                                      <p:cBhvr>
                                        <p:cTn id="92" dur="1" fill="hold">
                                          <p:stCondLst>
                                            <p:cond delay="0"/>
                                          </p:stCondLst>
                                        </p:cTn>
                                        <p:tgtEl>
                                          <p:spTgt spid="75"/>
                                        </p:tgtEl>
                                        <p:attrNameLst>
                                          <p:attrName>style.visibility</p:attrName>
                                        </p:attrNameLst>
                                      </p:cBhvr>
                                      <p:to>
                                        <p:strVal val="visible"/>
                                      </p:to>
                                    </p:set>
                                    <p:animEffect transition="in" filter="blinds(horizontal)">
                                      <p:cBhvr>
                                        <p:cTn id="93" dur="500"/>
                                        <p:tgtEl>
                                          <p:spTgt spid="75"/>
                                        </p:tgtEl>
                                      </p:cBhvr>
                                    </p:animEffect>
                                  </p:childTnLst>
                                </p:cTn>
                              </p:par>
                            </p:childTnLst>
                          </p:cTn>
                        </p:par>
                        <p:par>
                          <p:cTn id="94" fill="hold">
                            <p:stCondLst>
                              <p:cond delay="1000"/>
                            </p:stCondLst>
                            <p:childTnLst>
                              <p:par>
                                <p:cTn id="95" presetID="12" presetClass="entr" presetSubtype="1" fill="hold" nodeType="afterEffect">
                                  <p:stCondLst>
                                    <p:cond delay="0"/>
                                  </p:stCondLst>
                                  <p:childTnLst>
                                    <p:set>
                                      <p:cBhvr>
                                        <p:cTn id="96" dur="1" fill="hold">
                                          <p:stCondLst>
                                            <p:cond delay="0"/>
                                          </p:stCondLst>
                                        </p:cTn>
                                        <p:tgtEl>
                                          <p:spTgt spid="76"/>
                                        </p:tgtEl>
                                        <p:attrNameLst>
                                          <p:attrName>style.visibility</p:attrName>
                                        </p:attrNameLst>
                                      </p:cBhvr>
                                      <p:to>
                                        <p:strVal val="visible"/>
                                      </p:to>
                                    </p:set>
                                    <p:animEffect transition="in" filter="slide(fromTop)">
                                      <p:cBhvr>
                                        <p:cTn id="97" dur="500"/>
                                        <p:tgtEl>
                                          <p:spTgt spid="76"/>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06"/>
                                        </p:tgtEl>
                                        <p:attrNameLst>
                                          <p:attrName>style.visibility</p:attrName>
                                        </p:attrNameLst>
                                      </p:cBhvr>
                                      <p:to>
                                        <p:strVal val="visible"/>
                                      </p:to>
                                    </p:set>
                                    <p:animEffect transition="in" filter="blinds(horizontal)">
                                      <p:cBhvr>
                                        <p:cTn id="102" dur="500"/>
                                        <p:tgtEl>
                                          <p:spTgt spid="106"/>
                                        </p:tgtEl>
                                      </p:cBhvr>
                                    </p:animEffect>
                                  </p:childTnLst>
                                  <p:subTnLst>
                                    <p:set>
                                      <p:cBhvr override="childStyle">
                                        <p:cTn dur="1" fill="hold" display="0" masterRel="nextClick" afterEffect="1"/>
                                        <p:tgtEl>
                                          <p:spTgt spid="106"/>
                                        </p:tgtEl>
                                        <p:attrNameLst>
                                          <p:attrName>style.visibility</p:attrName>
                                        </p:attrNameLst>
                                      </p:cBhvr>
                                      <p:to>
                                        <p:strVal val="hidden"/>
                                      </p:to>
                                    </p:set>
                                  </p:sub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77"/>
                                        </p:tgtEl>
                                        <p:attrNameLst>
                                          <p:attrName>style.visibility</p:attrName>
                                        </p:attrNameLst>
                                      </p:cBhvr>
                                      <p:to>
                                        <p:strVal val="visible"/>
                                      </p:to>
                                    </p:set>
                                    <p:animEffect transition="in" filter="blinds(horizontal)">
                                      <p:cBhvr>
                                        <p:cTn id="107" dur="500"/>
                                        <p:tgtEl>
                                          <p:spTgt spid="77"/>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3"/>
                                        </p:tgtEl>
                                        <p:attrNameLst>
                                          <p:attrName>style.visibility</p:attrName>
                                        </p:attrNameLst>
                                      </p:cBhvr>
                                      <p:to>
                                        <p:strVal val="visible"/>
                                      </p:to>
                                    </p:set>
                                    <p:animEffect transition="in" filter="blinds(horizontal)">
                                      <p:cBhvr>
                                        <p:cTn id="112" dur="500"/>
                                        <p:tgtEl>
                                          <p:spTgt spid="63"/>
                                        </p:tgtEl>
                                      </p:cBhvr>
                                    </p:animEffect>
                                  </p:childTnLst>
                                </p:cTn>
                              </p:par>
                            </p:childTnLst>
                          </p:cTn>
                        </p:par>
                        <p:par>
                          <p:cTn id="113" fill="hold">
                            <p:stCondLst>
                              <p:cond delay="500"/>
                            </p:stCondLst>
                            <p:childTnLst>
                              <p:par>
                                <p:cTn id="114" presetID="12" presetClass="entr" presetSubtype="2" fill="hold" nodeType="afterEffect">
                                  <p:stCondLst>
                                    <p:cond delay="0"/>
                                  </p:stCondLst>
                                  <p:childTnLst>
                                    <p:set>
                                      <p:cBhvr>
                                        <p:cTn id="115" dur="1" fill="hold">
                                          <p:stCondLst>
                                            <p:cond delay="0"/>
                                          </p:stCondLst>
                                        </p:cTn>
                                        <p:tgtEl>
                                          <p:spTgt spid="62"/>
                                        </p:tgtEl>
                                        <p:attrNameLst>
                                          <p:attrName>style.visibility</p:attrName>
                                        </p:attrNameLst>
                                      </p:cBhvr>
                                      <p:to>
                                        <p:strVal val="visible"/>
                                      </p:to>
                                    </p:set>
                                    <p:animEffect transition="in" filter="slide(fromRight)">
                                      <p:cBhvr>
                                        <p:cTn id="116" dur="500"/>
                                        <p:tgtEl>
                                          <p:spTgt spid="62"/>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2" fill="hold" nodeType="clickEffect">
                                  <p:stCondLst>
                                    <p:cond delay="0"/>
                                  </p:stCondLst>
                                  <p:childTnLst>
                                    <p:set>
                                      <p:cBhvr>
                                        <p:cTn id="120" dur="1" fill="hold">
                                          <p:stCondLst>
                                            <p:cond delay="0"/>
                                          </p:stCondLst>
                                        </p:cTn>
                                        <p:tgtEl>
                                          <p:spTgt spid="72"/>
                                        </p:tgtEl>
                                        <p:attrNameLst>
                                          <p:attrName>style.visibility</p:attrName>
                                        </p:attrNameLst>
                                      </p:cBhvr>
                                      <p:to>
                                        <p:strVal val="visible"/>
                                      </p:to>
                                    </p:set>
                                    <p:animEffect transition="in" filter="slide(fromRight)">
                                      <p:cBhvr>
                                        <p:cTn id="121" dur="500"/>
                                        <p:tgtEl>
                                          <p:spTgt spid="72"/>
                                        </p:tgtEl>
                                      </p:cBhvr>
                                    </p:animEffect>
                                  </p:childTnLst>
                                </p:cTn>
                              </p:par>
                            </p:childTnLst>
                          </p:cTn>
                        </p:par>
                        <p:par>
                          <p:cTn id="122" fill="hold">
                            <p:stCondLst>
                              <p:cond delay="500"/>
                            </p:stCondLst>
                            <p:childTnLst>
                              <p:par>
                                <p:cTn id="123" presetID="3" presetClass="entr" presetSubtype="10" fill="hold" grpId="0" nodeType="afterEffect">
                                  <p:stCondLst>
                                    <p:cond delay="0"/>
                                  </p:stCondLst>
                                  <p:childTnLst>
                                    <p:set>
                                      <p:cBhvr>
                                        <p:cTn id="124" dur="1" fill="hold">
                                          <p:stCondLst>
                                            <p:cond delay="0"/>
                                          </p:stCondLst>
                                        </p:cTn>
                                        <p:tgtEl>
                                          <p:spTgt spid="71"/>
                                        </p:tgtEl>
                                        <p:attrNameLst>
                                          <p:attrName>style.visibility</p:attrName>
                                        </p:attrNameLst>
                                      </p:cBhvr>
                                      <p:to>
                                        <p:strVal val="visible"/>
                                      </p:to>
                                    </p:set>
                                    <p:animEffect transition="in" filter="blinds(horizontal)">
                                      <p:cBhvr>
                                        <p:cTn id="125" dur="500"/>
                                        <p:tgtEl>
                                          <p:spTgt spid="71"/>
                                        </p:tgtEl>
                                      </p:cBhvr>
                                    </p:animEffect>
                                  </p:childTnLst>
                                </p:cTn>
                              </p:par>
                            </p:childTnLst>
                          </p:cTn>
                        </p:par>
                      </p:childTnLst>
                    </p:cTn>
                  </p:par>
                  <p:par>
                    <p:cTn id="126" fill="hold">
                      <p:stCondLst>
                        <p:cond delay="indefinite"/>
                      </p:stCondLst>
                      <p:childTnLst>
                        <p:par>
                          <p:cTn id="127" fill="hold">
                            <p:stCondLst>
                              <p:cond delay="0"/>
                            </p:stCondLst>
                            <p:childTnLst>
                              <p:par>
                                <p:cTn id="128" presetID="12" presetClass="entr" presetSubtype="2" fill="hold" nodeType="clickEffect">
                                  <p:stCondLst>
                                    <p:cond delay="0"/>
                                  </p:stCondLst>
                                  <p:childTnLst>
                                    <p:set>
                                      <p:cBhvr>
                                        <p:cTn id="129" dur="1" fill="hold">
                                          <p:stCondLst>
                                            <p:cond delay="0"/>
                                          </p:stCondLst>
                                        </p:cTn>
                                        <p:tgtEl>
                                          <p:spTgt spid="36"/>
                                        </p:tgtEl>
                                        <p:attrNameLst>
                                          <p:attrName>style.visibility</p:attrName>
                                        </p:attrNameLst>
                                      </p:cBhvr>
                                      <p:to>
                                        <p:strVal val="visible"/>
                                      </p:to>
                                    </p:set>
                                    <p:animEffect transition="in" filter="slide(fromRight)">
                                      <p:cBhvr>
                                        <p:cTn id="130" dur="500"/>
                                        <p:tgtEl>
                                          <p:spTgt spid="36"/>
                                        </p:tgtEl>
                                      </p:cBhvr>
                                    </p:animEffect>
                                  </p:childTnLst>
                                </p:cTn>
                              </p:par>
                            </p:childTnLst>
                          </p:cTn>
                        </p:par>
                        <p:par>
                          <p:cTn id="131" fill="hold">
                            <p:stCondLst>
                              <p:cond delay="500"/>
                            </p:stCondLst>
                            <p:childTnLst>
                              <p:par>
                                <p:cTn id="132" presetID="3" presetClass="entr" presetSubtype="1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blinds(horizontal)">
                                      <p:cBhvr>
                                        <p:cTn id="134" dur="500"/>
                                        <p:tgtEl>
                                          <p:spTgt spid="35"/>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grpId="0" nodeType="clickEffect">
                                  <p:stCondLst>
                                    <p:cond delay="0"/>
                                  </p:stCondLst>
                                  <p:childTnLst>
                                    <p:set>
                                      <p:cBhvr>
                                        <p:cTn id="138" dur="1" fill="hold">
                                          <p:stCondLst>
                                            <p:cond delay="0"/>
                                          </p:stCondLst>
                                        </p:cTn>
                                        <p:tgtEl>
                                          <p:spTgt spid="78"/>
                                        </p:tgtEl>
                                        <p:attrNameLst>
                                          <p:attrName>style.visibility</p:attrName>
                                        </p:attrNameLst>
                                      </p:cBhvr>
                                      <p:to>
                                        <p:strVal val="visible"/>
                                      </p:to>
                                    </p:set>
                                    <p:animEffect transition="in" filter="blinds(horizontal)">
                                      <p:cBhvr>
                                        <p:cTn id="139" dur="500"/>
                                        <p:tgtEl>
                                          <p:spTgt spid="78"/>
                                        </p:tgtEl>
                                      </p:cBhvr>
                                    </p:animEffect>
                                  </p:childTnLst>
                                </p:cTn>
                              </p:par>
                            </p:childTnLst>
                          </p:cTn>
                        </p:par>
                        <p:par>
                          <p:cTn id="140" fill="hold">
                            <p:stCondLst>
                              <p:cond delay="500"/>
                            </p:stCondLst>
                            <p:childTnLst>
                              <p:par>
                                <p:cTn id="141" presetID="12" presetClass="entr" presetSubtype="1" fill="hold" nodeType="afterEffect">
                                  <p:stCondLst>
                                    <p:cond delay="0"/>
                                  </p:stCondLst>
                                  <p:childTnLst>
                                    <p:set>
                                      <p:cBhvr>
                                        <p:cTn id="142" dur="1" fill="hold">
                                          <p:stCondLst>
                                            <p:cond delay="0"/>
                                          </p:stCondLst>
                                        </p:cTn>
                                        <p:tgtEl>
                                          <p:spTgt spid="79"/>
                                        </p:tgtEl>
                                        <p:attrNameLst>
                                          <p:attrName>style.visibility</p:attrName>
                                        </p:attrNameLst>
                                      </p:cBhvr>
                                      <p:to>
                                        <p:strVal val="visible"/>
                                      </p:to>
                                    </p:set>
                                    <p:animEffect transition="in" filter="slide(fromTop)">
                                      <p:cBhvr>
                                        <p:cTn id="143" dur="500"/>
                                        <p:tgtEl>
                                          <p:spTgt spid="79"/>
                                        </p:tgtEl>
                                      </p:cBhvr>
                                    </p:animEffect>
                                  </p:childTnLst>
                                </p:cTn>
                              </p:par>
                            </p:childTnLst>
                          </p:cTn>
                        </p:par>
                        <p:par>
                          <p:cTn id="144" fill="hold">
                            <p:stCondLst>
                              <p:cond delay="1000"/>
                            </p:stCondLst>
                            <p:childTnLst>
                              <p:par>
                                <p:cTn id="145" presetID="3" presetClass="entr" presetSubtype="10" fill="hold" grpId="0" nodeType="afterEffect">
                                  <p:stCondLst>
                                    <p:cond delay="0"/>
                                  </p:stCondLst>
                                  <p:childTnLst>
                                    <p:set>
                                      <p:cBhvr>
                                        <p:cTn id="146" dur="1" fill="hold">
                                          <p:stCondLst>
                                            <p:cond delay="0"/>
                                          </p:stCondLst>
                                        </p:cTn>
                                        <p:tgtEl>
                                          <p:spTgt spid="82"/>
                                        </p:tgtEl>
                                        <p:attrNameLst>
                                          <p:attrName>style.visibility</p:attrName>
                                        </p:attrNameLst>
                                      </p:cBhvr>
                                      <p:to>
                                        <p:strVal val="visible"/>
                                      </p:to>
                                    </p:set>
                                    <p:animEffect transition="in" filter="blinds(horizontal)">
                                      <p:cBhvr>
                                        <p:cTn id="147" dur="500"/>
                                        <p:tgtEl>
                                          <p:spTgt spid="82"/>
                                        </p:tgtEl>
                                      </p:cBhvr>
                                    </p:animEffect>
                                  </p:childTnLst>
                                </p:cTn>
                              </p:par>
                            </p:childTnLst>
                          </p:cTn>
                        </p:par>
                        <p:par>
                          <p:cTn id="148" fill="hold">
                            <p:stCondLst>
                              <p:cond delay="1500"/>
                            </p:stCondLst>
                            <p:childTnLst>
                              <p:par>
                                <p:cTn id="149" presetID="12" presetClass="entr" presetSubtype="1" fill="hold" nodeType="afterEffect">
                                  <p:stCondLst>
                                    <p:cond delay="0"/>
                                  </p:stCondLst>
                                  <p:childTnLst>
                                    <p:set>
                                      <p:cBhvr>
                                        <p:cTn id="150" dur="1" fill="hold">
                                          <p:stCondLst>
                                            <p:cond delay="0"/>
                                          </p:stCondLst>
                                        </p:cTn>
                                        <p:tgtEl>
                                          <p:spTgt spid="80"/>
                                        </p:tgtEl>
                                        <p:attrNameLst>
                                          <p:attrName>style.visibility</p:attrName>
                                        </p:attrNameLst>
                                      </p:cBhvr>
                                      <p:to>
                                        <p:strVal val="visible"/>
                                      </p:to>
                                    </p:set>
                                    <p:animEffect transition="in" filter="slide(fromTop)">
                                      <p:cBhvr>
                                        <p:cTn id="151" dur="500"/>
                                        <p:tgtEl>
                                          <p:spTgt spid="80"/>
                                        </p:tgtEl>
                                      </p:cBhvr>
                                    </p:animEffect>
                                  </p:childTnLst>
                                </p:cTn>
                              </p:par>
                            </p:childTnLst>
                          </p:cTn>
                        </p:par>
                        <p:par>
                          <p:cTn id="152" fill="hold">
                            <p:stCondLst>
                              <p:cond delay="2000"/>
                            </p:stCondLst>
                            <p:childTnLst>
                              <p:par>
                                <p:cTn id="153" presetID="3" presetClass="entr" presetSubtype="10" fill="hold" grpId="0" nodeType="afterEffect">
                                  <p:stCondLst>
                                    <p:cond delay="0"/>
                                  </p:stCondLst>
                                  <p:childTnLst>
                                    <p:set>
                                      <p:cBhvr>
                                        <p:cTn id="154" dur="1" fill="hold">
                                          <p:stCondLst>
                                            <p:cond delay="0"/>
                                          </p:stCondLst>
                                        </p:cTn>
                                        <p:tgtEl>
                                          <p:spTgt spid="81"/>
                                        </p:tgtEl>
                                        <p:attrNameLst>
                                          <p:attrName>style.visibility</p:attrName>
                                        </p:attrNameLst>
                                      </p:cBhvr>
                                      <p:to>
                                        <p:strVal val="visible"/>
                                      </p:to>
                                    </p:set>
                                    <p:animEffect transition="in" filter="blinds(horizontal)">
                                      <p:cBhvr>
                                        <p:cTn id="155" dur="500"/>
                                        <p:tgtEl>
                                          <p:spTgt spid="81"/>
                                        </p:tgtEl>
                                      </p:cBhvr>
                                    </p:animEffect>
                                  </p:childTnLst>
                                </p:cTn>
                              </p:par>
                            </p:childTnLst>
                          </p:cTn>
                        </p:par>
                        <p:par>
                          <p:cTn id="156" fill="hold">
                            <p:stCondLst>
                              <p:cond delay="2500"/>
                            </p:stCondLst>
                            <p:childTnLst>
                              <p:par>
                                <p:cTn id="157" presetID="12" presetClass="entr" presetSubtype="1" fill="hold" nodeType="after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slide(fromTop)">
                                      <p:cBhvr>
                                        <p:cTn id="159" dur="500"/>
                                        <p:tgtEl>
                                          <p:spTgt spid="84"/>
                                        </p:tgtEl>
                                      </p:cBhvr>
                                    </p:animEffect>
                                  </p:childTnLst>
                                </p:cTn>
                              </p:par>
                            </p:childTnLst>
                          </p:cTn>
                        </p:par>
                        <p:par>
                          <p:cTn id="160" fill="hold">
                            <p:stCondLst>
                              <p:cond delay="3000"/>
                            </p:stCondLst>
                            <p:childTnLst>
                              <p:par>
                                <p:cTn id="161" presetID="3" presetClass="entr" presetSubtype="10" fill="hold" grpId="0" nodeType="afterEffect">
                                  <p:stCondLst>
                                    <p:cond delay="0"/>
                                  </p:stCondLst>
                                  <p:childTnLst>
                                    <p:set>
                                      <p:cBhvr>
                                        <p:cTn id="162" dur="1" fill="hold">
                                          <p:stCondLst>
                                            <p:cond delay="0"/>
                                          </p:stCondLst>
                                        </p:cTn>
                                        <p:tgtEl>
                                          <p:spTgt spid="83"/>
                                        </p:tgtEl>
                                        <p:attrNameLst>
                                          <p:attrName>style.visibility</p:attrName>
                                        </p:attrNameLst>
                                      </p:cBhvr>
                                      <p:to>
                                        <p:strVal val="visible"/>
                                      </p:to>
                                    </p:set>
                                    <p:animEffect transition="in" filter="blinds(horizontal)">
                                      <p:cBhvr>
                                        <p:cTn id="163" dur="500"/>
                                        <p:tgtEl>
                                          <p:spTgt spid="83"/>
                                        </p:tgtEl>
                                      </p:cBhvr>
                                    </p:animEffect>
                                  </p:childTnLst>
                                </p:cTn>
                              </p:par>
                              <p:par>
                                <p:cTn id="164" presetID="12" presetClass="entr" presetSubtype="1" fill="hold" nodeType="withEffect">
                                  <p:stCondLst>
                                    <p:cond delay="0"/>
                                  </p:stCondLst>
                                  <p:childTnLst>
                                    <p:set>
                                      <p:cBhvr>
                                        <p:cTn id="165" dur="1" fill="hold">
                                          <p:stCondLst>
                                            <p:cond delay="0"/>
                                          </p:stCondLst>
                                        </p:cTn>
                                        <p:tgtEl>
                                          <p:spTgt spid="87"/>
                                        </p:tgtEl>
                                        <p:attrNameLst>
                                          <p:attrName>style.visibility</p:attrName>
                                        </p:attrNameLst>
                                      </p:cBhvr>
                                      <p:to>
                                        <p:strVal val="visible"/>
                                      </p:to>
                                    </p:set>
                                    <p:animEffect transition="in" filter="slide(fromTop)">
                                      <p:cBhvr>
                                        <p:cTn id="166" dur="500"/>
                                        <p:tgtEl>
                                          <p:spTgt spid="87"/>
                                        </p:tgtEl>
                                      </p:cBhvr>
                                    </p:animEffect>
                                  </p:childTnLst>
                                </p:cTn>
                              </p:par>
                            </p:childTnLst>
                          </p:cTn>
                        </p:par>
                        <p:par>
                          <p:cTn id="167" fill="hold">
                            <p:stCondLst>
                              <p:cond delay="3500"/>
                            </p:stCondLst>
                            <p:childTnLst>
                              <p:par>
                                <p:cTn id="168" presetID="12" presetClass="entr" presetSubtype="2" fill="hold" nodeType="afterEffect">
                                  <p:stCondLst>
                                    <p:cond delay="0"/>
                                  </p:stCondLst>
                                  <p:childTnLst>
                                    <p:set>
                                      <p:cBhvr>
                                        <p:cTn id="169" dur="1" fill="hold">
                                          <p:stCondLst>
                                            <p:cond delay="0"/>
                                          </p:stCondLst>
                                        </p:cTn>
                                        <p:tgtEl>
                                          <p:spTgt spid="88"/>
                                        </p:tgtEl>
                                        <p:attrNameLst>
                                          <p:attrName>style.visibility</p:attrName>
                                        </p:attrNameLst>
                                      </p:cBhvr>
                                      <p:to>
                                        <p:strVal val="visible"/>
                                      </p:to>
                                    </p:set>
                                    <p:animEffect transition="in" filter="slide(fromRight)">
                                      <p:cBhvr>
                                        <p:cTn id="170" dur="500"/>
                                        <p:tgtEl>
                                          <p:spTgt spid="88"/>
                                        </p:tgtEl>
                                      </p:cBhvr>
                                    </p:animEffect>
                                  </p:childTnLst>
                                </p:cTn>
                              </p:par>
                            </p:childTnLst>
                          </p:cTn>
                        </p:par>
                        <p:par>
                          <p:cTn id="171" fill="hold">
                            <p:stCondLst>
                              <p:cond delay="4000"/>
                            </p:stCondLst>
                            <p:childTnLst>
                              <p:par>
                                <p:cTn id="172" presetID="12" presetClass="entr" presetSubtype="4" fill="hold" nodeType="afterEffect">
                                  <p:stCondLst>
                                    <p:cond delay="0"/>
                                  </p:stCondLst>
                                  <p:childTnLst>
                                    <p:set>
                                      <p:cBhvr>
                                        <p:cTn id="173" dur="1" fill="hold">
                                          <p:stCondLst>
                                            <p:cond delay="0"/>
                                          </p:stCondLst>
                                        </p:cTn>
                                        <p:tgtEl>
                                          <p:spTgt spid="91"/>
                                        </p:tgtEl>
                                        <p:attrNameLst>
                                          <p:attrName>style.visibility</p:attrName>
                                        </p:attrNameLst>
                                      </p:cBhvr>
                                      <p:to>
                                        <p:strVal val="visible"/>
                                      </p:to>
                                    </p:set>
                                    <p:animEffect transition="in" filter="slide(fromBottom)">
                                      <p:cBhvr>
                                        <p:cTn id="174" dur="500"/>
                                        <p:tgtEl>
                                          <p:spTgt spid="91"/>
                                        </p:tgtEl>
                                      </p:cBhvr>
                                    </p:animEffect>
                                  </p:childTnLst>
                                </p:cTn>
                              </p:par>
                            </p:childTnLst>
                          </p:cTn>
                        </p:par>
                        <p:par>
                          <p:cTn id="175" fill="hold">
                            <p:stCondLst>
                              <p:cond delay="4500"/>
                            </p:stCondLst>
                            <p:childTnLst>
                              <p:par>
                                <p:cTn id="176" presetID="12" presetClass="entr" presetSubtype="8" fill="hold" nodeType="afterEffect">
                                  <p:stCondLst>
                                    <p:cond delay="0"/>
                                  </p:stCondLst>
                                  <p:childTnLst>
                                    <p:set>
                                      <p:cBhvr>
                                        <p:cTn id="177" dur="1" fill="hold">
                                          <p:stCondLst>
                                            <p:cond delay="0"/>
                                          </p:stCondLst>
                                        </p:cTn>
                                        <p:tgtEl>
                                          <p:spTgt spid="94"/>
                                        </p:tgtEl>
                                        <p:attrNameLst>
                                          <p:attrName>style.visibility</p:attrName>
                                        </p:attrNameLst>
                                      </p:cBhvr>
                                      <p:to>
                                        <p:strVal val="visible"/>
                                      </p:to>
                                    </p:set>
                                    <p:animEffect transition="in" filter="slide(fromLeft)">
                                      <p:cBhvr>
                                        <p:cTn id="178" dur="500"/>
                                        <p:tgtEl>
                                          <p:spTgt spid="94"/>
                                        </p:tgtEl>
                                      </p:cBhvr>
                                    </p:animEffect>
                                  </p:childTnLst>
                                </p:cTn>
                              </p:par>
                            </p:childTnLst>
                          </p:cTn>
                        </p:par>
                        <p:par>
                          <p:cTn id="179" fill="hold">
                            <p:stCondLst>
                              <p:cond delay="5000"/>
                            </p:stCondLst>
                            <p:childTnLst>
                              <p:par>
                                <p:cTn id="180" presetID="12" presetClass="entr" presetSubtype="8" fill="hold" nodeType="afterEffect">
                                  <p:stCondLst>
                                    <p:cond delay="0"/>
                                  </p:stCondLst>
                                  <p:childTnLst>
                                    <p:set>
                                      <p:cBhvr>
                                        <p:cTn id="181" dur="1" fill="hold">
                                          <p:stCondLst>
                                            <p:cond delay="0"/>
                                          </p:stCondLst>
                                        </p:cTn>
                                        <p:tgtEl>
                                          <p:spTgt spid="97"/>
                                        </p:tgtEl>
                                        <p:attrNameLst>
                                          <p:attrName>style.visibility</p:attrName>
                                        </p:attrNameLst>
                                      </p:cBhvr>
                                      <p:to>
                                        <p:strVal val="visible"/>
                                      </p:to>
                                    </p:set>
                                    <p:animEffect transition="in" filter="slide(fromLeft)">
                                      <p:cBhvr>
                                        <p:cTn id="182" dur="500"/>
                                        <p:tgtEl>
                                          <p:spTgt spid="97"/>
                                        </p:tgtEl>
                                      </p:cBhvr>
                                    </p:animEffect>
                                  </p:childTnLst>
                                </p:cTn>
                              </p:par>
                              <p:par>
                                <p:cTn id="183" presetID="12" presetClass="entr" presetSubtype="1" fill="hold" nodeType="withEffect">
                                  <p:stCondLst>
                                    <p:cond delay="0"/>
                                  </p:stCondLst>
                                  <p:childTnLst>
                                    <p:set>
                                      <p:cBhvr>
                                        <p:cTn id="184" dur="1" fill="hold">
                                          <p:stCondLst>
                                            <p:cond delay="0"/>
                                          </p:stCondLst>
                                        </p:cTn>
                                        <p:tgtEl>
                                          <p:spTgt spid="99"/>
                                        </p:tgtEl>
                                        <p:attrNameLst>
                                          <p:attrName>style.visibility</p:attrName>
                                        </p:attrNameLst>
                                      </p:cBhvr>
                                      <p:to>
                                        <p:strVal val="visible"/>
                                      </p:to>
                                    </p:set>
                                    <p:animEffect transition="in" filter="slide(fromTop)">
                                      <p:cBhvr>
                                        <p:cTn id="185" dur="500"/>
                                        <p:tgtEl>
                                          <p:spTgt spid="99"/>
                                        </p:tgtEl>
                                      </p:cBhvr>
                                    </p:animEffect>
                                  </p:childTnLst>
                                </p:cTn>
                              </p:par>
                            </p:childTnLst>
                          </p:cTn>
                        </p:par>
                        <p:par>
                          <p:cTn id="186" fill="hold">
                            <p:stCondLst>
                              <p:cond delay="5500"/>
                            </p:stCondLst>
                            <p:childTnLst>
                              <p:par>
                                <p:cTn id="187" presetID="12" presetClass="entr" presetSubtype="2" fill="hold" nodeType="afterEffect">
                                  <p:stCondLst>
                                    <p:cond delay="0"/>
                                  </p:stCondLst>
                                  <p:childTnLst>
                                    <p:set>
                                      <p:cBhvr>
                                        <p:cTn id="188" dur="1" fill="hold">
                                          <p:stCondLst>
                                            <p:cond delay="0"/>
                                          </p:stCondLst>
                                        </p:cTn>
                                        <p:tgtEl>
                                          <p:spTgt spid="101"/>
                                        </p:tgtEl>
                                        <p:attrNameLst>
                                          <p:attrName>style.visibility</p:attrName>
                                        </p:attrNameLst>
                                      </p:cBhvr>
                                      <p:to>
                                        <p:strVal val="visible"/>
                                      </p:to>
                                    </p:set>
                                    <p:animEffect transition="in" filter="slide(fromRight)">
                                      <p:cBhvr>
                                        <p:cTn id="189" dur="500"/>
                                        <p:tgtEl>
                                          <p:spTgt spid="101"/>
                                        </p:tgtEl>
                                      </p:cBhvr>
                                    </p:animEffect>
                                  </p:childTnLst>
                                </p:cTn>
                              </p:par>
                            </p:childTnLst>
                          </p:cTn>
                        </p:par>
                        <p:par>
                          <p:cTn id="190" fill="hold">
                            <p:stCondLst>
                              <p:cond delay="6000"/>
                            </p:stCondLst>
                            <p:childTnLst>
                              <p:par>
                                <p:cTn id="191" presetID="12" presetClass="entr" presetSubtype="1" fill="hold" nodeType="afterEffect">
                                  <p:stCondLst>
                                    <p:cond delay="0"/>
                                  </p:stCondLst>
                                  <p:childTnLst>
                                    <p:set>
                                      <p:cBhvr>
                                        <p:cTn id="192" dur="1" fill="hold">
                                          <p:stCondLst>
                                            <p:cond delay="0"/>
                                          </p:stCondLst>
                                        </p:cTn>
                                        <p:tgtEl>
                                          <p:spTgt spid="103"/>
                                        </p:tgtEl>
                                        <p:attrNameLst>
                                          <p:attrName>style.visibility</p:attrName>
                                        </p:attrNameLst>
                                      </p:cBhvr>
                                      <p:to>
                                        <p:strVal val="visible"/>
                                      </p:to>
                                    </p:set>
                                    <p:animEffect transition="in" filter="slide(fromTop)">
                                      <p:cBhvr>
                                        <p:cTn id="19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5" grpId="0"/>
      <p:bldP spid="41" grpId="0" bldLvl="0" animBg="1"/>
      <p:bldP spid="52" grpId="0" bldLvl="0" animBg="1"/>
      <p:bldP spid="61" grpId="0"/>
      <p:bldP spid="63" grpId="0"/>
      <p:bldP spid="64" grpId="0"/>
      <p:bldP spid="68" grpId="0" bldLvl="0" animBg="1"/>
      <p:bldP spid="69" grpId="0" bldLvl="0" animBg="1"/>
      <p:bldP spid="70" grpId="0" bldLvl="0" animBg="1"/>
      <p:bldP spid="71" grpId="0"/>
      <p:bldP spid="75" grpId="0" bldLvl="0" animBg="1"/>
      <p:bldP spid="77" grpId="0"/>
      <p:bldP spid="78" grpId="0"/>
      <p:bldP spid="81" grpId="0" bldLvl="0" animBg="1"/>
      <p:bldP spid="82" grpId="0" bldLvl="0" animBg="1"/>
      <p:bldP spid="83" grpId="0" bldLvl="0" animBg="1"/>
      <p:bldP spid="105" grpId="0" bldLvl="0" animBg="1"/>
      <p:bldP spid="10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188" y="793750"/>
            <a:ext cx="4389437" cy="3571875"/>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例 2.6 将例 2.1的算法用流程图表示。</a:t>
            </a:r>
            <a:endParaRPr lang="en-US" altLang="zh-CN" b="0" dirty="0">
              <a:solidFill>
                <a:srgbClr val="235A67"/>
              </a:solidFill>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求 1×2×3×4×5</a:t>
            </a:r>
            <a:endParaRPr lang="en-US" altLang="zh-CN" b="0" dirty="0">
              <a:solidFill>
                <a:srgbClr val="235A67"/>
              </a:solidFill>
              <a:latin typeface="Times New Roman" panose="02020603050405020304" pitchFamily="18" charset="0"/>
              <a:ea typeface="微软雅黑" panose="020B0503020204020204" pitchFamily="34" charset="-122"/>
              <a:cs typeface="+mn-cs"/>
            </a:endParaRPr>
          </a:p>
          <a:p>
            <a:r>
              <a:rPr lang="en-US" altLang="zh-CN" b="0" dirty="0">
                <a:solidFill>
                  <a:srgbClr val="992317"/>
                </a:solidFill>
                <a:latin typeface="Times New Roman" panose="02020603050405020304" pitchFamily="18" charset="0"/>
                <a:ea typeface="微软雅黑" panose="020B0503020204020204" pitchFamily="34" charset="-122"/>
                <a:cs typeface="+mn-cs"/>
              </a:rPr>
              <a:t>如果需要将最后结果输出</a:t>
            </a:r>
            <a:r>
              <a:rPr lang="en-US" altLang="zh-CN" b="0" dirty="0">
                <a:solidFill>
                  <a:srgbClr val="9D138D"/>
                </a:solidFill>
                <a:latin typeface="Times New Roman" panose="02020603050405020304" pitchFamily="18" charset="0"/>
                <a:ea typeface="微软雅黑" panose="020B0503020204020204" pitchFamily="34" charset="-122"/>
                <a:cs typeface="+mn-cs"/>
              </a:rPr>
              <a:t>:</a:t>
            </a:r>
            <a:endParaRPr lang="en-US" altLang="en-US" b="0" dirty="0">
              <a:solidFill>
                <a:srgbClr val="9D138D"/>
              </a:solidFill>
              <a:latin typeface="Times New Roman" panose="02020603050405020304" pitchFamily="18" charset="0"/>
              <a:ea typeface="微软雅黑" panose="020B0503020204020204" pitchFamily="34" charset="-122"/>
              <a:cs typeface="+mn-cs"/>
            </a:endParaRPr>
          </a:p>
        </p:txBody>
      </p:sp>
      <p:cxnSp>
        <p:nvCxnSpPr>
          <p:cNvPr id="7" name="直接箭头连接符 6"/>
          <p:cNvCxnSpPr/>
          <p:nvPr/>
        </p:nvCxnSpPr>
        <p:spPr>
          <a:xfrm rot="5400000">
            <a:off x="6578600" y="996950"/>
            <a:ext cx="428625" cy="1588"/>
          </a:xfrm>
          <a:prstGeom prst="straightConnector1">
            <a:avLst/>
          </a:prstGeom>
          <a:ln w="38100" cap="flat" cmpd="sng">
            <a:solidFill>
              <a:srgbClr val="00B050"/>
            </a:solidFill>
            <a:prstDash val="solid"/>
            <a:miter/>
            <a:headEnd type="none" w="med" len="med"/>
            <a:tailEnd type="arrow" w="med" len="med"/>
          </a:ln>
        </p:spPr>
      </p:cxnSp>
      <p:cxnSp>
        <p:nvCxnSpPr>
          <p:cNvPr id="8" name="直接箭头连接符 7"/>
          <p:cNvCxnSpPr/>
          <p:nvPr/>
        </p:nvCxnSpPr>
        <p:spPr>
          <a:xfrm rot="5400000">
            <a:off x="6627813" y="2905125"/>
            <a:ext cx="428625" cy="1588"/>
          </a:xfrm>
          <a:prstGeom prst="straightConnector1">
            <a:avLst/>
          </a:prstGeom>
          <a:ln w="38100" cap="flat" cmpd="sng">
            <a:solidFill>
              <a:srgbClr val="00B050"/>
            </a:solidFill>
            <a:prstDash val="solid"/>
            <a:miter/>
            <a:headEnd type="none" w="med" len="med"/>
            <a:tailEnd type="arrow" w="med" len="med"/>
          </a:ln>
        </p:spPr>
      </p:cxnSp>
      <p:sp>
        <p:nvSpPr>
          <p:cNvPr id="9" name="TextBox 8"/>
          <p:cNvSpPr txBox="1"/>
          <p:nvPr/>
        </p:nvSpPr>
        <p:spPr>
          <a:xfrm>
            <a:off x="6307138" y="1214438"/>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1" name="流程图: 决策 10"/>
          <p:cNvSpPr/>
          <p:nvPr/>
        </p:nvSpPr>
        <p:spPr>
          <a:xfrm>
            <a:off x="5848350" y="4954588"/>
            <a:ext cx="2000250"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12" name="直接箭头连接符 11"/>
          <p:cNvCxnSpPr/>
          <p:nvPr/>
        </p:nvCxnSpPr>
        <p:spPr>
          <a:xfrm rot="5400000">
            <a:off x="6624638" y="4749800"/>
            <a:ext cx="428625" cy="1588"/>
          </a:xfrm>
          <a:prstGeom prst="straightConnector1">
            <a:avLst/>
          </a:prstGeom>
          <a:ln w="38100" cap="flat" cmpd="sng">
            <a:solidFill>
              <a:srgbClr val="00B050"/>
            </a:solidFill>
            <a:prstDash val="solid"/>
            <a:miter/>
            <a:headEnd type="none" w="med" len="med"/>
            <a:tailEnd type="arrow" w="med" len="med"/>
          </a:ln>
        </p:spPr>
      </p:cxnSp>
      <p:cxnSp>
        <p:nvCxnSpPr>
          <p:cNvPr id="14" name="直接连接符 13"/>
          <p:cNvCxnSpPr/>
          <p:nvPr/>
        </p:nvCxnSpPr>
        <p:spPr>
          <a:xfrm rot="10800000">
            <a:off x="5357813" y="5324475"/>
            <a:ext cx="500062" cy="0"/>
          </a:xfrm>
          <a:prstGeom prst="line">
            <a:avLst/>
          </a:prstGeom>
          <a:ln w="38100" cap="flat" cmpd="sng">
            <a:solidFill>
              <a:srgbClr val="00B050"/>
            </a:solidFill>
            <a:prstDash val="solid"/>
            <a:miter/>
            <a:headEnd type="none" w="med" len="med"/>
            <a:tailEnd type="none" w="med" len="med"/>
          </a:ln>
        </p:spPr>
      </p:cxnSp>
      <p:cxnSp>
        <p:nvCxnSpPr>
          <p:cNvPr id="15" name="直接连接符 14"/>
          <p:cNvCxnSpPr/>
          <p:nvPr/>
        </p:nvCxnSpPr>
        <p:spPr>
          <a:xfrm rot="5400000" flipH="1" flipV="1">
            <a:off x="4130675" y="4084638"/>
            <a:ext cx="2454275" cy="0"/>
          </a:xfrm>
          <a:prstGeom prst="line">
            <a:avLst/>
          </a:prstGeom>
          <a:ln w="38100" cap="flat" cmpd="sng">
            <a:solidFill>
              <a:srgbClr val="00B050"/>
            </a:solidFill>
            <a:prstDash val="solid"/>
            <a:miter/>
            <a:headEnd type="none" w="med" len="med"/>
            <a:tailEnd type="none" w="med" len="med"/>
          </a:ln>
        </p:spPr>
      </p:cxnSp>
      <p:cxnSp>
        <p:nvCxnSpPr>
          <p:cNvPr id="20" name="直接箭头连接符 19"/>
          <p:cNvCxnSpPr/>
          <p:nvPr/>
        </p:nvCxnSpPr>
        <p:spPr>
          <a:xfrm rot="5400000">
            <a:off x="6627813" y="5875338"/>
            <a:ext cx="428625" cy="3175"/>
          </a:xfrm>
          <a:prstGeom prst="straightConnector1">
            <a:avLst/>
          </a:prstGeom>
          <a:ln w="38100" cap="flat" cmpd="sng">
            <a:solidFill>
              <a:srgbClr val="00B050"/>
            </a:solidFill>
            <a:prstDash val="solid"/>
            <a:miter/>
            <a:headEnd type="none" w="med" len="med"/>
            <a:tailEnd type="arrow" w="med" len="med"/>
          </a:ln>
        </p:spPr>
      </p:cxnSp>
      <p:sp>
        <p:nvSpPr>
          <p:cNvPr id="24" name="流程图: 终止 23"/>
          <p:cNvSpPr/>
          <p:nvPr/>
        </p:nvSpPr>
        <p:spPr>
          <a:xfrm>
            <a:off x="6092825" y="214313"/>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5" name="直接箭头连接符 24"/>
          <p:cNvCxnSpPr/>
          <p:nvPr/>
        </p:nvCxnSpPr>
        <p:spPr>
          <a:xfrm rot="5400000">
            <a:off x="6596063" y="1938338"/>
            <a:ext cx="428625" cy="3175"/>
          </a:xfrm>
          <a:prstGeom prst="straightConnector1">
            <a:avLst/>
          </a:prstGeom>
          <a:ln w="38100" cap="flat" cmpd="sng">
            <a:solidFill>
              <a:srgbClr val="00B050"/>
            </a:solidFill>
            <a:prstDash val="solid"/>
            <a:miter/>
            <a:headEnd type="none" w="med" len="med"/>
            <a:tailEnd type="arrow" w="med" len="med"/>
          </a:ln>
        </p:spPr>
      </p:cxnSp>
      <p:sp>
        <p:nvSpPr>
          <p:cNvPr id="26" name="TextBox 25"/>
          <p:cNvSpPr txBox="1"/>
          <p:nvPr/>
        </p:nvSpPr>
        <p:spPr>
          <a:xfrm>
            <a:off x="6324600" y="2155825"/>
            <a:ext cx="1000125" cy="522288"/>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7" name="TextBox 26"/>
          <p:cNvSpPr txBox="1"/>
          <p:nvPr/>
        </p:nvSpPr>
        <p:spPr>
          <a:xfrm>
            <a:off x="6169025" y="3084513"/>
            <a:ext cx="1357313" cy="522287"/>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t*i</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8" name="直接箭头连接符 27"/>
          <p:cNvCxnSpPr/>
          <p:nvPr/>
        </p:nvCxnSpPr>
        <p:spPr>
          <a:xfrm rot="5400000">
            <a:off x="6637338" y="3821113"/>
            <a:ext cx="428625" cy="1587"/>
          </a:xfrm>
          <a:prstGeom prst="straightConnector1">
            <a:avLst/>
          </a:prstGeom>
          <a:ln w="38100" cap="flat" cmpd="sng">
            <a:solidFill>
              <a:srgbClr val="00B050"/>
            </a:solidFill>
            <a:prstDash val="solid"/>
            <a:miter/>
            <a:headEnd type="none" w="med" len="med"/>
            <a:tailEnd type="arrow" w="med" len="med"/>
          </a:ln>
        </p:spPr>
      </p:cxnSp>
      <p:sp>
        <p:nvSpPr>
          <p:cNvPr id="29" name="TextBox 28"/>
          <p:cNvSpPr txBox="1"/>
          <p:nvPr/>
        </p:nvSpPr>
        <p:spPr>
          <a:xfrm>
            <a:off x="6194425" y="4000500"/>
            <a:ext cx="13573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0" name="流程图: 终止 29"/>
          <p:cNvSpPr/>
          <p:nvPr/>
        </p:nvSpPr>
        <p:spPr>
          <a:xfrm>
            <a:off x="6130925" y="6070600"/>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8" name="直接箭头连接符 37"/>
          <p:cNvCxnSpPr/>
          <p:nvPr/>
        </p:nvCxnSpPr>
        <p:spPr>
          <a:xfrm>
            <a:off x="5357813" y="2855913"/>
            <a:ext cx="1500187" cy="1587"/>
          </a:xfrm>
          <a:prstGeom prst="straightConnector1">
            <a:avLst/>
          </a:prstGeom>
          <a:ln w="38100" cap="flat" cmpd="sng">
            <a:solidFill>
              <a:srgbClr val="00B050"/>
            </a:solidFill>
            <a:prstDash val="solid"/>
            <a:miter/>
            <a:headEnd type="none" w="med" len="med"/>
            <a:tailEnd type="arrow" w="med" len="med"/>
          </a:ln>
        </p:spPr>
      </p:cxnSp>
      <p:sp>
        <p:nvSpPr>
          <p:cNvPr id="42" name="TextBox 41"/>
          <p:cNvSpPr txBox="1"/>
          <p:nvPr/>
        </p:nvSpPr>
        <p:spPr>
          <a:xfrm>
            <a:off x="5357813" y="483393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3" name="TextBox 42"/>
          <p:cNvSpPr txBox="1"/>
          <p:nvPr/>
        </p:nvSpPr>
        <p:spPr>
          <a:xfrm>
            <a:off x="6858000" y="55721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3278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Top)">
                                      <p:cBhvr>
                                        <p:cTn id="12" dur="500"/>
                                        <p:tgtEl>
                                          <p:spTgt spid="7"/>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slide(fromTop)">
                                      <p:cBhvr>
                                        <p:cTn id="21" dur="500"/>
                                        <p:tgtEl>
                                          <p:spTgt spid="25"/>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slide(fromTop)">
                                      <p:cBhvr>
                                        <p:cTn id="30" dur="500"/>
                                        <p:tgtEl>
                                          <p:spTgt spid="8"/>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linds(horizontal)">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1"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slide(fromTop)">
                                      <p:cBhvr>
                                        <p:cTn id="39" dur="500"/>
                                        <p:tgtEl>
                                          <p:spTgt spid="28"/>
                                        </p:tgtEl>
                                      </p:cBhvr>
                                    </p:animEffect>
                                  </p:childTnLst>
                                </p:cTn>
                              </p:par>
                            </p:childTnLst>
                          </p:cTn>
                        </p:par>
                        <p:par>
                          <p:cTn id="40" fill="hold">
                            <p:stCondLst>
                              <p:cond delay="500"/>
                            </p:stCondLst>
                            <p:childTnLst>
                              <p:par>
                                <p:cTn id="41" presetID="3" presetClass="entr" presetSubtype="10" fill="hold" grpId="0"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blinds(horizontal)">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slide(fromTop)">
                                      <p:cBhvr>
                                        <p:cTn id="48" dur="500"/>
                                        <p:tgtEl>
                                          <p:spTgt spid="12"/>
                                        </p:tgtEl>
                                      </p:cBhvr>
                                    </p:animEffect>
                                  </p:childTnLst>
                                </p:cTn>
                              </p:par>
                            </p:childTnLst>
                          </p:cTn>
                        </p:par>
                        <p:par>
                          <p:cTn id="49" fill="hold">
                            <p:stCondLst>
                              <p:cond delay="500"/>
                            </p:stCondLst>
                            <p:childTnLst>
                              <p:par>
                                <p:cTn id="50" presetID="3" presetClass="entr" presetSubtype="1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blinds(horizontal)">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2"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slide(fromRight)">
                                      <p:cBhvr>
                                        <p:cTn id="62" dur="500"/>
                                        <p:tgtEl>
                                          <p:spTgt spid="14"/>
                                        </p:tgtEl>
                                      </p:cBhvr>
                                    </p:animEffect>
                                  </p:childTnLst>
                                </p:cTn>
                              </p:par>
                            </p:childTnLst>
                          </p:cTn>
                        </p:par>
                        <p:par>
                          <p:cTn id="63" fill="hold">
                            <p:stCondLst>
                              <p:cond delay="500"/>
                            </p:stCondLst>
                            <p:childTnLst>
                              <p:par>
                                <p:cTn id="64" presetID="12" presetClass="entr" presetSubtype="4"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slide(fromBottom)">
                                      <p:cBhvr>
                                        <p:cTn id="66" dur="500"/>
                                        <p:tgtEl>
                                          <p:spTgt spid="15"/>
                                        </p:tgtEl>
                                      </p:cBhvr>
                                    </p:animEffect>
                                  </p:childTnLst>
                                </p:cTn>
                              </p:par>
                            </p:childTnLst>
                          </p:cTn>
                        </p:par>
                        <p:par>
                          <p:cTn id="67" fill="hold">
                            <p:stCondLst>
                              <p:cond delay="1000"/>
                            </p:stCondLst>
                            <p:childTnLst>
                              <p:par>
                                <p:cTn id="68" presetID="12" presetClass="entr" presetSubtype="8" fill="hold"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slide(fromLeft)">
                                      <p:cBhvr>
                                        <p:cTn id="70" dur="500"/>
                                        <p:tgtEl>
                                          <p:spTgt spid="3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blinds(horizontal)">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nodeType="click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slide(fromTop)">
                                      <p:cBhvr>
                                        <p:cTn id="80" dur="500"/>
                                        <p:tgtEl>
                                          <p:spTgt spid="20"/>
                                        </p:tgtEl>
                                      </p:cBhvr>
                                    </p:animEffect>
                                  </p:childTnLst>
                                </p:cTn>
                              </p:par>
                            </p:childTnLst>
                          </p:cTn>
                        </p:par>
                        <p:par>
                          <p:cTn id="81" fill="hold">
                            <p:stCondLst>
                              <p:cond delay="500"/>
                            </p:stCondLst>
                            <p:childTnLst>
                              <p:par>
                                <p:cTn id="82" presetID="3" presetClass="entr" presetSubtype="10" fill="hold" grpId="0"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blinds(horizontal)">
                                      <p:cBhvr>
                                        <p:cTn id="84" dur="500"/>
                                        <p:tgtEl>
                                          <p:spTgt spid="30"/>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3">
                                            <p:txEl>
                                              <p:pRg st="2" end="2"/>
                                            </p:txEl>
                                          </p:spTgt>
                                        </p:tgtEl>
                                        <p:attrNameLst>
                                          <p:attrName>style.visibility</p:attrName>
                                        </p:attrNameLst>
                                      </p:cBhvr>
                                      <p:to>
                                        <p:strVal val="visible"/>
                                      </p:to>
                                    </p:set>
                                    <p:animEffect transition="in" filter="blinds(horizontal)">
                                      <p:cBhvr>
                                        <p:cTn id="8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24" grpId="0" animBg="1"/>
      <p:bldP spid="26" grpId="0" animBg="1"/>
      <p:bldP spid="27" grpId="0" animBg="1"/>
      <p:bldP spid="29" grpId="0" animBg="1"/>
      <p:bldP spid="30" grpId="0" animBg="1"/>
      <p:bldP spid="42" grpId="0"/>
      <p:bldP spid="4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1"/>
          </p:nvPr>
        </p:nvSpPr>
        <p:spPr>
          <a:xfrm>
            <a:off x="455613" y="784225"/>
            <a:ext cx="4389437" cy="3571875"/>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例 2.6 将例 2.1 的算法用流程图表示。</a:t>
            </a:r>
            <a:endParaRPr lang="en-US" altLang="zh-CN" b="0" dirty="0">
              <a:solidFill>
                <a:srgbClr val="235A67"/>
              </a:solidFill>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求 1×2×3×4×5</a:t>
            </a:r>
            <a:endParaRPr lang="en-US" altLang="zh-CN" b="0" dirty="0">
              <a:solidFill>
                <a:srgbClr val="235A67"/>
              </a:solidFill>
              <a:latin typeface="Times New Roman" panose="02020603050405020304" pitchFamily="18" charset="0"/>
              <a:ea typeface="微软雅黑" panose="020B0503020204020204" pitchFamily="34" charset="-122"/>
              <a:cs typeface="+mn-cs"/>
            </a:endParaRPr>
          </a:p>
          <a:p>
            <a:r>
              <a:rPr lang="en-US" altLang="zh-CN" b="0" dirty="0">
                <a:solidFill>
                  <a:srgbClr val="992317"/>
                </a:solidFill>
                <a:latin typeface="Times New Roman" panose="02020603050405020304" pitchFamily="18" charset="0"/>
                <a:ea typeface="微软雅黑" panose="020B0503020204020204" pitchFamily="34" charset="-122"/>
                <a:cs typeface="+mn-cs"/>
              </a:rPr>
              <a:t>如果需要将最后结果输出:</a:t>
            </a:r>
            <a:endParaRPr lang="en-US" altLang="en-US" b="0" dirty="0">
              <a:solidFill>
                <a:srgbClr val="992317"/>
              </a:solidFill>
              <a:latin typeface="Times New Roman" panose="02020603050405020304" pitchFamily="18" charset="0"/>
              <a:ea typeface="微软雅黑" panose="020B0503020204020204" pitchFamily="34" charset="-122"/>
              <a:cs typeface="+mn-cs"/>
            </a:endParaRPr>
          </a:p>
        </p:txBody>
      </p:sp>
      <p:cxnSp>
        <p:nvCxnSpPr>
          <p:cNvPr id="33795" name="直接箭头连接符 6"/>
          <p:cNvCxnSpPr/>
          <p:nvPr/>
        </p:nvCxnSpPr>
        <p:spPr>
          <a:xfrm rot="5400000">
            <a:off x="6578600" y="996950"/>
            <a:ext cx="428625" cy="1588"/>
          </a:xfrm>
          <a:prstGeom prst="straightConnector1">
            <a:avLst/>
          </a:prstGeom>
          <a:ln w="38100" cap="flat" cmpd="sng">
            <a:solidFill>
              <a:srgbClr val="00B050"/>
            </a:solidFill>
            <a:prstDash val="solid"/>
            <a:miter/>
            <a:headEnd type="none" w="med" len="med"/>
            <a:tailEnd type="arrow" w="med" len="med"/>
          </a:ln>
        </p:spPr>
      </p:cxnSp>
      <p:cxnSp>
        <p:nvCxnSpPr>
          <p:cNvPr id="33796" name="直接箭头连接符 7"/>
          <p:cNvCxnSpPr/>
          <p:nvPr/>
        </p:nvCxnSpPr>
        <p:spPr>
          <a:xfrm rot="5400000">
            <a:off x="6627813" y="2905125"/>
            <a:ext cx="428625" cy="1588"/>
          </a:xfrm>
          <a:prstGeom prst="straightConnector1">
            <a:avLst/>
          </a:prstGeom>
          <a:ln w="38100" cap="flat" cmpd="sng">
            <a:solidFill>
              <a:srgbClr val="00B050"/>
            </a:solidFill>
            <a:prstDash val="solid"/>
            <a:miter/>
            <a:headEnd type="none" w="med" len="med"/>
            <a:tailEnd type="arrow" w="med" len="med"/>
          </a:ln>
        </p:spPr>
      </p:cxnSp>
      <p:sp>
        <p:nvSpPr>
          <p:cNvPr id="33797" name="TextBox 8"/>
          <p:cNvSpPr txBox="1"/>
          <p:nvPr/>
        </p:nvSpPr>
        <p:spPr>
          <a:xfrm>
            <a:off x="6307138" y="1214438"/>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0" name="平行四边形 9"/>
          <p:cNvSpPr/>
          <p:nvPr/>
        </p:nvSpPr>
        <p:spPr>
          <a:xfrm>
            <a:off x="6000750" y="6072188"/>
            <a:ext cx="1571625" cy="571500"/>
          </a:xfrm>
          <a:prstGeom prst="parallelogram">
            <a:avLst>
              <a:gd name="adj" fmla="val 25005"/>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3799" name="流程图: 决策 10"/>
          <p:cNvSpPr/>
          <p:nvPr/>
        </p:nvSpPr>
        <p:spPr>
          <a:xfrm>
            <a:off x="5848350" y="4954588"/>
            <a:ext cx="2000250"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33800" name="直接箭头连接符 11"/>
          <p:cNvCxnSpPr/>
          <p:nvPr/>
        </p:nvCxnSpPr>
        <p:spPr>
          <a:xfrm rot="5400000">
            <a:off x="6624638" y="4749800"/>
            <a:ext cx="428625" cy="1588"/>
          </a:xfrm>
          <a:prstGeom prst="straightConnector1">
            <a:avLst/>
          </a:prstGeom>
          <a:ln w="38100" cap="flat" cmpd="sng">
            <a:solidFill>
              <a:srgbClr val="00B050"/>
            </a:solidFill>
            <a:prstDash val="solid"/>
            <a:miter/>
            <a:headEnd type="none" w="med" len="med"/>
            <a:tailEnd type="arrow" w="med" len="med"/>
          </a:ln>
        </p:spPr>
      </p:cxnSp>
      <p:cxnSp>
        <p:nvCxnSpPr>
          <p:cNvPr id="33801" name="直接连接符 13"/>
          <p:cNvCxnSpPr/>
          <p:nvPr/>
        </p:nvCxnSpPr>
        <p:spPr>
          <a:xfrm rot="10800000">
            <a:off x="5357813" y="5324475"/>
            <a:ext cx="500062" cy="0"/>
          </a:xfrm>
          <a:prstGeom prst="line">
            <a:avLst/>
          </a:prstGeom>
          <a:ln w="38100" cap="flat" cmpd="sng">
            <a:solidFill>
              <a:srgbClr val="00B050"/>
            </a:solidFill>
            <a:prstDash val="solid"/>
            <a:miter/>
            <a:headEnd type="none" w="med" len="med"/>
            <a:tailEnd type="none" w="med" len="med"/>
          </a:ln>
        </p:spPr>
      </p:cxnSp>
      <p:cxnSp>
        <p:nvCxnSpPr>
          <p:cNvPr id="33802" name="直接连接符 14"/>
          <p:cNvCxnSpPr/>
          <p:nvPr/>
        </p:nvCxnSpPr>
        <p:spPr>
          <a:xfrm rot="5400000" flipH="1" flipV="1">
            <a:off x="4130675" y="4084638"/>
            <a:ext cx="2454275" cy="0"/>
          </a:xfrm>
          <a:prstGeom prst="line">
            <a:avLst/>
          </a:prstGeom>
          <a:ln w="38100" cap="flat" cmpd="sng">
            <a:solidFill>
              <a:srgbClr val="00B050"/>
            </a:solidFill>
            <a:prstDash val="solid"/>
            <a:miter/>
            <a:headEnd type="none" w="med" len="med"/>
            <a:tailEnd type="none" w="med" len="med"/>
          </a:ln>
        </p:spPr>
      </p:cxnSp>
      <p:cxnSp>
        <p:nvCxnSpPr>
          <p:cNvPr id="33803" name="直接箭头连接符 19"/>
          <p:cNvCxnSpPr/>
          <p:nvPr/>
        </p:nvCxnSpPr>
        <p:spPr>
          <a:xfrm rot="5400000">
            <a:off x="6627813" y="5875338"/>
            <a:ext cx="428625" cy="3175"/>
          </a:xfrm>
          <a:prstGeom prst="straightConnector1">
            <a:avLst/>
          </a:prstGeom>
          <a:ln w="38100" cap="flat" cmpd="sng">
            <a:solidFill>
              <a:srgbClr val="00B050"/>
            </a:solidFill>
            <a:prstDash val="solid"/>
            <a:miter/>
            <a:headEnd type="none" w="med" len="med"/>
            <a:tailEnd type="arrow" w="med" len="med"/>
          </a:ln>
        </p:spPr>
      </p:cxnSp>
      <p:sp>
        <p:nvSpPr>
          <p:cNvPr id="33804" name="流程图: 终止 23"/>
          <p:cNvSpPr/>
          <p:nvPr/>
        </p:nvSpPr>
        <p:spPr>
          <a:xfrm>
            <a:off x="6092825" y="214313"/>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3805" name="直接箭头连接符 24"/>
          <p:cNvCxnSpPr/>
          <p:nvPr/>
        </p:nvCxnSpPr>
        <p:spPr>
          <a:xfrm rot="5400000">
            <a:off x="6596063" y="1938338"/>
            <a:ext cx="428625" cy="3175"/>
          </a:xfrm>
          <a:prstGeom prst="straightConnector1">
            <a:avLst/>
          </a:prstGeom>
          <a:ln w="38100" cap="flat" cmpd="sng">
            <a:solidFill>
              <a:srgbClr val="00B050"/>
            </a:solidFill>
            <a:prstDash val="solid"/>
            <a:miter/>
            <a:headEnd type="none" w="med" len="med"/>
            <a:tailEnd type="arrow" w="med" len="med"/>
          </a:ln>
        </p:spPr>
      </p:cxnSp>
      <p:sp>
        <p:nvSpPr>
          <p:cNvPr id="33806" name="TextBox 25"/>
          <p:cNvSpPr txBox="1"/>
          <p:nvPr/>
        </p:nvSpPr>
        <p:spPr>
          <a:xfrm>
            <a:off x="6324600" y="2155825"/>
            <a:ext cx="1000125" cy="522288"/>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3807" name="TextBox 26"/>
          <p:cNvSpPr txBox="1"/>
          <p:nvPr/>
        </p:nvSpPr>
        <p:spPr>
          <a:xfrm>
            <a:off x="6169025" y="3084513"/>
            <a:ext cx="1357313" cy="522287"/>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t*i</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3808" name="直接箭头连接符 27"/>
          <p:cNvCxnSpPr/>
          <p:nvPr/>
        </p:nvCxnSpPr>
        <p:spPr>
          <a:xfrm rot="5400000">
            <a:off x="6637338" y="3821113"/>
            <a:ext cx="428625" cy="1587"/>
          </a:xfrm>
          <a:prstGeom prst="straightConnector1">
            <a:avLst/>
          </a:prstGeom>
          <a:ln w="38100" cap="flat" cmpd="sng">
            <a:solidFill>
              <a:srgbClr val="00B050"/>
            </a:solidFill>
            <a:prstDash val="solid"/>
            <a:miter/>
            <a:headEnd type="none" w="med" len="med"/>
            <a:tailEnd type="arrow" w="med" len="med"/>
          </a:ln>
        </p:spPr>
      </p:cxnSp>
      <p:sp>
        <p:nvSpPr>
          <p:cNvPr id="33809" name="TextBox 28"/>
          <p:cNvSpPr txBox="1"/>
          <p:nvPr/>
        </p:nvSpPr>
        <p:spPr>
          <a:xfrm>
            <a:off x="6194425" y="4000500"/>
            <a:ext cx="13573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0" name="流程图: 终止 29"/>
          <p:cNvSpPr/>
          <p:nvPr/>
        </p:nvSpPr>
        <p:spPr>
          <a:xfrm>
            <a:off x="3643313" y="6072188"/>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3811" name="直接箭头连接符 37"/>
          <p:cNvCxnSpPr/>
          <p:nvPr/>
        </p:nvCxnSpPr>
        <p:spPr>
          <a:xfrm>
            <a:off x="5357813" y="2855913"/>
            <a:ext cx="1500187" cy="1587"/>
          </a:xfrm>
          <a:prstGeom prst="straightConnector1">
            <a:avLst/>
          </a:prstGeom>
          <a:ln w="38100" cap="flat" cmpd="sng">
            <a:solidFill>
              <a:srgbClr val="00B050"/>
            </a:solidFill>
            <a:prstDash val="solid"/>
            <a:miter/>
            <a:headEnd type="none" w="med" len="med"/>
            <a:tailEnd type="arrow" w="med" len="med"/>
          </a:ln>
        </p:spPr>
      </p:cxnSp>
      <p:sp>
        <p:nvSpPr>
          <p:cNvPr id="33812" name="TextBox 41"/>
          <p:cNvSpPr txBox="1"/>
          <p:nvPr/>
        </p:nvSpPr>
        <p:spPr>
          <a:xfrm>
            <a:off x="5357813" y="483393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3" name="直接箭头连接符 22"/>
          <p:cNvCxnSpPr>
            <a:stCxn id="10" idx="5"/>
          </p:cNvCxnSpPr>
          <p:nvPr/>
        </p:nvCxnSpPr>
        <p:spPr>
          <a:xfrm rot="10800000">
            <a:off x="5000625" y="6357938"/>
            <a:ext cx="1071563" cy="1587"/>
          </a:xfrm>
          <a:prstGeom prst="straightConnector1">
            <a:avLst/>
          </a:prstGeom>
          <a:ln w="38100" cap="flat" cmpd="sng">
            <a:solidFill>
              <a:srgbClr val="9D138D"/>
            </a:solidFill>
            <a:prstDash val="solid"/>
            <a:miter/>
            <a:headEnd type="none" w="med" len="med"/>
            <a:tailEnd type="arrow" w="med" len="med"/>
          </a:ln>
        </p:spPr>
      </p:cxnSp>
      <p:sp>
        <p:nvSpPr>
          <p:cNvPr id="33814" name="TextBox 30"/>
          <p:cNvSpPr txBox="1"/>
          <p:nvPr/>
        </p:nvSpPr>
        <p:spPr>
          <a:xfrm>
            <a:off x="6858000" y="55721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33815"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lide(fromRight)">
                                      <p:cBhvr>
                                        <p:cTn id="11" dur="500"/>
                                        <p:tgtEl>
                                          <p:spTgt spid="23"/>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blinds(horizontal)">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a:xfrm>
            <a:off x="495300" y="765175"/>
            <a:ext cx="8153400" cy="2247900"/>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例 2.7 例 2.2的算法用流程图表示。有50个学生，要求将成绩在80分以上的学生的学号和成绩输出。</a:t>
            </a:r>
            <a:endParaRPr lang="en-US" altLang="en-US" b="0" dirty="0">
              <a:solidFill>
                <a:srgbClr val="235A67"/>
              </a:solidFill>
              <a:latin typeface="Times New Roman" panose="02020603050405020304" pitchFamily="18" charset="0"/>
              <a:ea typeface="微软雅黑" panose="020B0503020204020204" pitchFamily="34" charset="-122"/>
              <a:cs typeface="+mn-cs"/>
            </a:endParaRPr>
          </a:p>
        </p:txBody>
      </p:sp>
      <p:pic>
        <p:nvPicPr>
          <p:cNvPr id="3481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rot="5400000">
            <a:off x="1984375" y="1758950"/>
            <a:ext cx="428625" cy="1588"/>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rot="5400000">
            <a:off x="1941513" y="3690938"/>
            <a:ext cx="428625" cy="3175"/>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1714500" y="1976438"/>
            <a:ext cx="1000125" cy="522287"/>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 name="流程图: 决策 6"/>
          <p:cNvSpPr/>
          <p:nvPr/>
        </p:nvSpPr>
        <p:spPr>
          <a:xfrm>
            <a:off x="1071563" y="4821238"/>
            <a:ext cx="2295525"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8" name="直接箭头连接符 7"/>
          <p:cNvCxnSpPr/>
          <p:nvPr/>
        </p:nvCxnSpPr>
        <p:spPr>
          <a:xfrm rot="5400000">
            <a:off x="1981200" y="4616450"/>
            <a:ext cx="428625" cy="1588"/>
          </a:xfrm>
          <a:prstGeom prst="straightConnector1">
            <a:avLst/>
          </a:prstGeom>
          <a:ln w="38100" cap="flat" cmpd="sng">
            <a:solidFill>
              <a:srgbClr val="00B050"/>
            </a:solidFill>
            <a:prstDash val="solid"/>
            <a:miter/>
            <a:headEnd type="none" w="med" len="med"/>
            <a:tailEnd type="arrow" w="med" len="med"/>
          </a:ln>
        </p:spPr>
      </p:cxnSp>
      <p:cxnSp>
        <p:nvCxnSpPr>
          <p:cNvPr id="9" name="直接连接符 8"/>
          <p:cNvCxnSpPr/>
          <p:nvPr/>
        </p:nvCxnSpPr>
        <p:spPr>
          <a:xfrm rot="10800000">
            <a:off x="642938" y="5191125"/>
            <a:ext cx="428625" cy="0"/>
          </a:xfrm>
          <a:prstGeom prst="line">
            <a:avLst/>
          </a:prstGeom>
          <a:ln w="38100" cap="flat" cmpd="sng">
            <a:solidFill>
              <a:srgbClr val="00B050"/>
            </a:solidFill>
            <a:prstDash val="solid"/>
            <a:miter/>
            <a:headEnd type="none" w="med" len="med"/>
            <a:tailEnd type="none" w="med" len="med"/>
          </a:ln>
        </p:spPr>
      </p:cxnSp>
      <p:cxnSp>
        <p:nvCxnSpPr>
          <p:cNvPr id="10" name="直接连接符 9"/>
          <p:cNvCxnSpPr/>
          <p:nvPr/>
        </p:nvCxnSpPr>
        <p:spPr>
          <a:xfrm rot="5400000" flipH="1" flipV="1">
            <a:off x="-606425" y="3938588"/>
            <a:ext cx="2500313" cy="0"/>
          </a:xfrm>
          <a:prstGeom prst="line">
            <a:avLst/>
          </a:prstGeom>
          <a:ln w="38100" cap="flat" cmpd="sng">
            <a:solidFill>
              <a:srgbClr val="00B050"/>
            </a:solidFill>
            <a:prstDash val="solid"/>
            <a:miter/>
            <a:headEnd type="none" w="med" len="med"/>
            <a:tailEnd type="none" w="med" len="med"/>
          </a:ln>
        </p:spPr>
      </p:cxnSp>
      <p:cxnSp>
        <p:nvCxnSpPr>
          <p:cNvPr id="11" name="直接箭头连接符 10"/>
          <p:cNvCxnSpPr/>
          <p:nvPr/>
        </p:nvCxnSpPr>
        <p:spPr>
          <a:xfrm rot="5400000">
            <a:off x="1987550" y="5773738"/>
            <a:ext cx="452438" cy="0"/>
          </a:xfrm>
          <a:prstGeom prst="straightConnector1">
            <a:avLst/>
          </a:prstGeom>
          <a:ln w="38100" cap="flat" cmpd="sng">
            <a:solidFill>
              <a:srgbClr val="00B050"/>
            </a:solidFill>
            <a:prstDash val="solid"/>
            <a:miter/>
            <a:headEnd type="none" w="med" len="med"/>
            <a:tailEnd type="arrow" w="med" len="med"/>
          </a:ln>
        </p:spPr>
      </p:cxnSp>
      <p:sp>
        <p:nvSpPr>
          <p:cNvPr id="12" name="流程图: 终止 11"/>
          <p:cNvSpPr/>
          <p:nvPr/>
        </p:nvSpPr>
        <p:spPr>
          <a:xfrm>
            <a:off x="1500188" y="976313"/>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3" name="直接箭头连接符 12"/>
          <p:cNvCxnSpPr/>
          <p:nvPr/>
        </p:nvCxnSpPr>
        <p:spPr>
          <a:xfrm rot="5400000">
            <a:off x="1951038" y="2700338"/>
            <a:ext cx="428625" cy="1587"/>
          </a:xfrm>
          <a:prstGeom prst="straightConnector1">
            <a:avLst/>
          </a:prstGeom>
          <a:ln w="38100" cap="flat" cmpd="sng">
            <a:solidFill>
              <a:srgbClr val="00B050"/>
            </a:solidFill>
            <a:prstDash val="solid"/>
            <a:miter/>
            <a:headEnd type="none" w="med" len="med"/>
            <a:tailEnd type="arrow" w="med" len="med"/>
          </a:ln>
        </p:spPr>
      </p:cxnSp>
      <p:sp>
        <p:nvSpPr>
          <p:cNvPr id="17" name="TextBox 16"/>
          <p:cNvSpPr txBox="1"/>
          <p:nvPr/>
        </p:nvSpPr>
        <p:spPr>
          <a:xfrm>
            <a:off x="1500188" y="3903663"/>
            <a:ext cx="13573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8" name="流程图: 终止 17"/>
          <p:cNvSpPr/>
          <p:nvPr/>
        </p:nvSpPr>
        <p:spPr>
          <a:xfrm>
            <a:off x="6000750" y="6072188"/>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9" name="直接箭头连接符 18"/>
          <p:cNvCxnSpPr/>
          <p:nvPr/>
        </p:nvCxnSpPr>
        <p:spPr>
          <a:xfrm>
            <a:off x="642938" y="2690813"/>
            <a:ext cx="1500187" cy="1587"/>
          </a:xfrm>
          <a:prstGeom prst="straightConnector1">
            <a:avLst/>
          </a:prstGeom>
          <a:ln w="38100" cap="flat" cmpd="sng">
            <a:solidFill>
              <a:srgbClr val="00B050"/>
            </a:solidFill>
            <a:prstDash val="solid"/>
            <a:miter/>
            <a:headEnd type="none" w="med" len="med"/>
            <a:tailEnd type="arrow" w="med" len="med"/>
          </a:ln>
        </p:spPr>
      </p:cxnSp>
      <p:sp>
        <p:nvSpPr>
          <p:cNvPr id="20" name="TextBox 19"/>
          <p:cNvSpPr txBox="1"/>
          <p:nvPr/>
        </p:nvSpPr>
        <p:spPr>
          <a:xfrm>
            <a:off x="642938" y="469106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1" name="TextBox 20"/>
          <p:cNvSpPr txBox="1"/>
          <p:nvPr/>
        </p:nvSpPr>
        <p:spPr>
          <a:xfrm>
            <a:off x="6643688" y="55975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2" name="平行四边形 21"/>
          <p:cNvSpPr/>
          <p:nvPr/>
        </p:nvSpPr>
        <p:spPr>
          <a:xfrm>
            <a:off x="974725" y="2905125"/>
            <a:ext cx="2428875" cy="571500"/>
          </a:xfrm>
          <a:prstGeom prst="parallelogram">
            <a:avLst>
              <a:gd name="adj" fmla="val 25007"/>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zh-CN" altLang="en-US" sz="2800" b="0" dirty="0">
                <a:solidFill>
                  <a:srgbClr val="003399"/>
                </a:solidFill>
                <a:latin typeface="Times New Roman" panose="02020603050405020304" pitchFamily="18" charset="0"/>
                <a:ea typeface="微软雅黑" panose="020B0503020204020204" pitchFamily="34" charset="-122"/>
              </a:rPr>
              <a:t>、</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sp>
        <p:nvSpPr>
          <p:cNvPr id="29" name="TextBox 28"/>
          <p:cNvSpPr txBox="1"/>
          <p:nvPr/>
        </p:nvSpPr>
        <p:spPr>
          <a:xfrm>
            <a:off x="6164263" y="1012825"/>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0" name="流程图: 终止 29"/>
          <p:cNvSpPr/>
          <p:nvPr/>
        </p:nvSpPr>
        <p:spPr>
          <a:xfrm>
            <a:off x="5929313" y="142875"/>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1" name="直接箭头连接符 30"/>
          <p:cNvCxnSpPr/>
          <p:nvPr/>
        </p:nvCxnSpPr>
        <p:spPr>
          <a:xfrm rot="5400000">
            <a:off x="6451600" y="1736725"/>
            <a:ext cx="428625" cy="1588"/>
          </a:xfrm>
          <a:prstGeom prst="straightConnector1">
            <a:avLst/>
          </a:prstGeom>
          <a:ln w="38100" cap="flat" cmpd="sng">
            <a:solidFill>
              <a:srgbClr val="00B050"/>
            </a:solidFill>
            <a:prstDash val="solid"/>
            <a:miter/>
            <a:headEnd type="none" w="med" len="med"/>
            <a:tailEnd type="arrow" w="med" len="med"/>
          </a:ln>
        </p:spPr>
      </p:cxnSp>
      <p:sp>
        <p:nvSpPr>
          <p:cNvPr id="32" name="流程图: 决策 31"/>
          <p:cNvSpPr/>
          <p:nvPr/>
        </p:nvSpPr>
        <p:spPr>
          <a:xfrm>
            <a:off x="5500688" y="1941513"/>
            <a:ext cx="2357437" cy="928687"/>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g</a:t>
            </a:r>
            <a:r>
              <a:rPr lang="en-US" altLang="zh-CN" b="0" baseline="-25000" dirty="0">
                <a:solidFill>
                  <a:srgbClr val="003399"/>
                </a:solidFill>
                <a:latin typeface="Times New Roman" panose="02020603050405020304" pitchFamily="18" charset="0"/>
                <a:ea typeface="微软雅黑" panose="020B0503020204020204" pitchFamily="34" charset="-122"/>
              </a:rPr>
              <a:t>i</a:t>
            </a:r>
            <a:r>
              <a:rPr lang="en-US" altLang="zh-CN" b="0" dirty="0">
                <a:solidFill>
                  <a:srgbClr val="003399"/>
                </a:solidFill>
                <a:latin typeface="Times New Roman" panose="02020603050405020304" pitchFamily="18" charset="0"/>
                <a:ea typeface="微软雅黑" panose="020B0503020204020204" pitchFamily="34" charset="-122"/>
              </a:rPr>
              <a:t>≧80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33" name="直接连接符 32"/>
          <p:cNvCxnSpPr/>
          <p:nvPr/>
        </p:nvCxnSpPr>
        <p:spPr>
          <a:xfrm rot="10800000">
            <a:off x="5038725" y="2403475"/>
            <a:ext cx="428625" cy="0"/>
          </a:xfrm>
          <a:prstGeom prst="line">
            <a:avLst/>
          </a:prstGeom>
          <a:ln w="38100" cap="flat" cmpd="sng">
            <a:solidFill>
              <a:srgbClr val="00B050"/>
            </a:solidFill>
            <a:prstDash val="solid"/>
            <a:miter/>
            <a:headEnd type="none" w="med" len="med"/>
            <a:tailEnd type="none" w="med" len="med"/>
          </a:ln>
        </p:spPr>
      </p:cxnSp>
      <p:cxnSp>
        <p:nvCxnSpPr>
          <p:cNvPr id="34" name="直接连接符 33"/>
          <p:cNvCxnSpPr/>
          <p:nvPr/>
        </p:nvCxnSpPr>
        <p:spPr>
          <a:xfrm rot="10800000">
            <a:off x="7858125" y="2395538"/>
            <a:ext cx="428625" cy="0"/>
          </a:xfrm>
          <a:prstGeom prst="line">
            <a:avLst/>
          </a:prstGeom>
          <a:ln w="38100" cap="flat" cmpd="sng">
            <a:solidFill>
              <a:srgbClr val="00B050"/>
            </a:solidFill>
            <a:prstDash val="solid"/>
            <a:miter/>
            <a:headEnd type="none" w="med" len="med"/>
            <a:tailEnd type="none" w="med" len="med"/>
          </a:ln>
        </p:spPr>
      </p:cxnSp>
      <p:cxnSp>
        <p:nvCxnSpPr>
          <p:cNvPr id="35" name="直接箭头连接符 34"/>
          <p:cNvCxnSpPr/>
          <p:nvPr/>
        </p:nvCxnSpPr>
        <p:spPr>
          <a:xfrm rot="5400000">
            <a:off x="4692650" y="2703513"/>
            <a:ext cx="642938" cy="1587"/>
          </a:xfrm>
          <a:prstGeom prst="straightConnector1">
            <a:avLst/>
          </a:prstGeom>
          <a:ln w="38100" cap="flat" cmpd="sng">
            <a:solidFill>
              <a:srgbClr val="00B050"/>
            </a:solidFill>
            <a:prstDash val="solid"/>
            <a:miter/>
            <a:headEnd type="none" w="med" len="med"/>
            <a:tailEnd type="arrow" w="med" len="med"/>
          </a:ln>
        </p:spPr>
      </p:cxnSp>
      <p:sp>
        <p:nvSpPr>
          <p:cNvPr id="36" name="平行四边形 35"/>
          <p:cNvSpPr/>
          <p:nvPr/>
        </p:nvSpPr>
        <p:spPr>
          <a:xfrm>
            <a:off x="4143375" y="3013075"/>
            <a:ext cx="2428875" cy="571500"/>
          </a:xfrm>
          <a:prstGeom prst="parallelogram">
            <a:avLst>
              <a:gd name="adj" fmla="val 25007"/>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 </a:t>
            </a:r>
            <a:r>
              <a:rPr lang="zh-CN" altLang="en-US" sz="2800" b="0" dirty="0">
                <a:solidFill>
                  <a:srgbClr val="003399"/>
                </a:solidFill>
                <a:latin typeface="Times New Roman" panose="02020603050405020304" pitchFamily="18" charset="0"/>
                <a:ea typeface="微软雅黑" panose="020B0503020204020204" pitchFamily="34" charset="-122"/>
              </a:rPr>
              <a:t>、</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cxnSp>
        <p:nvCxnSpPr>
          <p:cNvPr id="37" name="直接连接符 36"/>
          <p:cNvCxnSpPr/>
          <p:nvPr/>
        </p:nvCxnSpPr>
        <p:spPr>
          <a:xfrm rot="5400000" flipH="1" flipV="1">
            <a:off x="7548563" y="3133725"/>
            <a:ext cx="1476375" cy="0"/>
          </a:xfrm>
          <a:prstGeom prst="line">
            <a:avLst/>
          </a:prstGeom>
          <a:ln w="38100" cap="flat" cmpd="sng">
            <a:solidFill>
              <a:srgbClr val="00B050"/>
            </a:solidFill>
            <a:prstDash val="solid"/>
            <a:miter/>
            <a:headEnd type="none" w="med" len="med"/>
            <a:tailEnd type="none" w="med" len="med"/>
          </a:ln>
        </p:spPr>
      </p:cxnSp>
      <p:cxnSp>
        <p:nvCxnSpPr>
          <p:cNvPr id="39" name="直接连接符 38"/>
          <p:cNvCxnSpPr/>
          <p:nvPr/>
        </p:nvCxnSpPr>
        <p:spPr>
          <a:xfrm rot="5400000" flipH="1" flipV="1">
            <a:off x="5000625" y="3727450"/>
            <a:ext cx="285750" cy="0"/>
          </a:xfrm>
          <a:prstGeom prst="line">
            <a:avLst/>
          </a:prstGeom>
          <a:ln w="38100" cap="flat" cmpd="sng">
            <a:solidFill>
              <a:srgbClr val="00B050"/>
            </a:solidFill>
            <a:prstDash val="solid"/>
            <a:miter/>
            <a:headEnd type="none" w="med" len="med"/>
            <a:tailEnd type="none" w="med" len="med"/>
          </a:ln>
        </p:spPr>
      </p:cxnSp>
      <p:cxnSp>
        <p:nvCxnSpPr>
          <p:cNvPr id="41" name="直接连接符 40"/>
          <p:cNvCxnSpPr/>
          <p:nvPr/>
        </p:nvCxnSpPr>
        <p:spPr>
          <a:xfrm rot="10800000">
            <a:off x="5143500" y="3870325"/>
            <a:ext cx="3143250" cy="0"/>
          </a:xfrm>
          <a:prstGeom prst="line">
            <a:avLst/>
          </a:prstGeom>
          <a:ln w="38100" cap="flat" cmpd="sng">
            <a:solidFill>
              <a:srgbClr val="00B050"/>
            </a:solidFill>
            <a:prstDash val="solid"/>
            <a:miter/>
            <a:headEnd type="none" w="med" len="med"/>
            <a:tailEnd type="none" w="med" len="med"/>
          </a:ln>
        </p:spPr>
      </p:cxnSp>
      <p:cxnSp>
        <p:nvCxnSpPr>
          <p:cNvPr id="45" name="直接箭头连接符 44"/>
          <p:cNvCxnSpPr/>
          <p:nvPr/>
        </p:nvCxnSpPr>
        <p:spPr>
          <a:xfrm rot="5400000">
            <a:off x="6572250" y="4013200"/>
            <a:ext cx="285750" cy="3175"/>
          </a:xfrm>
          <a:prstGeom prst="straightConnector1">
            <a:avLst/>
          </a:prstGeom>
          <a:ln w="38100" cap="flat" cmpd="sng">
            <a:solidFill>
              <a:srgbClr val="00B050"/>
            </a:solidFill>
            <a:prstDash val="solid"/>
            <a:miter/>
            <a:headEnd type="none" w="med" len="med"/>
            <a:tailEnd type="arrow" w="med" len="med"/>
          </a:ln>
        </p:spPr>
      </p:cxnSp>
      <p:sp>
        <p:nvSpPr>
          <p:cNvPr id="46" name="TextBox 45"/>
          <p:cNvSpPr txBox="1"/>
          <p:nvPr/>
        </p:nvSpPr>
        <p:spPr>
          <a:xfrm>
            <a:off x="6046788" y="4156075"/>
            <a:ext cx="13573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7" name="流程图: 决策 46"/>
          <p:cNvSpPr/>
          <p:nvPr/>
        </p:nvSpPr>
        <p:spPr>
          <a:xfrm>
            <a:off x="5584825" y="4954588"/>
            <a:ext cx="2295525"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49" name="直接连接符 48"/>
          <p:cNvCxnSpPr>
            <a:stCxn id="47" idx="1"/>
          </p:cNvCxnSpPr>
          <p:nvPr/>
        </p:nvCxnSpPr>
        <p:spPr>
          <a:xfrm rot="10800000">
            <a:off x="3916363" y="5311775"/>
            <a:ext cx="1668462" cy="0"/>
          </a:xfrm>
          <a:prstGeom prst="line">
            <a:avLst/>
          </a:prstGeom>
          <a:ln w="38100" cap="flat" cmpd="sng">
            <a:solidFill>
              <a:srgbClr val="00B050"/>
            </a:solidFill>
            <a:prstDash val="solid"/>
            <a:miter/>
            <a:headEnd type="none" w="med" len="med"/>
            <a:tailEnd type="none" w="med" len="med"/>
          </a:ln>
        </p:spPr>
      </p:cxnSp>
      <p:cxnSp>
        <p:nvCxnSpPr>
          <p:cNvPr id="50" name="直接连接符 49"/>
          <p:cNvCxnSpPr>
            <a:stCxn id="47" idx="1"/>
          </p:cNvCxnSpPr>
          <p:nvPr/>
        </p:nvCxnSpPr>
        <p:spPr>
          <a:xfrm rot="5400000" flipH="1" flipV="1">
            <a:off x="2143125" y="3513138"/>
            <a:ext cx="3571875" cy="0"/>
          </a:xfrm>
          <a:prstGeom prst="line">
            <a:avLst/>
          </a:prstGeom>
          <a:ln w="38100" cap="flat" cmpd="sng">
            <a:solidFill>
              <a:srgbClr val="00B050"/>
            </a:solidFill>
            <a:prstDash val="solid"/>
            <a:miter/>
            <a:headEnd type="none" w="med" len="med"/>
            <a:tailEnd type="none" w="med" len="med"/>
          </a:ln>
        </p:spPr>
      </p:cxnSp>
      <p:cxnSp>
        <p:nvCxnSpPr>
          <p:cNvPr id="51" name="直接箭头连接符 50"/>
          <p:cNvCxnSpPr>
            <a:stCxn id="47" idx="1"/>
          </p:cNvCxnSpPr>
          <p:nvPr/>
        </p:nvCxnSpPr>
        <p:spPr>
          <a:xfrm>
            <a:off x="3929063" y="1727200"/>
            <a:ext cx="2714625" cy="1588"/>
          </a:xfrm>
          <a:prstGeom prst="straightConnector1">
            <a:avLst/>
          </a:prstGeom>
          <a:ln w="38100" cap="flat" cmpd="sng">
            <a:solidFill>
              <a:srgbClr val="00B050"/>
            </a:solidFill>
            <a:prstDash val="solid"/>
            <a:miter/>
            <a:headEnd type="none" w="med" len="med"/>
            <a:tailEnd type="arrow" w="med" len="med"/>
          </a:ln>
        </p:spPr>
      </p:cxnSp>
      <p:sp>
        <p:nvSpPr>
          <p:cNvPr id="52" name="TextBox 51"/>
          <p:cNvSpPr txBox="1"/>
          <p:nvPr/>
        </p:nvSpPr>
        <p:spPr>
          <a:xfrm>
            <a:off x="4929188" y="4762500"/>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4" name="TextBox 53"/>
          <p:cNvSpPr txBox="1"/>
          <p:nvPr/>
        </p:nvSpPr>
        <p:spPr>
          <a:xfrm>
            <a:off x="2143125" y="550068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5" name="TextBox 54"/>
          <p:cNvSpPr txBox="1"/>
          <p:nvPr/>
        </p:nvSpPr>
        <p:spPr>
          <a:xfrm>
            <a:off x="5000625" y="192881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6" name="TextBox 55"/>
          <p:cNvSpPr txBox="1"/>
          <p:nvPr/>
        </p:nvSpPr>
        <p:spPr>
          <a:xfrm>
            <a:off x="7715250" y="187007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67" name="直接箭头连接符 66"/>
          <p:cNvCxnSpPr>
            <a:stCxn id="47" idx="1"/>
          </p:cNvCxnSpPr>
          <p:nvPr/>
        </p:nvCxnSpPr>
        <p:spPr>
          <a:xfrm rot="5400000">
            <a:off x="6486525" y="5880100"/>
            <a:ext cx="428625" cy="1588"/>
          </a:xfrm>
          <a:prstGeom prst="straightConnector1">
            <a:avLst/>
          </a:prstGeom>
          <a:ln w="38100" cap="flat" cmpd="sng">
            <a:solidFill>
              <a:srgbClr val="00B050"/>
            </a:solidFill>
            <a:prstDash val="solid"/>
            <a:miter/>
            <a:headEnd type="none" w="med" len="med"/>
            <a:tailEnd type="arrow" w="med" len="med"/>
          </a:ln>
        </p:spPr>
      </p:cxnSp>
      <p:cxnSp>
        <p:nvCxnSpPr>
          <p:cNvPr id="77" name="直接箭头连接符 76"/>
          <p:cNvCxnSpPr>
            <a:stCxn id="47" idx="1"/>
          </p:cNvCxnSpPr>
          <p:nvPr/>
        </p:nvCxnSpPr>
        <p:spPr>
          <a:xfrm rot="5400000">
            <a:off x="6572250" y="4822825"/>
            <a:ext cx="285750" cy="3175"/>
          </a:xfrm>
          <a:prstGeom prst="straightConnector1">
            <a:avLst/>
          </a:prstGeom>
          <a:ln w="38100" cap="flat" cmpd="sng">
            <a:solidFill>
              <a:srgbClr val="00B050"/>
            </a:solidFill>
            <a:prstDash val="solid"/>
            <a:miter/>
            <a:headEnd type="none" w="med" len="med"/>
            <a:tailEnd type="arrow" w="med" len="med"/>
          </a:ln>
        </p:spPr>
      </p:cxnSp>
      <p:cxnSp>
        <p:nvCxnSpPr>
          <p:cNvPr id="79" name="直接箭头连接符 78"/>
          <p:cNvCxnSpPr>
            <a:stCxn id="47" idx="1"/>
          </p:cNvCxnSpPr>
          <p:nvPr/>
        </p:nvCxnSpPr>
        <p:spPr>
          <a:xfrm rot="5400000">
            <a:off x="6500813" y="868363"/>
            <a:ext cx="285750" cy="0"/>
          </a:xfrm>
          <a:prstGeom prst="straightConnector1">
            <a:avLst/>
          </a:prstGeom>
          <a:ln w="38100" cap="flat" cmpd="sng">
            <a:solidFill>
              <a:srgbClr val="00B050"/>
            </a:solidFill>
            <a:prstDash val="solid"/>
            <a:miter/>
            <a:headEnd type="none" w="med" len="med"/>
            <a:tailEnd type="arrow" w="med" len="med"/>
          </a:ln>
        </p:spPr>
      </p:cxnSp>
      <p:sp>
        <p:nvSpPr>
          <p:cNvPr id="81" name="TextBox 80"/>
          <p:cNvSpPr txBox="1"/>
          <p:nvPr/>
        </p:nvSpPr>
        <p:spPr>
          <a:xfrm>
            <a:off x="357188" y="214313"/>
            <a:ext cx="4071937" cy="523875"/>
          </a:xfrm>
          <a:prstGeom prst="rect">
            <a:avLst/>
          </a:prstGeom>
          <a:solidFill>
            <a:srgbClr val="FFFFCC"/>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b="0" dirty="0">
                <a:solidFill>
                  <a:srgbClr val="992317"/>
                </a:solidFill>
                <a:latin typeface="Times New Roman" panose="02020603050405020304" pitchFamily="18" charset="0"/>
                <a:ea typeface="微软雅黑" panose="020B0503020204020204" pitchFamily="34" charset="-122"/>
              </a:rPr>
              <a:t>如果包括输入数据部分</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83" name="TextBox 82"/>
          <p:cNvSpPr txBox="1"/>
          <p:nvPr/>
        </p:nvSpPr>
        <p:spPr>
          <a:xfrm>
            <a:off x="1857375" y="5861050"/>
            <a:ext cx="714375" cy="646113"/>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3600" b="0" dirty="0">
                <a:solidFill>
                  <a:srgbClr val="992317"/>
                </a:solidFill>
                <a:latin typeface="Times New Roman" panose="02020603050405020304" pitchFamily="18" charset="0"/>
                <a:ea typeface="微软雅黑" panose="020B0503020204020204" pitchFamily="34" charset="-122"/>
              </a:rPr>
              <a:t>①</a:t>
            </a:r>
            <a:endParaRPr lang="zh-CN" altLang="en-US" sz="3600" b="0" dirty="0">
              <a:solidFill>
                <a:srgbClr val="992317"/>
              </a:solidFill>
              <a:latin typeface="Times New Roman" panose="02020603050405020304" pitchFamily="18" charset="0"/>
              <a:ea typeface="微软雅黑" panose="020B0503020204020204" pitchFamily="34" charset="-122"/>
            </a:endParaRPr>
          </a:p>
        </p:txBody>
      </p:sp>
      <p:pic>
        <p:nvPicPr>
          <p:cNvPr id="35884"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slide(fromTop)">
                                      <p:cBhvr>
                                        <p:cTn id="12" dur="500"/>
                                        <p:tgtEl>
                                          <p:spTgt spid="79"/>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linds(horizontal)">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slide(fromTop)">
                                      <p:cBhvr>
                                        <p:cTn id="21" dur="500"/>
                                        <p:tgtEl>
                                          <p:spTgt spid="31"/>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linds(horizontal)">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blinds(horizontal)">
                                      <p:cBhvr>
                                        <p:cTn id="30" dur="500"/>
                                        <p:tgtEl>
                                          <p:spTgt spid="55"/>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slide(fromRight)">
                                      <p:cBhvr>
                                        <p:cTn id="35" dur="500"/>
                                        <p:tgtEl>
                                          <p:spTgt spid="33"/>
                                        </p:tgtEl>
                                      </p:cBhvr>
                                    </p:animEffect>
                                  </p:childTnLst>
                                </p:cTn>
                              </p:par>
                            </p:childTnLst>
                          </p:cTn>
                        </p:par>
                        <p:par>
                          <p:cTn id="36" fill="hold">
                            <p:stCondLst>
                              <p:cond delay="500"/>
                            </p:stCondLst>
                            <p:childTnLst>
                              <p:par>
                                <p:cTn id="37" presetID="12" presetClass="entr" presetSubtype="1"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slide(fromTop)">
                                      <p:cBhvr>
                                        <p:cTn id="39" dur="500"/>
                                        <p:tgtEl>
                                          <p:spTgt spid="35"/>
                                        </p:tgtEl>
                                      </p:cBhvr>
                                    </p:animEffect>
                                  </p:childTnLst>
                                </p:cTn>
                              </p:par>
                            </p:childTnLst>
                          </p:cTn>
                        </p:par>
                        <p:par>
                          <p:cTn id="40" fill="hold">
                            <p:stCondLst>
                              <p:cond delay="1000"/>
                            </p:stCondLst>
                            <p:childTnLst>
                              <p:par>
                                <p:cTn id="41" presetID="3" presetClass="entr" presetSubtype="10"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blinds(horizontal)">
                                      <p:cBhvr>
                                        <p:cTn id="43" dur="500"/>
                                        <p:tgtEl>
                                          <p:spTgt spid="36"/>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blinds(horizontal)">
                                      <p:cBhvr>
                                        <p:cTn id="48" dur="500"/>
                                        <p:tgtEl>
                                          <p:spTgt spid="56"/>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slide(fromLeft)">
                                      <p:cBhvr>
                                        <p:cTn id="53" dur="500"/>
                                        <p:tgtEl>
                                          <p:spTgt spid="34"/>
                                        </p:tgtEl>
                                      </p:cBhvr>
                                    </p:animEffect>
                                  </p:childTnLst>
                                </p:cTn>
                              </p:par>
                            </p:childTnLst>
                          </p:cTn>
                        </p:par>
                        <p:par>
                          <p:cTn id="54" fill="hold">
                            <p:stCondLst>
                              <p:cond delay="500"/>
                            </p:stCondLst>
                            <p:childTnLst>
                              <p:par>
                                <p:cTn id="55" presetID="12" presetClass="entr" presetSubtype="1" fill="hold"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slide(fromTop)">
                                      <p:cBhvr>
                                        <p:cTn id="57" dur="500"/>
                                        <p:tgtEl>
                                          <p:spTgt spid="39"/>
                                        </p:tgtEl>
                                      </p:cBhvr>
                                    </p:animEffect>
                                  </p:childTnLst>
                                </p:cTn>
                              </p:par>
                            </p:childTnLst>
                          </p:cTn>
                        </p:par>
                        <p:par>
                          <p:cTn id="58" fill="hold">
                            <p:stCondLst>
                              <p:cond delay="1000"/>
                            </p:stCondLst>
                            <p:childTnLst>
                              <p:par>
                                <p:cTn id="59" presetID="12" presetClass="entr" presetSubtype="1" fill="hold" nodeType="after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slide(fromTop)">
                                      <p:cBhvr>
                                        <p:cTn id="61" dur="500"/>
                                        <p:tgtEl>
                                          <p:spTgt spid="37"/>
                                        </p:tgtEl>
                                      </p:cBhvr>
                                    </p:animEffect>
                                  </p:childTnLst>
                                </p:cTn>
                              </p:par>
                            </p:childTnLst>
                          </p:cTn>
                        </p:par>
                        <p:par>
                          <p:cTn id="62" fill="hold">
                            <p:stCondLst>
                              <p:cond delay="1500"/>
                            </p:stCondLst>
                            <p:childTnLst>
                              <p:par>
                                <p:cTn id="63" presetID="12" presetClass="entr" presetSubtype="1" fill="hold" nodeType="after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slide(fromTop)">
                                      <p:cBhvr>
                                        <p:cTn id="65" dur="500"/>
                                        <p:tgtEl>
                                          <p:spTgt spid="41"/>
                                        </p:tgtEl>
                                      </p:cBhvr>
                                    </p:animEffect>
                                  </p:childTnLst>
                                </p:cTn>
                              </p:par>
                            </p:childTnLst>
                          </p:cTn>
                        </p:par>
                        <p:par>
                          <p:cTn id="66" fill="hold">
                            <p:stCondLst>
                              <p:cond delay="2000"/>
                            </p:stCondLst>
                            <p:childTnLst>
                              <p:par>
                                <p:cTn id="67" presetID="12" presetClass="entr" presetSubtype="1" fill="hold" nodeType="after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slide(fromTop)">
                                      <p:cBhvr>
                                        <p:cTn id="69" dur="500"/>
                                        <p:tgtEl>
                                          <p:spTgt spid="45"/>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blinds(horizontal)">
                                      <p:cBhvr>
                                        <p:cTn id="74" dur="500"/>
                                        <p:tgtEl>
                                          <p:spTgt spid="46"/>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1" fill="hold" nodeType="click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slide(fromTop)">
                                      <p:cBhvr>
                                        <p:cTn id="79" dur="500"/>
                                        <p:tgtEl>
                                          <p:spTgt spid="77"/>
                                        </p:tgtEl>
                                      </p:cBhvr>
                                    </p:animEffect>
                                  </p:childTnLst>
                                </p:cTn>
                              </p:par>
                            </p:childTnLst>
                          </p:cTn>
                        </p:par>
                        <p:par>
                          <p:cTn id="80" fill="hold">
                            <p:stCondLst>
                              <p:cond delay="500"/>
                            </p:stCondLst>
                            <p:childTnLst>
                              <p:par>
                                <p:cTn id="81" presetID="3" presetClass="entr" presetSubtype="10" fill="hold" grpId="0" nodeType="after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blinds(horizontal)">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blinds(horizontal)">
                                      <p:cBhvr>
                                        <p:cTn id="88" dur="500"/>
                                        <p:tgtEl>
                                          <p:spTgt spid="52"/>
                                        </p:tgtEl>
                                      </p:cBhvr>
                                    </p:animEffect>
                                  </p:childTnLst>
                                </p:cTn>
                              </p:par>
                            </p:childTnLst>
                          </p:cTn>
                        </p:par>
                        <p:par>
                          <p:cTn id="89" fill="hold">
                            <p:stCondLst>
                              <p:cond delay="500"/>
                            </p:stCondLst>
                            <p:childTnLst>
                              <p:par>
                                <p:cTn id="90" presetID="12" presetClass="entr" presetSubtype="2" fill="hold" nodeType="after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slide(fromRight)">
                                      <p:cBhvr>
                                        <p:cTn id="92" dur="500"/>
                                        <p:tgtEl>
                                          <p:spTgt spid="49"/>
                                        </p:tgtEl>
                                      </p:cBhvr>
                                    </p:animEffect>
                                  </p:childTnLst>
                                </p:cTn>
                              </p:par>
                            </p:childTnLst>
                          </p:cTn>
                        </p:par>
                        <p:par>
                          <p:cTn id="93" fill="hold">
                            <p:stCondLst>
                              <p:cond delay="1000"/>
                            </p:stCondLst>
                            <p:childTnLst>
                              <p:par>
                                <p:cTn id="94" presetID="12" presetClass="entr" presetSubtype="4" fill="hold" nodeType="afterEffect">
                                  <p:stCondLst>
                                    <p:cond delay="0"/>
                                  </p:stCondLst>
                                  <p:childTnLst>
                                    <p:set>
                                      <p:cBhvr>
                                        <p:cTn id="95" dur="1" fill="hold">
                                          <p:stCondLst>
                                            <p:cond delay="0"/>
                                          </p:stCondLst>
                                        </p:cTn>
                                        <p:tgtEl>
                                          <p:spTgt spid="50"/>
                                        </p:tgtEl>
                                        <p:attrNameLst>
                                          <p:attrName>style.visibility</p:attrName>
                                        </p:attrNameLst>
                                      </p:cBhvr>
                                      <p:to>
                                        <p:strVal val="visible"/>
                                      </p:to>
                                    </p:set>
                                    <p:animEffect transition="in" filter="slide(fromBottom)">
                                      <p:cBhvr>
                                        <p:cTn id="96" dur="500"/>
                                        <p:tgtEl>
                                          <p:spTgt spid="50"/>
                                        </p:tgtEl>
                                      </p:cBhvr>
                                    </p:animEffect>
                                  </p:childTnLst>
                                </p:cTn>
                              </p:par>
                            </p:childTnLst>
                          </p:cTn>
                        </p:par>
                        <p:par>
                          <p:cTn id="97" fill="hold">
                            <p:stCondLst>
                              <p:cond delay="1500"/>
                            </p:stCondLst>
                            <p:childTnLst>
                              <p:par>
                                <p:cTn id="98" presetID="12" presetClass="entr" presetSubtype="8" fill="hold" nodeType="afterEffect">
                                  <p:stCondLst>
                                    <p:cond delay="0"/>
                                  </p:stCondLst>
                                  <p:childTnLst>
                                    <p:set>
                                      <p:cBhvr>
                                        <p:cTn id="99" dur="1" fill="hold">
                                          <p:stCondLst>
                                            <p:cond delay="0"/>
                                          </p:stCondLst>
                                        </p:cTn>
                                        <p:tgtEl>
                                          <p:spTgt spid="51"/>
                                        </p:tgtEl>
                                        <p:attrNameLst>
                                          <p:attrName>style.visibility</p:attrName>
                                        </p:attrNameLst>
                                      </p:cBhvr>
                                      <p:to>
                                        <p:strVal val="visible"/>
                                      </p:to>
                                    </p:set>
                                    <p:animEffect transition="in" filter="slide(fromLeft)">
                                      <p:cBhvr>
                                        <p:cTn id="100" dur="500"/>
                                        <p:tgtEl>
                                          <p:spTgt spid="51"/>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1">
                                            <p:txEl>
                                              <p:pRg st="0" end="0"/>
                                            </p:txEl>
                                          </p:spTgt>
                                        </p:tgtEl>
                                        <p:attrNameLst>
                                          <p:attrName>style.visibility</p:attrName>
                                        </p:attrNameLst>
                                      </p:cBhvr>
                                      <p:to>
                                        <p:strVal val="visible"/>
                                      </p:to>
                                    </p:set>
                                    <p:animEffect transition="in" filter="blinds(horizontal)">
                                      <p:cBhvr>
                                        <p:cTn id="105" dur="500"/>
                                        <p:tgtEl>
                                          <p:spTgt spid="21">
                                            <p:txEl>
                                              <p:pRg st="0" end="0"/>
                                            </p:txEl>
                                          </p:spTgt>
                                        </p:tgtEl>
                                      </p:cBhvr>
                                    </p:animEffect>
                                  </p:childTnLst>
                                </p:cTn>
                              </p:par>
                            </p:childTnLst>
                          </p:cTn>
                        </p:par>
                        <p:par>
                          <p:cTn id="106" fill="hold">
                            <p:stCondLst>
                              <p:cond delay="500"/>
                            </p:stCondLst>
                            <p:childTnLst>
                              <p:par>
                                <p:cTn id="107" presetID="12" presetClass="entr" presetSubtype="1" fill="hold" nodeType="after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slide(fromTop)">
                                      <p:cBhvr>
                                        <p:cTn id="109" dur="500"/>
                                        <p:tgtEl>
                                          <p:spTgt spid="67"/>
                                        </p:tgtEl>
                                      </p:cBhvr>
                                    </p:animEffect>
                                  </p:childTnLst>
                                </p:cTn>
                              </p:par>
                            </p:childTnLst>
                          </p:cTn>
                        </p:par>
                        <p:par>
                          <p:cTn id="110" fill="hold">
                            <p:stCondLst>
                              <p:cond delay="1000"/>
                            </p:stCondLst>
                            <p:childTnLst>
                              <p:par>
                                <p:cTn id="111" presetID="3" presetClass="entr" presetSubtype="10" fill="hold" grpId="0" nodeType="after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blinds(horizontal)">
                                      <p:cBhvr>
                                        <p:cTn id="113" dur="500"/>
                                        <p:tgtEl>
                                          <p:spTgt spid="18"/>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81"/>
                                        </p:tgtEl>
                                        <p:attrNameLst>
                                          <p:attrName>style.visibility</p:attrName>
                                        </p:attrNameLst>
                                      </p:cBhvr>
                                      <p:to>
                                        <p:strVal val="visible"/>
                                      </p:to>
                                    </p:set>
                                    <p:animEffect transition="in" filter="blinds(horizontal)">
                                      <p:cBhvr>
                                        <p:cTn id="118" dur="500"/>
                                        <p:tgtEl>
                                          <p:spTgt spid="81"/>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12"/>
                                        </p:tgtEl>
                                        <p:attrNameLst>
                                          <p:attrName>style.visibility</p:attrName>
                                        </p:attrNameLst>
                                      </p:cBhvr>
                                      <p:to>
                                        <p:strVal val="visible"/>
                                      </p:to>
                                    </p:set>
                                    <p:animEffect transition="in" filter="blinds(horizontal)">
                                      <p:cBhvr>
                                        <p:cTn id="123" dur="500"/>
                                        <p:tgtEl>
                                          <p:spTgt spid="12"/>
                                        </p:tgtEl>
                                      </p:cBhvr>
                                    </p:animEffect>
                                  </p:childTnLst>
                                </p:cTn>
                              </p:par>
                            </p:childTnLst>
                          </p:cTn>
                        </p:par>
                        <p:par>
                          <p:cTn id="124" fill="hold">
                            <p:stCondLst>
                              <p:cond delay="500"/>
                            </p:stCondLst>
                            <p:childTnLst>
                              <p:par>
                                <p:cTn id="125" presetID="12" presetClass="entr" presetSubtype="1" fill="hold" nodeType="afterEffect">
                                  <p:stCondLst>
                                    <p:cond delay="0"/>
                                  </p:stCondLst>
                                  <p:childTnLst>
                                    <p:set>
                                      <p:cBhvr>
                                        <p:cTn id="126" dur="1" fill="hold">
                                          <p:stCondLst>
                                            <p:cond delay="0"/>
                                          </p:stCondLst>
                                        </p:cTn>
                                        <p:tgtEl>
                                          <p:spTgt spid="4"/>
                                        </p:tgtEl>
                                        <p:attrNameLst>
                                          <p:attrName>style.visibility</p:attrName>
                                        </p:attrNameLst>
                                      </p:cBhvr>
                                      <p:to>
                                        <p:strVal val="visible"/>
                                      </p:to>
                                    </p:set>
                                    <p:animEffect transition="in" filter="slide(fromTop)">
                                      <p:cBhvr>
                                        <p:cTn id="127" dur="500"/>
                                        <p:tgtEl>
                                          <p:spTgt spid="4"/>
                                        </p:tgtEl>
                                      </p:cBhvr>
                                    </p:animEffect>
                                  </p:childTnLst>
                                </p:cTn>
                              </p:par>
                            </p:childTnLst>
                          </p:cTn>
                        </p:par>
                        <p:par>
                          <p:cTn id="128" fill="hold">
                            <p:stCondLst>
                              <p:cond delay="1000"/>
                            </p:stCondLst>
                            <p:childTnLst>
                              <p:par>
                                <p:cTn id="129" presetID="3" presetClass="entr" presetSubtype="10" fill="hold" grpId="0" nodeType="afterEffect">
                                  <p:stCondLst>
                                    <p:cond delay="0"/>
                                  </p:stCondLst>
                                  <p:childTnLst>
                                    <p:set>
                                      <p:cBhvr>
                                        <p:cTn id="130" dur="1" fill="hold">
                                          <p:stCondLst>
                                            <p:cond delay="0"/>
                                          </p:stCondLst>
                                        </p:cTn>
                                        <p:tgtEl>
                                          <p:spTgt spid="6"/>
                                        </p:tgtEl>
                                        <p:attrNameLst>
                                          <p:attrName>style.visibility</p:attrName>
                                        </p:attrNameLst>
                                      </p:cBhvr>
                                      <p:to>
                                        <p:strVal val="visible"/>
                                      </p:to>
                                    </p:set>
                                    <p:animEffect transition="in" filter="blinds(horizontal)">
                                      <p:cBhvr>
                                        <p:cTn id="131" dur="500"/>
                                        <p:tgtEl>
                                          <p:spTgt spid="6"/>
                                        </p:tgtEl>
                                      </p:cBhvr>
                                    </p:animEffect>
                                  </p:childTnLst>
                                </p:cTn>
                              </p:par>
                            </p:childTnLst>
                          </p:cTn>
                        </p:par>
                      </p:childTnLst>
                    </p:cTn>
                  </p:par>
                  <p:par>
                    <p:cTn id="132" fill="hold">
                      <p:stCondLst>
                        <p:cond delay="indefinite"/>
                      </p:stCondLst>
                      <p:childTnLst>
                        <p:par>
                          <p:cTn id="133" fill="hold">
                            <p:stCondLst>
                              <p:cond delay="0"/>
                            </p:stCondLst>
                            <p:childTnLst>
                              <p:par>
                                <p:cTn id="134" presetID="12" presetClass="entr" presetSubtype="1" fill="hold" nodeType="clickEffect">
                                  <p:stCondLst>
                                    <p:cond delay="0"/>
                                  </p:stCondLst>
                                  <p:childTnLst>
                                    <p:set>
                                      <p:cBhvr>
                                        <p:cTn id="135" dur="1" fill="hold">
                                          <p:stCondLst>
                                            <p:cond delay="0"/>
                                          </p:stCondLst>
                                        </p:cTn>
                                        <p:tgtEl>
                                          <p:spTgt spid="13"/>
                                        </p:tgtEl>
                                        <p:attrNameLst>
                                          <p:attrName>style.visibility</p:attrName>
                                        </p:attrNameLst>
                                      </p:cBhvr>
                                      <p:to>
                                        <p:strVal val="visible"/>
                                      </p:to>
                                    </p:set>
                                    <p:animEffect transition="in" filter="slide(fromTop)">
                                      <p:cBhvr>
                                        <p:cTn id="136" dur="500"/>
                                        <p:tgtEl>
                                          <p:spTgt spid="13"/>
                                        </p:tgtEl>
                                      </p:cBhvr>
                                    </p:animEffect>
                                  </p:childTnLst>
                                </p:cTn>
                              </p:par>
                            </p:childTnLst>
                          </p:cTn>
                        </p:par>
                        <p:par>
                          <p:cTn id="137" fill="hold">
                            <p:stCondLst>
                              <p:cond delay="500"/>
                            </p:stCondLst>
                            <p:childTnLst>
                              <p:par>
                                <p:cTn id="138" presetID="3" presetClass="entr" presetSubtype="10" fill="hold" grpId="0" nodeType="afterEffect">
                                  <p:stCondLst>
                                    <p:cond delay="0"/>
                                  </p:stCondLst>
                                  <p:childTnLst>
                                    <p:set>
                                      <p:cBhvr>
                                        <p:cTn id="139" dur="1" fill="hold">
                                          <p:stCondLst>
                                            <p:cond delay="0"/>
                                          </p:stCondLst>
                                        </p:cTn>
                                        <p:tgtEl>
                                          <p:spTgt spid="22"/>
                                        </p:tgtEl>
                                        <p:attrNameLst>
                                          <p:attrName>style.visibility</p:attrName>
                                        </p:attrNameLst>
                                      </p:cBhvr>
                                      <p:to>
                                        <p:strVal val="visible"/>
                                      </p:to>
                                    </p:set>
                                    <p:animEffect transition="in" filter="blinds(horizontal)">
                                      <p:cBhvr>
                                        <p:cTn id="140" dur="500"/>
                                        <p:tgtEl>
                                          <p:spTgt spid="22"/>
                                        </p:tgtEl>
                                      </p:cBhvr>
                                    </p:animEffect>
                                  </p:childTnLst>
                                </p:cTn>
                              </p:par>
                            </p:childTnLst>
                          </p:cTn>
                        </p:par>
                      </p:childTnLst>
                    </p:cTn>
                  </p:par>
                  <p:par>
                    <p:cTn id="141" fill="hold">
                      <p:stCondLst>
                        <p:cond delay="indefinite"/>
                      </p:stCondLst>
                      <p:childTnLst>
                        <p:par>
                          <p:cTn id="142" fill="hold">
                            <p:stCondLst>
                              <p:cond delay="0"/>
                            </p:stCondLst>
                            <p:childTnLst>
                              <p:par>
                                <p:cTn id="143" presetID="12" presetClass="entr" presetSubtype="1" fill="hold" nodeType="clickEffect">
                                  <p:stCondLst>
                                    <p:cond delay="0"/>
                                  </p:stCondLst>
                                  <p:childTnLst>
                                    <p:set>
                                      <p:cBhvr>
                                        <p:cTn id="144" dur="1" fill="hold">
                                          <p:stCondLst>
                                            <p:cond delay="0"/>
                                          </p:stCondLst>
                                        </p:cTn>
                                        <p:tgtEl>
                                          <p:spTgt spid="5"/>
                                        </p:tgtEl>
                                        <p:attrNameLst>
                                          <p:attrName>style.visibility</p:attrName>
                                        </p:attrNameLst>
                                      </p:cBhvr>
                                      <p:to>
                                        <p:strVal val="visible"/>
                                      </p:to>
                                    </p:set>
                                    <p:animEffect transition="in" filter="slide(fromTop)">
                                      <p:cBhvr>
                                        <p:cTn id="145" dur="500"/>
                                        <p:tgtEl>
                                          <p:spTgt spid="5"/>
                                        </p:tgtEl>
                                      </p:cBhvr>
                                    </p:animEffect>
                                  </p:childTnLst>
                                </p:cTn>
                              </p:par>
                            </p:childTnLst>
                          </p:cTn>
                        </p:par>
                        <p:par>
                          <p:cTn id="146" fill="hold">
                            <p:stCondLst>
                              <p:cond delay="500"/>
                            </p:stCondLst>
                            <p:childTnLst>
                              <p:par>
                                <p:cTn id="147" presetID="3" presetClass="entr" presetSubtype="10" fill="hold" grpId="0" nodeType="afterEffect">
                                  <p:stCondLst>
                                    <p:cond delay="0"/>
                                  </p:stCondLst>
                                  <p:childTnLst>
                                    <p:set>
                                      <p:cBhvr>
                                        <p:cTn id="148" dur="1" fill="hold">
                                          <p:stCondLst>
                                            <p:cond delay="0"/>
                                          </p:stCondLst>
                                        </p:cTn>
                                        <p:tgtEl>
                                          <p:spTgt spid="17"/>
                                        </p:tgtEl>
                                        <p:attrNameLst>
                                          <p:attrName>style.visibility</p:attrName>
                                        </p:attrNameLst>
                                      </p:cBhvr>
                                      <p:to>
                                        <p:strVal val="visible"/>
                                      </p:to>
                                    </p:set>
                                    <p:animEffect transition="in" filter="blinds(horizontal)">
                                      <p:cBhvr>
                                        <p:cTn id="149" dur="500"/>
                                        <p:tgtEl>
                                          <p:spTgt spid="17"/>
                                        </p:tgtEl>
                                      </p:cBhvr>
                                    </p:animEffect>
                                  </p:childTnLst>
                                </p:cTn>
                              </p:par>
                            </p:childTnLst>
                          </p:cTn>
                        </p:par>
                      </p:childTnLst>
                    </p:cTn>
                  </p:par>
                  <p:par>
                    <p:cTn id="150" fill="hold">
                      <p:stCondLst>
                        <p:cond delay="indefinite"/>
                      </p:stCondLst>
                      <p:childTnLst>
                        <p:par>
                          <p:cTn id="151" fill="hold">
                            <p:stCondLst>
                              <p:cond delay="0"/>
                            </p:stCondLst>
                            <p:childTnLst>
                              <p:par>
                                <p:cTn id="152" presetID="12" presetClass="entr" presetSubtype="1" fill="hold" nodeType="clickEffect">
                                  <p:stCondLst>
                                    <p:cond delay="0"/>
                                  </p:stCondLst>
                                  <p:childTnLst>
                                    <p:set>
                                      <p:cBhvr>
                                        <p:cTn id="153" dur="1" fill="hold">
                                          <p:stCondLst>
                                            <p:cond delay="0"/>
                                          </p:stCondLst>
                                        </p:cTn>
                                        <p:tgtEl>
                                          <p:spTgt spid="8"/>
                                        </p:tgtEl>
                                        <p:attrNameLst>
                                          <p:attrName>style.visibility</p:attrName>
                                        </p:attrNameLst>
                                      </p:cBhvr>
                                      <p:to>
                                        <p:strVal val="visible"/>
                                      </p:to>
                                    </p:set>
                                    <p:animEffect transition="in" filter="slide(fromTop)">
                                      <p:cBhvr>
                                        <p:cTn id="154" dur="500"/>
                                        <p:tgtEl>
                                          <p:spTgt spid="8"/>
                                        </p:tgtEl>
                                      </p:cBhvr>
                                    </p:animEffect>
                                  </p:childTnLst>
                                </p:cTn>
                              </p:par>
                            </p:childTnLst>
                          </p:cTn>
                        </p:par>
                        <p:par>
                          <p:cTn id="155" fill="hold">
                            <p:stCondLst>
                              <p:cond delay="500"/>
                            </p:stCondLst>
                            <p:childTnLst>
                              <p:par>
                                <p:cTn id="156" presetID="3" presetClass="entr" presetSubtype="10" fill="hold" grpId="0" nodeType="afterEffect">
                                  <p:stCondLst>
                                    <p:cond delay="0"/>
                                  </p:stCondLst>
                                  <p:childTnLst>
                                    <p:set>
                                      <p:cBhvr>
                                        <p:cTn id="157" dur="1" fill="hold">
                                          <p:stCondLst>
                                            <p:cond delay="0"/>
                                          </p:stCondLst>
                                        </p:cTn>
                                        <p:tgtEl>
                                          <p:spTgt spid="7"/>
                                        </p:tgtEl>
                                        <p:attrNameLst>
                                          <p:attrName>style.visibility</p:attrName>
                                        </p:attrNameLst>
                                      </p:cBhvr>
                                      <p:to>
                                        <p:strVal val="visible"/>
                                      </p:to>
                                    </p:set>
                                    <p:animEffect transition="in" filter="blinds(horizontal)">
                                      <p:cBhvr>
                                        <p:cTn id="158" dur="500"/>
                                        <p:tgtEl>
                                          <p:spTgt spid="7"/>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20"/>
                                        </p:tgtEl>
                                        <p:attrNameLst>
                                          <p:attrName>style.visibility</p:attrName>
                                        </p:attrNameLst>
                                      </p:cBhvr>
                                      <p:to>
                                        <p:strVal val="visible"/>
                                      </p:to>
                                    </p:set>
                                    <p:animEffect transition="in" filter="blinds(horizontal)">
                                      <p:cBhvr>
                                        <p:cTn id="163" dur="500"/>
                                        <p:tgtEl>
                                          <p:spTgt spid="20"/>
                                        </p:tgtEl>
                                      </p:cBhvr>
                                    </p:animEffect>
                                  </p:childTnLst>
                                </p:cTn>
                              </p:par>
                            </p:childTnLst>
                          </p:cTn>
                        </p:par>
                        <p:par>
                          <p:cTn id="164" fill="hold">
                            <p:stCondLst>
                              <p:cond delay="500"/>
                            </p:stCondLst>
                            <p:childTnLst>
                              <p:par>
                                <p:cTn id="165" presetID="12" presetClass="entr" presetSubtype="2" fill="hold" nodeType="afterEffect">
                                  <p:stCondLst>
                                    <p:cond delay="0"/>
                                  </p:stCondLst>
                                  <p:childTnLst>
                                    <p:set>
                                      <p:cBhvr>
                                        <p:cTn id="166" dur="1" fill="hold">
                                          <p:stCondLst>
                                            <p:cond delay="0"/>
                                          </p:stCondLst>
                                        </p:cTn>
                                        <p:tgtEl>
                                          <p:spTgt spid="9"/>
                                        </p:tgtEl>
                                        <p:attrNameLst>
                                          <p:attrName>style.visibility</p:attrName>
                                        </p:attrNameLst>
                                      </p:cBhvr>
                                      <p:to>
                                        <p:strVal val="visible"/>
                                      </p:to>
                                    </p:set>
                                    <p:animEffect transition="in" filter="slide(fromRight)">
                                      <p:cBhvr>
                                        <p:cTn id="167" dur="500"/>
                                        <p:tgtEl>
                                          <p:spTgt spid="9"/>
                                        </p:tgtEl>
                                      </p:cBhvr>
                                    </p:animEffect>
                                  </p:childTnLst>
                                </p:cTn>
                              </p:par>
                            </p:childTnLst>
                          </p:cTn>
                        </p:par>
                        <p:par>
                          <p:cTn id="168" fill="hold">
                            <p:stCondLst>
                              <p:cond delay="1000"/>
                            </p:stCondLst>
                            <p:childTnLst>
                              <p:par>
                                <p:cTn id="169" presetID="12" presetClass="entr" presetSubtype="4" fill="hold" nodeType="afterEffect">
                                  <p:stCondLst>
                                    <p:cond delay="0"/>
                                  </p:stCondLst>
                                  <p:childTnLst>
                                    <p:set>
                                      <p:cBhvr>
                                        <p:cTn id="170" dur="1" fill="hold">
                                          <p:stCondLst>
                                            <p:cond delay="0"/>
                                          </p:stCondLst>
                                        </p:cTn>
                                        <p:tgtEl>
                                          <p:spTgt spid="10"/>
                                        </p:tgtEl>
                                        <p:attrNameLst>
                                          <p:attrName>style.visibility</p:attrName>
                                        </p:attrNameLst>
                                      </p:cBhvr>
                                      <p:to>
                                        <p:strVal val="visible"/>
                                      </p:to>
                                    </p:set>
                                    <p:animEffect transition="in" filter="slide(fromBottom)">
                                      <p:cBhvr>
                                        <p:cTn id="171" dur="500"/>
                                        <p:tgtEl>
                                          <p:spTgt spid="10"/>
                                        </p:tgtEl>
                                      </p:cBhvr>
                                    </p:animEffect>
                                  </p:childTnLst>
                                </p:cTn>
                              </p:par>
                            </p:childTnLst>
                          </p:cTn>
                        </p:par>
                        <p:par>
                          <p:cTn id="172" fill="hold">
                            <p:stCondLst>
                              <p:cond delay="1500"/>
                            </p:stCondLst>
                            <p:childTnLst>
                              <p:par>
                                <p:cTn id="173" presetID="12" presetClass="entr" presetSubtype="8" fill="hold" nodeType="afterEffect">
                                  <p:stCondLst>
                                    <p:cond delay="0"/>
                                  </p:stCondLst>
                                  <p:childTnLst>
                                    <p:set>
                                      <p:cBhvr>
                                        <p:cTn id="174" dur="1" fill="hold">
                                          <p:stCondLst>
                                            <p:cond delay="0"/>
                                          </p:stCondLst>
                                        </p:cTn>
                                        <p:tgtEl>
                                          <p:spTgt spid="19"/>
                                        </p:tgtEl>
                                        <p:attrNameLst>
                                          <p:attrName>style.visibility</p:attrName>
                                        </p:attrNameLst>
                                      </p:cBhvr>
                                      <p:to>
                                        <p:strVal val="visible"/>
                                      </p:to>
                                    </p:set>
                                    <p:animEffect transition="in" filter="slide(fromLeft)">
                                      <p:cBhvr>
                                        <p:cTn id="175" dur="500"/>
                                        <p:tgtEl>
                                          <p:spTgt spid="19"/>
                                        </p:tgtEl>
                                      </p:cBhvr>
                                    </p:animEffect>
                                  </p:childTnLst>
                                </p:cTn>
                              </p:par>
                            </p:childTnLst>
                          </p:cTn>
                        </p:par>
                      </p:childTnLst>
                    </p:cTn>
                  </p:par>
                  <p:par>
                    <p:cTn id="176" fill="hold">
                      <p:stCondLst>
                        <p:cond delay="indefinite"/>
                      </p:stCondLst>
                      <p:childTnLst>
                        <p:par>
                          <p:cTn id="177" fill="hold">
                            <p:stCondLst>
                              <p:cond delay="0"/>
                            </p:stCondLst>
                            <p:childTnLst>
                              <p:par>
                                <p:cTn id="178" presetID="3" presetClass="entr" presetSubtype="10" fill="hold" grpId="0" nodeType="clickEffect">
                                  <p:stCondLst>
                                    <p:cond delay="0"/>
                                  </p:stCondLst>
                                  <p:childTnLst>
                                    <p:set>
                                      <p:cBhvr>
                                        <p:cTn id="179" dur="1" fill="hold">
                                          <p:stCondLst>
                                            <p:cond delay="0"/>
                                          </p:stCondLst>
                                        </p:cTn>
                                        <p:tgtEl>
                                          <p:spTgt spid="54"/>
                                        </p:tgtEl>
                                        <p:attrNameLst>
                                          <p:attrName>style.visibility</p:attrName>
                                        </p:attrNameLst>
                                      </p:cBhvr>
                                      <p:to>
                                        <p:strVal val="visible"/>
                                      </p:to>
                                    </p:set>
                                    <p:animEffect transition="in" filter="blinds(horizontal)">
                                      <p:cBhvr>
                                        <p:cTn id="180" dur="500"/>
                                        <p:tgtEl>
                                          <p:spTgt spid="54"/>
                                        </p:tgtEl>
                                      </p:cBhvr>
                                    </p:animEffect>
                                  </p:childTnLst>
                                </p:cTn>
                              </p:par>
                            </p:childTnLst>
                          </p:cTn>
                        </p:par>
                        <p:par>
                          <p:cTn id="181" fill="hold">
                            <p:stCondLst>
                              <p:cond delay="500"/>
                            </p:stCondLst>
                            <p:childTnLst>
                              <p:par>
                                <p:cTn id="182" presetID="12" presetClass="entr" presetSubtype="1" fill="hold" nodeType="afterEffect">
                                  <p:stCondLst>
                                    <p:cond delay="0"/>
                                  </p:stCondLst>
                                  <p:childTnLst>
                                    <p:set>
                                      <p:cBhvr>
                                        <p:cTn id="183" dur="1" fill="hold">
                                          <p:stCondLst>
                                            <p:cond delay="0"/>
                                          </p:stCondLst>
                                        </p:cTn>
                                        <p:tgtEl>
                                          <p:spTgt spid="11"/>
                                        </p:tgtEl>
                                        <p:attrNameLst>
                                          <p:attrName>style.visibility</p:attrName>
                                        </p:attrNameLst>
                                      </p:cBhvr>
                                      <p:to>
                                        <p:strVal val="visible"/>
                                      </p:to>
                                    </p:set>
                                    <p:animEffect transition="in" filter="slide(fromTop)">
                                      <p:cBhvr>
                                        <p:cTn id="184" dur="500"/>
                                        <p:tgtEl>
                                          <p:spTgt spid="11"/>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grpId="0" nodeType="clickEffect">
                                  <p:stCondLst>
                                    <p:cond delay="0"/>
                                  </p:stCondLst>
                                  <p:childTnLst>
                                    <p:set>
                                      <p:cBhvr>
                                        <p:cTn id="188" dur="1" fill="hold">
                                          <p:stCondLst>
                                            <p:cond delay="0"/>
                                          </p:stCondLst>
                                        </p:cTn>
                                        <p:tgtEl>
                                          <p:spTgt spid="83"/>
                                        </p:tgtEl>
                                        <p:attrNameLst>
                                          <p:attrName>style.visibility</p:attrName>
                                        </p:attrNameLst>
                                      </p:cBhvr>
                                      <p:to>
                                        <p:strVal val="visible"/>
                                      </p:to>
                                    </p:set>
                                    <p:animEffect transition="in" filter="blinds(horizontal)">
                                      <p:cBhvr>
                                        <p:cTn id="18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2" grpId="0" animBg="1"/>
      <p:bldP spid="17" grpId="0" animBg="1"/>
      <p:bldP spid="18" grpId="0" animBg="1"/>
      <p:bldP spid="20" grpId="0"/>
      <p:bldP spid="22" grpId="0" animBg="1"/>
      <p:bldP spid="29" grpId="0" animBg="1"/>
      <p:bldP spid="30" grpId="0" animBg="1"/>
      <p:bldP spid="32" grpId="0" animBg="1"/>
      <p:bldP spid="36" grpId="0" animBg="1"/>
      <p:bldP spid="46" grpId="0" animBg="1"/>
      <p:bldP spid="47" grpId="0" animBg="1"/>
      <p:bldP spid="52" grpId="0"/>
      <p:bldP spid="54" grpId="0"/>
      <p:bldP spid="55" grpId="0"/>
      <p:bldP spid="56" grpId="0"/>
      <p:bldP spid="81" grpId="0" animBg="1"/>
      <p:bldP spid="8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866" name="直接箭头连接符 3"/>
          <p:cNvCxnSpPr/>
          <p:nvPr/>
        </p:nvCxnSpPr>
        <p:spPr>
          <a:xfrm rot="5400000">
            <a:off x="1984375" y="1758950"/>
            <a:ext cx="428625" cy="1588"/>
          </a:xfrm>
          <a:prstGeom prst="straightConnector1">
            <a:avLst/>
          </a:prstGeom>
          <a:ln w="38100" cap="flat" cmpd="sng">
            <a:solidFill>
              <a:srgbClr val="00B050"/>
            </a:solidFill>
            <a:prstDash val="solid"/>
            <a:miter/>
            <a:headEnd type="none" w="med" len="med"/>
            <a:tailEnd type="arrow" w="med" len="med"/>
          </a:ln>
        </p:spPr>
      </p:cxnSp>
      <p:cxnSp>
        <p:nvCxnSpPr>
          <p:cNvPr id="36867" name="直接箭头连接符 4"/>
          <p:cNvCxnSpPr/>
          <p:nvPr/>
        </p:nvCxnSpPr>
        <p:spPr>
          <a:xfrm rot="5400000">
            <a:off x="1941513" y="3690938"/>
            <a:ext cx="428625" cy="3175"/>
          </a:xfrm>
          <a:prstGeom prst="straightConnector1">
            <a:avLst/>
          </a:prstGeom>
          <a:ln w="38100" cap="flat" cmpd="sng">
            <a:solidFill>
              <a:srgbClr val="00B050"/>
            </a:solidFill>
            <a:prstDash val="solid"/>
            <a:miter/>
            <a:headEnd type="none" w="med" len="med"/>
            <a:tailEnd type="arrow" w="med" len="med"/>
          </a:ln>
        </p:spPr>
      </p:cxnSp>
      <p:sp>
        <p:nvSpPr>
          <p:cNvPr id="36868" name="TextBox 5"/>
          <p:cNvSpPr txBox="1"/>
          <p:nvPr/>
        </p:nvSpPr>
        <p:spPr>
          <a:xfrm>
            <a:off x="1714500" y="1976438"/>
            <a:ext cx="1000125" cy="522287"/>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69" name="流程图: 决策 6"/>
          <p:cNvSpPr/>
          <p:nvPr/>
        </p:nvSpPr>
        <p:spPr>
          <a:xfrm>
            <a:off x="1071563" y="4821238"/>
            <a:ext cx="2295525"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36870" name="直接箭头连接符 7"/>
          <p:cNvCxnSpPr/>
          <p:nvPr/>
        </p:nvCxnSpPr>
        <p:spPr>
          <a:xfrm rot="5400000">
            <a:off x="1981200" y="4616450"/>
            <a:ext cx="428625" cy="1588"/>
          </a:xfrm>
          <a:prstGeom prst="straightConnector1">
            <a:avLst/>
          </a:prstGeom>
          <a:ln w="38100" cap="flat" cmpd="sng">
            <a:solidFill>
              <a:srgbClr val="00B050"/>
            </a:solidFill>
            <a:prstDash val="solid"/>
            <a:miter/>
            <a:headEnd type="none" w="med" len="med"/>
            <a:tailEnd type="arrow" w="med" len="med"/>
          </a:ln>
        </p:spPr>
      </p:cxnSp>
      <p:cxnSp>
        <p:nvCxnSpPr>
          <p:cNvPr id="36871" name="直接连接符 8"/>
          <p:cNvCxnSpPr/>
          <p:nvPr/>
        </p:nvCxnSpPr>
        <p:spPr>
          <a:xfrm rot="10800000">
            <a:off x="642938" y="5191125"/>
            <a:ext cx="428625" cy="0"/>
          </a:xfrm>
          <a:prstGeom prst="line">
            <a:avLst/>
          </a:prstGeom>
          <a:ln w="38100" cap="flat" cmpd="sng">
            <a:solidFill>
              <a:srgbClr val="00B050"/>
            </a:solidFill>
            <a:prstDash val="solid"/>
            <a:miter/>
            <a:headEnd type="none" w="med" len="med"/>
            <a:tailEnd type="none" w="med" len="med"/>
          </a:ln>
        </p:spPr>
      </p:cxnSp>
      <p:cxnSp>
        <p:nvCxnSpPr>
          <p:cNvPr id="36872" name="直接连接符 9"/>
          <p:cNvCxnSpPr/>
          <p:nvPr/>
        </p:nvCxnSpPr>
        <p:spPr>
          <a:xfrm rot="5400000" flipH="1" flipV="1">
            <a:off x="-606425" y="3938588"/>
            <a:ext cx="2500313" cy="0"/>
          </a:xfrm>
          <a:prstGeom prst="line">
            <a:avLst/>
          </a:prstGeom>
          <a:ln w="38100" cap="flat" cmpd="sng">
            <a:solidFill>
              <a:srgbClr val="00B050"/>
            </a:solidFill>
            <a:prstDash val="solid"/>
            <a:miter/>
            <a:headEnd type="none" w="med" len="med"/>
            <a:tailEnd type="none" w="med" len="med"/>
          </a:ln>
        </p:spPr>
      </p:cxnSp>
      <p:cxnSp>
        <p:nvCxnSpPr>
          <p:cNvPr id="36873" name="直接箭头连接符 10"/>
          <p:cNvCxnSpPr/>
          <p:nvPr/>
        </p:nvCxnSpPr>
        <p:spPr>
          <a:xfrm rot="5400000">
            <a:off x="1987550" y="5773738"/>
            <a:ext cx="452438" cy="0"/>
          </a:xfrm>
          <a:prstGeom prst="straightConnector1">
            <a:avLst/>
          </a:prstGeom>
          <a:ln w="38100" cap="flat" cmpd="sng">
            <a:solidFill>
              <a:srgbClr val="00B050"/>
            </a:solidFill>
            <a:prstDash val="solid"/>
            <a:miter/>
            <a:headEnd type="none" w="med" len="med"/>
            <a:tailEnd type="arrow" w="med" len="med"/>
          </a:ln>
        </p:spPr>
      </p:cxnSp>
      <p:sp>
        <p:nvSpPr>
          <p:cNvPr id="36874" name="流程图: 终止 11"/>
          <p:cNvSpPr/>
          <p:nvPr/>
        </p:nvSpPr>
        <p:spPr>
          <a:xfrm>
            <a:off x="1500188" y="976313"/>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6875" name="直接箭头连接符 12"/>
          <p:cNvCxnSpPr/>
          <p:nvPr/>
        </p:nvCxnSpPr>
        <p:spPr>
          <a:xfrm rot="5400000">
            <a:off x="1951038" y="2700338"/>
            <a:ext cx="428625" cy="1587"/>
          </a:xfrm>
          <a:prstGeom prst="straightConnector1">
            <a:avLst/>
          </a:prstGeom>
          <a:ln w="38100" cap="flat" cmpd="sng">
            <a:solidFill>
              <a:srgbClr val="00B050"/>
            </a:solidFill>
            <a:prstDash val="solid"/>
            <a:miter/>
            <a:headEnd type="none" w="med" len="med"/>
            <a:tailEnd type="arrow" w="med" len="med"/>
          </a:ln>
        </p:spPr>
      </p:cxnSp>
      <p:sp>
        <p:nvSpPr>
          <p:cNvPr id="36876" name="TextBox 16"/>
          <p:cNvSpPr txBox="1"/>
          <p:nvPr/>
        </p:nvSpPr>
        <p:spPr>
          <a:xfrm>
            <a:off x="1500188" y="3903663"/>
            <a:ext cx="13573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77" name="流程图: 终止 17"/>
          <p:cNvSpPr/>
          <p:nvPr/>
        </p:nvSpPr>
        <p:spPr>
          <a:xfrm>
            <a:off x="6000750" y="6072188"/>
            <a:ext cx="1428750" cy="571500"/>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6878" name="直接箭头连接符 18"/>
          <p:cNvCxnSpPr/>
          <p:nvPr/>
        </p:nvCxnSpPr>
        <p:spPr>
          <a:xfrm>
            <a:off x="642938" y="2690813"/>
            <a:ext cx="1500187" cy="1587"/>
          </a:xfrm>
          <a:prstGeom prst="straightConnector1">
            <a:avLst/>
          </a:prstGeom>
          <a:ln w="38100" cap="flat" cmpd="sng">
            <a:solidFill>
              <a:srgbClr val="00B050"/>
            </a:solidFill>
            <a:prstDash val="solid"/>
            <a:miter/>
            <a:headEnd type="none" w="med" len="med"/>
            <a:tailEnd type="arrow" w="med" len="med"/>
          </a:ln>
        </p:spPr>
      </p:cxnSp>
      <p:sp>
        <p:nvSpPr>
          <p:cNvPr id="36879" name="TextBox 19"/>
          <p:cNvSpPr txBox="1"/>
          <p:nvPr/>
        </p:nvSpPr>
        <p:spPr>
          <a:xfrm>
            <a:off x="642938" y="469106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80" name="TextBox 20"/>
          <p:cNvSpPr txBox="1"/>
          <p:nvPr/>
        </p:nvSpPr>
        <p:spPr>
          <a:xfrm>
            <a:off x="6643688" y="55975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81" name="平行四边形 21"/>
          <p:cNvSpPr/>
          <p:nvPr/>
        </p:nvSpPr>
        <p:spPr>
          <a:xfrm>
            <a:off x="974725" y="2905125"/>
            <a:ext cx="2428875" cy="571500"/>
          </a:xfrm>
          <a:prstGeom prst="parallelogram">
            <a:avLst>
              <a:gd name="adj" fmla="val 25007"/>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zh-CN" altLang="en-US" sz="2800" b="0" dirty="0">
                <a:solidFill>
                  <a:srgbClr val="003399"/>
                </a:solidFill>
                <a:latin typeface="Times New Roman" panose="02020603050405020304" pitchFamily="18" charset="0"/>
                <a:ea typeface="微软雅黑" panose="020B0503020204020204" pitchFamily="34" charset="-122"/>
              </a:rPr>
              <a:t>、</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sp>
        <p:nvSpPr>
          <p:cNvPr id="36882" name="TextBox 28"/>
          <p:cNvSpPr txBox="1"/>
          <p:nvPr/>
        </p:nvSpPr>
        <p:spPr>
          <a:xfrm>
            <a:off x="6164263" y="1012825"/>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6883" name="直接箭头连接符 30"/>
          <p:cNvCxnSpPr/>
          <p:nvPr/>
        </p:nvCxnSpPr>
        <p:spPr>
          <a:xfrm rot="5400000">
            <a:off x="6451600" y="1736725"/>
            <a:ext cx="428625" cy="1588"/>
          </a:xfrm>
          <a:prstGeom prst="straightConnector1">
            <a:avLst/>
          </a:prstGeom>
          <a:ln w="38100" cap="flat" cmpd="sng">
            <a:solidFill>
              <a:srgbClr val="00B050"/>
            </a:solidFill>
            <a:prstDash val="solid"/>
            <a:miter/>
            <a:headEnd type="none" w="med" len="med"/>
            <a:tailEnd type="arrow" w="med" len="med"/>
          </a:ln>
        </p:spPr>
      </p:cxnSp>
      <p:sp>
        <p:nvSpPr>
          <p:cNvPr id="36884" name="流程图: 决策 31"/>
          <p:cNvSpPr/>
          <p:nvPr/>
        </p:nvSpPr>
        <p:spPr>
          <a:xfrm>
            <a:off x="5500688" y="1941513"/>
            <a:ext cx="2357437" cy="928687"/>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g</a:t>
            </a:r>
            <a:r>
              <a:rPr lang="en-US" altLang="zh-CN" b="0" baseline="-25000" dirty="0">
                <a:solidFill>
                  <a:srgbClr val="003399"/>
                </a:solidFill>
                <a:latin typeface="Times New Roman" panose="02020603050405020304" pitchFamily="18" charset="0"/>
                <a:ea typeface="微软雅黑" panose="020B0503020204020204" pitchFamily="34" charset="-122"/>
              </a:rPr>
              <a:t>i</a:t>
            </a:r>
            <a:r>
              <a:rPr lang="en-US" altLang="zh-CN" b="0" dirty="0">
                <a:solidFill>
                  <a:srgbClr val="003399"/>
                </a:solidFill>
                <a:latin typeface="Times New Roman" panose="02020603050405020304" pitchFamily="18" charset="0"/>
                <a:ea typeface="微软雅黑" panose="020B0503020204020204" pitchFamily="34" charset="-122"/>
              </a:rPr>
              <a:t>≧80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36885" name="直接连接符 32"/>
          <p:cNvCxnSpPr/>
          <p:nvPr/>
        </p:nvCxnSpPr>
        <p:spPr>
          <a:xfrm rot="10800000">
            <a:off x="5038725" y="2403475"/>
            <a:ext cx="428625" cy="0"/>
          </a:xfrm>
          <a:prstGeom prst="line">
            <a:avLst/>
          </a:prstGeom>
          <a:ln w="38100" cap="flat" cmpd="sng">
            <a:solidFill>
              <a:srgbClr val="00B050"/>
            </a:solidFill>
            <a:prstDash val="solid"/>
            <a:miter/>
            <a:headEnd type="none" w="med" len="med"/>
            <a:tailEnd type="none" w="med" len="med"/>
          </a:ln>
        </p:spPr>
      </p:cxnSp>
      <p:cxnSp>
        <p:nvCxnSpPr>
          <p:cNvPr id="36886" name="直接连接符 33"/>
          <p:cNvCxnSpPr/>
          <p:nvPr/>
        </p:nvCxnSpPr>
        <p:spPr>
          <a:xfrm rot="10800000">
            <a:off x="7858125" y="2395538"/>
            <a:ext cx="428625" cy="0"/>
          </a:xfrm>
          <a:prstGeom prst="line">
            <a:avLst/>
          </a:prstGeom>
          <a:ln w="38100" cap="flat" cmpd="sng">
            <a:solidFill>
              <a:srgbClr val="00B050"/>
            </a:solidFill>
            <a:prstDash val="solid"/>
            <a:miter/>
            <a:headEnd type="none" w="med" len="med"/>
            <a:tailEnd type="none" w="med" len="med"/>
          </a:ln>
        </p:spPr>
      </p:cxnSp>
      <p:cxnSp>
        <p:nvCxnSpPr>
          <p:cNvPr id="36887" name="直接箭头连接符 34"/>
          <p:cNvCxnSpPr/>
          <p:nvPr/>
        </p:nvCxnSpPr>
        <p:spPr>
          <a:xfrm rot="5400000">
            <a:off x="4692650" y="2703513"/>
            <a:ext cx="642938" cy="1587"/>
          </a:xfrm>
          <a:prstGeom prst="straightConnector1">
            <a:avLst/>
          </a:prstGeom>
          <a:ln w="38100" cap="flat" cmpd="sng">
            <a:solidFill>
              <a:srgbClr val="00B050"/>
            </a:solidFill>
            <a:prstDash val="solid"/>
            <a:miter/>
            <a:headEnd type="none" w="med" len="med"/>
            <a:tailEnd type="arrow" w="med" len="med"/>
          </a:ln>
        </p:spPr>
      </p:cxnSp>
      <p:sp>
        <p:nvSpPr>
          <p:cNvPr id="36888" name="平行四边形 35"/>
          <p:cNvSpPr/>
          <p:nvPr/>
        </p:nvSpPr>
        <p:spPr>
          <a:xfrm>
            <a:off x="4143375" y="3013075"/>
            <a:ext cx="2428875" cy="571500"/>
          </a:xfrm>
          <a:prstGeom prst="parallelogram">
            <a:avLst>
              <a:gd name="adj" fmla="val 25007"/>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zh-CN" altLang="en-US" sz="2800" b="0" dirty="0">
                <a:solidFill>
                  <a:srgbClr val="003399"/>
                </a:solidFill>
                <a:latin typeface="Times New Roman" panose="02020603050405020304" pitchFamily="18" charset="0"/>
                <a:ea typeface="微软雅黑" panose="020B0503020204020204" pitchFamily="34" charset="-122"/>
              </a:rPr>
              <a:t>、</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cxnSp>
        <p:nvCxnSpPr>
          <p:cNvPr id="36889" name="直接连接符 36"/>
          <p:cNvCxnSpPr/>
          <p:nvPr/>
        </p:nvCxnSpPr>
        <p:spPr>
          <a:xfrm rot="5400000" flipH="1" flipV="1">
            <a:off x="7548563" y="3133725"/>
            <a:ext cx="1476375" cy="0"/>
          </a:xfrm>
          <a:prstGeom prst="line">
            <a:avLst/>
          </a:prstGeom>
          <a:ln w="38100" cap="flat" cmpd="sng">
            <a:solidFill>
              <a:srgbClr val="00B050"/>
            </a:solidFill>
            <a:prstDash val="solid"/>
            <a:miter/>
            <a:headEnd type="none" w="med" len="med"/>
            <a:tailEnd type="none" w="med" len="med"/>
          </a:ln>
        </p:spPr>
      </p:cxnSp>
      <p:cxnSp>
        <p:nvCxnSpPr>
          <p:cNvPr id="36890" name="直接连接符 38"/>
          <p:cNvCxnSpPr/>
          <p:nvPr/>
        </p:nvCxnSpPr>
        <p:spPr>
          <a:xfrm rot="5400000" flipH="1" flipV="1">
            <a:off x="5000625" y="3727450"/>
            <a:ext cx="285750" cy="0"/>
          </a:xfrm>
          <a:prstGeom prst="line">
            <a:avLst/>
          </a:prstGeom>
          <a:ln w="38100" cap="flat" cmpd="sng">
            <a:solidFill>
              <a:srgbClr val="00B050"/>
            </a:solidFill>
            <a:prstDash val="solid"/>
            <a:miter/>
            <a:headEnd type="none" w="med" len="med"/>
            <a:tailEnd type="none" w="med" len="med"/>
          </a:ln>
        </p:spPr>
      </p:cxnSp>
      <p:cxnSp>
        <p:nvCxnSpPr>
          <p:cNvPr id="36891" name="直接连接符 40"/>
          <p:cNvCxnSpPr/>
          <p:nvPr/>
        </p:nvCxnSpPr>
        <p:spPr>
          <a:xfrm rot="10800000">
            <a:off x="5143500" y="3870325"/>
            <a:ext cx="3143250" cy="0"/>
          </a:xfrm>
          <a:prstGeom prst="line">
            <a:avLst/>
          </a:prstGeom>
          <a:ln w="38100" cap="flat" cmpd="sng">
            <a:solidFill>
              <a:srgbClr val="00B050"/>
            </a:solidFill>
            <a:prstDash val="solid"/>
            <a:miter/>
            <a:headEnd type="none" w="med" len="med"/>
            <a:tailEnd type="none" w="med" len="med"/>
          </a:ln>
        </p:spPr>
      </p:cxnSp>
      <p:cxnSp>
        <p:nvCxnSpPr>
          <p:cNvPr id="36892" name="直接箭头连接符 44"/>
          <p:cNvCxnSpPr/>
          <p:nvPr/>
        </p:nvCxnSpPr>
        <p:spPr>
          <a:xfrm rot="5400000">
            <a:off x="6572250" y="4013200"/>
            <a:ext cx="285750" cy="3175"/>
          </a:xfrm>
          <a:prstGeom prst="straightConnector1">
            <a:avLst/>
          </a:prstGeom>
          <a:ln w="38100" cap="flat" cmpd="sng">
            <a:solidFill>
              <a:srgbClr val="00B050"/>
            </a:solidFill>
            <a:prstDash val="solid"/>
            <a:miter/>
            <a:headEnd type="none" w="med" len="med"/>
            <a:tailEnd type="arrow" w="med" len="med"/>
          </a:ln>
        </p:spPr>
      </p:cxnSp>
      <p:sp>
        <p:nvSpPr>
          <p:cNvPr id="36893" name="TextBox 45"/>
          <p:cNvSpPr txBox="1"/>
          <p:nvPr/>
        </p:nvSpPr>
        <p:spPr>
          <a:xfrm>
            <a:off x="6046788" y="4156075"/>
            <a:ext cx="13573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94" name="流程图: 决策 46"/>
          <p:cNvSpPr/>
          <p:nvPr/>
        </p:nvSpPr>
        <p:spPr>
          <a:xfrm>
            <a:off x="5584825" y="4954588"/>
            <a:ext cx="2295525" cy="714375"/>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b="0" dirty="0">
                <a:solidFill>
                  <a:srgbClr val="003399"/>
                </a:solidFill>
                <a:latin typeface="Times New Roman" panose="02020603050405020304" pitchFamily="18" charset="0"/>
                <a:ea typeface="微软雅黑" panose="020B0503020204020204" pitchFamily="34" charset="-122"/>
              </a:rPr>
              <a:t>i&gt;50</a:t>
            </a:r>
            <a:endParaRPr lang="zh-CN" altLang="en-US" b="0" dirty="0">
              <a:solidFill>
                <a:srgbClr val="003399"/>
              </a:solidFill>
              <a:latin typeface="Times New Roman" panose="02020603050405020304" pitchFamily="18" charset="0"/>
              <a:ea typeface="微软雅黑" panose="020B0503020204020204" pitchFamily="34" charset="-122"/>
            </a:endParaRPr>
          </a:p>
        </p:txBody>
      </p:sp>
      <p:cxnSp>
        <p:nvCxnSpPr>
          <p:cNvPr id="36895" name="直接连接符 48"/>
          <p:cNvCxnSpPr>
            <a:stCxn id="36894" idx="1"/>
          </p:cNvCxnSpPr>
          <p:nvPr/>
        </p:nvCxnSpPr>
        <p:spPr>
          <a:xfrm rot="10800000">
            <a:off x="3916363" y="5311775"/>
            <a:ext cx="1668462" cy="0"/>
          </a:xfrm>
          <a:prstGeom prst="line">
            <a:avLst/>
          </a:prstGeom>
          <a:ln w="38100" cap="flat" cmpd="sng">
            <a:solidFill>
              <a:srgbClr val="00B050"/>
            </a:solidFill>
            <a:prstDash val="solid"/>
            <a:miter/>
            <a:headEnd type="none" w="med" len="med"/>
            <a:tailEnd type="none" w="med" len="med"/>
          </a:ln>
        </p:spPr>
      </p:cxnSp>
      <p:cxnSp>
        <p:nvCxnSpPr>
          <p:cNvPr id="36896" name="直接连接符 49"/>
          <p:cNvCxnSpPr>
            <a:stCxn id="36894" idx="1"/>
          </p:cNvCxnSpPr>
          <p:nvPr/>
        </p:nvCxnSpPr>
        <p:spPr>
          <a:xfrm rot="5400000" flipH="1" flipV="1">
            <a:off x="2143125" y="3513138"/>
            <a:ext cx="3571875" cy="0"/>
          </a:xfrm>
          <a:prstGeom prst="line">
            <a:avLst/>
          </a:prstGeom>
          <a:ln w="38100" cap="flat" cmpd="sng">
            <a:solidFill>
              <a:srgbClr val="00B050"/>
            </a:solidFill>
            <a:prstDash val="solid"/>
            <a:miter/>
            <a:headEnd type="none" w="med" len="med"/>
            <a:tailEnd type="none" w="med" len="med"/>
          </a:ln>
        </p:spPr>
      </p:cxnSp>
      <p:cxnSp>
        <p:nvCxnSpPr>
          <p:cNvPr id="36897" name="直接箭头连接符 50"/>
          <p:cNvCxnSpPr>
            <a:stCxn id="36894" idx="1"/>
          </p:cNvCxnSpPr>
          <p:nvPr/>
        </p:nvCxnSpPr>
        <p:spPr>
          <a:xfrm>
            <a:off x="3929063" y="1727200"/>
            <a:ext cx="2714625" cy="1588"/>
          </a:xfrm>
          <a:prstGeom prst="straightConnector1">
            <a:avLst/>
          </a:prstGeom>
          <a:ln w="38100" cap="flat" cmpd="sng">
            <a:solidFill>
              <a:srgbClr val="00B050"/>
            </a:solidFill>
            <a:prstDash val="solid"/>
            <a:miter/>
            <a:headEnd type="none" w="med" len="med"/>
            <a:tailEnd type="arrow" w="med" len="med"/>
          </a:ln>
        </p:spPr>
      </p:cxnSp>
      <p:sp>
        <p:nvSpPr>
          <p:cNvPr id="36898" name="TextBox 51"/>
          <p:cNvSpPr txBox="1"/>
          <p:nvPr/>
        </p:nvSpPr>
        <p:spPr>
          <a:xfrm>
            <a:off x="4929188" y="4762500"/>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899" name="TextBox 53"/>
          <p:cNvSpPr txBox="1"/>
          <p:nvPr/>
        </p:nvSpPr>
        <p:spPr>
          <a:xfrm>
            <a:off x="2143125" y="5500688"/>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900" name="TextBox 54"/>
          <p:cNvSpPr txBox="1"/>
          <p:nvPr/>
        </p:nvSpPr>
        <p:spPr>
          <a:xfrm>
            <a:off x="5000625" y="192881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901" name="TextBox 55"/>
          <p:cNvSpPr txBox="1"/>
          <p:nvPr/>
        </p:nvSpPr>
        <p:spPr>
          <a:xfrm>
            <a:off x="7715250" y="187007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6902" name="直接箭头连接符 66"/>
          <p:cNvCxnSpPr>
            <a:stCxn id="36894" idx="1"/>
          </p:cNvCxnSpPr>
          <p:nvPr/>
        </p:nvCxnSpPr>
        <p:spPr>
          <a:xfrm rot="5400000">
            <a:off x="6486525" y="5880100"/>
            <a:ext cx="428625" cy="1588"/>
          </a:xfrm>
          <a:prstGeom prst="straightConnector1">
            <a:avLst/>
          </a:prstGeom>
          <a:ln w="38100" cap="flat" cmpd="sng">
            <a:solidFill>
              <a:srgbClr val="00B050"/>
            </a:solidFill>
            <a:prstDash val="solid"/>
            <a:miter/>
            <a:headEnd type="none" w="med" len="med"/>
            <a:tailEnd type="arrow" w="med" len="med"/>
          </a:ln>
        </p:spPr>
      </p:cxnSp>
      <p:cxnSp>
        <p:nvCxnSpPr>
          <p:cNvPr id="36903" name="直接箭头连接符 76"/>
          <p:cNvCxnSpPr>
            <a:stCxn id="36894" idx="1"/>
          </p:cNvCxnSpPr>
          <p:nvPr/>
        </p:nvCxnSpPr>
        <p:spPr>
          <a:xfrm rot="5400000">
            <a:off x="6572250" y="4822825"/>
            <a:ext cx="285750" cy="3175"/>
          </a:xfrm>
          <a:prstGeom prst="straightConnector1">
            <a:avLst/>
          </a:prstGeom>
          <a:ln w="38100" cap="flat" cmpd="sng">
            <a:solidFill>
              <a:srgbClr val="00B050"/>
            </a:solidFill>
            <a:prstDash val="solid"/>
            <a:miter/>
            <a:headEnd type="none" w="med" len="med"/>
            <a:tailEnd type="arrow" w="med" len="med"/>
          </a:ln>
        </p:spPr>
      </p:cxnSp>
      <p:cxnSp>
        <p:nvCxnSpPr>
          <p:cNvPr id="36904" name="直接箭头连接符 78"/>
          <p:cNvCxnSpPr>
            <a:stCxn id="36894" idx="1"/>
          </p:cNvCxnSpPr>
          <p:nvPr/>
        </p:nvCxnSpPr>
        <p:spPr>
          <a:xfrm rot="5400000">
            <a:off x="6500813" y="868363"/>
            <a:ext cx="285750" cy="0"/>
          </a:xfrm>
          <a:prstGeom prst="straightConnector1">
            <a:avLst/>
          </a:prstGeom>
          <a:ln w="38100" cap="flat" cmpd="sng">
            <a:solidFill>
              <a:srgbClr val="00B050"/>
            </a:solidFill>
            <a:prstDash val="solid"/>
            <a:miter/>
            <a:headEnd type="none" w="med" len="med"/>
            <a:tailEnd type="arrow" w="med" len="med"/>
          </a:ln>
        </p:spPr>
      </p:cxnSp>
      <p:sp>
        <p:nvSpPr>
          <p:cNvPr id="36905" name="TextBox 80"/>
          <p:cNvSpPr txBox="1"/>
          <p:nvPr/>
        </p:nvSpPr>
        <p:spPr>
          <a:xfrm>
            <a:off x="357188" y="214313"/>
            <a:ext cx="4071937" cy="523875"/>
          </a:xfrm>
          <a:prstGeom prst="rect">
            <a:avLst/>
          </a:prstGeom>
          <a:solidFill>
            <a:srgbClr val="FFFFCC"/>
          </a:solid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zh-CN" sz="2800" b="0" dirty="0">
                <a:solidFill>
                  <a:srgbClr val="992317"/>
                </a:solidFill>
                <a:latin typeface="Times New Roman" panose="02020603050405020304" pitchFamily="18" charset="0"/>
                <a:ea typeface="微软雅黑" panose="020B0503020204020204" pitchFamily="34" charset="-122"/>
              </a:rPr>
              <a:t>如果包括输入数据部分</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36906" name="TextBox 82"/>
          <p:cNvSpPr txBox="1"/>
          <p:nvPr/>
        </p:nvSpPr>
        <p:spPr>
          <a:xfrm>
            <a:off x="1857375" y="5861050"/>
            <a:ext cx="714375" cy="646113"/>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3600" b="0" dirty="0">
                <a:solidFill>
                  <a:srgbClr val="992317"/>
                </a:solidFill>
                <a:latin typeface="Times New Roman" panose="02020603050405020304" pitchFamily="18" charset="0"/>
                <a:ea typeface="微软雅黑" panose="020B0503020204020204" pitchFamily="34" charset="-122"/>
              </a:rPr>
              <a:t>①</a:t>
            </a:r>
            <a:endParaRPr lang="zh-CN" altLang="en-US" sz="3600" b="0" dirty="0">
              <a:solidFill>
                <a:srgbClr val="992317"/>
              </a:solidFill>
              <a:latin typeface="Times New Roman" panose="02020603050405020304" pitchFamily="18" charset="0"/>
              <a:ea typeface="微软雅黑" panose="020B0503020204020204" pitchFamily="34" charset="-122"/>
            </a:endParaRPr>
          </a:p>
        </p:txBody>
      </p:sp>
      <p:sp>
        <p:nvSpPr>
          <p:cNvPr id="44" name="TextBox 43"/>
          <p:cNvSpPr txBox="1"/>
          <p:nvPr/>
        </p:nvSpPr>
        <p:spPr>
          <a:xfrm>
            <a:off x="6299200" y="190500"/>
            <a:ext cx="714375" cy="646113"/>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3600" b="0" dirty="0">
                <a:solidFill>
                  <a:srgbClr val="003399"/>
                </a:solidFill>
                <a:latin typeface="Times New Roman" panose="02020603050405020304" pitchFamily="18" charset="0"/>
                <a:ea typeface="微软雅黑" panose="020B0503020204020204" pitchFamily="34" charset="-122"/>
              </a:rPr>
              <a:t>①</a:t>
            </a:r>
            <a:endParaRPr lang="zh-CN" altLang="en-US" sz="3600" b="0" dirty="0">
              <a:solidFill>
                <a:srgbClr val="003399"/>
              </a:solidFill>
              <a:latin typeface="Times New Roman" panose="02020603050405020304" pitchFamily="18" charset="0"/>
              <a:ea typeface="微软雅黑" panose="020B0503020204020204" pitchFamily="34" charset="-122"/>
            </a:endParaRPr>
          </a:p>
        </p:txBody>
      </p:sp>
      <p:pic>
        <p:nvPicPr>
          <p:cNvPr id="36908"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 calcmode="lin" valueType="num">
                                      <p:cBhvr>
                                        <p:cTn id="9" dur="500" fill="hold"/>
                                        <p:tgtEl>
                                          <p:spTgt spid="44"/>
                                        </p:tgtEl>
                                        <p:attrNameLst>
                                          <p:attrName>style.rotation</p:attrName>
                                        </p:attrNameLst>
                                      </p:cBhvr>
                                      <p:tavLst>
                                        <p:tav tm="0">
                                          <p:val>
                                            <p:fltVal val="360"/>
                                          </p:val>
                                        </p:tav>
                                        <p:tav tm="100000">
                                          <p:val>
                                            <p:fltVal val="0"/>
                                          </p:val>
                                        </p:tav>
                                      </p:tavLst>
                                    </p:anim>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a:xfrm>
            <a:off x="250825" y="836613"/>
            <a:ext cx="8424863" cy="4495800"/>
          </a:xfrm>
        </p:spPr>
        <p:txBody>
          <a:bodyPr vert="horz" wrap="square" lIns="91440" tIns="45720" rIns="91440" bIns="45720" anchor="t" anchorCtr="0"/>
          <a:lstStyle/>
          <a:p>
            <a:pPr marL="1492250" indent="-1492250">
              <a:buFont typeface="Wingdings" panose="05000000000000000000" pitchFamily="2" charset="2"/>
              <a:buNone/>
            </a:pPr>
            <a:r>
              <a:rPr lang="en-US" altLang="zh-CN" dirty="0">
                <a:solidFill>
                  <a:srgbClr val="235A67"/>
                </a:solidFill>
                <a:latin typeface="+mn-lt"/>
                <a:ea typeface="+mn-ea"/>
                <a:cs typeface="+mn-cs"/>
              </a:rPr>
              <a:t>  </a:t>
            </a:r>
            <a:r>
              <a:rPr lang="en-US" altLang="zh-CN" b="0" dirty="0">
                <a:solidFill>
                  <a:srgbClr val="235A67"/>
                </a:solidFill>
                <a:latin typeface="微软雅黑" panose="020B0503020204020204" pitchFamily="34" charset="-122"/>
                <a:ea typeface="微软雅黑" panose="020B0503020204020204" pitchFamily="34" charset="-122"/>
                <a:cs typeface="+mn-cs"/>
              </a:rPr>
              <a:t>例 2.8 例2.3判定闰年的算法用流程图表示。判定2000—2500年中的每一年是否闰年，将结果输出。</a:t>
            </a:r>
            <a:endParaRPr lang="en-US" altLang="en-US" b="0" dirty="0">
              <a:solidFill>
                <a:srgbClr val="235A67"/>
              </a:solidFill>
              <a:latin typeface="微软雅黑" panose="020B0503020204020204" pitchFamily="34" charset="-122"/>
              <a:ea typeface="微软雅黑" panose="020B0503020204020204" pitchFamily="34" charset="-122"/>
              <a:cs typeface="+mn-cs"/>
            </a:endParaRPr>
          </a:p>
        </p:txBody>
      </p:sp>
      <p:pic>
        <p:nvPicPr>
          <p:cNvPr id="37891"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rot="5400000">
            <a:off x="1782763" y="735013"/>
            <a:ext cx="269875" cy="11112"/>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rot="5400000">
            <a:off x="1798638" y="2700338"/>
            <a:ext cx="261937" cy="1587"/>
          </a:xfrm>
          <a:prstGeom prst="straightConnector1">
            <a:avLst/>
          </a:prstGeom>
          <a:ln w="38100" cap="flat" cmpd="sng">
            <a:solidFill>
              <a:srgbClr val="00B050"/>
            </a:solidFill>
            <a:prstDash val="solid"/>
            <a:miter/>
            <a:headEnd type="none" w="med" len="med"/>
            <a:tailEnd type="arrow" w="med" len="med"/>
          </a:ln>
        </p:spPr>
      </p:cxnSp>
      <p:cxnSp>
        <p:nvCxnSpPr>
          <p:cNvPr id="8" name="直接箭头连接符 7"/>
          <p:cNvCxnSpPr/>
          <p:nvPr/>
        </p:nvCxnSpPr>
        <p:spPr>
          <a:xfrm rot="5400000">
            <a:off x="1751013" y="5081588"/>
            <a:ext cx="357187" cy="1587"/>
          </a:xfrm>
          <a:prstGeom prst="straightConnector1">
            <a:avLst/>
          </a:prstGeom>
          <a:ln w="38100" cap="flat" cmpd="sng">
            <a:solidFill>
              <a:srgbClr val="00B050"/>
            </a:solidFill>
            <a:prstDash val="solid"/>
            <a:miter/>
            <a:headEnd type="none" w="med" len="med"/>
            <a:tailEnd type="arrow" w="med" len="med"/>
          </a:ln>
        </p:spPr>
      </p:cxnSp>
      <p:cxnSp>
        <p:nvCxnSpPr>
          <p:cNvPr id="10" name="直接连接符 9"/>
          <p:cNvCxnSpPr/>
          <p:nvPr/>
        </p:nvCxnSpPr>
        <p:spPr>
          <a:xfrm rot="5400000" flipH="1" flipV="1">
            <a:off x="-2347912" y="3846513"/>
            <a:ext cx="4838700" cy="0"/>
          </a:xfrm>
          <a:prstGeom prst="line">
            <a:avLst/>
          </a:prstGeom>
          <a:ln w="38100" cap="flat" cmpd="sng">
            <a:solidFill>
              <a:srgbClr val="00B050"/>
            </a:solidFill>
            <a:prstDash val="solid"/>
            <a:miter/>
            <a:headEnd type="none" w="med" len="med"/>
            <a:tailEnd type="none" w="med" len="med"/>
          </a:ln>
        </p:spPr>
      </p:cxnSp>
      <p:cxnSp>
        <p:nvCxnSpPr>
          <p:cNvPr id="11" name="直接箭头连接符 10"/>
          <p:cNvCxnSpPr/>
          <p:nvPr/>
        </p:nvCxnSpPr>
        <p:spPr>
          <a:xfrm flipV="1">
            <a:off x="3286125" y="6267450"/>
            <a:ext cx="428625" cy="19050"/>
          </a:xfrm>
          <a:prstGeom prst="straightConnector1">
            <a:avLst/>
          </a:prstGeom>
          <a:ln w="38100" cap="flat" cmpd="sng">
            <a:solidFill>
              <a:srgbClr val="00B050"/>
            </a:solidFill>
            <a:prstDash val="solid"/>
            <a:miter/>
            <a:headEnd type="none" w="med" len="med"/>
            <a:tailEnd type="arrow" w="med" len="med"/>
          </a:ln>
        </p:spPr>
      </p:cxnSp>
      <p:cxnSp>
        <p:nvCxnSpPr>
          <p:cNvPr id="13" name="直接箭头连接符 12"/>
          <p:cNvCxnSpPr/>
          <p:nvPr/>
        </p:nvCxnSpPr>
        <p:spPr>
          <a:xfrm rot="5400000">
            <a:off x="1752600" y="1408113"/>
            <a:ext cx="350838" cy="1587"/>
          </a:xfrm>
          <a:prstGeom prst="straightConnector1">
            <a:avLst/>
          </a:prstGeom>
          <a:ln w="38100" cap="flat" cmpd="sng">
            <a:solidFill>
              <a:srgbClr val="00B050"/>
            </a:solidFill>
            <a:prstDash val="solid"/>
            <a:miter/>
            <a:headEnd type="none" w="med" len="med"/>
            <a:tailEnd type="arrow" w="med" len="med"/>
          </a:ln>
        </p:spPr>
      </p:cxnSp>
      <p:cxnSp>
        <p:nvCxnSpPr>
          <p:cNvPr id="15" name="直接箭头连接符 14"/>
          <p:cNvCxnSpPr/>
          <p:nvPr/>
        </p:nvCxnSpPr>
        <p:spPr>
          <a:xfrm>
            <a:off x="71438" y="1403350"/>
            <a:ext cx="1857375" cy="1588"/>
          </a:xfrm>
          <a:prstGeom prst="straightConnector1">
            <a:avLst/>
          </a:prstGeom>
          <a:ln w="38100" cap="flat" cmpd="sng">
            <a:solidFill>
              <a:srgbClr val="00B050"/>
            </a:solidFill>
            <a:prstDash val="solid"/>
            <a:miter/>
            <a:headEnd type="none" w="med" len="med"/>
            <a:tailEnd type="arrow" w="med" len="med"/>
          </a:ln>
        </p:spPr>
      </p:cxnSp>
      <p:sp>
        <p:nvSpPr>
          <p:cNvPr id="16" name="TextBox 15"/>
          <p:cNvSpPr txBox="1"/>
          <p:nvPr/>
        </p:nvSpPr>
        <p:spPr>
          <a:xfrm>
            <a:off x="214313" y="63341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9" name="TextBox 18"/>
          <p:cNvSpPr txBox="1"/>
          <p:nvPr/>
        </p:nvSpPr>
        <p:spPr>
          <a:xfrm>
            <a:off x="1928813" y="4046538"/>
            <a:ext cx="571500" cy="52228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2" name="TextBox 21"/>
          <p:cNvSpPr txBox="1"/>
          <p:nvPr/>
        </p:nvSpPr>
        <p:spPr>
          <a:xfrm>
            <a:off x="1993900" y="2493963"/>
            <a:ext cx="571500" cy="52228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4" name="直接箭头连接符 23"/>
          <p:cNvCxnSpPr/>
          <p:nvPr/>
        </p:nvCxnSpPr>
        <p:spPr>
          <a:xfrm rot="5400000">
            <a:off x="1749425" y="4295775"/>
            <a:ext cx="357188" cy="1588"/>
          </a:xfrm>
          <a:prstGeom prst="straightConnector1">
            <a:avLst/>
          </a:prstGeom>
          <a:ln w="38100" cap="flat" cmpd="sng">
            <a:solidFill>
              <a:srgbClr val="00B050"/>
            </a:solidFill>
            <a:prstDash val="solid"/>
            <a:miter/>
            <a:headEnd type="none" w="med" len="med"/>
            <a:tailEnd type="arrow" w="med" len="med"/>
          </a:ln>
        </p:spPr>
      </p:cxnSp>
      <p:cxnSp>
        <p:nvCxnSpPr>
          <p:cNvPr id="26" name="直接连接符 25"/>
          <p:cNvCxnSpPr/>
          <p:nvPr/>
        </p:nvCxnSpPr>
        <p:spPr>
          <a:xfrm rot="10800000">
            <a:off x="3786188" y="2760663"/>
            <a:ext cx="1857375" cy="0"/>
          </a:xfrm>
          <a:prstGeom prst="line">
            <a:avLst/>
          </a:prstGeom>
          <a:ln w="38100" cap="flat" cmpd="sng">
            <a:solidFill>
              <a:srgbClr val="00B050"/>
            </a:solidFill>
            <a:prstDash val="solid"/>
            <a:miter/>
            <a:headEnd type="none" w="med" len="med"/>
            <a:tailEnd type="none" w="med" len="med"/>
          </a:ln>
        </p:spPr>
      </p:cxnSp>
      <p:grpSp>
        <p:nvGrpSpPr>
          <p:cNvPr id="2" name="组合 131"/>
          <p:cNvGrpSpPr/>
          <p:nvPr/>
        </p:nvGrpSpPr>
        <p:grpSpPr>
          <a:xfrm>
            <a:off x="1214438" y="123825"/>
            <a:ext cx="1285875" cy="522288"/>
            <a:chOff x="1214415" y="123666"/>
            <a:chExt cx="1285883" cy="523220"/>
          </a:xfrm>
        </p:grpSpPr>
        <p:sp>
          <p:nvSpPr>
            <p:cNvPr id="38981" name="流程图: 终止 11"/>
            <p:cNvSpPr/>
            <p:nvPr/>
          </p:nvSpPr>
          <p:spPr>
            <a:xfrm>
              <a:off x="1214415" y="161766"/>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982" name="TextBox 28"/>
            <p:cNvSpPr txBox="1"/>
            <p:nvPr/>
          </p:nvSpPr>
          <p:spPr>
            <a:xfrm>
              <a:off x="1462066" y="12366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3" name="组合 132"/>
          <p:cNvGrpSpPr/>
          <p:nvPr/>
        </p:nvGrpSpPr>
        <p:grpSpPr>
          <a:xfrm>
            <a:off x="785813" y="779463"/>
            <a:ext cx="2286000" cy="523875"/>
            <a:chOff x="785786" y="779671"/>
            <a:chExt cx="2286016" cy="522566"/>
          </a:xfrm>
        </p:grpSpPr>
        <p:sp>
          <p:nvSpPr>
            <p:cNvPr id="38979" name="TextBox 5"/>
            <p:cNvSpPr txBox="1"/>
            <p:nvPr/>
          </p:nvSpPr>
          <p:spPr>
            <a:xfrm>
              <a:off x="785786" y="855055"/>
              <a:ext cx="2286016" cy="40011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dirty="0">
                <a:solidFill>
                  <a:srgbClr val="003399"/>
                </a:solidFill>
                <a:latin typeface="Times New Roman" panose="02020603050405020304" pitchFamily="18" charset="0"/>
                <a:ea typeface="微软雅黑" panose="020B0503020204020204" pitchFamily="34" charset="-122"/>
              </a:endParaRPr>
            </a:p>
          </p:txBody>
        </p:sp>
        <p:sp>
          <p:nvSpPr>
            <p:cNvPr id="38980" name="TextBox 29"/>
            <p:cNvSpPr txBox="1"/>
            <p:nvPr/>
          </p:nvSpPr>
          <p:spPr>
            <a:xfrm>
              <a:off x="922539" y="779671"/>
              <a:ext cx="2071703" cy="522566"/>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2000</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year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6" name="组合 133"/>
          <p:cNvGrpSpPr/>
          <p:nvPr/>
        </p:nvGrpSpPr>
        <p:grpSpPr>
          <a:xfrm>
            <a:off x="214313" y="1557338"/>
            <a:ext cx="3429000" cy="1047750"/>
            <a:chOff x="214282" y="1558095"/>
            <a:chExt cx="3429024" cy="1047622"/>
          </a:xfrm>
        </p:grpSpPr>
        <p:sp>
          <p:nvSpPr>
            <p:cNvPr id="38977" name="流程图: 决策 6"/>
            <p:cNvSpPr/>
            <p:nvPr/>
          </p:nvSpPr>
          <p:spPr>
            <a:xfrm>
              <a:off x="214282" y="1558095"/>
              <a:ext cx="3429024" cy="1047622"/>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400" b="0" dirty="0">
                <a:solidFill>
                  <a:srgbClr val="003399"/>
                </a:solidFill>
                <a:latin typeface="Times New Roman" panose="02020603050405020304" pitchFamily="18" charset="0"/>
                <a:ea typeface="微软雅黑" panose="020B0503020204020204" pitchFamily="34" charset="-122"/>
              </a:endParaRPr>
            </a:p>
          </p:txBody>
        </p:sp>
        <p:sp>
          <p:nvSpPr>
            <p:cNvPr id="38978" name="TextBox 31"/>
            <p:cNvSpPr txBox="1"/>
            <p:nvPr/>
          </p:nvSpPr>
          <p:spPr>
            <a:xfrm>
              <a:off x="857224" y="1730793"/>
              <a:ext cx="2071702" cy="78483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不能</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ts val="27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被</a:t>
              </a:r>
              <a:r>
                <a:rPr lang="en-US" altLang="zh-CN" sz="2800" b="0" dirty="0">
                  <a:solidFill>
                    <a:srgbClr val="003399"/>
                  </a:solidFill>
                  <a:latin typeface="Times New Roman" panose="02020603050405020304" pitchFamily="18" charset="0"/>
                  <a:ea typeface="微软雅黑" panose="020B0503020204020204" pitchFamily="34" charset="-122"/>
                </a:rPr>
                <a:t>4</a:t>
              </a:r>
              <a:r>
                <a:rPr lang="zh-CN" altLang="en-US" sz="2800" b="0" dirty="0">
                  <a:solidFill>
                    <a:srgbClr val="003399"/>
                  </a:solidFill>
                  <a:latin typeface="Times New Roman" panose="02020603050405020304" pitchFamily="18" charset="0"/>
                  <a:ea typeface="微软雅黑" panose="020B0503020204020204" pitchFamily="34" charset="-122"/>
                </a:rPr>
                <a:t>整除</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7" name="组合 135"/>
          <p:cNvGrpSpPr/>
          <p:nvPr/>
        </p:nvGrpSpPr>
        <p:grpSpPr>
          <a:xfrm>
            <a:off x="785813" y="4405313"/>
            <a:ext cx="2357437" cy="522287"/>
            <a:chOff x="785786" y="4405161"/>
            <a:chExt cx="2357454" cy="523220"/>
          </a:xfrm>
        </p:grpSpPr>
        <p:sp>
          <p:nvSpPr>
            <p:cNvPr id="38975" name="平行四边形 16"/>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38976" name="TextBox 32"/>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是闰年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9" name="组合 134"/>
          <p:cNvGrpSpPr/>
          <p:nvPr/>
        </p:nvGrpSpPr>
        <p:grpSpPr>
          <a:xfrm>
            <a:off x="357188" y="2830513"/>
            <a:ext cx="3143250" cy="1285875"/>
            <a:chOff x="357158" y="2830553"/>
            <a:chExt cx="3143272" cy="1285884"/>
          </a:xfrm>
        </p:grpSpPr>
        <p:sp>
          <p:nvSpPr>
            <p:cNvPr id="38973" name="流程图: 决策 22"/>
            <p:cNvSpPr/>
            <p:nvPr/>
          </p:nvSpPr>
          <p:spPr>
            <a:xfrm>
              <a:off x="357158" y="2830553"/>
              <a:ext cx="3143272" cy="1285884"/>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974" name="TextBox 33"/>
            <p:cNvSpPr txBox="1"/>
            <p:nvPr/>
          </p:nvSpPr>
          <p:spPr>
            <a:xfrm>
              <a:off x="857224" y="3087729"/>
              <a:ext cx="2071702" cy="78483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不能</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ts val="27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被</a:t>
              </a:r>
              <a:r>
                <a:rPr lang="en-US" altLang="zh-CN" sz="2800" b="0" dirty="0">
                  <a:solidFill>
                    <a:srgbClr val="003399"/>
                  </a:solidFill>
                  <a:latin typeface="Times New Roman" panose="02020603050405020304" pitchFamily="18" charset="0"/>
                  <a:ea typeface="微软雅黑" panose="020B0503020204020204" pitchFamily="34" charset="-122"/>
                </a:rPr>
                <a:t>100</a:t>
              </a:r>
              <a:r>
                <a:rPr lang="zh-CN" altLang="en-US" sz="2800" b="0" dirty="0">
                  <a:solidFill>
                    <a:srgbClr val="003399"/>
                  </a:solidFill>
                  <a:latin typeface="Times New Roman" panose="02020603050405020304" pitchFamily="18" charset="0"/>
                  <a:ea typeface="微软雅黑" panose="020B0503020204020204" pitchFamily="34" charset="-122"/>
                </a:rPr>
                <a:t>整除</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12" name="组合 136"/>
          <p:cNvGrpSpPr/>
          <p:nvPr/>
        </p:nvGrpSpPr>
        <p:grpSpPr>
          <a:xfrm>
            <a:off x="592138" y="5137150"/>
            <a:ext cx="2643187" cy="523875"/>
            <a:chOff x="591475" y="5137389"/>
            <a:chExt cx="2643206" cy="523220"/>
          </a:xfrm>
        </p:grpSpPr>
        <p:sp>
          <p:nvSpPr>
            <p:cNvPr id="38971" name="TextBox 13"/>
            <p:cNvSpPr txBox="1"/>
            <p:nvPr/>
          </p:nvSpPr>
          <p:spPr>
            <a:xfrm>
              <a:off x="682099" y="5239805"/>
              <a:ext cx="2461141" cy="40011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dirty="0">
                <a:solidFill>
                  <a:srgbClr val="003399"/>
                </a:solidFill>
                <a:latin typeface="Times New Roman" panose="02020603050405020304" pitchFamily="18" charset="0"/>
                <a:ea typeface="微软雅黑" panose="020B0503020204020204" pitchFamily="34" charset="-122"/>
              </a:endParaRPr>
            </a:p>
          </p:txBody>
        </p:sp>
        <p:sp>
          <p:nvSpPr>
            <p:cNvPr id="38972" name="TextBox 35"/>
            <p:cNvSpPr txBox="1"/>
            <p:nvPr/>
          </p:nvSpPr>
          <p:spPr>
            <a:xfrm>
              <a:off x="591475" y="5137389"/>
              <a:ext cx="2643206"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year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14" name="组合 41"/>
          <p:cNvGrpSpPr/>
          <p:nvPr/>
        </p:nvGrpSpPr>
        <p:grpSpPr>
          <a:xfrm>
            <a:off x="500063" y="5857875"/>
            <a:ext cx="2786062" cy="857250"/>
            <a:chOff x="4714876" y="785794"/>
            <a:chExt cx="2786082" cy="857256"/>
          </a:xfrm>
        </p:grpSpPr>
        <p:sp>
          <p:nvSpPr>
            <p:cNvPr id="38969" name="流程图: 决策 39"/>
            <p:cNvSpPr/>
            <p:nvPr/>
          </p:nvSpPr>
          <p:spPr>
            <a:xfrm>
              <a:off x="4714876" y="785794"/>
              <a:ext cx="2786082" cy="85725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970" name="TextBox 40"/>
            <p:cNvSpPr txBox="1"/>
            <p:nvPr/>
          </p:nvSpPr>
          <p:spPr>
            <a:xfrm>
              <a:off x="4995866" y="1000109"/>
              <a:ext cx="2071702" cy="43858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year&gt;2500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48" name="直接箭头连接符 47"/>
          <p:cNvCxnSpPr/>
          <p:nvPr/>
        </p:nvCxnSpPr>
        <p:spPr>
          <a:xfrm rot="5400000">
            <a:off x="1714500" y="5765800"/>
            <a:ext cx="285750" cy="3175"/>
          </a:xfrm>
          <a:prstGeom prst="straightConnector1">
            <a:avLst/>
          </a:prstGeom>
          <a:ln w="38100" cap="flat" cmpd="sng">
            <a:solidFill>
              <a:srgbClr val="00B050"/>
            </a:solidFill>
            <a:prstDash val="solid"/>
            <a:miter/>
            <a:headEnd type="none" w="med" len="med"/>
            <a:tailEnd type="arrow" w="med" len="med"/>
          </a:ln>
        </p:spPr>
      </p:cxnSp>
      <p:cxnSp>
        <p:nvCxnSpPr>
          <p:cNvPr id="49" name="直接连接符 48"/>
          <p:cNvCxnSpPr/>
          <p:nvPr/>
        </p:nvCxnSpPr>
        <p:spPr>
          <a:xfrm rot="10800000">
            <a:off x="71438" y="6267450"/>
            <a:ext cx="428625" cy="0"/>
          </a:xfrm>
          <a:prstGeom prst="line">
            <a:avLst/>
          </a:prstGeom>
          <a:ln w="38100" cap="flat" cmpd="sng">
            <a:solidFill>
              <a:srgbClr val="00B050"/>
            </a:solidFill>
            <a:prstDash val="solid"/>
            <a:miter/>
            <a:headEnd type="none" w="med" len="med"/>
            <a:tailEnd type="none" w="med" len="med"/>
          </a:ln>
        </p:spPr>
      </p:cxnSp>
      <p:grpSp>
        <p:nvGrpSpPr>
          <p:cNvPr id="17" name="组合 141"/>
          <p:cNvGrpSpPr/>
          <p:nvPr/>
        </p:nvGrpSpPr>
        <p:grpSpPr>
          <a:xfrm>
            <a:off x="3694113" y="5994400"/>
            <a:ext cx="1285875" cy="523875"/>
            <a:chOff x="3694741" y="5994645"/>
            <a:chExt cx="1285883" cy="523220"/>
          </a:xfrm>
        </p:grpSpPr>
        <p:sp>
          <p:nvSpPr>
            <p:cNvPr id="38967" name="流程图: 终止 60"/>
            <p:cNvSpPr/>
            <p:nvPr/>
          </p:nvSpPr>
          <p:spPr>
            <a:xfrm>
              <a:off x="3694741" y="6046897"/>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968" name="TextBox 59"/>
            <p:cNvSpPr txBox="1"/>
            <p:nvPr/>
          </p:nvSpPr>
          <p:spPr>
            <a:xfrm>
              <a:off x="3909055" y="5994645"/>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sp>
        <p:nvSpPr>
          <p:cNvPr id="62" name="TextBox 61"/>
          <p:cNvSpPr txBox="1"/>
          <p:nvPr/>
        </p:nvSpPr>
        <p:spPr>
          <a:xfrm>
            <a:off x="3143250" y="631507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63" name="直接箭头连接符 62"/>
          <p:cNvCxnSpPr/>
          <p:nvPr/>
        </p:nvCxnSpPr>
        <p:spPr>
          <a:xfrm rot="5400000">
            <a:off x="5465763" y="2938463"/>
            <a:ext cx="357187" cy="1587"/>
          </a:xfrm>
          <a:prstGeom prst="straightConnector1">
            <a:avLst/>
          </a:prstGeom>
          <a:ln w="38100" cap="flat" cmpd="sng">
            <a:solidFill>
              <a:srgbClr val="00B050"/>
            </a:solidFill>
            <a:prstDash val="solid"/>
            <a:miter/>
            <a:headEnd type="none" w="med" len="med"/>
            <a:tailEnd type="arrow" w="med" len="med"/>
          </a:ln>
        </p:spPr>
      </p:cxnSp>
      <p:grpSp>
        <p:nvGrpSpPr>
          <p:cNvPr id="18" name="组合 138"/>
          <p:cNvGrpSpPr/>
          <p:nvPr/>
        </p:nvGrpSpPr>
        <p:grpSpPr>
          <a:xfrm>
            <a:off x="4052888" y="3100388"/>
            <a:ext cx="3195637" cy="1214437"/>
            <a:chOff x="4052748" y="3100908"/>
            <a:chExt cx="3195524" cy="1214446"/>
          </a:xfrm>
        </p:grpSpPr>
        <p:sp>
          <p:nvSpPr>
            <p:cNvPr id="38965" name="流程图: 决策 27"/>
            <p:cNvSpPr/>
            <p:nvPr/>
          </p:nvSpPr>
          <p:spPr>
            <a:xfrm>
              <a:off x="4052748" y="3100908"/>
              <a:ext cx="3195524" cy="121444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966" name="TextBox 63"/>
            <p:cNvSpPr txBox="1"/>
            <p:nvPr/>
          </p:nvSpPr>
          <p:spPr>
            <a:xfrm>
              <a:off x="4572000" y="3308282"/>
              <a:ext cx="2071702" cy="78483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不能</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ts val="27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被</a:t>
              </a:r>
              <a:r>
                <a:rPr lang="en-US" altLang="zh-CN" sz="2800" b="0" dirty="0">
                  <a:solidFill>
                    <a:srgbClr val="003399"/>
                  </a:solidFill>
                  <a:latin typeface="Times New Roman" panose="02020603050405020304" pitchFamily="18" charset="0"/>
                  <a:ea typeface="微软雅黑" panose="020B0503020204020204" pitchFamily="34" charset="-122"/>
                </a:rPr>
                <a:t>400</a:t>
              </a:r>
              <a:r>
                <a:rPr lang="zh-CN" altLang="en-US" sz="2800" b="0" dirty="0">
                  <a:solidFill>
                    <a:srgbClr val="003399"/>
                  </a:solidFill>
                  <a:latin typeface="Times New Roman" panose="02020603050405020304" pitchFamily="18" charset="0"/>
                  <a:ea typeface="微软雅黑" panose="020B0503020204020204" pitchFamily="34" charset="-122"/>
                </a:rPr>
                <a:t>整除</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73" name="直接连接符 72"/>
          <p:cNvCxnSpPr/>
          <p:nvPr/>
        </p:nvCxnSpPr>
        <p:spPr>
          <a:xfrm rot="10800000">
            <a:off x="3649663" y="2071688"/>
            <a:ext cx="4929187" cy="0"/>
          </a:xfrm>
          <a:prstGeom prst="line">
            <a:avLst/>
          </a:prstGeom>
          <a:ln w="38100" cap="flat" cmpd="sng">
            <a:solidFill>
              <a:srgbClr val="00B050"/>
            </a:solidFill>
            <a:prstDash val="solid"/>
            <a:miter/>
            <a:headEnd type="none" w="med" len="med"/>
            <a:tailEnd type="none" w="med" len="med"/>
          </a:ln>
        </p:spPr>
      </p:cxnSp>
      <p:cxnSp>
        <p:nvCxnSpPr>
          <p:cNvPr id="75" name="直接箭头连接符 74"/>
          <p:cNvCxnSpPr/>
          <p:nvPr/>
        </p:nvCxnSpPr>
        <p:spPr>
          <a:xfrm rot="5400000">
            <a:off x="8270875" y="2366963"/>
            <a:ext cx="642938" cy="1587"/>
          </a:xfrm>
          <a:prstGeom prst="straightConnector1">
            <a:avLst/>
          </a:prstGeom>
          <a:ln w="38100" cap="flat" cmpd="sng">
            <a:solidFill>
              <a:srgbClr val="00B050"/>
            </a:solidFill>
            <a:prstDash val="solid"/>
            <a:miter/>
            <a:headEnd type="none" w="med" len="med"/>
            <a:tailEnd type="arrow" w="med" len="med"/>
          </a:ln>
        </p:spPr>
      </p:cxnSp>
      <p:grpSp>
        <p:nvGrpSpPr>
          <p:cNvPr id="20" name="组合 137"/>
          <p:cNvGrpSpPr/>
          <p:nvPr/>
        </p:nvGrpSpPr>
        <p:grpSpPr>
          <a:xfrm>
            <a:off x="7000875" y="2668588"/>
            <a:ext cx="2000250" cy="806450"/>
            <a:chOff x="7000892" y="2669308"/>
            <a:chExt cx="2000264" cy="805003"/>
          </a:xfrm>
        </p:grpSpPr>
        <p:sp>
          <p:nvSpPr>
            <p:cNvPr id="38963" name="平行四边形 75"/>
            <p:cNvSpPr/>
            <p:nvPr/>
          </p:nvSpPr>
          <p:spPr>
            <a:xfrm>
              <a:off x="7000892" y="2679398"/>
              <a:ext cx="2000264" cy="794913"/>
            </a:xfrm>
            <a:prstGeom prst="parallelogram">
              <a:avLst>
                <a:gd name="adj" fmla="val 24999"/>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38964" name="TextBox 76"/>
            <p:cNvSpPr txBox="1"/>
            <p:nvPr/>
          </p:nvSpPr>
          <p:spPr>
            <a:xfrm>
              <a:off x="7215206" y="2669308"/>
              <a:ext cx="1643074" cy="78483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ts val="27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不是闰年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80" name="直接连接符 79"/>
          <p:cNvCxnSpPr/>
          <p:nvPr/>
        </p:nvCxnSpPr>
        <p:spPr>
          <a:xfrm rot="5400000" flipH="1" flipV="1">
            <a:off x="7858125" y="4286250"/>
            <a:ext cx="1571625" cy="0"/>
          </a:xfrm>
          <a:prstGeom prst="line">
            <a:avLst/>
          </a:prstGeom>
          <a:ln w="38100" cap="flat" cmpd="sng">
            <a:solidFill>
              <a:srgbClr val="00B050"/>
            </a:solidFill>
            <a:prstDash val="solid"/>
            <a:miter/>
            <a:headEnd type="none" w="med" len="med"/>
            <a:tailEnd type="none" w="med" len="med"/>
          </a:ln>
        </p:spPr>
      </p:cxnSp>
      <p:cxnSp>
        <p:nvCxnSpPr>
          <p:cNvPr id="82" name="直接连接符 81"/>
          <p:cNvCxnSpPr/>
          <p:nvPr/>
        </p:nvCxnSpPr>
        <p:spPr>
          <a:xfrm rot="10800000">
            <a:off x="7240588" y="3690938"/>
            <a:ext cx="285750" cy="0"/>
          </a:xfrm>
          <a:prstGeom prst="line">
            <a:avLst/>
          </a:prstGeom>
          <a:ln w="38100" cap="flat" cmpd="sng">
            <a:solidFill>
              <a:srgbClr val="00B050"/>
            </a:solidFill>
            <a:prstDash val="solid"/>
            <a:miter/>
            <a:headEnd type="none" w="med" len="med"/>
            <a:tailEnd type="none" w="med" len="med"/>
          </a:ln>
        </p:spPr>
      </p:cxnSp>
      <p:cxnSp>
        <p:nvCxnSpPr>
          <p:cNvPr id="83" name="直接箭头连接符 82"/>
          <p:cNvCxnSpPr/>
          <p:nvPr/>
        </p:nvCxnSpPr>
        <p:spPr>
          <a:xfrm rot="5400000">
            <a:off x="7108825" y="4057650"/>
            <a:ext cx="785813" cy="1588"/>
          </a:xfrm>
          <a:prstGeom prst="straightConnector1">
            <a:avLst/>
          </a:prstGeom>
          <a:ln w="38100" cap="flat" cmpd="sng">
            <a:solidFill>
              <a:srgbClr val="00B050"/>
            </a:solidFill>
            <a:prstDash val="solid"/>
            <a:miter/>
            <a:headEnd type="none" w="med" len="med"/>
            <a:tailEnd type="arrow" w="med" len="med"/>
          </a:ln>
        </p:spPr>
      </p:cxnSp>
      <p:grpSp>
        <p:nvGrpSpPr>
          <p:cNvPr id="21" name="组合 140"/>
          <p:cNvGrpSpPr/>
          <p:nvPr/>
        </p:nvGrpSpPr>
        <p:grpSpPr>
          <a:xfrm>
            <a:off x="6072188" y="4356100"/>
            <a:ext cx="2357437" cy="523875"/>
            <a:chOff x="6072198" y="4356698"/>
            <a:chExt cx="2357454" cy="523220"/>
          </a:xfrm>
        </p:grpSpPr>
        <p:sp>
          <p:nvSpPr>
            <p:cNvPr id="38961" name="平行四边形 83"/>
            <p:cNvSpPr/>
            <p:nvPr/>
          </p:nvSpPr>
          <p:spPr>
            <a:xfrm>
              <a:off x="6072198" y="4419041"/>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38962" name="TextBox 84"/>
            <p:cNvSpPr txBox="1"/>
            <p:nvPr/>
          </p:nvSpPr>
          <p:spPr>
            <a:xfrm>
              <a:off x="6169036" y="4356698"/>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是闰年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23" name="组合 139"/>
          <p:cNvGrpSpPr/>
          <p:nvPr/>
        </p:nvGrpSpPr>
        <p:grpSpPr>
          <a:xfrm>
            <a:off x="3286125" y="4379913"/>
            <a:ext cx="2597150" cy="523875"/>
            <a:chOff x="3286116" y="4379852"/>
            <a:chExt cx="2597168" cy="523220"/>
          </a:xfrm>
        </p:grpSpPr>
        <p:sp>
          <p:nvSpPr>
            <p:cNvPr id="38959" name="平行四边形 85"/>
            <p:cNvSpPr/>
            <p:nvPr/>
          </p:nvSpPr>
          <p:spPr>
            <a:xfrm>
              <a:off x="3286116" y="4442195"/>
              <a:ext cx="2597168" cy="428628"/>
            </a:xfrm>
            <a:prstGeom prst="parallelogram">
              <a:avLst>
                <a:gd name="adj" fmla="val 24994"/>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38960" name="TextBox 86"/>
            <p:cNvSpPr txBox="1"/>
            <p:nvPr/>
          </p:nvSpPr>
          <p:spPr>
            <a:xfrm>
              <a:off x="3382954" y="4379852"/>
              <a:ext cx="250033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r>
                <a:rPr lang="zh-CN" altLang="en-US" sz="2800" b="0" dirty="0">
                  <a:solidFill>
                    <a:srgbClr val="003399"/>
                  </a:solidFill>
                  <a:latin typeface="Times New Roman" panose="02020603050405020304" pitchFamily="18" charset="0"/>
                  <a:ea typeface="微软雅黑" panose="020B0503020204020204" pitchFamily="34" charset="-122"/>
                </a:rPr>
                <a:t>不是闰年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96" name="直接连接符 95"/>
          <p:cNvCxnSpPr/>
          <p:nvPr/>
        </p:nvCxnSpPr>
        <p:spPr>
          <a:xfrm rot="10800000">
            <a:off x="3786188" y="3711575"/>
            <a:ext cx="285750" cy="0"/>
          </a:xfrm>
          <a:prstGeom prst="line">
            <a:avLst/>
          </a:prstGeom>
          <a:ln w="38100" cap="flat" cmpd="sng">
            <a:solidFill>
              <a:srgbClr val="00B050"/>
            </a:solidFill>
            <a:prstDash val="solid"/>
            <a:miter/>
            <a:headEnd type="none" w="med" len="med"/>
            <a:tailEnd type="none" w="med" len="med"/>
          </a:ln>
        </p:spPr>
      </p:cxnSp>
      <p:cxnSp>
        <p:nvCxnSpPr>
          <p:cNvPr id="97" name="直接箭头连接符 96"/>
          <p:cNvCxnSpPr/>
          <p:nvPr/>
        </p:nvCxnSpPr>
        <p:spPr>
          <a:xfrm rot="5400000">
            <a:off x="3427413" y="4071938"/>
            <a:ext cx="714375" cy="1587"/>
          </a:xfrm>
          <a:prstGeom prst="straightConnector1">
            <a:avLst/>
          </a:prstGeom>
          <a:ln w="38100" cap="flat" cmpd="sng">
            <a:solidFill>
              <a:srgbClr val="00B050"/>
            </a:solidFill>
            <a:prstDash val="solid"/>
            <a:miter/>
            <a:headEnd type="none" w="med" len="med"/>
            <a:tailEnd type="arrow" w="med" len="med"/>
          </a:ln>
        </p:spPr>
      </p:cxnSp>
      <p:cxnSp>
        <p:nvCxnSpPr>
          <p:cNvPr id="108" name="直接连接符 107"/>
          <p:cNvCxnSpPr/>
          <p:nvPr/>
        </p:nvCxnSpPr>
        <p:spPr>
          <a:xfrm rot="10800000">
            <a:off x="3500438" y="3475038"/>
            <a:ext cx="285750" cy="0"/>
          </a:xfrm>
          <a:prstGeom prst="line">
            <a:avLst/>
          </a:prstGeom>
          <a:ln w="38100" cap="flat" cmpd="sng">
            <a:solidFill>
              <a:srgbClr val="00B050"/>
            </a:solidFill>
            <a:prstDash val="solid"/>
            <a:miter/>
            <a:headEnd type="none" w="med" len="med"/>
            <a:tailEnd type="none" w="med" len="med"/>
          </a:ln>
        </p:spPr>
      </p:cxnSp>
      <p:cxnSp>
        <p:nvCxnSpPr>
          <p:cNvPr id="109" name="直接连接符 108"/>
          <p:cNvCxnSpPr/>
          <p:nvPr/>
        </p:nvCxnSpPr>
        <p:spPr>
          <a:xfrm rot="5400000" flipH="1" flipV="1">
            <a:off x="3422650" y="3124200"/>
            <a:ext cx="727075" cy="0"/>
          </a:xfrm>
          <a:prstGeom prst="line">
            <a:avLst/>
          </a:prstGeom>
          <a:ln w="38100" cap="flat" cmpd="sng">
            <a:solidFill>
              <a:srgbClr val="00B050"/>
            </a:solidFill>
            <a:prstDash val="solid"/>
            <a:miter/>
            <a:headEnd type="none" w="med" len="med"/>
            <a:tailEnd type="none" w="med" len="med"/>
          </a:ln>
        </p:spPr>
      </p:cxnSp>
      <p:cxnSp>
        <p:nvCxnSpPr>
          <p:cNvPr id="112" name="直接箭头连接符 111"/>
          <p:cNvCxnSpPr/>
          <p:nvPr/>
        </p:nvCxnSpPr>
        <p:spPr>
          <a:xfrm rot="10800000">
            <a:off x="1928813" y="5072063"/>
            <a:ext cx="6715125" cy="1587"/>
          </a:xfrm>
          <a:prstGeom prst="straightConnector1">
            <a:avLst/>
          </a:prstGeom>
          <a:ln w="38100" cap="flat" cmpd="sng">
            <a:solidFill>
              <a:srgbClr val="00B050"/>
            </a:solidFill>
            <a:prstDash val="solid"/>
            <a:miter/>
            <a:headEnd type="none" w="med" len="med"/>
            <a:tailEnd type="arrow" w="med" len="med"/>
          </a:ln>
        </p:spPr>
      </p:cxnSp>
      <p:cxnSp>
        <p:nvCxnSpPr>
          <p:cNvPr id="121" name="直接箭头连接符 120"/>
          <p:cNvCxnSpPr/>
          <p:nvPr/>
        </p:nvCxnSpPr>
        <p:spPr>
          <a:xfrm rot="5400000">
            <a:off x="4370388" y="4987925"/>
            <a:ext cx="261937" cy="1588"/>
          </a:xfrm>
          <a:prstGeom prst="straightConnector1">
            <a:avLst/>
          </a:prstGeom>
          <a:ln w="38100" cap="flat" cmpd="sng">
            <a:solidFill>
              <a:srgbClr val="00B050"/>
            </a:solidFill>
            <a:prstDash val="solid"/>
            <a:miter/>
            <a:headEnd type="none" w="med" len="med"/>
            <a:tailEnd type="arrow" w="med" len="med"/>
          </a:ln>
        </p:spPr>
      </p:cxnSp>
      <p:cxnSp>
        <p:nvCxnSpPr>
          <p:cNvPr id="122" name="直接箭头连接符 121"/>
          <p:cNvCxnSpPr/>
          <p:nvPr/>
        </p:nvCxnSpPr>
        <p:spPr>
          <a:xfrm rot="5400000">
            <a:off x="7156450" y="4987925"/>
            <a:ext cx="261938" cy="1588"/>
          </a:xfrm>
          <a:prstGeom prst="straightConnector1">
            <a:avLst/>
          </a:prstGeom>
          <a:ln w="38100" cap="flat" cmpd="sng">
            <a:solidFill>
              <a:srgbClr val="00B050"/>
            </a:solidFill>
            <a:prstDash val="solid"/>
            <a:miter/>
            <a:headEnd type="none" w="med" len="med"/>
            <a:tailEnd type="arrow" w="med" len="med"/>
          </a:ln>
        </p:spPr>
      </p:cxnSp>
      <p:sp>
        <p:nvSpPr>
          <p:cNvPr id="123" name="TextBox 122"/>
          <p:cNvSpPr txBox="1"/>
          <p:nvPr/>
        </p:nvSpPr>
        <p:spPr>
          <a:xfrm>
            <a:off x="3643313" y="15716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24" name="TextBox 123"/>
          <p:cNvSpPr txBox="1"/>
          <p:nvPr/>
        </p:nvSpPr>
        <p:spPr>
          <a:xfrm>
            <a:off x="3286125" y="297656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30" name="TextBox 129"/>
          <p:cNvSpPr txBox="1"/>
          <p:nvPr/>
        </p:nvSpPr>
        <p:spPr>
          <a:xfrm>
            <a:off x="3681413" y="326707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31" name="TextBox 130"/>
          <p:cNvSpPr txBox="1"/>
          <p:nvPr/>
        </p:nvSpPr>
        <p:spPr>
          <a:xfrm>
            <a:off x="7034213" y="36417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38958"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Top)">
                                      <p:cBhvr>
                                        <p:cTn id="12" dur="500"/>
                                        <p:tgtEl>
                                          <p:spTgt spid="4"/>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slide(fromTop)">
                                      <p:cBhvr>
                                        <p:cTn id="21" dur="500"/>
                                        <p:tgtEl>
                                          <p:spTgt spid="13"/>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blinds(horizontal)">
                                      <p:cBhvr>
                                        <p:cTn id="30" dur="500"/>
                                        <p:tgtEl>
                                          <p:spTgt spid="22"/>
                                        </p:tgtEl>
                                      </p:cBhvr>
                                    </p:animEffect>
                                  </p:childTnLst>
                                </p:cTn>
                              </p:par>
                            </p:childTnLst>
                          </p:cTn>
                        </p:par>
                        <p:par>
                          <p:cTn id="31" fill="hold">
                            <p:stCondLst>
                              <p:cond delay="500"/>
                            </p:stCondLst>
                            <p:childTnLst>
                              <p:par>
                                <p:cTn id="32" presetID="12" presetClass="entr" presetSubtype="1"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slide(fromTop)">
                                      <p:cBhvr>
                                        <p:cTn id="34" dur="500"/>
                                        <p:tgtEl>
                                          <p:spTgt spid="5"/>
                                        </p:tgtEl>
                                      </p:cBhvr>
                                    </p:animEffect>
                                  </p:childTnLst>
                                </p:cTn>
                              </p:par>
                            </p:childTnLst>
                          </p:cTn>
                        </p:par>
                        <p:par>
                          <p:cTn id="35" fill="hold">
                            <p:stCondLst>
                              <p:cond delay="1000"/>
                            </p:stCondLst>
                            <p:childTnLst>
                              <p:par>
                                <p:cTn id="36" presetID="3" presetClass="entr" presetSubtype="10"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childTnLst>
                          </p:cTn>
                        </p:par>
                        <p:par>
                          <p:cTn id="44" fill="hold">
                            <p:stCondLst>
                              <p:cond delay="500"/>
                            </p:stCondLst>
                            <p:childTnLst>
                              <p:par>
                                <p:cTn id="45" presetID="12" presetClass="entr" presetSubtype="1"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slide(fromTop)">
                                      <p:cBhvr>
                                        <p:cTn id="47" dur="500"/>
                                        <p:tgtEl>
                                          <p:spTgt spid="24"/>
                                        </p:tgtEl>
                                      </p:cBhvr>
                                    </p:animEffect>
                                  </p:childTnLst>
                                </p:cTn>
                              </p:par>
                            </p:childTnLst>
                          </p:cTn>
                        </p:par>
                        <p:par>
                          <p:cTn id="48" fill="hold">
                            <p:stCondLst>
                              <p:cond delay="1000"/>
                            </p:stCondLst>
                            <p:childTnLst>
                              <p:par>
                                <p:cTn id="49" presetID="3" presetClass="entr" presetSubtype="10"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slide(fromTop)">
                                      <p:cBhvr>
                                        <p:cTn id="56" dur="5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23"/>
                                        </p:tgtEl>
                                        <p:attrNameLst>
                                          <p:attrName>style.visibility</p:attrName>
                                        </p:attrNameLst>
                                      </p:cBhvr>
                                      <p:to>
                                        <p:strVal val="visible"/>
                                      </p:to>
                                    </p:set>
                                    <p:animEffect transition="in" filter="blinds(horizontal)">
                                      <p:cBhvr>
                                        <p:cTn id="61" dur="500"/>
                                        <p:tgtEl>
                                          <p:spTgt spid="123"/>
                                        </p:tgtEl>
                                      </p:cBhvr>
                                    </p:animEffect>
                                  </p:childTnLst>
                                </p:cTn>
                              </p:par>
                            </p:childTnLst>
                          </p:cTn>
                        </p:par>
                        <p:par>
                          <p:cTn id="62" fill="hold">
                            <p:stCondLst>
                              <p:cond delay="500"/>
                            </p:stCondLst>
                            <p:childTnLst>
                              <p:par>
                                <p:cTn id="63" presetID="12" presetClass="entr" presetSubtype="8" fill="hold" nodeType="afterEffect">
                                  <p:stCondLst>
                                    <p:cond delay="0"/>
                                  </p:stCondLst>
                                  <p:childTnLst>
                                    <p:set>
                                      <p:cBhvr>
                                        <p:cTn id="64" dur="1" fill="hold">
                                          <p:stCondLst>
                                            <p:cond delay="0"/>
                                          </p:stCondLst>
                                        </p:cTn>
                                        <p:tgtEl>
                                          <p:spTgt spid="73"/>
                                        </p:tgtEl>
                                        <p:attrNameLst>
                                          <p:attrName>style.visibility</p:attrName>
                                        </p:attrNameLst>
                                      </p:cBhvr>
                                      <p:to>
                                        <p:strVal val="visible"/>
                                      </p:to>
                                    </p:set>
                                    <p:animEffect transition="in" filter="slide(fromLeft)">
                                      <p:cBhvr>
                                        <p:cTn id="65" dur="500"/>
                                        <p:tgtEl>
                                          <p:spTgt spid="73"/>
                                        </p:tgtEl>
                                      </p:cBhvr>
                                    </p:animEffect>
                                  </p:childTnLst>
                                </p:cTn>
                              </p:par>
                            </p:childTnLst>
                          </p:cTn>
                        </p:par>
                        <p:par>
                          <p:cTn id="66" fill="hold">
                            <p:stCondLst>
                              <p:cond delay="1000"/>
                            </p:stCondLst>
                            <p:childTnLst>
                              <p:par>
                                <p:cTn id="67" presetID="12" presetClass="entr" presetSubtype="1" fill="hold" nodeType="afterEffect">
                                  <p:stCondLst>
                                    <p:cond delay="0"/>
                                  </p:stCondLst>
                                  <p:childTnLst>
                                    <p:set>
                                      <p:cBhvr>
                                        <p:cTn id="68" dur="1" fill="hold">
                                          <p:stCondLst>
                                            <p:cond delay="0"/>
                                          </p:stCondLst>
                                        </p:cTn>
                                        <p:tgtEl>
                                          <p:spTgt spid="75"/>
                                        </p:tgtEl>
                                        <p:attrNameLst>
                                          <p:attrName>style.visibility</p:attrName>
                                        </p:attrNameLst>
                                      </p:cBhvr>
                                      <p:to>
                                        <p:strVal val="visible"/>
                                      </p:to>
                                    </p:set>
                                    <p:animEffect transition="in" filter="slide(fromTop)">
                                      <p:cBhvr>
                                        <p:cTn id="69" dur="500"/>
                                        <p:tgtEl>
                                          <p:spTgt spid="75"/>
                                        </p:tgtEl>
                                      </p:cBhvr>
                                    </p:animEffect>
                                  </p:childTnLst>
                                </p:cTn>
                              </p:par>
                            </p:childTnLst>
                          </p:cTn>
                        </p:par>
                        <p:par>
                          <p:cTn id="70" fill="hold">
                            <p:stCondLst>
                              <p:cond delay="1500"/>
                            </p:stCondLst>
                            <p:childTnLst>
                              <p:par>
                                <p:cTn id="71" presetID="3" presetClass="entr" presetSubtype="10" fill="hold" nodeType="after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blinds(horizontal)">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1" fill="hold" nodeType="clickEffect">
                                  <p:stCondLst>
                                    <p:cond delay="0"/>
                                  </p:stCondLst>
                                  <p:childTnLst>
                                    <p:set>
                                      <p:cBhvr>
                                        <p:cTn id="77" dur="1" fill="hold">
                                          <p:stCondLst>
                                            <p:cond delay="0"/>
                                          </p:stCondLst>
                                        </p:cTn>
                                        <p:tgtEl>
                                          <p:spTgt spid="80"/>
                                        </p:tgtEl>
                                        <p:attrNameLst>
                                          <p:attrName>style.visibility</p:attrName>
                                        </p:attrNameLst>
                                      </p:cBhvr>
                                      <p:to>
                                        <p:strVal val="visible"/>
                                      </p:to>
                                    </p:set>
                                    <p:animEffect transition="in" filter="slide(fromTop)">
                                      <p:cBhvr>
                                        <p:cTn id="78" dur="500"/>
                                        <p:tgtEl>
                                          <p:spTgt spid="80"/>
                                        </p:tgtEl>
                                      </p:cBhvr>
                                    </p:animEffect>
                                  </p:childTnLst>
                                </p:cTn>
                              </p:par>
                            </p:childTnLst>
                          </p:cTn>
                        </p:par>
                        <p:par>
                          <p:cTn id="79" fill="hold">
                            <p:stCondLst>
                              <p:cond delay="500"/>
                            </p:stCondLst>
                            <p:childTnLst>
                              <p:par>
                                <p:cTn id="80" presetID="12" presetClass="entr" presetSubtype="2" fill="hold" nodeType="afterEffect">
                                  <p:stCondLst>
                                    <p:cond delay="0"/>
                                  </p:stCondLst>
                                  <p:childTnLst>
                                    <p:set>
                                      <p:cBhvr>
                                        <p:cTn id="81" dur="1" fill="hold">
                                          <p:stCondLst>
                                            <p:cond delay="0"/>
                                          </p:stCondLst>
                                        </p:cTn>
                                        <p:tgtEl>
                                          <p:spTgt spid="112"/>
                                        </p:tgtEl>
                                        <p:attrNameLst>
                                          <p:attrName>style.visibility</p:attrName>
                                        </p:attrNameLst>
                                      </p:cBhvr>
                                      <p:to>
                                        <p:strVal val="visible"/>
                                      </p:to>
                                    </p:set>
                                    <p:animEffect transition="in" filter="slide(fromRight)">
                                      <p:cBhvr>
                                        <p:cTn id="82" dur="500"/>
                                        <p:tgtEl>
                                          <p:spTgt spid="112"/>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24"/>
                                        </p:tgtEl>
                                        <p:attrNameLst>
                                          <p:attrName>style.visibility</p:attrName>
                                        </p:attrNameLst>
                                      </p:cBhvr>
                                      <p:to>
                                        <p:strVal val="visible"/>
                                      </p:to>
                                    </p:set>
                                    <p:animEffect transition="in" filter="blinds(horizontal)">
                                      <p:cBhvr>
                                        <p:cTn id="87" dur="500"/>
                                        <p:tgtEl>
                                          <p:spTgt spid="124"/>
                                        </p:tgtEl>
                                      </p:cBhvr>
                                    </p:animEffect>
                                  </p:childTnLst>
                                </p:cTn>
                              </p:par>
                            </p:childTnLst>
                          </p:cTn>
                        </p:par>
                        <p:par>
                          <p:cTn id="88" fill="hold">
                            <p:stCondLst>
                              <p:cond delay="500"/>
                            </p:stCondLst>
                            <p:childTnLst>
                              <p:par>
                                <p:cTn id="89" presetID="12" presetClass="entr" presetSubtype="8" fill="hold" nodeType="afterEffect">
                                  <p:stCondLst>
                                    <p:cond delay="0"/>
                                  </p:stCondLst>
                                  <p:childTnLst>
                                    <p:set>
                                      <p:cBhvr>
                                        <p:cTn id="90" dur="1" fill="hold">
                                          <p:stCondLst>
                                            <p:cond delay="0"/>
                                          </p:stCondLst>
                                        </p:cTn>
                                        <p:tgtEl>
                                          <p:spTgt spid="108"/>
                                        </p:tgtEl>
                                        <p:attrNameLst>
                                          <p:attrName>style.visibility</p:attrName>
                                        </p:attrNameLst>
                                      </p:cBhvr>
                                      <p:to>
                                        <p:strVal val="visible"/>
                                      </p:to>
                                    </p:set>
                                    <p:animEffect transition="in" filter="slide(fromLeft)">
                                      <p:cBhvr>
                                        <p:cTn id="91" dur="500"/>
                                        <p:tgtEl>
                                          <p:spTgt spid="108"/>
                                        </p:tgtEl>
                                      </p:cBhvr>
                                    </p:animEffect>
                                  </p:childTnLst>
                                </p:cTn>
                              </p:par>
                            </p:childTnLst>
                          </p:cTn>
                        </p:par>
                        <p:par>
                          <p:cTn id="92" fill="hold">
                            <p:stCondLst>
                              <p:cond delay="1000"/>
                            </p:stCondLst>
                            <p:childTnLst>
                              <p:par>
                                <p:cTn id="93" presetID="12" presetClass="entr" presetSubtype="4" fill="hold" nodeType="afterEffect">
                                  <p:stCondLst>
                                    <p:cond delay="0"/>
                                  </p:stCondLst>
                                  <p:childTnLst>
                                    <p:set>
                                      <p:cBhvr>
                                        <p:cTn id="94" dur="1" fill="hold">
                                          <p:stCondLst>
                                            <p:cond delay="0"/>
                                          </p:stCondLst>
                                        </p:cTn>
                                        <p:tgtEl>
                                          <p:spTgt spid="109"/>
                                        </p:tgtEl>
                                        <p:attrNameLst>
                                          <p:attrName>style.visibility</p:attrName>
                                        </p:attrNameLst>
                                      </p:cBhvr>
                                      <p:to>
                                        <p:strVal val="visible"/>
                                      </p:to>
                                    </p:set>
                                    <p:animEffect transition="in" filter="slide(fromBottom)">
                                      <p:cBhvr>
                                        <p:cTn id="95" dur="500"/>
                                        <p:tgtEl>
                                          <p:spTgt spid="109"/>
                                        </p:tgtEl>
                                      </p:cBhvr>
                                    </p:animEffect>
                                  </p:childTnLst>
                                </p:cTn>
                              </p:par>
                            </p:childTnLst>
                          </p:cTn>
                        </p:par>
                        <p:par>
                          <p:cTn id="96" fill="hold">
                            <p:stCondLst>
                              <p:cond delay="1500"/>
                            </p:stCondLst>
                            <p:childTnLst>
                              <p:par>
                                <p:cTn id="97" presetID="12" presetClass="entr" presetSubtype="8" fill="hold" nodeType="after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slide(fromLeft)">
                                      <p:cBhvr>
                                        <p:cTn id="99" dur="500"/>
                                        <p:tgtEl>
                                          <p:spTgt spid="26"/>
                                        </p:tgtEl>
                                      </p:cBhvr>
                                    </p:animEffect>
                                  </p:childTnLst>
                                </p:cTn>
                              </p:par>
                            </p:childTnLst>
                          </p:cTn>
                        </p:par>
                        <p:par>
                          <p:cTn id="100" fill="hold">
                            <p:stCondLst>
                              <p:cond delay="2000"/>
                            </p:stCondLst>
                            <p:childTnLst>
                              <p:par>
                                <p:cTn id="101" presetID="12" presetClass="entr" presetSubtype="1" fill="hold" nodeType="afterEffect">
                                  <p:stCondLst>
                                    <p:cond delay="0"/>
                                  </p:stCondLst>
                                  <p:childTnLst>
                                    <p:set>
                                      <p:cBhvr>
                                        <p:cTn id="102" dur="1" fill="hold">
                                          <p:stCondLst>
                                            <p:cond delay="0"/>
                                          </p:stCondLst>
                                        </p:cTn>
                                        <p:tgtEl>
                                          <p:spTgt spid="63"/>
                                        </p:tgtEl>
                                        <p:attrNameLst>
                                          <p:attrName>style.visibility</p:attrName>
                                        </p:attrNameLst>
                                      </p:cBhvr>
                                      <p:to>
                                        <p:strVal val="visible"/>
                                      </p:to>
                                    </p:set>
                                    <p:animEffect transition="in" filter="slide(fromTop)">
                                      <p:cBhvr>
                                        <p:cTn id="103" dur="500"/>
                                        <p:tgtEl>
                                          <p:spTgt spid="63"/>
                                        </p:tgtEl>
                                      </p:cBhvr>
                                    </p:animEffect>
                                  </p:childTnLst>
                                </p:cTn>
                              </p:par>
                            </p:childTnLst>
                          </p:cTn>
                        </p:par>
                        <p:par>
                          <p:cTn id="104" fill="hold">
                            <p:stCondLst>
                              <p:cond delay="2500"/>
                            </p:stCondLst>
                            <p:childTnLst>
                              <p:par>
                                <p:cTn id="105" presetID="3" presetClass="entr" presetSubtype="10" fill="hold" nodeType="afterEffect">
                                  <p:stCondLst>
                                    <p:cond delay="0"/>
                                  </p:stCondLst>
                                  <p:childTnLst>
                                    <p:set>
                                      <p:cBhvr>
                                        <p:cTn id="106" dur="1" fill="hold">
                                          <p:stCondLst>
                                            <p:cond delay="0"/>
                                          </p:stCondLst>
                                        </p:cTn>
                                        <p:tgtEl>
                                          <p:spTgt spid="18"/>
                                        </p:tgtEl>
                                        <p:attrNameLst>
                                          <p:attrName>style.visibility</p:attrName>
                                        </p:attrNameLst>
                                      </p:cBhvr>
                                      <p:to>
                                        <p:strVal val="visible"/>
                                      </p:to>
                                    </p:set>
                                    <p:animEffect transition="in" filter="blinds(horizontal)">
                                      <p:cBhvr>
                                        <p:cTn id="107" dur="500"/>
                                        <p:tgtEl>
                                          <p:spTgt spid="18"/>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130"/>
                                        </p:tgtEl>
                                        <p:attrNameLst>
                                          <p:attrName>style.visibility</p:attrName>
                                        </p:attrNameLst>
                                      </p:cBhvr>
                                      <p:to>
                                        <p:strVal val="visible"/>
                                      </p:to>
                                    </p:set>
                                    <p:animEffect transition="in" filter="blinds(horizontal)">
                                      <p:cBhvr>
                                        <p:cTn id="112" dur="500"/>
                                        <p:tgtEl>
                                          <p:spTgt spid="130"/>
                                        </p:tgtEl>
                                      </p:cBhvr>
                                    </p:animEffect>
                                  </p:childTnLst>
                                </p:cTn>
                              </p:par>
                            </p:childTnLst>
                          </p:cTn>
                        </p:par>
                        <p:par>
                          <p:cTn id="113" fill="hold">
                            <p:stCondLst>
                              <p:cond delay="500"/>
                            </p:stCondLst>
                            <p:childTnLst>
                              <p:par>
                                <p:cTn id="114" presetID="12" presetClass="entr" presetSubtype="2" fill="hold" nodeType="afterEffect">
                                  <p:stCondLst>
                                    <p:cond delay="0"/>
                                  </p:stCondLst>
                                  <p:childTnLst>
                                    <p:set>
                                      <p:cBhvr>
                                        <p:cTn id="115" dur="1" fill="hold">
                                          <p:stCondLst>
                                            <p:cond delay="0"/>
                                          </p:stCondLst>
                                        </p:cTn>
                                        <p:tgtEl>
                                          <p:spTgt spid="96"/>
                                        </p:tgtEl>
                                        <p:attrNameLst>
                                          <p:attrName>style.visibility</p:attrName>
                                        </p:attrNameLst>
                                      </p:cBhvr>
                                      <p:to>
                                        <p:strVal val="visible"/>
                                      </p:to>
                                    </p:set>
                                    <p:animEffect transition="in" filter="slide(fromRight)">
                                      <p:cBhvr>
                                        <p:cTn id="116" dur="500"/>
                                        <p:tgtEl>
                                          <p:spTgt spid="96"/>
                                        </p:tgtEl>
                                      </p:cBhvr>
                                    </p:animEffect>
                                  </p:childTnLst>
                                </p:cTn>
                              </p:par>
                            </p:childTnLst>
                          </p:cTn>
                        </p:par>
                        <p:par>
                          <p:cTn id="117" fill="hold">
                            <p:stCondLst>
                              <p:cond delay="1000"/>
                            </p:stCondLst>
                            <p:childTnLst>
                              <p:par>
                                <p:cTn id="118" presetID="12" presetClass="entr" presetSubtype="1" fill="hold" nodeType="afterEffect">
                                  <p:stCondLst>
                                    <p:cond delay="0"/>
                                  </p:stCondLst>
                                  <p:childTnLst>
                                    <p:set>
                                      <p:cBhvr>
                                        <p:cTn id="119" dur="1" fill="hold">
                                          <p:stCondLst>
                                            <p:cond delay="0"/>
                                          </p:stCondLst>
                                        </p:cTn>
                                        <p:tgtEl>
                                          <p:spTgt spid="97"/>
                                        </p:tgtEl>
                                        <p:attrNameLst>
                                          <p:attrName>style.visibility</p:attrName>
                                        </p:attrNameLst>
                                      </p:cBhvr>
                                      <p:to>
                                        <p:strVal val="visible"/>
                                      </p:to>
                                    </p:set>
                                    <p:animEffect transition="in" filter="slide(fromTop)">
                                      <p:cBhvr>
                                        <p:cTn id="120" dur="500"/>
                                        <p:tgtEl>
                                          <p:spTgt spid="97"/>
                                        </p:tgtEl>
                                      </p:cBhvr>
                                    </p:animEffect>
                                  </p:childTnLst>
                                </p:cTn>
                              </p:par>
                            </p:childTnLst>
                          </p:cTn>
                        </p:par>
                        <p:par>
                          <p:cTn id="121" fill="hold">
                            <p:stCondLst>
                              <p:cond delay="1500"/>
                            </p:stCondLst>
                            <p:childTnLst>
                              <p:par>
                                <p:cTn id="122" presetID="3" presetClass="entr" presetSubtype="10" fill="hold" nodeType="afterEffect">
                                  <p:stCondLst>
                                    <p:cond delay="0"/>
                                  </p:stCondLst>
                                  <p:childTnLst>
                                    <p:set>
                                      <p:cBhvr>
                                        <p:cTn id="123" dur="1" fill="hold">
                                          <p:stCondLst>
                                            <p:cond delay="0"/>
                                          </p:stCondLst>
                                        </p:cTn>
                                        <p:tgtEl>
                                          <p:spTgt spid="23"/>
                                        </p:tgtEl>
                                        <p:attrNameLst>
                                          <p:attrName>style.visibility</p:attrName>
                                        </p:attrNameLst>
                                      </p:cBhvr>
                                      <p:to>
                                        <p:strVal val="visible"/>
                                      </p:to>
                                    </p:set>
                                    <p:animEffect transition="in" filter="blinds(horizontal)">
                                      <p:cBhvr>
                                        <p:cTn id="124" dur="500"/>
                                        <p:tgtEl>
                                          <p:spTgt spid="23"/>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131"/>
                                        </p:tgtEl>
                                        <p:attrNameLst>
                                          <p:attrName>style.visibility</p:attrName>
                                        </p:attrNameLst>
                                      </p:cBhvr>
                                      <p:to>
                                        <p:strVal val="visible"/>
                                      </p:to>
                                    </p:set>
                                    <p:animEffect transition="in" filter="blinds(horizontal)">
                                      <p:cBhvr>
                                        <p:cTn id="129" dur="500"/>
                                        <p:tgtEl>
                                          <p:spTgt spid="131"/>
                                        </p:tgtEl>
                                      </p:cBhvr>
                                    </p:animEffect>
                                  </p:childTnLst>
                                </p:cTn>
                              </p:par>
                            </p:childTnLst>
                          </p:cTn>
                        </p:par>
                        <p:par>
                          <p:cTn id="130" fill="hold">
                            <p:stCondLst>
                              <p:cond delay="500"/>
                            </p:stCondLst>
                            <p:childTnLst>
                              <p:par>
                                <p:cTn id="131" presetID="12" presetClass="entr" presetSubtype="8" fill="hold" nodeType="afterEffect">
                                  <p:stCondLst>
                                    <p:cond delay="0"/>
                                  </p:stCondLst>
                                  <p:childTnLst>
                                    <p:set>
                                      <p:cBhvr>
                                        <p:cTn id="132" dur="1" fill="hold">
                                          <p:stCondLst>
                                            <p:cond delay="0"/>
                                          </p:stCondLst>
                                        </p:cTn>
                                        <p:tgtEl>
                                          <p:spTgt spid="82"/>
                                        </p:tgtEl>
                                        <p:attrNameLst>
                                          <p:attrName>style.visibility</p:attrName>
                                        </p:attrNameLst>
                                      </p:cBhvr>
                                      <p:to>
                                        <p:strVal val="visible"/>
                                      </p:to>
                                    </p:set>
                                    <p:animEffect transition="in" filter="slide(fromLeft)">
                                      <p:cBhvr>
                                        <p:cTn id="133" dur="500"/>
                                        <p:tgtEl>
                                          <p:spTgt spid="82"/>
                                        </p:tgtEl>
                                      </p:cBhvr>
                                    </p:animEffect>
                                  </p:childTnLst>
                                </p:cTn>
                              </p:par>
                            </p:childTnLst>
                          </p:cTn>
                        </p:par>
                        <p:par>
                          <p:cTn id="134" fill="hold">
                            <p:stCondLst>
                              <p:cond delay="1000"/>
                            </p:stCondLst>
                            <p:childTnLst>
                              <p:par>
                                <p:cTn id="135" presetID="12" presetClass="entr" presetSubtype="1" fill="hold" nodeType="afterEffect">
                                  <p:stCondLst>
                                    <p:cond delay="0"/>
                                  </p:stCondLst>
                                  <p:childTnLst>
                                    <p:set>
                                      <p:cBhvr>
                                        <p:cTn id="136" dur="1" fill="hold">
                                          <p:stCondLst>
                                            <p:cond delay="0"/>
                                          </p:stCondLst>
                                        </p:cTn>
                                        <p:tgtEl>
                                          <p:spTgt spid="83"/>
                                        </p:tgtEl>
                                        <p:attrNameLst>
                                          <p:attrName>style.visibility</p:attrName>
                                        </p:attrNameLst>
                                      </p:cBhvr>
                                      <p:to>
                                        <p:strVal val="visible"/>
                                      </p:to>
                                    </p:set>
                                    <p:animEffect transition="in" filter="slide(fromTop)">
                                      <p:cBhvr>
                                        <p:cTn id="137" dur="500"/>
                                        <p:tgtEl>
                                          <p:spTgt spid="83"/>
                                        </p:tgtEl>
                                      </p:cBhvr>
                                    </p:animEffect>
                                  </p:childTnLst>
                                </p:cTn>
                              </p:par>
                            </p:childTnLst>
                          </p:cTn>
                        </p:par>
                        <p:par>
                          <p:cTn id="138" fill="hold">
                            <p:stCondLst>
                              <p:cond delay="1500"/>
                            </p:stCondLst>
                            <p:childTnLst>
                              <p:par>
                                <p:cTn id="139" presetID="3" presetClass="entr" presetSubtype="10" fill="hold" nodeType="afterEffect">
                                  <p:stCondLst>
                                    <p:cond delay="0"/>
                                  </p:stCondLst>
                                  <p:childTnLst>
                                    <p:set>
                                      <p:cBhvr>
                                        <p:cTn id="140" dur="1" fill="hold">
                                          <p:stCondLst>
                                            <p:cond delay="0"/>
                                          </p:stCondLst>
                                        </p:cTn>
                                        <p:tgtEl>
                                          <p:spTgt spid="21"/>
                                        </p:tgtEl>
                                        <p:attrNameLst>
                                          <p:attrName>style.visibility</p:attrName>
                                        </p:attrNameLst>
                                      </p:cBhvr>
                                      <p:to>
                                        <p:strVal val="visible"/>
                                      </p:to>
                                    </p:set>
                                    <p:animEffect transition="in" filter="blinds(horizontal)">
                                      <p:cBhvr>
                                        <p:cTn id="141" dur="500"/>
                                        <p:tgtEl>
                                          <p:spTgt spid="21"/>
                                        </p:tgtEl>
                                      </p:cBhvr>
                                    </p:animEffect>
                                  </p:childTnLst>
                                </p:cTn>
                              </p:par>
                            </p:childTnLst>
                          </p:cTn>
                        </p:par>
                        <p:par>
                          <p:cTn id="142" fill="hold">
                            <p:stCondLst>
                              <p:cond delay="2000"/>
                            </p:stCondLst>
                            <p:childTnLst>
                              <p:par>
                                <p:cTn id="143" presetID="12" presetClass="entr" presetSubtype="1" fill="hold" nodeType="afterEffect">
                                  <p:stCondLst>
                                    <p:cond delay="0"/>
                                  </p:stCondLst>
                                  <p:childTnLst>
                                    <p:set>
                                      <p:cBhvr>
                                        <p:cTn id="144" dur="1" fill="hold">
                                          <p:stCondLst>
                                            <p:cond delay="0"/>
                                          </p:stCondLst>
                                        </p:cTn>
                                        <p:tgtEl>
                                          <p:spTgt spid="122"/>
                                        </p:tgtEl>
                                        <p:attrNameLst>
                                          <p:attrName>style.visibility</p:attrName>
                                        </p:attrNameLst>
                                      </p:cBhvr>
                                      <p:to>
                                        <p:strVal val="visible"/>
                                      </p:to>
                                    </p:set>
                                    <p:animEffect transition="in" filter="slide(fromTop)">
                                      <p:cBhvr>
                                        <p:cTn id="145" dur="500"/>
                                        <p:tgtEl>
                                          <p:spTgt spid="122"/>
                                        </p:tgtEl>
                                      </p:cBhvr>
                                    </p:animEffect>
                                  </p:childTnLst>
                                </p:cTn>
                              </p:par>
                            </p:childTnLst>
                          </p:cTn>
                        </p:par>
                        <p:par>
                          <p:cTn id="146" fill="hold">
                            <p:stCondLst>
                              <p:cond delay="2500"/>
                            </p:stCondLst>
                            <p:childTnLst>
                              <p:par>
                                <p:cTn id="147" presetID="12" presetClass="entr" presetSubtype="1" fill="hold" nodeType="afterEffect">
                                  <p:stCondLst>
                                    <p:cond delay="0"/>
                                  </p:stCondLst>
                                  <p:childTnLst>
                                    <p:set>
                                      <p:cBhvr>
                                        <p:cTn id="148" dur="1" fill="hold">
                                          <p:stCondLst>
                                            <p:cond delay="0"/>
                                          </p:stCondLst>
                                        </p:cTn>
                                        <p:tgtEl>
                                          <p:spTgt spid="121"/>
                                        </p:tgtEl>
                                        <p:attrNameLst>
                                          <p:attrName>style.visibility</p:attrName>
                                        </p:attrNameLst>
                                      </p:cBhvr>
                                      <p:to>
                                        <p:strVal val="visible"/>
                                      </p:to>
                                    </p:set>
                                    <p:animEffect transition="in" filter="slide(fromTop)">
                                      <p:cBhvr>
                                        <p:cTn id="149" dur="500"/>
                                        <p:tgtEl>
                                          <p:spTgt spid="121"/>
                                        </p:tgtEl>
                                      </p:cBhvr>
                                    </p:animEffect>
                                  </p:childTnLst>
                                </p:cTn>
                              </p:par>
                            </p:childTnLst>
                          </p:cTn>
                        </p:par>
                      </p:childTnLst>
                    </p:cTn>
                  </p:par>
                  <p:par>
                    <p:cTn id="150" fill="hold">
                      <p:stCondLst>
                        <p:cond delay="indefinite"/>
                      </p:stCondLst>
                      <p:childTnLst>
                        <p:par>
                          <p:cTn id="151" fill="hold">
                            <p:stCondLst>
                              <p:cond delay="0"/>
                            </p:stCondLst>
                            <p:childTnLst>
                              <p:par>
                                <p:cTn id="152" presetID="3" presetClass="entr" presetSubtype="10" fill="hold" nodeType="clickEffect">
                                  <p:stCondLst>
                                    <p:cond delay="0"/>
                                  </p:stCondLst>
                                  <p:childTnLst>
                                    <p:set>
                                      <p:cBhvr>
                                        <p:cTn id="153" dur="1" fill="hold">
                                          <p:stCondLst>
                                            <p:cond delay="0"/>
                                          </p:stCondLst>
                                        </p:cTn>
                                        <p:tgtEl>
                                          <p:spTgt spid="12"/>
                                        </p:tgtEl>
                                        <p:attrNameLst>
                                          <p:attrName>style.visibility</p:attrName>
                                        </p:attrNameLst>
                                      </p:cBhvr>
                                      <p:to>
                                        <p:strVal val="visible"/>
                                      </p:to>
                                    </p:set>
                                    <p:animEffect transition="in" filter="blinds(horizontal)">
                                      <p:cBhvr>
                                        <p:cTn id="154" dur="500"/>
                                        <p:tgtEl>
                                          <p:spTgt spid="12"/>
                                        </p:tgtEl>
                                      </p:cBhvr>
                                    </p:animEffect>
                                  </p:childTnLst>
                                </p:cTn>
                              </p:par>
                            </p:childTnLst>
                          </p:cTn>
                        </p:par>
                      </p:childTnLst>
                    </p:cTn>
                  </p:par>
                  <p:par>
                    <p:cTn id="155" fill="hold">
                      <p:stCondLst>
                        <p:cond delay="indefinite"/>
                      </p:stCondLst>
                      <p:childTnLst>
                        <p:par>
                          <p:cTn id="156" fill="hold">
                            <p:stCondLst>
                              <p:cond delay="0"/>
                            </p:stCondLst>
                            <p:childTnLst>
                              <p:par>
                                <p:cTn id="157" presetID="12" presetClass="entr" presetSubtype="1" fill="hold" nodeType="clickEffect">
                                  <p:stCondLst>
                                    <p:cond delay="0"/>
                                  </p:stCondLst>
                                  <p:childTnLst>
                                    <p:set>
                                      <p:cBhvr>
                                        <p:cTn id="158" dur="1" fill="hold">
                                          <p:stCondLst>
                                            <p:cond delay="0"/>
                                          </p:stCondLst>
                                        </p:cTn>
                                        <p:tgtEl>
                                          <p:spTgt spid="48"/>
                                        </p:tgtEl>
                                        <p:attrNameLst>
                                          <p:attrName>style.visibility</p:attrName>
                                        </p:attrNameLst>
                                      </p:cBhvr>
                                      <p:to>
                                        <p:strVal val="visible"/>
                                      </p:to>
                                    </p:set>
                                    <p:animEffect transition="in" filter="slide(fromTop)">
                                      <p:cBhvr>
                                        <p:cTn id="159" dur="500"/>
                                        <p:tgtEl>
                                          <p:spTgt spid="48"/>
                                        </p:tgtEl>
                                      </p:cBhvr>
                                    </p:animEffect>
                                  </p:childTnLst>
                                </p:cTn>
                              </p:par>
                            </p:childTnLst>
                          </p:cTn>
                        </p:par>
                        <p:par>
                          <p:cTn id="160" fill="hold">
                            <p:stCondLst>
                              <p:cond delay="500"/>
                            </p:stCondLst>
                            <p:childTnLst>
                              <p:par>
                                <p:cTn id="161" presetID="3" presetClass="entr" presetSubtype="10" fill="hold" nodeType="afterEffect">
                                  <p:stCondLst>
                                    <p:cond delay="0"/>
                                  </p:stCondLst>
                                  <p:childTnLst>
                                    <p:set>
                                      <p:cBhvr>
                                        <p:cTn id="162" dur="1" fill="hold">
                                          <p:stCondLst>
                                            <p:cond delay="0"/>
                                          </p:stCondLst>
                                        </p:cTn>
                                        <p:tgtEl>
                                          <p:spTgt spid="14"/>
                                        </p:tgtEl>
                                        <p:attrNameLst>
                                          <p:attrName>style.visibility</p:attrName>
                                        </p:attrNameLst>
                                      </p:cBhvr>
                                      <p:to>
                                        <p:strVal val="visible"/>
                                      </p:to>
                                    </p:set>
                                    <p:animEffect transition="in" filter="blinds(horizontal)">
                                      <p:cBhvr>
                                        <p:cTn id="163" dur="500"/>
                                        <p:tgtEl>
                                          <p:spTgt spid="14"/>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0" nodeType="clickEffect">
                                  <p:stCondLst>
                                    <p:cond delay="0"/>
                                  </p:stCondLst>
                                  <p:childTnLst>
                                    <p:set>
                                      <p:cBhvr>
                                        <p:cTn id="167" dur="1" fill="hold">
                                          <p:stCondLst>
                                            <p:cond delay="0"/>
                                          </p:stCondLst>
                                        </p:cTn>
                                        <p:tgtEl>
                                          <p:spTgt spid="16"/>
                                        </p:tgtEl>
                                        <p:attrNameLst>
                                          <p:attrName>style.visibility</p:attrName>
                                        </p:attrNameLst>
                                      </p:cBhvr>
                                      <p:to>
                                        <p:strVal val="visible"/>
                                      </p:to>
                                    </p:set>
                                    <p:animEffect transition="in" filter="blinds(horizontal)">
                                      <p:cBhvr>
                                        <p:cTn id="168" dur="500"/>
                                        <p:tgtEl>
                                          <p:spTgt spid="16"/>
                                        </p:tgtEl>
                                      </p:cBhvr>
                                    </p:animEffect>
                                  </p:childTnLst>
                                </p:cTn>
                              </p:par>
                            </p:childTnLst>
                          </p:cTn>
                        </p:par>
                        <p:par>
                          <p:cTn id="169" fill="hold">
                            <p:stCondLst>
                              <p:cond delay="500"/>
                            </p:stCondLst>
                            <p:childTnLst>
                              <p:par>
                                <p:cTn id="170" presetID="12" presetClass="entr" presetSubtype="2" fill="hold" nodeType="afterEffect">
                                  <p:stCondLst>
                                    <p:cond delay="0"/>
                                  </p:stCondLst>
                                  <p:childTnLst>
                                    <p:set>
                                      <p:cBhvr>
                                        <p:cTn id="171" dur="1" fill="hold">
                                          <p:stCondLst>
                                            <p:cond delay="0"/>
                                          </p:stCondLst>
                                        </p:cTn>
                                        <p:tgtEl>
                                          <p:spTgt spid="49"/>
                                        </p:tgtEl>
                                        <p:attrNameLst>
                                          <p:attrName>style.visibility</p:attrName>
                                        </p:attrNameLst>
                                      </p:cBhvr>
                                      <p:to>
                                        <p:strVal val="visible"/>
                                      </p:to>
                                    </p:set>
                                    <p:animEffect transition="in" filter="slide(fromRight)">
                                      <p:cBhvr>
                                        <p:cTn id="172" dur="500"/>
                                        <p:tgtEl>
                                          <p:spTgt spid="49"/>
                                        </p:tgtEl>
                                      </p:cBhvr>
                                    </p:animEffect>
                                  </p:childTnLst>
                                </p:cTn>
                              </p:par>
                            </p:childTnLst>
                          </p:cTn>
                        </p:par>
                        <p:par>
                          <p:cTn id="173" fill="hold">
                            <p:stCondLst>
                              <p:cond delay="1000"/>
                            </p:stCondLst>
                            <p:childTnLst>
                              <p:par>
                                <p:cTn id="174" presetID="12" presetClass="entr" presetSubtype="4" fill="hold" nodeType="afterEffect">
                                  <p:stCondLst>
                                    <p:cond delay="0"/>
                                  </p:stCondLst>
                                  <p:childTnLst>
                                    <p:set>
                                      <p:cBhvr>
                                        <p:cTn id="175" dur="1" fill="hold">
                                          <p:stCondLst>
                                            <p:cond delay="0"/>
                                          </p:stCondLst>
                                        </p:cTn>
                                        <p:tgtEl>
                                          <p:spTgt spid="10"/>
                                        </p:tgtEl>
                                        <p:attrNameLst>
                                          <p:attrName>style.visibility</p:attrName>
                                        </p:attrNameLst>
                                      </p:cBhvr>
                                      <p:to>
                                        <p:strVal val="visible"/>
                                      </p:to>
                                    </p:set>
                                    <p:animEffect transition="in" filter="slide(fromBottom)">
                                      <p:cBhvr>
                                        <p:cTn id="176" dur="500"/>
                                        <p:tgtEl>
                                          <p:spTgt spid="10"/>
                                        </p:tgtEl>
                                      </p:cBhvr>
                                    </p:animEffect>
                                  </p:childTnLst>
                                </p:cTn>
                              </p:par>
                            </p:childTnLst>
                          </p:cTn>
                        </p:par>
                        <p:par>
                          <p:cTn id="177" fill="hold">
                            <p:stCondLst>
                              <p:cond delay="1500"/>
                            </p:stCondLst>
                            <p:childTnLst>
                              <p:par>
                                <p:cTn id="178" presetID="12" presetClass="entr" presetSubtype="8" fill="hold" nodeType="afterEffect">
                                  <p:stCondLst>
                                    <p:cond delay="0"/>
                                  </p:stCondLst>
                                  <p:childTnLst>
                                    <p:set>
                                      <p:cBhvr>
                                        <p:cTn id="179" dur="1" fill="hold">
                                          <p:stCondLst>
                                            <p:cond delay="0"/>
                                          </p:stCondLst>
                                        </p:cTn>
                                        <p:tgtEl>
                                          <p:spTgt spid="15"/>
                                        </p:tgtEl>
                                        <p:attrNameLst>
                                          <p:attrName>style.visibility</p:attrName>
                                        </p:attrNameLst>
                                      </p:cBhvr>
                                      <p:to>
                                        <p:strVal val="visible"/>
                                      </p:to>
                                    </p:set>
                                    <p:animEffect transition="in" filter="slide(fromLeft)">
                                      <p:cBhvr>
                                        <p:cTn id="180" dur="500"/>
                                        <p:tgtEl>
                                          <p:spTgt spid="15"/>
                                        </p:tgtEl>
                                      </p:cBhvr>
                                    </p:animEffect>
                                  </p:childTnLst>
                                </p:cTn>
                              </p:par>
                            </p:childTnLst>
                          </p:cTn>
                        </p:par>
                      </p:childTnLst>
                    </p:cTn>
                  </p:par>
                  <p:par>
                    <p:cTn id="181" fill="hold">
                      <p:stCondLst>
                        <p:cond delay="indefinite"/>
                      </p:stCondLst>
                      <p:childTnLst>
                        <p:par>
                          <p:cTn id="182" fill="hold">
                            <p:stCondLst>
                              <p:cond delay="0"/>
                            </p:stCondLst>
                            <p:childTnLst>
                              <p:par>
                                <p:cTn id="183" presetID="3" presetClass="entr" presetSubtype="10" fill="hold" grpId="0" nodeType="clickEffect">
                                  <p:stCondLst>
                                    <p:cond delay="0"/>
                                  </p:stCondLst>
                                  <p:childTnLst>
                                    <p:set>
                                      <p:cBhvr>
                                        <p:cTn id="184" dur="1" fill="hold">
                                          <p:stCondLst>
                                            <p:cond delay="0"/>
                                          </p:stCondLst>
                                        </p:cTn>
                                        <p:tgtEl>
                                          <p:spTgt spid="62"/>
                                        </p:tgtEl>
                                        <p:attrNameLst>
                                          <p:attrName>style.visibility</p:attrName>
                                        </p:attrNameLst>
                                      </p:cBhvr>
                                      <p:to>
                                        <p:strVal val="visible"/>
                                      </p:to>
                                    </p:set>
                                    <p:animEffect transition="in" filter="blinds(horizontal)">
                                      <p:cBhvr>
                                        <p:cTn id="185" dur="500"/>
                                        <p:tgtEl>
                                          <p:spTgt spid="62"/>
                                        </p:tgtEl>
                                      </p:cBhvr>
                                    </p:animEffect>
                                  </p:childTnLst>
                                </p:cTn>
                              </p:par>
                            </p:childTnLst>
                          </p:cTn>
                        </p:par>
                        <p:par>
                          <p:cTn id="186" fill="hold">
                            <p:stCondLst>
                              <p:cond delay="500"/>
                            </p:stCondLst>
                            <p:childTnLst>
                              <p:par>
                                <p:cTn id="187" presetID="12" presetClass="entr" presetSubtype="8" fill="hold" nodeType="afterEffect">
                                  <p:stCondLst>
                                    <p:cond delay="0"/>
                                  </p:stCondLst>
                                  <p:childTnLst>
                                    <p:set>
                                      <p:cBhvr>
                                        <p:cTn id="188" dur="1" fill="hold">
                                          <p:stCondLst>
                                            <p:cond delay="0"/>
                                          </p:stCondLst>
                                        </p:cTn>
                                        <p:tgtEl>
                                          <p:spTgt spid="11"/>
                                        </p:tgtEl>
                                        <p:attrNameLst>
                                          <p:attrName>style.visibility</p:attrName>
                                        </p:attrNameLst>
                                      </p:cBhvr>
                                      <p:to>
                                        <p:strVal val="visible"/>
                                      </p:to>
                                    </p:set>
                                    <p:animEffect transition="in" filter="slide(fromLeft)">
                                      <p:cBhvr>
                                        <p:cTn id="189" dur="500"/>
                                        <p:tgtEl>
                                          <p:spTgt spid="11"/>
                                        </p:tgtEl>
                                      </p:cBhvr>
                                    </p:animEffect>
                                  </p:childTnLst>
                                </p:cTn>
                              </p:par>
                            </p:childTnLst>
                          </p:cTn>
                        </p:par>
                        <p:par>
                          <p:cTn id="190" fill="hold">
                            <p:stCondLst>
                              <p:cond delay="1000"/>
                            </p:stCondLst>
                            <p:childTnLst>
                              <p:par>
                                <p:cTn id="191" presetID="3" presetClass="entr" presetSubtype="10" fill="hold" nodeType="afterEffect">
                                  <p:stCondLst>
                                    <p:cond delay="0"/>
                                  </p:stCondLst>
                                  <p:childTnLst>
                                    <p:set>
                                      <p:cBhvr>
                                        <p:cTn id="192" dur="1" fill="hold">
                                          <p:stCondLst>
                                            <p:cond delay="0"/>
                                          </p:stCondLst>
                                        </p:cTn>
                                        <p:tgtEl>
                                          <p:spTgt spid="17"/>
                                        </p:tgtEl>
                                        <p:attrNameLst>
                                          <p:attrName>style.visibility</p:attrName>
                                        </p:attrNameLst>
                                      </p:cBhvr>
                                      <p:to>
                                        <p:strVal val="visible"/>
                                      </p:to>
                                    </p:set>
                                    <p:animEffect transition="in" filter="blinds(horizontal)">
                                      <p:cBhvr>
                                        <p:cTn id="19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2" grpId="0"/>
      <p:bldP spid="62" grpId="0"/>
      <p:bldP spid="123" grpId="0"/>
      <p:bldP spid="124" grpId="0"/>
      <p:bldP spid="130" grpId="0"/>
      <p:bldP spid="1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xfrm>
            <a:off x="251520" y="548681"/>
            <a:ext cx="8153400" cy="648072"/>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微软雅黑" panose="020B0503020204020204" pitchFamily="34" charset="-122"/>
                <a:ea typeface="微软雅黑" panose="020B0503020204020204" pitchFamily="34" charset="-122"/>
                <a:cs typeface="+mn-cs"/>
              </a:rPr>
              <a:t>例2.9 将例2.4 的算法用流程图表示。求</a:t>
            </a:r>
            <a:endParaRPr lang="en-US" altLang="en-US" b="0" dirty="0">
              <a:solidFill>
                <a:srgbClr val="235A67"/>
              </a:solidFill>
              <a:latin typeface="微软雅黑" panose="020B0503020204020204" pitchFamily="34" charset="-122"/>
              <a:ea typeface="微软雅黑" panose="020B0503020204020204" pitchFamily="34" charset="-122"/>
              <a:cs typeface="+mn-cs"/>
            </a:endParaRPr>
          </a:p>
        </p:txBody>
      </p:sp>
      <p:graphicFrame>
        <p:nvGraphicFramePr>
          <p:cNvPr id="39939" name="Object 1"/>
          <p:cNvGraphicFramePr>
            <a:graphicFrameLocks noChangeAspect="1"/>
          </p:cNvGraphicFramePr>
          <p:nvPr/>
        </p:nvGraphicFramePr>
        <p:xfrm>
          <a:off x="1619250" y="1628775"/>
          <a:ext cx="5240338" cy="1143000"/>
        </p:xfrm>
        <a:graphic>
          <a:graphicData uri="http://schemas.openxmlformats.org/presentationml/2006/ole">
            <mc:AlternateContent xmlns:mc="http://schemas.openxmlformats.org/markup-compatibility/2006">
              <mc:Choice xmlns:v="urn:schemas-microsoft-com:vml" Requires="v">
                <p:oleObj spid="_x0000_s8195" name="" r:id="rId1" imgW="1790700" imgH="393700" progId="Equation.3">
                  <p:embed/>
                </p:oleObj>
              </mc:Choice>
              <mc:Fallback>
                <p:oleObj name="" r:id="rId1" imgW="1790700" imgH="393700" progId="Equation.3">
                  <p:embed/>
                  <p:pic>
                    <p:nvPicPr>
                      <p:cNvPr id="0" name="图片 3081"/>
                      <p:cNvPicPr/>
                      <p:nvPr/>
                    </p:nvPicPr>
                    <p:blipFill>
                      <a:blip r:embed="rId2"/>
                      <a:stretch>
                        <a:fillRect/>
                      </a:stretch>
                    </p:blipFill>
                    <p:spPr>
                      <a:xfrm>
                        <a:off x="1619250" y="1628775"/>
                        <a:ext cx="5240338" cy="1143000"/>
                      </a:xfrm>
                      <a:prstGeom prst="rect">
                        <a:avLst/>
                      </a:prstGeom>
                      <a:noFill/>
                      <a:ln w="38100">
                        <a:noFill/>
                        <a:miter/>
                      </a:ln>
                    </p:spPr>
                  </p:pic>
                </p:oleObj>
              </mc:Fallback>
            </mc:AlternateContent>
          </a:graphicData>
        </a:graphic>
      </p:graphicFrame>
      <p:pic>
        <p:nvPicPr>
          <p:cNvPr id="39940"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rot="5400000">
            <a:off x="4286250" y="914400"/>
            <a:ext cx="285750" cy="3175"/>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rot="5400000">
            <a:off x="4213225" y="2413000"/>
            <a:ext cx="428625" cy="1588"/>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3508375" y="1058863"/>
            <a:ext cx="1857375" cy="113030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sum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2deno</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1sign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8" name="直接箭头连接符 7"/>
          <p:cNvCxnSpPr/>
          <p:nvPr/>
        </p:nvCxnSpPr>
        <p:spPr>
          <a:xfrm rot="5400000">
            <a:off x="4284663" y="4270375"/>
            <a:ext cx="428625" cy="1588"/>
          </a:xfrm>
          <a:prstGeom prst="straightConnector1">
            <a:avLst/>
          </a:prstGeom>
          <a:ln w="38100" cap="flat" cmpd="sng">
            <a:solidFill>
              <a:srgbClr val="00B050"/>
            </a:solidFill>
            <a:prstDash val="solid"/>
            <a:miter/>
            <a:headEnd type="none" w="med" len="med"/>
            <a:tailEnd type="arrow" w="med" len="med"/>
          </a:ln>
        </p:spPr>
      </p:cxnSp>
      <p:cxnSp>
        <p:nvCxnSpPr>
          <p:cNvPr id="9" name="直接连接符 8"/>
          <p:cNvCxnSpPr/>
          <p:nvPr/>
        </p:nvCxnSpPr>
        <p:spPr>
          <a:xfrm rot="10800000">
            <a:off x="2025650" y="4760913"/>
            <a:ext cx="500063" cy="0"/>
          </a:xfrm>
          <a:prstGeom prst="line">
            <a:avLst/>
          </a:prstGeom>
          <a:ln w="38100" cap="flat" cmpd="sng">
            <a:solidFill>
              <a:srgbClr val="00B050"/>
            </a:solidFill>
            <a:prstDash val="solid"/>
            <a:miter/>
            <a:headEnd type="none" w="med" len="med"/>
            <a:tailEnd type="none" w="med" len="med"/>
          </a:ln>
        </p:spPr>
      </p:cxnSp>
      <p:cxnSp>
        <p:nvCxnSpPr>
          <p:cNvPr id="10" name="直接连接符 9"/>
          <p:cNvCxnSpPr/>
          <p:nvPr/>
        </p:nvCxnSpPr>
        <p:spPr>
          <a:xfrm rot="-5400000" flipV="1">
            <a:off x="801688" y="3554413"/>
            <a:ext cx="2406650" cy="12700"/>
          </a:xfrm>
          <a:prstGeom prst="line">
            <a:avLst/>
          </a:prstGeom>
          <a:ln w="38100" cap="flat" cmpd="sng">
            <a:solidFill>
              <a:srgbClr val="00B050"/>
            </a:solidFill>
            <a:prstDash val="solid"/>
            <a:miter/>
            <a:headEnd type="none" w="med" len="med"/>
            <a:tailEnd type="none" w="med" len="med"/>
          </a:ln>
        </p:spPr>
      </p:cxnSp>
      <p:cxnSp>
        <p:nvCxnSpPr>
          <p:cNvPr id="11" name="直接箭头连接符 10"/>
          <p:cNvCxnSpPr/>
          <p:nvPr/>
        </p:nvCxnSpPr>
        <p:spPr>
          <a:xfrm rot="5400000">
            <a:off x="4356100" y="6057900"/>
            <a:ext cx="285750" cy="3175"/>
          </a:xfrm>
          <a:prstGeom prst="straightConnector1">
            <a:avLst/>
          </a:prstGeom>
          <a:ln w="38100" cap="flat" cmpd="sng">
            <a:solidFill>
              <a:srgbClr val="00B050"/>
            </a:solidFill>
            <a:prstDash val="solid"/>
            <a:miter/>
            <a:headEnd type="none" w="med" len="med"/>
            <a:tailEnd type="arrow" w="med" len="med"/>
          </a:ln>
        </p:spPr>
      </p:cxnSp>
      <p:sp>
        <p:nvSpPr>
          <p:cNvPr id="15" name="TextBox 14"/>
          <p:cNvSpPr txBox="1"/>
          <p:nvPr/>
        </p:nvSpPr>
        <p:spPr>
          <a:xfrm>
            <a:off x="2500313" y="2592388"/>
            <a:ext cx="3929062" cy="1477962"/>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(-1)*sign</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sign</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sign*(1/deno)term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sum+termsum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deno+1deno</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9" name="直接箭头连接符 18"/>
          <p:cNvCxnSpPr/>
          <p:nvPr/>
        </p:nvCxnSpPr>
        <p:spPr>
          <a:xfrm>
            <a:off x="2000250" y="2357438"/>
            <a:ext cx="2428875" cy="1587"/>
          </a:xfrm>
          <a:prstGeom prst="straightConnector1">
            <a:avLst/>
          </a:prstGeom>
          <a:ln w="38100" cap="flat" cmpd="sng">
            <a:solidFill>
              <a:srgbClr val="00B050"/>
            </a:solidFill>
            <a:prstDash val="solid"/>
            <a:miter/>
            <a:headEnd type="none" w="med" len="med"/>
            <a:tailEnd type="arrow" w="med" len="med"/>
          </a:ln>
        </p:spPr>
      </p:cxnSp>
      <p:sp>
        <p:nvSpPr>
          <p:cNvPr id="20" name="TextBox 19"/>
          <p:cNvSpPr txBox="1"/>
          <p:nvPr/>
        </p:nvSpPr>
        <p:spPr>
          <a:xfrm>
            <a:off x="2000250" y="478631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2" name="组合 37"/>
          <p:cNvGrpSpPr/>
          <p:nvPr/>
        </p:nvGrpSpPr>
        <p:grpSpPr>
          <a:xfrm>
            <a:off x="2584450" y="4441825"/>
            <a:ext cx="3857625" cy="642938"/>
            <a:chOff x="2584436" y="4441832"/>
            <a:chExt cx="3857652" cy="642942"/>
          </a:xfrm>
        </p:grpSpPr>
        <p:sp>
          <p:nvSpPr>
            <p:cNvPr id="40985" name="流程图: 决策 6"/>
            <p:cNvSpPr/>
            <p:nvPr/>
          </p:nvSpPr>
          <p:spPr>
            <a:xfrm>
              <a:off x="2584436" y="4441832"/>
              <a:ext cx="3857652" cy="642942"/>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0986" name="TextBox 23"/>
            <p:cNvSpPr txBox="1"/>
            <p:nvPr/>
          </p:nvSpPr>
          <p:spPr>
            <a:xfrm>
              <a:off x="3286116" y="4513270"/>
              <a:ext cx="2428892"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deno&gt;100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sp>
        <p:nvSpPr>
          <p:cNvPr id="25" name="TextBox 24"/>
          <p:cNvSpPr txBox="1"/>
          <p:nvPr/>
        </p:nvSpPr>
        <p:spPr>
          <a:xfrm>
            <a:off x="4500563" y="50006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6" name="直接箭头连接符 25"/>
          <p:cNvCxnSpPr/>
          <p:nvPr/>
        </p:nvCxnSpPr>
        <p:spPr>
          <a:xfrm rot="5400000">
            <a:off x="4284663" y="5303838"/>
            <a:ext cx="428625" cy="1587"/>
          </a:xfrm>
          <a:prstGeom prst="straightConnector1">
            <a:avLst/>
          </a:prstGeom>
          <a:ln w="38100" cap="flat" cmpd="sng">
            <a:solidFill>
              <a:srgbClr val="00B050"/>
            </a:solidFill>
            <a:prstDash val="solid"/>
            <a:miter/>
            <a:headEnd type="none" w="med" len="med"/>
            <a:tailEnd type="arrow" w="med" len="med"/>
          </a:ln>
        </p:spPr>
      </p:cxnSp>
      <p:grpSp>
        <p:nvGrpSpPr>
          <p:cNvPr id="3" name="组合 26"/>
          <p:cNvGrpSpPr/>
          <p:nvPr/>
        </p:nvGrpSpPr>
        <p:grpSpPr>
          <a:xfrm>
            <a:off x="3214688" y="5416550"/>
            <a:ext cx="2357437" cy="523875"/>
            <a:chOff x="785786" y="4405161"/>
            <a:chExt cx="2357454" cy="523220"/>
          </a:xfrm>
        </p:grpSpPr>
        <p:sp>
          <p:nvSpPr>
            <p:cNvPr id="40983" name="平行四边形 27"/>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40984" name="TextBox 28"/>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sum</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7" name="组合 31"/>
          <p:cNvGrpSpPr/>
          <p:nvPr/>
        </p:nvGrpSpPr>
        <p:grpSpPr>
          <a:xfrm>
            <a:off x="3846513" y="6119813"/>
            <a:ext cx="1285875" cy="523875"/>
            <a:chOff x="3694741" y="5994645"/>
            <a:chExt cx="1285883" cy="523220"/>
          </a:xfrm>
        </p:grpSpPr>
        <p:sp>
          <p:nvSpPr>
            <p:cNvPr id="40981" name="流程图: 终止 32"/>
            <p:cNvSpPr/>
            <p:nvPr/>
          </p:nvSpPr>
          <p:spPr>
            <a:xfrm>
              <a:off x="3694741" y="6046897"/>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0982" name="TextBox 33"/>
            <p:cNvSpPr txBox="1"/>
            <p:nvPr/>
          </p:nvSpPr>
          <p:spPr>
            <a:xfrm>
              <a:off x="3909055" y="5994645"/>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12" name="组合 34"/>
          <p:cNvGrpSpPr/>
          <p:nvPr/>
        </p:nvGrpSpPr>
        <p:grpSpPr>
          <a:xfrm>
            <a:off x="3760788" y="290513"/>
            <a:ext cx="1285875" cy="523875"/>
            <a:chOff x="1214415" y="123666"/>
            <a:chExt cx="1285883" cy="523220"/>
          </a:xfrm>
        </p:grpSpPr>
        <p:sp>
          <p:nvSpPr>
            <p:cNvPr id="40979" name="流程图: 终止 35"/>
            <p:cNvSpPr/>
            <p:nvPr/>
          </p:nvSpPr>
          <p:spPr>
            <a:xfrm>
              <a:off x="1214415" y="161766"/>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0980" name="TextBox 36"/>
            <p:cNvSpPr txBox="1"/>
            <p:nvPr/>
          </p:nvSpPr>
          <p:spPr>
            <a:xfrm>
              <a:off x="1462066" y="12366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pic>
        <p:nvPicPr>
          <p:cNvPr id="40978"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Top)">
                                      <p:cBhvr>
                                        <p:cTn id="12" dur="500"/>
                                        <p:tgtEl>
                                          <p:spTgt spid="4"/>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slide(fromTop)">
                                      <p:cBhvr>
                                        <p:cTn id="21" dur="500"/>
                                        <p:tgtEl>
                                          <p:spTgt spid="5"/>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slide(fromTop)">
                                      <p:cBhvr>
                                        <p:cTn id="30" dur="500"/>
                                        <p:tgtEl>
                                          <p:spTgt spid="8"/>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linds(horizontal)">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blinds(horizontal)">
                                      <p:cBhvr>
                                        <p:cTn id="39" dur="500"/>
                                        <p:tgtEl>
                                          <p:spTgt spid="20"/>
                                        </p:tgtEl>
                                      </p:cBhvr>
                                    </p:animEffect>
                                  </p:childTnLst>
                                </p:cTn>
                              </p:par>
                            </p:childTnLst>
                          </p:cTn>
                        </p:par>
                        <p:par>
                          <p:cTn id="40" fill="hold">
                            <p:stCondLst>
                              <p:cond delay="500"/>
                            </p:stCondLst>
                            <p:childTnLst>
                              <p:par>
                                <p:cTn id="41" presetID="12" presetClass="entr" presetSubtype="2" fill="hold"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slide(fromRight)">
                                      <p:cBhvr>
                                        <p:cTn id="43" dur="500"/>
                                        <p:tgtEl>
                                          <p:spTgt spid="9"/>
                                        </p:tgtEl>
                                      </p:cBhvr>
                                    </p:animEffect>
                                  </p:childTnLst>
                                </p:cTn>
                              </p:par>
                            </p:childTnLst>
                          </p:cTn>
                        </p:par>
                        <p:par>
                          <p:cTn id="44" fill="hold">
                            <p:stCondLst>
                              <p:cond delay="1000"/>
                            </p:stCondLst>
                            <p:childTnLst>
                              <p:par>
                                <p:cTn id="45" presetID="12" presetClass="entr" presetSubtype="4"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lide(fromBottom)">
                                      <p:cBhvr>
                                        <p:cTn id="47" dur="500"/>
                                        <p:tgtEl>
                                          <p:spTgt spid="10"/>
                                        </p:tgtEl>
                                      </p:cBhvr>
                                    </p:animEffect>
                                  </p:childTnLst>
                                </p:cTn>
                              </p:par>
                            </p:childTnLst>
                          </p:cTn>
                        </p:par>
                        <p:par>
                          <p:cTn id="48" fill="hold">
                            <p:stCondLst>
                              <p:cond delay="1500"/>
                            </p:stCondLst>
                            <p:childTnLst>
                              <p:par>
                                <p:cTn id="49" presetID="12" presetClass="entr" presetSubtype="8"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slide(fromLeft)">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blinds(horizontal)">
                                      <p:cBhvr>
                                        <p:cTn id="56" dur="500"/>
                                        <p:tgtEl>
                                          <p:spTgt spid="25"/>
                                        </p:tgtEl>
                                      </p:cBhvr>
                                    </p:animEffect>
                                  </p:childTnLst>
                                </p:cTn>
                              </p:par>
                            </p:childTnLst>
                          </p:cTn>
                        </p:par>
                        <p:par>
                          <p:cTn id="57" fill="hold">
                            <p:stCondLst>
                              <p:cond delay="500"/>
                            </p:stCondLst>
                            <p:childTnLst>
                              <p:par>
                                <p:cTn id="58" presetID="12" presetClass="entr" presetSubtype="1" fill="hold" nodeType="after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slide(fromTop)">
                                      <p:cBhvr>
                                        <p:cTn id="60" dur="500"/>
                                        <p:tgtEl>
                                          <p:spTgt spid="26"/>
                                        </p:tgtEl>
                                      </p:cBhvr>
                                    </p:animEffect>
                                  </p:childTnLst>
                                </p:cTn>
                              </p:par>
                            </p:childTnLst>
                          </p:cTn>
                        </p:par>
                        <p:par>
                          <p:cTn id="61" fill="hold">
                            <p:stCondLst>
                              <p:cond delay="1000"/>
                            </p:stCondLst>
                            <p:childTnLst>
                              <p:par>
                                <p:cTn id="62" presetID="3" presetClass="entr" presetSubtype="10" fill="hold" nodeType="after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blinds(horizontal)">
                                      <p:cBhvr>
                                        <p:cTn id="64" dur="500"/>
                                        <p:tgtEl>
                                          <p:spTgt spid="3"/>
                                        </p:tgtEl>
                                      </p:cBhvr>
                                    </p:animEffect>
                                  </p:childTnLst>
                                </p:cTn>
                              </p:par>
                            </p:childTnLst>
                          </p:cTn>
                        </p:par>
                        <p:par>
                          <p:cTn id="65" fill="hold">
                            <p:stCondLst>
                              <p:cond delay="1500"/>
                            </p:stCondLst>
                            <p:childTnLst>
                              <p:par>
                                <p:cTn id="66" presetID="12" presetClass="entr" presetSubtype="1" fill="hold" nodeType="after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slide(fromTop)">
                                      <p:cBhvr>
                                        <p:cTn id="68" dur="500"/>
                                        <p:tgtEl>
                                          <p:spTgt spid="11"/>
                                        </p:tgtEl>
                                      </p:cBhvr>
                                    </p:animEffect>
                                  </p:childTnLst>
                                </p:cTn>
                              </p:par>
                            </p:childTnLst>
                          </p:cTn>
                        </p:par>
                        <p:par>
                          <p:cTn id="69" fill="hold">
                            <p:stCondLst>
                              <p:cond delay="2000"/>
                            </p:stCondLst>
                            <p:childTnLst>
                              <p:par>
                                <p:cTn id="70" presetID="3" presetClass="entr" presetSubtype="10" fill="hold" nodeType="after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blinds(horizontal)">
                                      <p:cBhvr>
                                        <p:cTn id="7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20" grpId="0"/>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276225" y="765175"/>
            <a:ext cx="8399463" cy="2087563"/>
          </a:xfrm>
        </p:spPr>
        <p:txBody>
          <a:bodyPr vert="horz" wrap="square" lIns="91440" tIns="45720" rIns="91440" bIns="45720" anchor="t" anchorCtr="0"/>
          <a:lstStyle/>
          <a:p>
            <a:pPr marL="1476375" indent="-1476375">
              <a:buFont typeface="Wingdings" panose="05000000000000000000" pitchFamily="2" charset="2"/>
              <a:buNone/>
            </a:pPr>
            <a:r>
              <a:rPr lang="en-US" altLang="zh-CN" dirty="0">
                <a:latin typeface="+mn-lt"/>
                <a:ea typeface="+mn-ea"/>
                <a:cs typeface="+mn-cs"/>
              </a:rPr>
              <a:t>  </a:t>
            </a:r>
            <a:r>
              <a:rPr lang="en-US" altLang="zh-CN" b="0" dirty="0">
                <a:latin typeface="Times New Roman" panose="02020603050405020304" pitchFamily="18" charset="0"/>
                <a:ea typeface="微软雅黑" panose="020B0503020204020204" pitchFamily="34" charset="-122"/>
                <a:cs typeface="+mn-cs"/>
              </a:rPr>
              <a:t>例2.10 例2.5判断素数的算法用流程图表示。对一个大于或等于3的正整数，判断它是不是一个素数。</a:t>
            </a:r>
            <a:endParaRPr lang="en-US" altLang="en-US" b="0" dirty="0">
              <a:latin typeface="Times New Roman" panose="02020603050405020304" pitchFamily="18" charset="0"/>
              <a:ea typeface="微软雅黑" panose="020B0503020204020204" pitchFamily="34" charset="-122"/>
              <a:cs typeface="+mn-cs"/>
            </a:endParaRPr>
          </a:p>
        </p:txBody>
      </p:sp>
      <p:pic>
        <p:nvPicPr>
          <p:cNvPr id="41987"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rot="5400000">
            <a:off x="3816350" y="755650"/>
            <a:ext cx="285750" cy="3175"/>
          </a:xfrm>
          <a:prstGeom prst="straightConnector1">
            <a:avLst/>
          </a:prstGeom>
          <a:ln w="38100" cap="flat" cmpd="sng">
            <a:solidFill>
              <a:srgbClr val="00B050"/>
            </a:solidFill>
            <a:prstDash val="solid"/>
            <a:miter/>
            <a:headEnd type="none" w="med" len="med"/>
            <a:tailEnd type="arrow" w="med" len="med"/>
          </a:ln>
        </p:spPr>
      </p:cxnSp>
      <p:cxnSp>
        <p:nvCxnSpPr>
          <p:cNvPr id="9" name="直接连接符 8"/>
          <p:cNvCxnSpPr/>
          <p:nvPr/>
        </p:nvCxnSpPr>
        <p:spPr>
          <a:xfrm rot="10800000">
            <a:off x="2290763" y="4918075"/>
            <a:ext cx="500062" cy="0"/>
          </a:xfrm>
          <a:prstGeom prst="line">
            <a:avLst/>
          </a:prstGeom>
          <a:ln w="38100" cap="flat" cmpd="sng">
            <a:solidFill>
              <a:srgbClr val="00B050"/>
            </a:solidFill>
            <a:prstDash val="solid"/>
            <a:miter/>
            <a:headEnd type="none" w="med" len="med"/>
            <a:tailEnd type="none" w="med" len="med"/>
          </a:ln>
        </p:spPr>
      </p:cxnSp>
      <p:cxnSp>
        <p:nvCxnSpPr>
          <p:cNvPr id="10" name="直接连接符 9"/>
          <p:cNvCxnSpPr/>
          <p:nvPr/>
        </p:nvCxnSpPr>
        <p:spPr>
          <a:xfrm rot="5400000" flipH="1" flipV="1">
            <a:off x="960438" y="3592513"/>
            <a:ext cx="2647950" cy="12700"/>
          </a:xfrm>
          <a:prstGeom prst="line">
            <a:avLst/>
          </a:prstGeom>
          <a:ln w="38100" cap="flat" cmpd="sng">
            <a:solidFill>
              <a:srgbClr val="00B050"/>
            </a:solidFill>
            <a:prstDash val="solid"/>
            <a:miter/>
            <a:headEnd type="none" w="med" len="med"/>
            <a:tailEnd type="none" w="med" len="med"/>
          </a:ln>
        </p:spPr>
      </p:cxnSp>
      <p:cxnSp>
        <p:nvCxnSpPr>
          <p:cNvPr id="11" name="直接箭头连接符 10"/>
          <p:cNvCxnSpPr/>
          <p:nvPr/>
        </p:nvCxnSpPr>
        <p:spPr>
          <a:xfrm rot="5400000">
            <a:off x="3798888" y="6127750"/>
            <a:ext cx="285750" cy="1588"/>
          </a:xfrm>
          <a:prstGeom prst="straightConnector1">
            <a:avLst/>
          </a:prstGeom>
          <a:ln w="38100" cap="flat" cmpd="sng">
            <a:solidFill>
              <a:srgbClr val="00B050"/>
            </a:solidFill>
            <a:prstDash val="solid"/>
            <a:miter/>
            <a:headEnd type="none" w="med" len="med"/>
            <a:tailEnd type="arrow" w="med" len="med"/>
          </a:ln>
        </p:spPr>
      </p:cxnSp>
      <p:cxnSp>
        <p:nvCxnSpPr>
          <p:cNvPr id="19" name="直接箭头连接符 18"/>
          <p:cNvCxnSpPr/>
          <p:nvPr/>
        </p:nvCxnSpPr>
        <p:spPr>
          <a:xfrm flipV="1">
            <a:off x="2286000" y="2276475"/>
            <a:ext cx="1647825" cy="9525"/>
          </a:xfrm>
          <a:prstGeom prst="straightConnector1">
            <a:avLst/>
          </a:prstGeom>
          <a:ln w="38100" cap="flat" cmpd="sng">
            <a:solidFill>
              <a:srgbClr val="00B050"/>
            </a:solidFill>
            <a:prstDash val="solid"/>
            <a:miter/>
            <a:headEnd type="none" w="med" len="med"/>
            <a:tailEnd type="arrow" w="med" len="med"/>
          </a:ln>
        </p:spPr>
      </p:cxnSp>
      <p:sp>
        <p:nvSpPr>
          <p:cNvPr id="20" name="TextBox 19"/>
          <p:cNvSpPr txBox="1"/>
          <p:nvPr/>
        </p:nvSpPr>
        <p:spPr>
          <a:xfrm>
            <a:off x="2362200" y="439896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5" name="TextBox 24"/>
          <p:cNvSpPr txBox="1"/>
          <p:nvPr/>
        </p:nvSpPr>
        <p:spPr>
          <a:xfrm>
            <a:off x="3871913" y="5122863"/>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6" name="直接箭头连接符 25"/>
          <p:cNvCxnSpPr/>
          <p:nvPr/>
        </p:nvCxnSpPr>
        <p:spPr>
          <a:xfrm rot="5400000">
            <a:off x="3756025" y="5380038"/>
            <a:ext cx="357188" cy="1587"/>
          </a:xfrm>
          <a:prstGeom prst="straightConnector1">
            <a:avLst/>
          </a:prstGeom>
          <a:ln w="38100" cap="flat" cmpd="sng">
            <a:solidFill>
              <a:srgbClr val="00B050"/>
            </a:solidFill>
            <a:prstDash val="solid"/>
            <a:miter/>
            <a:headEnd type="none" w="med" len="med"/>
            <a:tailEnd type="arrow" w="med" len="med"/>
          </a:ln>
        </p:spPr>
      </p:cxnSp>
      <p:grpSp>
        <p:nvGrpSpPr>
          <p:cNvPr id="2" name="组合 26"/>
          <p:cNvGrpSpPr/>
          <p:nvPr/>
        </p:nvGrpSpPr>
        <p:grpSpPr>
          <a:xfrm>
            <a:off x="2492375" y="5487988"/>
            <a:ext cx="2928938" cy="523875"/>
            <a:chOff x="785786" y="4405161"/>
            <a:chExt cx="2357454" cy="523220"/>
          </a:xfrm>
        </p:grpSpPr>
        <p:sp>
          <p:nvSpPr>
            <p:cNvPr id="43053" name="平行四边形 27"/>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43054" name="TextBox 28"/>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zh-CN" altLang="en-US" sz="2800" b="0" dirty="0">
                  <a:solidFill>
                    <a:srgbClr val="003399"/>
                  </a:solidFill>
                  <a:latin typeface="Times New Roman" panose="02020603050405020304" pitchFamily="18" charset="0"/>
                  <a:ea typeface="微软雅黑" panose="020B0503020204020204" pitchFamily="34" charset="-122"/>
                </a:rPr>
                <a:t>是素数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3" name="组合 31"/>
          <p:cNvGrpSpPr/>
          <p:nvPr/>
        </p:nvGrpSpPr>
        <p:grpSpPr>
          <a:xfrm>
            <a:off x="3290888" y="6191250"/>
            <a:ext cx="1285875" cy="523875"/>
            <a:chOff x="3694741" y="5994645"/>
            <a:chExt cx="1285883" cy="523220"/>
          </a:xfrm>
        </p:grpSpPr>
        <p:sp>
          <p:nvSpPr>
            <p:cNvPr id="43051" name="流程图: 终止 32"/>
            <p:cNvSpPr/>
            <p:nvPr/>
          </p:nvSpPr>
          <p:spPr>
            <a:xfrm>
              <a:off x="3694741" y="6046897"/>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3052" name="TextBox 33"/>
            <p:cNvSpPr txBox="1"/>
            <p:nvPr/>
          </p:nvSpPr>
          <p:spPr>
            <a:xfrm>
              <a:off x="3909055" y="5994645"/>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结束</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5" name="组合 34"/>
          <p:cNvGrpSpPr/>
          <p:nvPr/>
        </p:nvGrpSpPr>
        <p:grpSpPr>
          <a:xfrm>
            <a:off x="3290888" y="131763"/>
            <a:ext cx="1285875" cy="523875"/>
            <a:chOff x="1214415" y="123666"/>
            <a:chExt cx="1285883" cy="523220"/>
          </a:xfrm>
        </p:grpSpPr>
        <p:sp>
          <p:nvSpPr>
            <p:cNvPr id="43049" name="流程图: 终止 35"/>
            <p:cNvSpPr/>
            <p:nvPr/>
          </p:nvSpPr>
          <p:spPr>
            <a:xfrm>
              <a:off x="1214415" y="161766"/>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3050" name="TextBox 36"/>
            <p:cNvSpPr txBox="1"/>
            <p:nvPr/>
          </p:nvSpPr>
          <p:spPr>
            <a:xfrm>
              <a:off x="1462066" y="12366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开始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6" name="组合 26"/>
          <p:cNvGrpSpPr/>
          <p:nvPr/>
        </p:nvGrpSpPr>
        <p:grpSpPr>
          <a:xfrm>
            <a:off x="3005138" y="846138"/>
            <a:ext cx="1857375" cy="523875"/>
            <a:chOff x="785786" y="4405161"/>
            <a:chExt cx="2357454" cy="523220"/>
          </a:xfrm>
        </p:grpSpPr>
        <p:sp>
          <p:nvSpPr>
            <p:cNvPr id="43047" name="平行四边形 29"/>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43048" name="TextBox 30"/>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sp>
        <p:nvSpPr>
          <p:cNvPr id="32" name="TextBox 31"/>
          <p:cNvSpPr txBox="1"/>
          <p:nvPr/>
        </p:nvSpPr>
        <p:spPr>
          <a:xfrm>
            <a:off x="3290888" y="1619250"/>
            <a:ext cx="1357312"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2i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5" name="直接箭头连接符 34"/>
          <p:cNvCxnSpPr/>
          <p:nvPr/>
        </p:nvCxnSpPr>
        <p:spPr>
          <a:xfrm rot="5400000">
            <a:off x="3789363" y="1485900"/>
            <a:ext cx="285750" cy="1588"/>
          </a:xfrm>
          <a:prstGeom prst="straightConnector1">
            <a:avLst/>
          </a:prstGeom>
          <a:ln w="38100" cap="flat" cmpd="sng">
            <a:solidFill>
              <a:srgbClr val="00B050"/>
            </a:solidFill>
            <a:prstDash val="solid"/>
            <a:miter/>
            <a:headEnd type="none" w="med" len="med"/>
            <a:tailEnd type="arrow" w="med" len="med"/>
          </a:ln>
        </p:spPr>
      </p:cxnSp>
      <p:cxnSp>
        <p:nvCxnSpPr>
          <p:cNvPr id="38" name="直接箭头连接符 37"/>
          <p:cNvCxnSpPr/>
          <p:nvPr/>
        </p:nvCxnSpPr>
        <p:spPr>
          <a:xfrm rot="5400000">
            <a:off x="3719513" y="2271713"/>
            <a:ext cx="428625" cy="3175"/>
          </a:xfrm>
          <a:prstGeom prst="straightConnector1">
            <a:avLst/>
          </a:prstGeom>
          <a:ln w="38100" cap="flat" cmpd="sng">
            <a:solidFill>
              <a:srgbClr val="00B050"/>
            </a:solidFill>
            <a:prstDash val="solid"/>
            <a:miter/>
            <a:headEnd type="none" w="med" len="med"/>
            <a:tailEnd type="arrow" w="med" len="med"/>
          </a:ln>
        </p:spPr>
      </p:cxnSp>
      <p:sp>
        <p:nvSpPr>
          <p:cNvPr id="39" name="TextBox 38"/>
          <p:cNvSpPr txBox="1"/>
          <p:nvPr/>
        </p:nvSpPr>
        <p:spPr>
          <a:xfrm>
            <a:off x="3148013" y="2476500"/>
            <a:ext cx="1571625"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n%i</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0" name="直接箭头连接符 39"/>
          <p:cNvCxnSpPr/>
          <p:nvPr/>
        </p:nvCxnSpPr>
        <p:spPr>
          <a:xfrm rot="5400000">
            <a:off x="3789363" y="3057525"/>
            <a:ext cx="285750" cy="1588"/>
          </a:xfrm>
          <a:prstGeom prst="straightConnector1">
            <a:avLst/>
          </a:prstGeom>
          <a:ln w="38100" cap="flat" cmpd="sng">
            <a:solidFill>
              <a:srgbClr val="00B050"/>
            </a:solidFill>
            <a:prstDash val="solid"/>
            <a:miter/>
            <a:headEnd type="none" w="med" len="med"/>
            <a:tailEnd type="arrow" w="med" len="med"/>
          </a:ln>
        </p:spPr>
      </p:cxnSp>
      <p:grpSp>
        <p:nvGrpSpPr>
          <p:cNvPr id="7" name="组合 74"/>
          <p:cNvGrpSpPr/>
          <p:nvPr/>
        </p:nvGrpSpPr>
        <p:grpSpPr>
          <a:xfrm>
            <a:off x="3094038" y="3143250"/>
            <a:ext cx="1714500" cy="523875"/>
            <a:chOff x="3093555" y="3143248"/>
            <a:chExt cx="1714512" cy="523220"/>
          </a:xfrm>
        </p:grpSpPr>
        <p:sp>
          <p:nvSpPr>
            <p:cNvPr id="43045" name="流程图: 决策 41"/>
            <p:cNvSpPr/>
            <p:nvPr/>
          </p:nvSpPr>
          <p:spPr>
            <a:xfrm>
              <a:off x="3093555" y="3181348"/>
              <a:ext cx="1714512" cy="428628"/>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3046" name="TextBox 42"/>
            <p:cNvSpPr txBox="1"/>
            <p:nvPr/>
          </p:nvSpPr>
          <p:spPr>
            <a:xfrm>
              <a:off x="3163878" y="3143248"/>
              <a:ext cx="1622436"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r=0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sp>
        <p:nvSpPr>
          <p:cNvPr id="44" name="TextBox 43"/>
          <p:cNvSpPr txBox="1"/>
          <p:nvPr/>
        </p:nvSpPr>
        <p:spPr>
          <a:xfrm>
            <a:off x="3155950" y="3875088"/>
            <a:ext cx="1643063"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i+1i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5" name="直接箭头连接符 44"/>
          <p:cNvCxnSpPr/>
          <p:nvPr/>
        </p:nvCxnSpPr>
        <p:spPr>
          <a:xfrm rot="5400000">
            <a:off x="3789363" y="3762375"/>
            <a:ext cx="285750" cy="1588"/>
          </a:xfrm>
          <a:prstGeom prst="straightConnector1">
            <a:avLst/>
          </a:prstGeom>
          <a:ln w="38100" cap="flat" cmpd="sng">
            <a:solidFill>
              <a:srgbClr val="00B050"/>
            </a:solidFill>
            <a:prstDash val="solid"/>
            <a:miter/>
            <a:headEnd type="none" w="med" len="med"/>
            <a:tailEnd type="arrow" w="med" len="med"/>
          </a:ln>
        </p:spPr>
      </p:cxnSp>
      <p:grpSp>
        <p:nvGrpSpPr>
          <p:cNvPr id="8" name="组合 47"/>
          <p:cNvGrpSpPr/>
          <p:nvPr/>
        </p:nvGrpSpPr>
        <p:grpSpPr>
          <a:xfrm>
            <a:off x="2790825" y="4630738"/>
            <a:ext cx="2289175" cy="620712"/>
            <a:chOff x="1055190" y="4929198"/>
            <a:chExt cx="2289663" cy="620058"/>
          </a:xfrm>
        </p:grpSpPr>
        <p:sp>
          <p:nvSpPr>
            <p:cNvPr id="43042" name="流程图: 决策 45"/>
            <p:cNvSpPr/>
            <p:nvPr/>
          </p:nvSpPr>
          <p:spPr>
            <a:xfrm>
              <a:off x="1055190" y="4929198"/>
              <a:ext cx="2289663" cy="604842"/>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3043" name="TextBox 46"/>
            <p:cNvSpPr txBox="1"/>
            <p:nvPr/>
          </p:nvSpPr>
          <p:spPr>
            <a:xfrm>
              <a:off x="1550967" y="5026036"/>
              <a:ext cx="78581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i&gt;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aphicFrame>
          <p:nvGraphicFramePr>
            <p:cNvPr id="43044" name="Object 2"/>
            <p:cNvGraphicFramePr>
              <a:graphicFrameLocks noChangeAspect="1"/>
            </p:cNvGraphicFramePr>
            <p:nvPr/>
          </p:nvGraphicFramePr>
          <p:xfrm>
            <a:off x="2038333" y="4954598"/>
            <a:ext cx="571503" cy="548413"/>
          </p:xfrm>
          <a:graphic>
            <a:graphicData uri="http://schemas.openxmlformats.org/presentationml/2006/ole">
              <mc:AlternateContent xmlns:mc="http://schemas.openxmlformats.org/markup-compatibility/2006">
                <mc:Choice xmlns:v="urn:schemas-microsoft-com:vml" Requires="v">
                  <p:oleObj spid="_x0000_s9219" name="" r:id="rId1" imgW="241300" imgH="228600" progId="Equation.3">
                    <p:embed/>
                  </p:oleObj>
                </mc:Choice>
                <mc:Fallback>
                  <p:oleObj name="" r:id="rId1" imgW="241300" imgH="228600" progId="Equation.3">
                    <p:embed/>
                    <p:pic>
                      <p:nvPicPr>
                        <p:cNvPr id="0" name="图片 3078"/>
                        <p:cNvPicPr/>
                        <p:nvPr/>
                      </p:nvPicPr>
                      <p:blipFill>
                        <a:blip r:embed="rId2"/>
                        <a:stretch>
                          <a:fillRect/>
                        </a:stretch>
                      </p:blipFill>
                      <p:spPr>
                        <a:xfrm>
                          <a:off x="2038333" y="4954598"/>
                          <a:ext cx="571503" cy="548413"/>
                        </a:xfrm>
                        <a:prstGeom prst="rect">
                          <a:avLst/>
                        </a:prstGeom>
                        <a:noFill/>
                        <a:ln w="38100">
                          <a:noFill/>
                          <a:miter/>
                        </a:ln>
                      </p:spPr>
                    </p:pic>
                  </p:oleObj>
                </mc:Fallback>
              </mc:AlternateContent>
            </a:graphicData>
          </a:graphic>
        </p:graphicFrame>
      </p:grpSp>
      <p:cxnSp>
        <p:nvCxnSpPr>
          <p:cNvPr id="50" name="直接箭头连接符 49"/>
          <p:cNvCxnSpPr/>
          <p:nvPr/>
        </p:nvCxnSpPr>
        <p:spPr>
          <a:xfrm rot="5400000">
            <a:off x="3756025" y="4494213"/>
            <a:ext cx="357188" cy="1587"/>
          </a:xfrm>
          <a:prstGeom prst="straightConnector1">
            <a:avLst/>
          </a:prstGeom>
          <a:ln w="38100" cap="flat" cmpd="sng">
            <a:solidFill>
              <a:srgbClr val="00B050"/>
            </a:solidFill>
            <a:prstDash val="solid"/>
            <a:miter/>
            <a:headEnd type="none" w="med" len="med"/>
            <a:tailEnd type="arrow" w="med" len="med"/>
          </a:ln>
        </p:spPr>
      </p:cxnSp>
      <p:cxnSp>
        <p:nvCxnSpPr>
          <p:cNvPr id="54" name="直接连接符 53"/>
          <p:cNvCxnSpPr/>
          <p:nvPr/>
        </p:nvCxnSpPr>
        <p:spPr>
          <a:xfrm rot="10800000">
            <a:off x="4862513" y="3409950"/>
            <a:ext cx="1857375" cy="0"/>
          </a:xfrm>
          <a:prstGeom prst="line">
            <a:avLst/>
          </a:prstGeom>
          <a:ln w="38100" cap="flat" cmpd="sng">
            <a:solidFill>
              <a:srgbClr val="00B050"/>
            </a:solidFill>
            <a:prstDash val="solid"/>
            <a:miter/>
            <a:headEnd type="none" w="med" len="med"/>
            <a:tailEnd type="none" w="med" len="med"/>
          </a:ln>
        </p:spPr>
      </p:cxnSp>
      <p:grpSp>
        <p:nvGrpSpPr>
          <p:cNvPr id="12" name="组合 26"/>
          <p:cNvGrpSpPr/>
          <p:nvPr/>
        </p:nvGrpSpPr>
        <p:grpSpPr>
          <a:xfrm>
            <a:off x="5286375" y="4152900"/>
            <a:ext cx="2928938" cy="523875"/>
            <a:chOff x="785786" y="4405161"/>
            <a:chExt cx="2357454" cy="523220"/>
          </a:xfrm>
        </p:grpSpPr>
        <p:sp>
          <p:nvSpPr>
            <p:cNvPr id="43040" name="平行四边形 57"/>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43041" name="TextBox 58"/>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zh-CN" altLang="en-US" sz="2800" b="0" dirty="0">
                  <a:solidFill>
                    <a:srgbClr val="003399"/>
                  </a:solidFill>
                  <a:latin typeface="Times New Roman" panose="02020603050405020304" pitchFamily="18" charset="0"/>
                  <a:ea typeface="微软雅黑" panose="020B0503020204020204" pitchFamily="34" charset="-122"/>
                </a:rPr>
                <a:t>不是素数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60" name="直接连接符 59"/>
          <p:cNvCxnSpPr/>
          <p:nvPr/>
        </p:nvCxnSpPr>
        <p:spPr>
          <a:xfrm rot="5400000" flipH="1" flipV="1">
            <a:off x="6013450" y="5367338"/>
            <a:ext cx="1428750" cy="0"/>
          </a:xfrm>
          <a:prstGeom prst="line">
            <a:avLst/>
          </a:prstGeom>
          <a:ln w="38100" cap="flat" cmpd="sng">
            <a:solidFill>
              <a:srgbClr val="00B050"/>
            </a:solidFill>
            <a:prstDash val="solid"/>
            <a:miter/>
            <a:headEnd type="none" w="med" len="med"/>
            <a:tailEnd type="none" w="med" len="med"/>
          </a:ln>
        </p:spPr>
      </p:cxnSp>
      <p:cxnSp>
        <p:nvCxnSpPr>
          <p:cNvPr id="63" name="直接箭头连接符 62"/>
          <p:cNvCxnSpPr/>
          <p:nvPr/>
        </p:nvCxnSpPr>
        <p:spPr>
          <a:xfrm rot="10800000">
            <a:off x="3933825" y="6073775"/>
            <a:ext cx="2786063" cy="1588"/>
          </a:xfrm>
          <a:prstGeom prst="straightConnector1">
            <a:avLst/>
          </a:prstGeom>
          <a:ln w="38100" cap="flat" cmpd="sng">
            <a:solidFill>
              <a:srgbClr val="00B050"/>
            </a:solidFill>
            <a:prstDash val="solid"/>
            <a:miter/>
            <a:headEnd type="none" w="med" len="med"/>
            <a:tailEnd type="arrow" w="med" len="med"/>
          </a:ln>
        </p:spPr>
      </p:cxnSp>
      <p:cxnSp>
        <p:nvCxnSpPr>
          <p:cNvPr id="67" name="直接箭头连接符 66"/>
          <p:cNvCxnSpPr/>
          <p:nvPr/>
        </p:nvCxnSpPr>
        <p:spPr>
          <a:xfrm rot="5400000">
            <a:off x="6326188" y="3814763"/>
            <a:ext cx="787400" cy="0"/>
          </a:xfrm>
          <a:prstGeom prst="straightConnector1">
            <a:avLst/>
          </a:prstGeom>
          <a:ln w="38100" cap="flat" cmpd="sng">
            <a:solidFill>
              <a:srgbClr val="00B050"/>
            </a:solidFill>
            <a:prstDash val="solid"/>
            <a:miter/>
            <a:headEnd type="none" w="med" len="med"/>
            <a:tailEnd type="arrow" w="med" len="med"/>
          </a:ln>
        </p:spPr>
      </p:cxnSp>
      <p:sp>
        <p:nvSpPr>
          <p:cNvPr id="73" name="TextBox 72"/>
          <p:cNvSpPr txBox="1"/>
          <p:nvPr/>
        </p:nvSpPr>
        <p:spPr>
          <a:xfrm>
            <a:off x="4791075" y="29178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4" name="TextBox 73"/>
          <p:cNvSpPr txBox="1"/>
          <p:nvPr/>
        </p:nvSpPr>
        <p:spPr>
          <a:xfrm>
            <a:off x="3898900" y="3476625"/>
            <a:ext cx="5715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43039"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Top)">
                                      <p:cBhvr>
                                        <p:cTn id="11" dur="500"/>
                                        <p:tgtEl>
                                          <p:spTgt spid="4"/>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slide(fromTop)">
                                      <p:cBhvr>
                                        <p:cTn id="20" dur="500"/>
                                        <p:tgtEl>
                                          <p:spTgt spid="35"/>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blinds(horizontal)">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slide(fromTop)">
                                      <p:cBhvr>
                                        <p:cTn id="29" dur="500"/>
                                        <p:tgtEl>
                                          <p:spTgt spid="38"/>
                                        </p:tgtEl>
                                      </p:cBhvr>
                                    </p:animEffect>
                                  </p:childTnLst>
                                </p:cTn>
                              </p:par>
                            </p:childTnLst>
                          </p:cTn>
                        </p:par>
                        <p:par>
                          <p:cTn id="30" fill="hold">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blinds(horizontal)">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slide(fromTop)">
                                      <p:cBhvr>
                                        <p:cTn id="38" dur="500"/>
                                        <p:tgtEl>
                                          <p:spTgt spid="40"/>
                                        </p:tgtEl>
                                      </p:cBhvr>
                                    </p:animEffect>
                                  </p:child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blinds(horizontal)">
                                      <p:cBhvr>
                                        <p:cTn id="47" dur="500"/>
                                        <p:tgtEl>
                                          <p:spTgt spid="74"/>
                                        </p:tgtEl>
                                      </p:cBhvr>
                                    </p:animEffect>
                                  </p:childTnLst>
                                </p:cTn>
                              </p:par>
                            </p:childTnLst>
                          </p:cTn>
                        </p:par>
                        <p:par>
                          <p:cTn id="48" fill="hold">
                            <p:stCondLst>
                              <p:cond delay="500"/>
                            </p:stCondLst>
                            <p:childTnLst>
                              <p:par>
                                <p:cTn id="49" presetID="12" presetClass="entr" presetSubtype="1" fill="hold" nodeType="after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slide(fromTop)">
                                      <p:cBhvr>
                                        <p:cTn id="51" dur="500"/>
                                        <p:tgtEl>
                                          <p:spTgt spid="45"/>
                                        </p:tgtEl>
                                      </p:cBhvr>
                                    </p:animEffect>
                                  </p:childTnLst>
                                </p:cTn>
                              </p:par>
                            </p:childTnLst>
                          </p:cTn>
                        </p:par>
                        <p:par>
                          <p:cTn id="52" fill="hold">
                            <p:stCondLst>
                              <p:cond delay="1000"/>
                            </p:stCondLst>
                            <p:childTnLst>
                              <p:par>
                                <p:cTn id="53" presetID="3" presetClass="entr" presetSubtype="10" fill="hold" grpId="0" nodeType="after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blinds(horizontal)">
                                      <p:cBhvr>
                                        <p:cTn id="55" dur="500"/>
                                        <p:tgtEl>
                                          <p:spTgt spid="44"/>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nodeType="click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slide(fromTop)">
                                      <p:cBhvr>
                                        <p:cTn id="60" dur="500"/>
                                        <p:tgtEl>
                                          <p:spTgt spid="50"/>
                                        </p:tgtEl>
                                      </p:cBhvr>
                                    </p:animEffect>
                                  </p:childTnLst>
                                </p:cTn>
                              </p:par>
                            </p:childTnLst>
                          </p:cTn>
                        </p:par>
                        <p:par>
                          <p:cTn id="61" fill="hold">
                            <p:stCondLst>
                              <p:cond delay="500"/>
                            </p:stCondLst>
                            <p:childTnLst>
                              <p:par>
                                <p:cTn id="62" presetID="3" presetClass="entr" presetSubtype="10" fill="hold"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linds(horizontal)">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blinds(horizontal)">
                                      <p:cBhvr>
                                        <p:cTn id="69" dur="500"/>
                                        <p:tgtEl>
                                          <p:spTgt spid="20"/>
                                        </p:tgtEl>
                                      </p:cBhvr>
                                    </p:animEffect>
                                  </p:childTnLst>
                                </p:cTn>
                              </p:par>
                            </p:childTnLst>
                          </p:cTn>
                        </p:par>
                        <p:par>
                          <p:cTn id="70" fill="hold">
                            <p:stCondLst>
                              <p:cond delay="500"/>
                            </p:stCondLst>
                            <p:childTnLst>
                              <p:par>
                                <p:cTn id="71" presetID="12" presetClass="entr" presetSubtype="2" fill="hold" nodeType="after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slide(fromRight)">
                                      <p:cBhvr>
                                        <p:cTn id="73" dur="500"/>
                                        <p:tgtEl>
                                          <p:spTgt spid="9"/>
                                        </p:tgtEl>
                                      </p:cBhvr>
                                    </p:animEffect>
                                  </p:childTnLst>
                                </p:cTn>
                              </p:par>
                            </p:childTnLst>
                          </p:cTn>
                        </p:par>
                        <p:par>
                          <p:cTn id="74" fill="hold">
                            <p:stCondLst>
                              <p:cond delay="1000"/>
                            </p:stCondLst>
                            <p:childTnLst>
                              <p:par>
                                <p:cTn id="75" presetID="12" presetClass="entr" presetSubtype="4" fill="hold" nodeType="after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slide(fromBottom)">
                                      <p:cBhvr>
                                        <p:cTn id="77" dur="500"/>
                                        <p:tgtEl>
                                          <p:spTgt spid="10"/>
                                        </p:tgtEl>
                                      </p:cBhvr>
                                    </p:animEffect>
                                  </p:childTnLst>
                                </p:cTn>
                              </p:par>
                            </p:childTnLst>
                          </p:cTn>
                        </p:par>
                        <p:par>
                          <p:cTn id="78" fill="hold">
                            <p:stCondLst>
                              <p:cond delay="1500"/>
                            </p:stCondLst>
                            <p:childTnLst>
                              <p:par>
                                <p:cTn id="79" presetID="12" presetClass="entr" presetSubtype="8" fill="hold" nodeType="after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slide(fromLeft)">
                                      <p:cBhvr>
                                        <p:cTn id="81" dur="50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blinds(horizontal)">
                                      <p:cBhvr>
                                        <p:cTn id="86" dur="500"/>
                                        <p:tgtEl>
                                          <p:spTgt spid="25"/>
                                        </p:tgtEl>
                                      </p:cBhvr>
                                    </p:animEffect>
                                  </p:childTnLst>
                                </p:cTn>
                              </p:par>
                            </p:childTnLst>
                          </p:cTn>
                        </p:par>
                        <p:par>
                          <p:cTn id="87" fill="hold">
                            <p:stCondLst>
                              <p:cond delay="500"/>
                            </p:stCondLst>
                            <p:childTnLst>
                              <p:par>
                                <p:cTn id="88" presetID="12" presetClass="entr" presetSubtype="1" fill="hold"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slide(fromTop)">
                                      <p:cBhvr>
                                        <p:cTn id="90" dur="500"/>
                                        <p:tgtEl>
                                          <p:spTgt spid="26"/>
                                        </p:tgtEl>
                                      </p:cBhvr>
                                    </p:animEffect>
                                  </p:childTnLst>
                                </p:cTn>
                              </p:par>
                            </p:childTnLst>
                          </p:cTn>
                        </p:par>
                        <p:par>
                          <p:cTn id="91" fill="hold">
                            <p:stCondLst>
                              <p:cond delay="1000"/>
                            </p:stCondLst>
                            <p:childTnLst>
                              <p:par>
                                <p:cTn id="92" presetID="3" presetClass="entr" presetSubtype="10" fill="hold" nodeType="after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blinds(horizontal)">
                                      <p:cBhvr>
                                        <p:cTn id="94" dur="500"/>
                                        <p:tgtEl>
                                          <p:spTgt spid="2"/>
                                        </p:tgtEl>
                                      </p:cBhvr>
                                    </p:animEffect>
                                  </p:childTnLst>
                                </p:cTn>
                              </p:par>
                            </p:childTnLst>
                          </p:cTn>
                        </p:par>
                        <p:par>
                          <p:cTn id="95" fill="hold">
                            <p:stCondLst>
                              <p:cond delay="1500"/>
                            </p:stCondLst>
                            <p:childTnLst>
                              <p:par>
                                <p:cTn id="96" presetID="12" presetClass="entr" presetSubtype="1" fill="hold" nodeType="afterEffect">
                                  <p:stCondLst>
                                    <p:cond delay="0"/>
                                  </p:stCondLst>
                                  <p:childTnLst>
                                    <p:set>
                                      <p:cBhvr>
                                        <p:cTn id="97" dur="1" fill="hold">
                                          <p:stCondLst>
                                            <p:cond delay="0"/>
                                          </p:stCondLst>
                                        </p:cTn>
                                        <p:tgtEl>
                                          <p:spTgt spid="11"/>
                                        </p:tgtEl>
                                        <p:attrNameLst>
                                          <p:attrName>style.visibility</p:attrName>
                                        </p:attrNameLst>
                                      </p:cBhvr>
                                      <p:to>
                                        <p:strVal val="visible"/>
                                      </p:to>
                                    </p:set>
                                    <p:animEffect transition="in" filter="slide(fromTop)">
                                      <p:cBhvr>
                                        <p:cTn id="98" dur="500"/>
                                        <p:tgtEl>
                                          <p:spTgt spid="11"/>
                                        </p:tgtEl>
                                      </p:cBhvr>
                                    </p:animEffect>
                                  </p:childTnLst>
                                </p:cTn>
                              </p:par>
                            </p:childTnLst>
                          </p:cTn>
                        </p:par>
                        <p:par>
                          <p:cTn id="99" fill="hold">
                            <p:stCondLst>
                              <p:cond delay="2000"/>
                            </p:stCondLst>
                            <p:childTnLst>
                              <p:par>
                                <p:cTn id="100" presetID="3" presetClass="entr" presetSubtype="10" fill="hold" nodeType="afterEffect">
                                  <p:stCondLst>
                                    <p:cond delay="0"/>
                                  </p:stCondLst>
                                  <p:childTnLst>
                                    <p:set>
                                      <p:cBhvr>
                                        <p:cTn id="101" dur="1" fill="hold">
                                          <p:stCondLst>
                                            <p:cond delay="0"/>
                                          </p:stCondLst>
                                        </p:cTn>
                                        <p:tgtEl>
                                          <p:spTgt spid="3"/>
                                        </p:tgtEl>
                                        <p:attrNameLst>
                                          <p:attrName>style.visibility</p:attrName>
                                        </p:attrNameLst>
                                      </p:cBhvr>
                                      <p:to>
                                        <p:strVal val="visible"/>
                                      </p:to>
                                    </p:set>
                                    <p:animEffect transition="in" filter="blinds(horizontal)">
                                      <p:cBhvr>
                                        <p:cTn id="102" dur="500"/>
                                        <p:tgtEl>
                                          <p:spTgt spid="3"/>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73"/>
                                        </p:tgtEl>
                                        <p:attrNameLst>
                                          <p:attrName>style.visibility</p:attrName>
                                        </p:attrNameLst>
                                      </p:cBhvr>
                                      <p:to>
                                        <p:strVal val="visible"/>
                                      </p:to>
                                    </p:set>
                                    <p:animEffect transition="in" filter="blinds(horizontal)">
                                      <p:cBhvr>
                                        <p:cTn id="107" dur="500"/>
                                        <p:tgtEl>
                                          <p:spTgt spid="73"/>
                                        </p:tgtEl>
                                      </p:cBhvr>
                                    </p:animEffect>
                                  </p:childTnLst>
                                </p:cTn>
                              </p:par>
                            </p:childTnLst>
                          </p:cTn>
                        </p:par>
                        <p:par>
                          <p:cTn id="108" fill="hold">
                            <p:stCondLst>
                              <p:cond delay="500"/>
                            </p:stCondLst>
                            <p:childTnLst>
                              <p:par>
                                <p:cTn id="109" presetID="12" presetClass="entr" presetSubtype="8" fill="hold" nodeType="after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slide(fromLeft)">
                                      <p:cBhvr>
                                        <p:cTn id="111" dur="500"/>
                                        <p:tgtEl>
                                          <p:spTgt spid="54"/>
                                        </p:tgtEl>
                                      </p:cBhvr>
                                    </p:animEffect>
                                  </p:childTnLst>
                                </p:cTn>
                              </p:par>
                            </p:childTnLst>
                          </p:cTn>
                        </p:par>
                        <p:par>
                          <p:cTn id="112" fill="hold">
                            <p:stCondLst>
                              <p:cond delay="1000"/>
                            </p:stCondLst>
                            <p:childTnLst>
                              <p:par>
                                <p:cTn id="113" presetID="12" presetClass="entr" presetSubtype="1" fill="hold" nodeType="afterEffect">
                                  <p:stCondLst>
                                    <p:cond delay="0"/>
                                  </p:stCondLst>
                                  <p:childTnLst>
                                    <p:set>
                                      <p:cBhvr>
                                        <p:cTn id="114" dur="1" fill="hold">
                                          <p:stCondLst>
                                            <p:cond delay="0"/>
                                          </p:stCondLst>
                                        </p:cTn>
                                        <p:tgtEl>
                                          <p:spTgt spid="67"/>
                                        </p:tgtEl>
                                        <p:attrNameLst>
                                          <p:attrName>style.visibility</p:attrName>
                                        </p:attrNameLst>
                                      </p:cBhvr>
                                      <p:to>
                                        <p:strVal val="visible"/>
                                      </p:to>
                                    </p:set>
                                    <p:animEffect transition="in" filter="slide(fromTop)">
                                      <p:cBhvr>
                                        <p:cTn id="115" dur="500"/>
                                        <p:tgtEl>
                                          <p:spTgt spid="67"/>
                                        </p:tgtEl>
                                      </p:cBhvr>
                                    </p:animEffect>
                                  </p:childTnLst>
                                </p:cTn>
                              </p:par>
                            </p:childTnLst>
                          </p:cTn>
                        </p:par>
                        <p:par>
                          <p:cTn id="116" fill="hold">
                            <p:stCondLst>
                              <p:cond delay="1500"/>
                            </p:stCondLst>
                            <p:childTnLst>
                              <p:par>
                                <p:cTn id="117" presetID="3" presetClass="entr" presetSubtype="10" fill="hold" nodeType="afterEffect">
                                  <p:stCondLst>
                                    <p:cond delay="0"/>
                                  </p:stCondLst>
                                  <p:childTnLst>
                                    <p:set>
                                      <p:cBhvr>
                                        <p:cTn id="118" dur="1" fill="hold">
                                          <p:stCondLst>
                                            <p:cond delay="0"/>
                                          </p:stCondLst>
                                        </p:cTn>
                                        <p:tgtEl>
                                          <p:spTgt spid="12"/>
                                        </p:tgtEl>
                                        <p:attrNameLst>
                                          <p:attrName>style.visibility</p:attrName>
                                        </p:attrNameLst>
                                      </p:cBhvr>
                                      <p:to>
                                        <p:strVal val="visible"/>
                                      </p:to>
                                    </p:set>
                                    <p:animEffect transition="in" filter="blinds(horizontal)">
                                      <p:cBhvr>
                                        <p:cTn id="119" dur="500"/>
                                        <p:tgtEl>
                                          <p:spTgt spid="12"/>
                                        </p:tgtEl>
                                      </p:cBhvr>
                                    </p:animEffect>
                                  </p:childTnLst>
                                </p:cTn>
                              </p:par>
                            </p:childTnLst>
                          </p:cTn>
                        </p:par>
                      </p:childTnLst>
                    </p:cTn>
                  </p:par>
                  <p:par>
                    <p:cTn id="120" fill="hold">
                      <p:stCondLst>
                        <p:cond delay="indefinite"/>
                      </p:stCondLst>
                      <p:childTnLst>
                        <p:par>
                          <p:cTn id="121" fill="hold">
                            <p:stCondLst>
                              <p:cond delay="0"/>
                            </p:stCondLst>
                            <p:childTnLst>
                              <p:par>
                                <p:cTn id="122" presetID="12" presetClass="entr" presetSubtype="1" fill="hold" nodeType="clickEffect">
                                  <p:stCondLst>
                                    <p:cond delay="0"/>
                                  </p:stCondLst>
                                  <p:childTnLst>
                                    <p:set>
                                      <p:cBhvr>
                                        <p:cTn id="123" dur="1" fill="hold">
                                          <p:stCondLst>
                                            <p:cond delay="0"/>
                                          </p:stCondLst>
                                        </p:cTn>
                                        <p:tgtEl>
                                          <p:spTgt spid="60"/>
                                        </p:tgtEl>
                                        <p:attrNameLst>
                                          <p:attrName>style.visibility</p:attrName>
                                        </p:attrNameLst>
                                      </p:cBhvr>
                                      <p:to>
                                        <p:strVal val="visible"/>
                                      </p:to>
                                    </p:set>
                                    <p:animEffect transition="in" filter="slide(fromTop)">
                                      <p:cBhvr>
                                        <p:cTn id="124" dur="500"/>
                                        <p:tgtEl>
                                          <p:spTgt spid="60"/>
                                        </p:tgtEl>
                                      </p:cBhvr>
                                    </p:animEffect>
                                  </p:childTnLst>
                                </p:cTn>
                              </p:par>
                            </p:childTnLst>
                          </p:cTn>
                        </p:par>
                        <p:par>
                          <p:cTn id="125" fill="hold">
                            <p:stCondLst>
                              <p:cond delay="500"/>
                            </p:stCondLst>
                            <p:childTnLst>
                              <p:par>
                                <p:cTn id="126" presetID="12" presetClass="entr" presetSubtype="2" fill="hold" nodeType="afterEffect">
                                  <p:stCondLst>
                                    <p:cond delay="0"/>
                                  </p:stCondLst>
                                  <p:childTnLst>
                                    <p:set>
                                      <p:cBhvr>
                                        <p:cTn id="127" dur="1" fill="hold">
                                          <p:stCondLst>
                                            <p:cond delay="0"/>
                                          </p:stCondLst>
                                        </p:cTn>
                                        <p:tgtEl>
                                          <p:spTgt spid="63"/>
                                        </p:tgtEl>
                                        <p:attrNameLst>
                                          <p:attrName>style.visibility</p:attrName>
                                        </p:attrNameLst>
                                      </p:cBhvr>
                                      <p:to>
                                        <p:strVal val="visible"/>
                                      </p:to>
                                    </p:set>
                                    <p:animEffect transition="in" filter="slide(fromRight)">
                                      <p:cBhvr>
                                        <p:cTn id="12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p:bldP spid="32" grpId="0" animBg="1"/>
      <p:bldP spid="39" grpId="0" animBg="1"/>
      <p:bldP spid="44" grpId="0" animBg="1"/>
      <p:bldP spid="73" grpId="0"/>
      <p:bldP spid="7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300" y="750888"/>
            <a:ext cx="8153400" cy="4838700"/>
          </a:xfrm>
        </p:spPr>
        <p:txBody>
          <a:bodyPr vert="horz" wrap="square" lIns="91440" tIns="45720" rIns="91440" bIns="45720" numCol="1" anchor="t" anchorCtr="0" compatLnSpc="1"/>
          <a:lstStyle/>
          <a:p>
            <a:pPr marL="433705" marR="0" lvl="0" indent="-433705"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通过以上几个例子可以看出流程图是表示</a:t>
            </a: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算法的较好的工具</a:t>
            </a:r>
            <a:endPar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一个流程图包括以下几部分</a:t>
            </a:r>
            <a:r>
              <a:rPr kumimoji="1" lang="zh-CN" altLang="en-US"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表示相应操作的框</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带箭头的流程线</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框内外必要的文字说明</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33705" marR="0" lvl="0" indent="-433705"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流程线不要忘记画箭头，</a:t>
            </a:r>
            <a:r>
              <a:rPr kumimoji="1" lang="zh-CN" altLang="en-US"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否则</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难以判定各框的执行次序</a:t>
            </a:r>
            <a:endPar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endParaRPr kumimoji="1" lang="zh-CN" altLang="en-US" sz="3200" b="1" i="0" u="none" strike="noStrike" kern="0" cap="none" spc="0" normalizeH="0" baseline="0" noProof="1">
              <a:ln>
                <a:noFill/>
              </a:ln>
              <a:solidFill>
                <a:schemeClr val="tx1"/>
              </a:solidFill>
              <a:effectLst/>
              <a:uLnTx/>
              <a:uFillTx/>
              <a:latin typeface="+mn-lt"/>
              <a:ea typeface="+mn-ea"/>
              <a:cs typeface="+mn-cs"/>
            </a:endParaRPr>
          </a:p>
        </p:txBody>
      </p:sp>
      <p:pic>
        <p:nvPicPr>
          <p:cNvPr id="44035"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261938" y="566738"/>
            <a:ext cx="7600950" cy="646112"/>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2.4.3 </a:t>
            </a:r>
            <a:r>
              <a:rPr lang="zh-CN" altLang="zh-CN" sz="3600" dirty="0">
                <a:solidFill>
                  <a:srgbClr val="235A67"/>
                </a:solidFill>
                <a:latin typeface="Times New Roman" panose="02020603050405020304" pitchFamily="18" charset="0"/>
                <a:ea typeface="黑体" panose="02010609060101010101" pitchFamily="49" charset="-122"/>
              </a:rPr>
              <a:t>三种基本结构和改进的流程图</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46083" name="Rectangle 3"/>
          <p:cNvSpPr>
            <a:spLocks noGrp="1"/>
          </p:cNvSpPr>
          <p:nvPr>
            <p:ph idx="1"/>
          </p:nvPr>
        </p:nvSpPr>
        <p:spPr>
          <a:xfrm>
            <a:off x="395288" y="1303338"/>
            <a:ext cx="8001000" cy="3494088"/>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传统流程图的弊端</a:t>
            </a:r>
            <a:endPar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33705" marR="0" lvl="0" indent="-433705"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传统的流程图用流程线指出各框的执行顺</a:t>
            </a: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序，对流程线的使用没有严格限制</a:t>
            </a:r>
            <a:endPar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33705" marR="0" lvl="0" indent="-433705"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使用者可以毫不受限制地使流程随意地转来转去，使人难以理解算法的逻辑</a:t>
            </a:r>
            <a:endParaRPr kumimoji="1" lang="zh-CN" altLang="en-US"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5060"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276225" y="563563"/>
            <a:ext cx="7527925" cy="647700"/>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微软雅黑" panose="020B0503020204020204" pitchFamily="34" charset="-122"/>
              </a:rPr>
              <a:t>2.4.3 </a:t>
            </a:r>
            <a:r>
              <a:rPr lang="zh-CN" altLang="zh-CN" sz="3600" b="0" dirty="0">
                <a:solidFill>
                  <a:srgbClr val="235A67"/>
                </a:solidFill>
                <a:latin typeface="Times New Roman" panose="02020603050405020304" pitchFamily="18" charset="0"/>
                <a:ea typeface="微软雅黑" panose="020B0503020204020204" pitchFamily="34" charset="-122"/>
              </a:rPr>
              <a:t>三种基本结构和改进的流程图</a:t>
            </a:r>
            <a:endParaRPr lang="zh-CN" altLang="en-US" sz="3600" b="0" dirty="0">
              <a:solidFill>
                <a:srgbClr val="235A67"/>
              </a:solidFill>
              <a:latin typeface="Times New Roman" panose="02020603050405020304" pitchFamily="18" charset="0"/>
              <a:ea typeface="微软雅黑" panose="020B0503020204020204" pitchFamily="34" charset="-122"/>
            </a:endParaRPr>
          </a:p>
        </p:txBody>
      </p:sp>
      <p:sp>
        <p:nvSpPr>
          <p:cNvPr id="46083" name="Rectangle 3"/>
          <p:cNvSpPr>
            <a:spLocks noGrp="1"/>
          </p:cNvSpPr>
          <p:nvPr>
            <p:ph idx="1"/>
          </p:nvPr>
        </p:nvSpPr>
        <p:spPr>
          <a:xfrm>
            <a:off x="617538" y="1352550"/>
            <a:ext cx="4814887" cy="1500188"/>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2. 三种基本结构</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   (1) 顺序结构</a:t>
            </a:r>
            <a:endParaRPr lang="en-US" altLang="en-US" b="0" dirty="0">
              <a:latin typeface="Times New Roman" panose="02020603050405020304" pitchFamily="18" charset="0"/>
              <a:ea typeface="微软雅黑" panose="020B0503020204020204" pitchFamily="34" charset="-122"/>
              <a:cs typeface="+mn-cs"/>
            </a:endParaRPr>
          </a:p>
        </p:txBody>
      </p:sp>
      <p:cxnSp>
        <p:nvCxnSpPr>
          <p:cNvPr id="4" name="直接箭头连接符 3"/>
          <p:cNvCxnSpPr/>
          <p:nvPr/>
        </p:nvCxnSpPr>
        <p:spPr>
          <a:xfrm rot="5400000">
            <a:off x="4195763" y="3303588"/>
            <a:ext cx="428625" cy="3175"/>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rot="5400000">
            <a:off x="4246563" y="5211763"/>
            <a:ext cx="428625" cy="3175"/>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3924300" y="3521075"/>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7" name="直接箭头连接符 6"/>
          <p:cNvCxnSpPr/>
          <p:nvPr/>
        </p:nvCxnSpPr>
        <p:spPr>
          <a:xfrm rot="5400000">
            <a:off x="4210050" y="4244975"/>
            <a:ext cx="428625" cy="1588"/>
          </a:xfrm>
          <a:prstGeom prst="straightConnector1">
            <a:avLst/>
          </a:prstGeom>
          <a:ln w="38100" cap="flat" cmpd="sng">
            <a:solidFill>
              <a:srgbClr val="00B050"/>
            </a:solidFill>
            <a:prstDash val="solid"/>
            <a:miter/>
            <a:headEnd type="none" w="med" len="med"/>
            <a:tailEnd type="arrow" w="med" len="med"/>
          </a:ln>
        </p:spPr>
      </p:cxnSp>
      <p:sp>
        <p:nvSpPr>
          <p:cNvPr id="8" name="TextBox 7"/>
          <p:cNvSpPr txBox="1"/>
          <p:nvPr/>
        </p:nvSpPr>
        <p:spPr>
          <a:xfrm>
            <a:off x="3940175" y="4462463"/>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4608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lide(fromTop)">
                                      <p:cBhvr>
                                        <p:cTn id="15" dur="500"/>
                                        <p:tgtEl>
                                          <p:spTgt spid="7"/>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par>
                          <p:cTn id="20" fill="hold">
                            <p:stCondLst>
                              <p:cond delay="2000"/>
                            </p:stCondLst>
                            <p:childTnLst>
                              <p:par>
                                <p:cTn id="21" presetID="12" presetClass="entr" presetSubtype="1"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slide(fromTop)">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261938" y="561975"/>
            <a:ext cx="7312025" cy="646113"/>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微软雅黑" panose="020B0503020204020204" pitchFamily="34" charset="-122"/>
              </a:rPr>
              <a:t>2.4.3 </a:t>
            </a:r>
            <a:r>
              <a:rPr lang="zh-CN" altLang="zh-CN" sz="3600" b="0" dirty="0">
                <a:solidFill>
                  <a:srgbClr val="235A67"/>
                </a:solidFill>
                <a:latin typeface="Times New Roman" panose="02020603050405020304" pitchFamily="18" charset="0"/>
                <a:ea typeface="微软雅黑" panose="020B0503020204020204" pitchFamily="34" charset="-122"/>
              </a:rPr>
              <a:t>三种基本结构和改进的流程图</a:t>
            </a:r>
            <a:endParaRPr lang="zh-CN" altLang="en-US" sz="3600" b="0" dirty="0">
              <a:solidFill>
                <a:srgbClr val="235A67"/>
              </a:solidFill>
              <a:latin typeface="Times New Roman" panose="02020603050405020304" pitchFamily="18" charset="0"/>
              <a:ea typeface="微软雅黑" panose="020B0503020204020204" pitchFamily="34" charset="-122"/>
            </a:endParaRPr>
          </a:p>
        </p:txBody>
      </p:sp>
      <p:sp>
        <p:nvSpPr>
          <p:cNvPr id="47107" name="Rectangle 3"/>
          <p:cNvSpPr>
            <a:spLocks noGrp="1"/>
          </p:cNvSpPr>
          <p:nvPr>
            <p:ph idx="1"/>
          </p:nvPr>
        </p:nvSpPr>
        <p:spPr>
          <a:xfrm>
            <a:off x="468313" y="1352550"/>
            <a:ext cx="4241800" cy="1500188"/>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2. 三种基本结构</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   (2) 选择结构</a:t>
            </a:r>
            <a:endParaRPr lang="en-US" altLang="en-US" b="0" dirty="0">
              <a:latin typeface="Times New Roman" panose="02020603050405020304" pitchFamily="18" charset="0"/>
              <a:ea typeface="微软雅黑" panose="020B0503020204020204" pitchFamily="34" charset="-122"/>
              <a:cs typeface="+mn-cs"/>
            </a:endParaRPr>
          </a:p>
        </p:txBody>
      </p:sp>
      <p:cxnSp>
        <p:nvCxnSpPr>
          <p:cNvPr id="4" name="直接箭头连接符 3"/>
          <p:cNvCxnSpPr/>
          <p:nvPr/>
        </p:nvCxnSpPr>
        <p:spPr>
          <a:xfrm rot="5400000">
            <a:off x="2268538" y="3328988"/>
            <a:ext cx="428625" cy="3175"/>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rot="5400000">
            <a:off x="2266950" y="5426075"/>
            <a:ext cx="428625" cy="1588"/>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569913" y="4176713"/>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7" name="直接箭头连接符 6"/>
          <p:cNvCxnSpPr/>
          <p:nvPr/>
        </p:nvCxnSpPr>
        <p:spPr>
          <a:xfrm rot="5400000">
            <a:off x="3627438" y="3959225"/>
            <a:ext cx="428625" cy="1588"/>
          </a:xfrm>
          <a:prstGeom prst="straightConnector1">
            <a:avLst/>
          </a:prstGeom>
          <a:ln w="38100" cap="flat" cmpd="sng">
            <a:solidFill>
              <a:srgbClr val="00B050"/>
            </a:solidFill>
            <a:prstDash val="solid"/>
            <a:miter/>
            <a:headEnd type="none" w="med" len="med"/>
            <a:tailEnd type="arrow" w="med" len="med"/>
          </a:ln>
        </p:spPr>
      </p:cxnSp>
      <p:sp>
        <p:nvSpPr>
          <p:cNvPr id="8" name="TextBox 7"/>
          <p:cNvSpPr txBox="1"/>
          <p:nvPr/>
        </p:nvSpPr>
        <p:spPr>
          <a:xfrm>
            <a:off x="3357563" y="4176713"/>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1" name="直接连接符 10"/>
          <p:cNvCxnSpPr/>
          <p:nvPr/>
        </p:nvCxnSpPr>
        <p:spPr>
          <a:xfrm rot="10800000">
            <a:off x="1054100" y="3748088"/>
            <a:ext cx="642938" cy="0"/>
          </a:xfrm>
          <a:prstGeom prst="line">
            <a:avLst/>
          </a:prstGeom>
          <a:ln w="38100" cap="flat" cmpd="sng">
            <a:solidFill>
              <a:srgbClr val="00B050"/>
            </a:solidFill>
            <a:prstDash val="solid"/>
            <a:miter/>
            <a:headEnd type="none" w="med" len="med"/>
            <a:tailEnd type="none" w="med" len="med"/>
          </a:ln>
        </p:spPr>
      </p:cxnSp>
      <p:sp>
        <p:nvSpPr>
          <p:cNvPr id="12" name="TextBox 11"/>
          <p:cNvSpPr txBox="1"/>
          <p:nvPr/>
        </p:nvSpPr>
        <p:spPr>
          <a:xfrm>
            <a:off x="1030288" y="328295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2" name="组合 13"/>
          <p:cNvGrpSpPr/>
          <p:nvPr/>
        </p:nvGrpSpPr>
        <p:grpSpPr>
          <a:xfrm>
            <a:off x="1697038" y="3444875"/>
            <a:ext cx="1571625" cy="555625"/>
            <a:chOff x="1571604" y="3444876"/>
            <a:chExt cx="1571636" cy="555628"/>
          </a:xfrm>
        </p:grpSpPr>
        <p:sp>
          <p:nvSpPr>
            <p:cNvPr id="47137" name="流程图: 决策 8"/>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7138" name="TextBox 12"/>
            <p:cNvSpPr txBox="1"/>
            <p:nvPr/>
          </p:nvSpPr>
          <p:spPr>
            <a:xfrm>
              <a:off x="2071670" y="3444876"/>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18" name="直接箭头连接符 17"/>
          <p:cNvCxnSpPr/>
          <p:nvPr/>
        </p:nvCxnSpPr>
        <p:spPr>
          <a:xfrm rot="5400000">
            <a:off x="846138" y="3959225"/>
            <a:ext cx="428625" cy="1588"/>
          </a:xfrm>
          <a:prstGeom prst="straightConnector1">
            <a:avLst/>
          </a:prstGeom>
          <a:ln w="38100" cap="flat" cmpd="sng">
            <a:solidFill>
              <a:srgbClr val="00B050"/>
            </a:solidFill>
            <a:prstDash val="solid"/>
            <a:miter/>
            <a:headEnd type="none" w="med" len="med"/>
            <a:tailEnd type="arrow" w="med" len="med"/>
          </a:ln>
        </p:spPr>
      </p:cxnSp>
      <p:cxnSp>
        <p:nvCxnSpPr>
          <p:cNvPr id="19" name="直接连接符 18"/>
          <p:cNvCxnSpPr/>
          <p:nvPr/>
        </p:nvCxnSpPr>
        <p:spPr>
          <a:xfrm rot="10800000">
            <a:off x="3268663" y="3748088"/>
            <a:ext cx="571500" cy="0"/>
          </a:xfrm>
          <a:prstGeom prst="line">
            <a:avLst/>
          </a:prstGeom>
          <a:ln w="38100" cap="flat" cmpd="sng">
            <a:solidFill>
              <a:srgbClr val="00B050"/>
            </a:solidFill>
            <a:prstDash val="solid"/>
            <a:miter/>
            <a:headEnd type="none" w="med" len="med"/>
            <a:tailEnd type="none" w="med" len="med"/>
          </a:ln>
        </p:spPr>
      </p:cxnSp>
      <p:sp>
        <p:nvSpPr>
          <p:cNvPr id="22" name="TextBox 21"/>
          <p:cNvSpPr txBox="1"/>
          <p:nvPr/>
        </p:nvSpPr>
        <p:spPr>
          <a:xfrm>
            <a:off x="3197225" y="327025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3" name="直接连接符 22"/>
          <p:cNvCxnSpPr/>
          <p:nvPr/>
        </p:nvCxnSpPr>
        <p:spPr>
          <a:xfrm rot="5400000" flipH="1" flipV="1">
            <a:off x="808038" y="4957763"/>
            <a:ext cx="501650" cy="12700"/>
          </a:xfrm>
          <a:prstGeom prst="line">
            <a:avLst/>
          </a:prstGeom>
          <a:ln w="38100" cap="flat" cmpd="sng">
            <a:solidFill>
              <a:srgbClr val="00B050"/>
            </a:solidFill>
            <a:prstDash val="solid"/>
            <a:miter/>
            <a:headEnd type="none" w="med" len="med"/>
            <a:tailEnd type="none" w="med" len="med"/>
          </a:ln>
        </p:spPr>
      </p:cxnSp>
      <p:cxnSp>
        <p:nvCxnSpPr>
          <p:cNvPr id="26" name="直接连接符 25"/>
          <p:cNvCxnSpPr/>
          <p:nvPr/>
        </p:nvCxnSpPr>
        <p:spPr>
          <a:xfrm rot="5400000" flipH="1" flipV="1">
            <a:off x="3595688" y="4957763"/>
            <a:ext cx="500062" cy="12700"/>
          </a:xfrm>
          <a:prstGeom prst="line">
            <a:avLst/>
          </a:prstGeom>
          <a:ln w="38100" cap="flat" cmpd="sng">
            <a:solidFill>
              <a:srgbClr val="00B050"/>
            </a:solidFill>
            <a:prstDash val="solid"/>
            <a:miter/>
            <a:headEnd type="none" w="med" len="med"/>
            <a:tailEnd type="none" w="med" len="med"/>
          </a:ln>
        </p:spPr>
      </p:cxnSp>
      <p:cxnSp>
        <p:nvCxnSpPr>
          <p:cNvPr id="27" name="直接连接符 26"/>
          <p:cNvCxnSpPr/>
          <p:nvPr/>
        </p:nvCxnSpPr>
        <p:spPr>
          <a:xfrm rot="10800000">
            <a:off x="1054100" y="5214938"/>
            <a:ext cx="2786063" cy="0"/>
          </a:xfrm>
          <a:prstGeom prst="line">
            <a:avLst/>
          </a:prstGeom>
          <a:ln w="38100" cap="flat" cmpd="sng">
            <a:solidFill>
              <a:srgbClr val="00B050"/>
            </a:solidFill>
            <a:prstDash val="solid"/>
            <a:miter/>
            <a:headEnd type="none" w="med" len="med"/>
            <a:tailEnd type="none" w="med" len="med"/>
          </a:ln>
        </p:spPr>
      </p:cxnSp>
      <p:cxnSp>
        <p:nvCxnSpPr>
          <p:cNvPr id="31" name="直接箭头连接符 30"/>
          <p:cNvCxnSpPr/>
          <p:nvPr/>
        </p:nvCxnSpPr>
        <p:spPr>
          <a:xfrm rot="5400000">
            <a:off x="6570663" y="3328988"/>
            <a:ext cx="428625" cy="1587"/>
          </a:xfrm>
          <a:prstGeom prst="straightConnector1">
            <a:avLst/>
          </a:prstGeom>
          <a:ln w="38100" cap="flat" cmpd="sng">
            <a:solidFill>
              <a:srgbClr val="00B050"/>
            </a:solidFill>
            <a:prstDash val="solid"/>
            <a:miter/>
            <a:headEnd type="none" w="med" len="med"/>
            <a:tailEnd type="arrow" w="med" len="med"/>
          </a:ln>
        </p:spPr>
      </p:cxnSp>
      <p:cxnSp>
        <p:nvCxnSpPr>
          <p:cNvPr id="32" name="直接箭头连接符 31"/>
          <p:cNvCxnSpPr/>
          <p:nvPr/>
        </p:nvCxnSpPr>
        <p:spPr>
          <a:xfrm rot="5400000">
            <a:off x="6570663" y="5426075"/>
            <a:ext cx="428625" cy="1588"/>
          </a:xfrm>
          <a:prstGeom prst="straightConnector1">
            <a:avLst/>
          </a:prstGeom>
          <a:ln w="38100" cap="flat" cmpd="sng">
            <a:solidFill>
              <a:srgbClr val="00B050"/>
            </a:solidFill>
            <a:prstDash val="solid"/>
            <a:miter/>
            <a:headEnd type="none" w="med" len="med"/>
            <a:tailEnd type="arrow" w="med" len="med"/>
          </a:ln>
        </p:spPr>
      </p:cxnSp>
      <p:sp>
        <p:nvSpPr>
          <p:cNvPr id="33" name="TextBox 32"/>
          <p:cNvSpPr txBox="1"/>
          <p:nvPr/>
        </p:nvSpPr>
        <p:spPr>
          <a:xfrm>
            <a:off x="4873625" y="4176713"/>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6" name="直接连接符 35"/>
          <p:cNvCxnSpPr/>
          <p:nvPr/>
        </p:nvCxnSpPr>
        <p:spPr>
          <a:xfrm rot="10800000">
            <a:off x="5357813" y="3748088"/>
            <a:ext cx="642937" cy="0"/>
          </a:xfrm>
          <a:prstGeom prst="line">
            <a:avLst/>
          </a:prstGeom>
          <a:ln w="38100" cap="flat" cmpd="sng">
            <a:solidFill>
              <a:srgbClr val="00B050"/>
            </a:solidFill>
            <a:prstDash val="solid"/>
            <a:miter/>
            <a:headEnd type="none" w="med" len="med"/>
            <a:tailEnd type="none" w="med" len="med"/>
          </a:ln>
        </p:spPr>
      </p:cxnSp>
      <p:sp>
        <p:nvSpPr>
          <p:cNvPr id="37" name="TextBox 36"/>
          <p:cNvSpPr txBox="1"/>
          <p:nvPr/>
        </p:nvSpPr>
        <p:spPr>
          <a:xfrm>
            <a:off x="5357813" y="3260725"/>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3" name="组合 37"/>
          <p:cNvGrpSpPr/>
          <p:nvPr/>
        </p:nvGrpSpPr>
        <p:grpSpPr>
          <a:xfrm>
            <a:off x="6000750" y="3444875"/>
            <a:ext cx="1571625" cy="555625"/>
            <a:chOff x="1571604" y="3444876"/>
            <a:chExt cx="1571636" cy="555628"/>
          </a:xfrm>
        </p:grpSpPr>
        <p:sp>
          <p:nvSpPr>
            <p:cNvPr id="47135" name="流程图: 决策 38"/>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7136" name="TextBox 39"/>
            <p:cNvSpPr txBox="1"/>
            <p:nvPr/>
          </p:nvSpPr>
          <p:spPr>
            <a:xfrm>
              <a:off x="2071670" y="3444876"/>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41" name="直接箭头连接符 40"/>
          <p:cNvCxnSpPr/>
          <p:nvPr/>
        </p:nvCxnSpPr>
        <p:spPr>
          <a:xfrm rot="5400000">
            <a:off x="5149850" y="3959225"/>
            <a:ext cx="428625" cy="1588"/>
          </a:xfrm>
          <a:prstGeom prst="straightConnector1">
            <a:avLst/>
          </a:prstGeom>
          <a:ln w="38100" cap="flat" cmpd="sng">
            <a:solidFill>
              <a:srgbClr val="00B050"/>
            </a:solidFill>
            <a:prstDash val="solid"/>
            <a:miter/>
            <a:headEnd type="none" w="med" len="med"/>
            <a:tailEnd type="arrow" w="med" len="med"/>
          </a:ln>
        </p:spPr>
      </p:cxnSp>
      <p:cxnSp>
        <p:nvCxnSpPr>
          <p:cNvPr id="42" name="直接连接符 41"/>
          <p:cNvCxnSpPr/>
          <p:nvPr/>
        </p:nvCxnSpPr>
        <p:spPr>
          <a:xfrm rot="10800000">
            <a:off x="7572375" y="3748088"/>
            <a:ext cx="571500" cy="0"/>
          </a:xfrm>
          <a:prstGeom prst="line">
            <a:avLst/>
          </a:prstGeom>
          <a:ln w="38100" cap="flat" cmpd="sng">
            <a:solidFill>
              <a:srgbClr val="00B050"/>
            </a:solidFill>
            <a:prstDash val="solid"/>
            <a:miter/>
            <a:headEnd type="none" w="med" len="med"/>
            <a:tailEnd type="none" w="med" len="med"/>
          </a:ln>
        </p:spPr>
      </p:cxnSp>
      <p:sp>
        <p:nvSpPr>
          <p:cNvPr id="43" name="TextBox 42"/>
          <p:cNvSpPr txBox="1"/>
          <p:nvPr/>
        </p:nvSpPr>
        <p:spPr>
          <a:xfrm>
            <a:off x="7500938" y="3286125"/>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4" name="直接连接符 43"/>
          <p:cNvCxnSpPr/>
          <p:nvPr/>
        </p:nvCxnSpPr>
        <p:spPr>
          <a:xfrm rot="5400000" flipH="1" flipV="1">
            <a:off x="5113338" y="4957763"/>
            <a:ext cx="500062" cy="12700"/>
          </a:xfrm>
          <a:prstGeom prst="line">
            <a:avLst/>
          </a:prstGeom>
          <a:ln w="38100" cap="flat" cmpd="sng">
            <a:solidFill>
              <a:srgbClr val="00B050"/>
            </a:solidFill>
            <a:prstDash val="solid"/>
            <a:miter/>
            <a:headEnd type="none" w="med" len="med"/>
            <a:tailEnd type="none" w="med" len="med"/>
          </a:ln>
        </p:spPr>
      </p:cxnSp>
      <p:cxnSp>
        <p:nvCxnSpPr>
          <p:cNvPr id="45" name="直接连接符 44"/>
          <p:cNvCxnSpPr/>
          <p:nvPr/>
        </p:nvCxnSpPr>
        <p:spPr>
          <a:xfrm rot="5400000" flipH="1" flipV="1">
            <a:off x="7391400" y="4462463"/>
            <a:ext cx="1500188" cy="0"/>
          </a:xfrm>
          <a:prstGeom prst="line">
            <a:avLst/>
          </a:prstGeom>
          <a:ln w="38100" cap="flat" cmpd="sng">
            <a:solidFill>
              <a:srgbClr val="00B050"/>
            </a:solidFill>
            <a:prstDash val="solid"/>
            <a:miter/>
            <a:headEnd type="none" w="med" len="med"/>
            <a:tailEnd type="none" w="med" len="med"/>
          </a:ln>
        </p:spPr>
      </p:cxnSp>
      <p:cxnSp>
        <p:nvCxnSpPr>
          <p:cNvPr id="46" name="直接连接符 45"/>
          <p:cNvCxnSpPr/>
          <p:nvPr/>
        </p:nvCxnSpPr>
        <p:spPr>
          <a:xfrm rot="10800000">
            <a:off x="5357813" y="5214938"/>
            <a:ext cx="2786062" cy="0"/>
          </a:xfrm>
          <a:prstGeom prst="line">
            <a:avLst/>
          </a:prstGeom>
          <a:ln w="38100" cap="flat" cmpd="sng">
            <a:solidFill>
              <a:srgbClr val="00B050"/>
            </a:solidFill>
            <a:prstDash val="solid"/>
            <a:miter/>
            <a:headEnd type="none" w="med" len="med"/>
            <a:tailEnd type="none" w="med" len="med"/>
          </a:ln>
        </p:spPr>
      </p:cxnSp>
      <p:pic>
        <p:nvPicPr>
          <p:cNvPr id="47134"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slide(fromRight)">
                                      <p:cBhvr>
                                        <p:cTn id="21" dur="500"/>
                                        <p:tgtEl>
                                          <p:spTgt spid="11"/>
                                        </p:tgtEl>
                                      </p:cBhvr>
                                    </p:animEffect>
                                  </p:childTnLst>
                                </p:cTn>
                              </p:par>
                            </p:childTnLst>
                          </p:cTn>
                        </p:par>
                        <p:par>
                          <p:cTn id="22" fill="hold">
                            <p:stCondLst>
                              <p:cond delay="500"/>
                            </p:stCondLst>
                            <p:childTnLst>
                              <p:par>
                                <p:cTn id="23" presetID="12" presetClass="entr" presetSubtype="1"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slide(fromTop)">
                                      <p:cBhvr>
                                        <p:cTn id="25" dur="500"/>
                                        <p:tgtEl>
                                          <p:spTgt spid="18"/>
                                        </p:tgtEl>
                                      </p:cBhvr>
                                    </p:animEffect>
                                  </p:childTnLst>
                                </p:cTn>
                              </p:par>
                            </p:childTnLst>
                          </p:cTn>
                        </p:par>
                        <p:par>
                          <p:cTn id="26" fill="hold">
                            <p:stCondLst>
                              <p:cond delay="1000"/>
                            </p:stCondLst>
                            <p:childTnLst>
                              <p:par>
                                <p:cTn id="27" presetID="3" presetClass="entr" presetSubtype="1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linds(horizontal)">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slide(fromLeft)">
                                      <p:cBhvr>
                                        <p:cTn id="39" dur="500"/>
                                        <p:tgtEl>
                                          <p:spTgt spid="19"/>
                                        </p:tgtEl>
                                      </p:cBhvr>
                                    </p:animEffect>
                                  </p:childTnLst>
                                </p:cTn>
                              </p:par>
                            </p:childTnLst>
                          </p:cTn>
                        </p:par>
                        <p:par>
                          <p:cTn id="40" fill="hold">
                            <p:stCondLst>
                              <p:cond delay="500"/>
                            </p:stCondLst>
                            <p:childTnLst>
                              <p:par>
                                <p:cTn id="41" presetID="12" presetClass="entr" presetSubtype="1"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slide(fromTop)">
                                      <p:cBhvr>
                                        <p:cTn id="43" dur="500"/>
                                        <p:tgtEl>
                                          <p:spTgt spid="7"/>
                                        </p:tgtEl>
                                      </p:cBhvr>
                                    </p:animEffect>
                                  </p:childTnLst>
                                </p:cTn>
                              </p:par>
                            </p:childTnLst>
                          </p:cTn>
                        </p:par>
                        <p:par>
                          <p:cTn id="44" fill="hold">
                            <p:stCondLst>
                              <p:cond delay="1000"/>
                            </p:stCondLst>
                            <p:childTnLst>
                              <p:par>
                                <p:cTn id="45" presetID="3" presetClass="entr" presetSubtype="10"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slide(fromTop)">
                                      <p:cBhvr>
                                        <p:cTn id="52" dur="500"/>
                                        <p:tgtEl>
                                          <p:spTgt spid="23"/>
                                        </p:tgtEl>
                                      </p:cBhvr>
                                    </p:animEffect>
                                  </p:childTnLst>
                                </p:cTn>
                              </p:par>
                            </p:childTnLst>
                          </p:cTn>
                        </p:par>
                        <p:par>
                          <p:cTn id="53" fill="hold">
                            <p:stCondLst>
                              <p:cond delay="500"/>
                            </p:stCondLst>
                            <p:childTnLst>
                              <p:par>
                                <p:cTn id="54" presetID="12" presetClass="entr" presetSubtype="1" fill="hold"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slide(fromTop)">
                                      <p:cBhvr>
                                        <p:cTn id="56" dur="500"/>
                                        <p:tgtEl>
                                          <p:spTgt spid="26"/>
                                        </p:tgtEl>
                                      </p:cBhvr>
                                    </p:animEffect>
                                  </p:childTnLst>
                                </p:cTn>
                              </p:par>
                            </p:childTnLst>
                          </p:cTn>
                        </p:par>
                        <p:par>
                          <p:cTn id="57" fill="hold">
                            <p:stCondLst>
                              <p:cond delay="1000"/>
                            </p:stCondLst>
                            <p:childTnLst>
                              <p:par>
                                <p:cTn id="58" presetID="4" presetClass="entr" presetSubtype="16"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box(in)">
                                      <p:cBhvr>
                                        <p:cTn id="60" dur="500"/>
                                        <p:tgtEl>
                                          <p:spTgt spid="27"/>
                                        </p:tgtEl>
                                      </p:cBhvr>
                                    </p:animEffect>
                                  </p:childTnLst>
                                </p:cTn>
                              </p:par>
                            </p:childTnLst>
                          </p:cTn>
                        </p:par>
                        <p:par>
                          <p:cTn id="61" fill="hold">
                            <p:stCondLst>
                              <p:cond delay="1500"/>
                            </p:stCondLst>
                            <p:childTnLst>
                              <p:par>
                                <p:cTn id="62" presetID="12" presetClass="entr" presetSubtype="1"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slide(fromTop)">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1" fill="hold"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slide(fromTop)">
                                      <p:cBhvr>
                                        <p:cTn id="69" dur="500"/>
                                        <p:tgtEl>
                                          <p:spTgt spid="31"/>
                                        </p:tgtEl>
                                      </p:cBhvr>
                                    </p:animEffect>
                                  </p:childTnLst>
                                </p:cTn>
                              </p:par>
                            </p:childTnLst>
                          </p:cTn>
                        </p:par>
                        <p:par>
                          <p:cTn id="70" fill="hold">
                            <p:stCondLst>
                              <p:cond delay="500"/>
                            </p:stCondLst>
                            <p:childTnLst>
                              <p:par>
                                <p:cTn id="71" presetID="3" presetClass="entr" presetSubtype="10" fill="hold" nodeType="after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blinds(horizontal)">
                                      <p:cBhvr>
                                        <p:cTn id="73" dur="500"/>
                                        <p:tgtEl>
                                          <p:spTgt spid="3"/>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blinds(horizontal)">
                                      <p:cBhvr>
                                        <p:cTn id="78" dur="500"/>
                                        <p:tgtEl>
                                          <p:spTgt spid="37"/>
                                        </p:tgtEl>
                                      </p:cBhvr>
                                    </p:animEffect>
                                  </p:childTnLst>
                                </p:cTn>
                              </p:par>
                            </p:childTnLst>
                          </p:cTn>
                        </p:par>
                        <p:par>
                          <p:cTn id="79" fill="hold">
                            <p:stCondLst>
                              <p:cond delay="500"/>
                            </p:stCondLst>
                            <p:childTnLst>
                              <p:par>
                                <p:cTn id="80" presetID="12" presetClass="entr" presetSubtype="2" fill="hold"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slide(fromRight)">
                                      <p:cBhvr>
                                        <p:cTn id="82" dur="500"/>
                                        <p:tgtEl>
                                          <p:spTgt spid="36"/>
                                        </p:tgtEl>
                                      </p:cBhvr>
                                    </p:animEffect>
                                  </p:childTnLst>
                                </p:cTn>
                              </p:par>
                            </p:childTnLst>
                          </p:cTn>
                        </p:par>
                        <p:par>
                          <p:cTn id="83" fill="hold">
                            <p:stCondLst>
                              <p:cond delay="1000"/>
                            </p:stCondLst>
                            <p:childTnLst>
                              <p:par>
                                <p:cTn id="84" presetID="12" presetClass="entr" presetSubtype="1" fill="hold" nodeType="after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slide(fromTop)">
                                      <p:cBhvr>
                                        <p:cTn id="86" dur="500"/>
                                        <p:tgtEl>
                                          <p:spTgt spid="41"/>
                                        </p:tgtEl>
                                      </p:cBhvr>
                                    </p:animEffect>
                                  </p:childTnLst>
                                </p:cTn>
                              </p:par>
                            </p:childTnLst>
                          </p:cTn>
                        </p:par>
                        <p:par>
                          <p:cTn id="87" fill="hold">
                            <p:stCondLst>
                              <p:cond delay="1500"/>
                            </p:stCondLst>
                            <p:childTnLst>
                              <p:par>
                                <p:cTn id="88" presetID="3" presetClass="entr" presetSubtype="10" fill="hold" grpId="0" nodeType="after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blinds(horizontal)">
                                      <p:cBhvr>
                                        <p:cTn id="90" dur="500"/>
                                        <p:tgtEl>
                                          <p:spTgt spid="33"/>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blinds(horizontal)">
                                      <p:cBhvr>
                                        <p:cTn id="95" dur="500"/>
                                        <p:tgtEl>
                                          <p:spTgt spid="43"/>
                                        </p:tgtEl>
                                      </p:cBhvr>
                                    </p:animEffect>
                                  </p:childTnLst>
                                </p:cTn>
                              </p:par>
                            </p:childTnLst>
                          </p:cTn>
                        </p:par>
                        <p:par>
                          <p:cTn id="96" fill="hold">
                            <p:stCondLst>
                              <p:cond delay="500"/>
                            </p:stCondLst>
                            <p:childTnLst>
                              <p:par>
                                <p:cTn id="97" presetID="12" presetClass="entr" presetSubtype="8" fill="hold" nodeType="after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slide(fromLeft)">
                                      <p:cBhvr>
                                        <p:cTn id="99" dur="500"/>
                                        <p:tgtEl>
                                          <p:spTgt spid="42"/>
                                        </p:tgtEl>
                                      </p:cBhvr>
                                    </p:animEffect>
                                  </p:childTnLst>
                                </p:cTn>
                              </p:par>
                            </p:childTnLst>
                          </p:cTn>
                        </p:par>
                        <p:par>
                          <p:cTn id="100" fill="hold">
                            <p:stCondLst>
                              <p:cond delay="1000"/>
                            </p:stCondLst>
                            <p:childTnLst>
                              <p:par>
                                <p:cTn id="101" presetID="12" presetClass="entr" presetSubtype="1" fill="hold" nodeType="after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slide(fromTop)">
                                      <p:cBhvr>
                                        <p:cTn id="103" dur="500"/>
                                        <p:tgtEl>
                                          <p:spTgt spid="45"/>
                                        </p:tgtEl>
                                      </p:cBhvr>
                                    </p:animEffect>
                                  </p:childTnLst>
                                </p:cTn>
                              </p:par>
                            </p:childTnLst>
                          </p:cTn>
                        </p:par>
                        <p:par>
                          <p:cTn id="104" fill="hold">
                            <p:stCondLst>
                              <p:cond delay="1500"/>
                            </p:stCondLst>
                            <p:childTnLst>
                              <p:par>
                                <p:cTn id="105" presetID="12" presetClass="entr" presetSubtype="1" fill="hold" nodeType="afterEffect">
                                  <p:stCondLst>
                                    <p:cond delay="0"/>
                                  </p:stCondLst>
                                  <p:childTnLst>
                                    <p:set>
                                      <p:cBhvr>
                                        <p:cTn id="106" dur="1" fill="hold">
                                          <p:stCondLst>
                                            <p:cond delay="0"/>
                                          </p:stCondLst>
                                        </p:cTn>
                                        <p:tgtEl>
                                          <p:spTgt spid="44"/>
                                        </p:tgtEl>
                                        <p:attrNameLst>
                                          <p:attrName>style.visibility</p:attrName>
                                        </p:attrNameLst>
                                      </p:cBhvr>
                                      <p:to>
                                        <p:strVal val="visible"/>
                                      </p:to>
                                    </p:set>
                                    <p:animEffect transition="in" filter="slide(fromTop)">
                                      <p:cBhvr>
                                        <p:cTn id="107" dur="500"/>
                                        <p:tgtEl>
                                          <p:spTgt spid="44"/>
                                        </p:tgtEl>
                                      </p:cBhvr>
                                    </p:animEffect>
                                  </p:childTnLst>
                                </p:cTn>
                              </p:par>
                            </p:childTnLst>
                          </p:cTn>
                        </p:par>
                        <p:par>
                          <p:cTn id="108" fill="hold">
                            <p:stCondLst>
                              <p:cond delay="2000"/>
                            </p:stCondLst>
                            <p:childTnLst>
                              <p:par>
                                <p:cTn id="109" presetID="4" presetClass="entr" presetSubtype="16" fill="hold" nodeType="after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box(in)">
                                      <p:cBhvr>
                                        <p:cTn id="111" dur="500"/>
                                        <p:tgtEl>
                                          <p:spTgt spid="46"/>
                                        </p:tgtEl>
                                      </p:cBhvr>
                                    </p:animEffect>
                                  </p:childTnLst>
                                </p:cTn>
                              </p:par>
                            </p:childTnLst>
                          </p:cTn>
                        </p:par>
                        <p:par>
                          <p:cTn id="112" fill="hold">
                            <p:stCondLst>
                              <p:cond delay="2500"/>
                            </p:stCondLst>
                            <p:childTnLst>
                              <p:par>
                                <p:cTn id="113" presetID="12" presetClass="entr" presetSubtype="1" fill="hold" nodeType="after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slide(fromTop)">
                                      <p:cBhvr>
                                        <p:cTn id="1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p:bldP spid="22" grpId="0"/>
      <p:bldP spid="33" grpId="0" animBg="1"/>
      <p:bldP spid="37" grpId="0"/>
      <p:bldP spid="4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261938" y="561975"/>
            <a:ext cx="7570787"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2.4.3 </a:t>
            </a:r>
            <a:r>
              <a:rPr lang="zh-CN" altLang="zh-CN" sz="3600" dirty="0">
                <a:solidFill>
                  <a:srgbClr val="235A67"/>
                </a:solidFill>
                <a:latin typeface="Times New Roman" panose="02020603050405020304" pitchFamily="18" charset="0"/>
                <a:ea typeface="黑体" panose="02010609060101010101" pitchFamily="49" charset="-122"/>
              </a:rPr>
              <a:t>三种基本结构和改进的流程图</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147" name="Rectangle 3"/>
          <p:cNvSpPr>
            <a:spLocks noGrp="1"/>
          </p:cNvSpPr>
          <p:nvPr>
            <p:ph idx="1"/>
          </p:nvPr>
        </p:nvSpPr>
        <p:spPr>
          <a:xfrm>
            <a:off x="312738" y="1268413"/>
            <a:ext cx="4187825" cy="2071687"/>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2. 三种基本结构</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    (3) 循环结构</a:t>
            </a:r>
            <a:endParaRPr lang="en-US" altLang="zh-CN" b="0" dirty="0">
              <a:latin typeface="Times New Roman" panose="02020603050405020304" pitchFamily="18" charset="0"/>
              <a:ea typeface="微软雅黑" panose="020B0503020204020204" pitchFamily="34" charset="-122"/>
              <a:cs typeface="+mn-cs"/>
            </a:endParaRPr>
          </a:p>
          <a:p>
            <a:pPr lvl="1">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① 当型循环结构</a:t>
            </a:r>
            <a:endParaRPr lang="en-US" altLang="en-US" b="0" dirty="0">
              <a:latin typeface="Times New Roman" panose="02020603050405020304" pitchFamily="18" charset="0"/>
              <a:ea typeface="微软雅黑" panose="020B0503020204020204" pitchFamily="34" charset="-122"/>
            </a:endParaRPr>
          </a:p>
        </p:txBody>
      </p:sp>
      <p:cxnSp>
        <p:nvCxnSpPr>
          <p:cNvPr id="4" name="直接箭头连接符 3"/>
          <p:cNvCxnSpPr/>
          <p:nvPr/>
        </p:nvCxnSpPr>
        <p:spPr>
          <a:xfrm rot="5400000">
            <a:off x="2212975" y="3956050"/>
            <a:ext cx="428625" cy="1588"/>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a:off x="1071563" y="3857625"/>
            <a:ext cx="1357312" cy="1588"/>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1928813" y="5072063"/>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A</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cxnSp>
        <p:nvCxnSpPr>
          <p:cNvPr id="7" name="直接箭头连接符 6"/>
          <p:cNvCxnSpPr/>
          <p:nvPr/>
        </p:nvCxnSpPr>
        <p:spPr>
          <a:xfrm rot="5400000">
            <a:off x="2214563" y="6354763"/>
            <a:ext cx="428625" cy="3175"/>
          </a:xfrm>
          <a:prstGeom prst="straightConnector1">
            <a:avLst/>
          </a:prstGeom>
          <a:ln w="38100" cap="flat" cmpd="sng">
            <a:solidFill>
              <a:srgbClr val="00B050"/>
            </a:solidFill>
            <a:prstDash val="solid"/>
            <a:miter/>
            <a:headEnd type="none" w="med" len="med"/>
            <a:tailEnd type="arrow" w="med" len="med"/>
          </a:ln>
        </p:spPr>
      </p:cxnSp>
      <p:cxnSp>
        <p:nvCxnSpPr>
          <p:cNvPr id="11" name="直接连接符 10"/>
          <p:cNvCxnSpPr/>
          <p:nvPr/>
        </p:nvCxnSpPr>
        <p:spPr>
          <a:xfrm rot="10800000">
            <a:off x="1071563" y="5857875"/>
            <a:ext cx="1357312" cy="0"/>
          </a:xfrm>
          <a:prstGeom prst="line">
            <a:avLst/>
          </a:prstGeom>
          <a:ln w="38100" cap="flat" cmpd="sng">
            <a:solidFill>
              <a:srgbClr val="00B050"/>
            </a:solidFill>
            <a:prstDash val="solid"/>
            <a:miter/>
            <a:headEnd type="none" w="med" len="med"/>
            <a:tailEnd type="none" w="med" len="med"/>
          </a:ln>
        </p:spPr>
      </p:cxnSp>
      <p:sp>
        <p:nvSpPr>
          <p:cNvPr id="12" name="TextBox 11"/>
          <p:cNvSpPr txBox="1"/>
          <p:nvPr/>
        </p:nvSpPr>
        <p:spPr>
          <a:xfrm>
            <a:off x="2286000" y="457200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Y</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grpSp>
        <p:nvGrpSpPr>
          <p:cNvPr id="2" name="组合 13"/>
          <p:cNvGrpSpPr/>
          <p:nvPr/>
        </p:nvGrpSpPr>
        <p:grpSpPr>
          <a:xfrm>
            <a:off x="1643063" y="4071938"/>
            <a:ext cx="1571625" cy="555625"/>
            <a:chOff x="1571604" y="3444876"/>
            <a:chExt cx="1571636" cy="555628"/>
          </a:xfrm>
        </p:grpSpPr>
        <p:sp>
          <p:nvSpPr>
            <p:cNvPr id="48171" name="流程图: 决策 8"/>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dirty="0">
                <a:solidFill>
                  <a:srgbClr val="003399"/>
                </a:solidFill>
                <a:latin typeface="Times New Roman" panose="02020603050405020304" pitchFamily="18" charset="0"/>
                <a:ea typeface="Times New Roman" panose="02020603050405020304" pitchFamily="18" charset="0"/>
              </a:endParaRPr>
            </a:p>
          </p:txBody>
        </p:sp>
        <p:sp>
          <p:nvSpPr>
            <p:cNvPr id="48172" name="TextBox 12"/>
            <p:cNvSpPr txBox="1"/>
            <p:nvPr/>
          </p:nvSpPr>
          <p:spPr>
            <a:xfrm>
              <a:off x="1857356" y="344487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p1</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grpSp>
      <p:cxnSp>
        <p:nvCxnSpPr>
          <p:cNvPr id="18" name="直接箭头连接符 17"/>
          <p:cNvCxnSpPr/>
          <p:nvPr/>
        </p:nvCxnSpPr>
        <p:spPr>
          <a:xfrm rot="5400000">
            <a:off x="2212975" y="4854575"/>
            <a:ext cx="428625" cy="1588"/>
          </a:xfrm>
          <a:prstGeom prst="straightConnector1">
            <a:avLst/>
          </a:prstGeom>
          <a:ln w="38100" cap="flat" cmpd="sng">
            <a:solidFill>
              <a:srgbClr val="00B050"/>
            </a:solidFill>
            <a:prstDash val="solid"/>
            <a:miter/>
            <a:headEnd type="none" w="med" len="med"/>
            <a:tailEnd type="arrow" w="med" len="med"/>
          </a:ln>
        </p:spPr>
      </p:cxnSp>
      <p:cxnSp>
        <p:nvCxnSpPr>
          <p:cNvPr id="19" name="直接连接符 18"/>
          <p:cNvCxnSpPr/>
          <p:nvPr/>
        </p:nvCxnSpPr>
        <p:spPr>
          <a:xfrm rot="10800000">
            <a:off x="3214688" y="4357688"/>
            <a:ext cx="571500" cy="0"/>
          </a:xfrm>
          <a:prstGeom prst="line">
            <a:avLst/>
          </a:prstGeom>
          <a:ln w="38100" cap="flat" cmpd="sng">
            <a:solidFill>
              <a:srgbClr val="00B050"/>
            </a:solidFill>
            <a:prstDash val="solid"/>
            <a:miter/>
            <a:headEnd type="none" w="med" len="med"/>
            <a:tailEnd type="none" w="med" len="med"/>
          </a:ln>
        </p:spPr>
      </p:cxnSp>
      <p:sp>
        <p:nvSpPr>
          <p:cNvPr id="22" name="TextBox 21"/>
          <p:cNvSpPr txBox="1"/>
          <p:nvPr/>
        </p:nvSpPr>
        <p:spPr>
          <a:xfrm>
            <a:off x="3071813" y="390525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N</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cxnSp>
        <p:nvCxnSpPr>
          <p:cNvPr id="23" name="直接连接符 22"/>
          <p:cNvCxnSpPr/>
          <p:nvPr/>
        </p:nvCxnSpPr>
        <p:spPr>
          <a:xfrm rot="5400000" flipH="1" flipV="1">
            <a:off x="71438" y="4857750"/>
            <a:ext cx="2000250" cy="0"/>
          </a:xfrm>
          <a:prstGeom prst="line">
            <a:avLst/>
          </a:prstGeom>
          <a:ln w="38100" cap="flat" cmpd="sng">
            <a:solidFill>
              <a:srgbClr val="00B050"/>
            </a:solidFill>
            <a:prstDash val="solid"/>
            <a:miter/>
            <a:headEnd type="none" w="med" len="med"/>
            <a:tailEnd type="none" w="med" len="med"/>
          </a:ln>
        </p:spPr>
      </p:cxnSp>
      <p:cxnSp>
        <p:nvCxnSpPr>
          <p:cNvPr id="26" name="直接连接符 25"/>
          <p:cNvCxnSpPr/>
          <p:nvPr/>
        </p:nvCxnSpPr>
        <p:spPr>
          <a:xfrm rot="5400000" flipH="1" flipV="1">
            <a:off x="2886075" y="5243513"/>
            <a:ext cx="1785938" cy="12700"/>
          </a:xfrm>
          <a:prstGeom prst="line">
            <a:avLst/>
          </a:prstGeom>
          <a:ln w="38100" cap="flat" cmpd="sng">
            <a:solidFill>
              <a:srgbClr val="00B050"/>
            </a:solidFill>
            <a:prstDash val="solid"/>
            <a:miter/>
            <a:headEnd type="none" w="med" len="med"/>
            <a:tailEnd type="none" w="med" len="med"/>
          </a:ln>
        </p:spPr>
      </p:cxnSp>
      <p:cxnSp>
        <p:nvCxnSpPr>
          <p:cNvPr id="27" name="直接连接符 26"/>
          <p:cNvCxnSpPr/>
          <p:nvPr/>
        </p:nvCxnSpPr>
        <p:spPr>
          <a:xfrm rot="10800000">
            <a:off x="2428875" y="6143625"/>
            <a:ext cx="1357313" cy="0"/>
          </a:xfrm>
          <a:prstGeom prst="line">
            <a:avLst/>
          </a:prstGeom>
          <a:ln w="38100" cap="flat" cmpd="sng">
            <a:solidFill>
              <a:srgbClr val="00B050"/>
            </a:solidFill>
            <a:prstDash val="solid"/>
            <a:miter/>
            <a:headEnd type="none" w="med" len="med"/>
            <a:tailEnd type="none" w="med" len="med"/>
          </a:ln>
        </p:spPr>
      </p:cxnSp>
      <p:cxnSp>
        <p:nvCxnSpPr>
          <p:cNvPr id="34" name="直接连接符 33"/>
          <p:cNvCxnSpPr>
            <a:stCxn id="6" idx="2"/>
          </p:cNvCxnSpPr>
          <p:nvPr/>
        </p:nvCxnSpPr>
        <p:spPr>
          <a:xfrm rot="5400000">
            <a:off x="2297113" y="5726113"/>
            <a:ext cx="260350" cy="0"/>
          </a:xfrm>
          <a:prstGeom prst="line">
            <a:avLst/>
          </a:prstGeom>
          <a:ln w="38100" cap="flat" cmpd="sng">
            <a:solidFill>
              <a:srgbClr val="00B050"/>
            </a:solidFill>
            <a:prstDash val="solid"/>
            <a:miter/>
            <a:headEnd type="none" w="med" len="med"/>
            <a:tailEnd type="none" w="med" len="med"/>
          </a:ln>
        </p:spPr>
      </p:cxnSp>
      <p:cxnSp>
        <p:nvCxnSpPr>
          <p:cNvPr id="57" name="直接箭头连接符 56"/>
          <p:cNvCxnSpPr/>
          <p:nvPr/>
        </p:nvCxnSpPr>
        <p:spPr>
          <a:xfrm rot="5400000">
            <a:off x="6048375" y="2728913"/>
            <a:ext cx="428625" cy="1587"/>
          </a:xfrm>
          <a:prstGeom prst="straightConnector1">
            <a:avLst/>
          </a:prstGeom>
          <a:ln w="38100" cap="flat" cmpd="sng">
            <a:solidFill>
              <a:srgbClr val="00B050"/>
            </a:solidFill>
            <a:prstDash val="solid"/>
            <a:miter/>
            <a:headEnd type="none" w="med" len="med"/>
            <a:tailEnd type="arrow" w="med" len="med"/>
          </a:ln>
        </p:spPr>
      </p:cxnSp>
      <p:cxnSp>
        <p:nvCxnSpPr>
          <p:cNvPr id="58" name="直接箭头连接符 57"/>
          <p:cNvCxnSpPr/>
          <p:nvPr/>
        </p:nvCxnSpPr>
        <p:spPr>
          <a:xfrm>
            <a:off x="4906963" y="2630488"/>
            <a:ext cx="1357312" cy="1587"/>
          </a:xfrm>
          <a:prstGeom prst="straightConnector1">
            <a:avLst/>
          </a:prstGeom>
          <a:ln w="38100" cap="flat" cmpd="sng">
            <a:solidFill>
              <a:srgbClr val="00B050"/>
            </a:solidFill>
            <a:prstDash val="solid"/>
            <a:miter/>
            <a:headEnd type="none" w="med" len="med"/>
            <a:tailEnd type="arrow" w="med" len="med"/>
          </a:ln>
        </p:spPr>
      </p:cxnSp>
      <p:cxnSp>
        <p:nvCxnSpPr>
          <p:cNvPr id="60" name="直接箭头连接符 59"/>
          <p:cNvCxnSpPr/>
          <p:nvPr/>
        </p:nvCxnSpPr>
        <p:spPr>
          <a:xfrm rot="5400000">
            <a:off x="6035675" y="5913438"/>
            <a:ext cx="428625" cy="1587"/>
          </a:xfrm>
          <a:prstGeom prst="straightConnector1">
            <a:avLst/>
          </a:prstGeom>
          <a:ln w="38100" cap="flat" cmpd="sng">
            <a:solidFill>
              <a:srgbClr val="00B050"/>
            </a:solidFill>
            <a:prstDash val="solid"/>
            <a:miter/>
            <a:headEnd type="none" w="med" len="med"/>
            <a:tailEnd type="arrow" w="med" len="med"/>
          </a:ln>
        </p:spPr>
      </p:cxnSp>
      <p:cxnSp>
        <p:nvCxnSpPr>
          <p:cNvPr id="61" name="直接连接符 60"/>
          <p:cNvCxnSpPr/>
          <p:nvPr/>
        </p:nvCxnSpPr>
        <p:spPr>
          <a:xfrm rot="10800000">
            <a:off x="4894263" y="5416550"/>
            <a:ext cx="1357312" cy="0"/>
          </a:xfrm>
          <a:prstGeom prst="line">
            <a:avLst/>
          </a:prstGeom>
          <a:ln w="38100" cap="flat" cmpd="sng">
            <a:solidFill>
              <a:srgbClr val="00B050"/>
            </a:solidFill>
            <a:prstDash val="solid"/>
            <a:miter/>
            <a:headEnd type="none" w="med" len="med"/>
            <a:tailEnd type="none" w="med" len="med"/>
          </a:ln>
        </p:spPr>
      </p:cxnSp>
      <p:sp>
        <p:nvSpPr>
          <p:cNvPr id="62" name="TextBox 61"/>
          <p:cNvSpPr txBox="1"/>
          <p:nvPr/>
        </p:nvSpPr>
        <p:spPr>
          <a:xfrm>
            <a:off x="6251575" y="3344863"/>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Y</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grpSp>
        <p:nvGrpSpPr>
          <p:cNvPr id="3" name="组合 13"/>
          <p:cNvGrpSpPr/>
          <p:nvPr/>
        </p:nvGrpSpPr>
        <p:grpSpPr>
          <a:xfrm>
            <a:off x="5297488" y="2895600"/>
            <a:ext cx="1941512" cy="530225"/>
            <a:chOff x="1571604" y="3470276"/>
            <a:chExt cx="1571636" cy="530228"/>
          </a:xfrm>
        </p:grpSpPr>
        <p:sp>
          <p:nvSpPr>
            <p:cNvPr id="48169" name="流程图: 决策 63"/>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dirty="0">
                <a:solidFill>
                  <a:srgbClr val="003399"/>
                </a:solidFill>
                <a:latin typeface="Times New Roman" panose="02020603050405020304" pitchFamily="18" charset="0"/>
                <a:ea typeface="Times New Roman" panose="02020603050405020304" pitchFamily="18" charset="0"/>
              </a:endParaRPr>
            </a:p>
          </p:txBody>
        </p:sp>
        <p:sp>
          <p:nvSpPr>
            <p:cNvPr id="48170" name="TextBox 64"/>
            <p:cNvSpPr txBox="1"/>
            <p:nvPr/>
          </p:nvSpPr>
          <p:spPr>
            <a:xfrm>
              <a:off x="1857356" y="347027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x&lt;5</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grpSp>
      <p:cxnSp>
        <p:nvCxnSpPr>
          <p:cNvPr id="66" name="直接箭头连接符 65"/>
          <p:cNvCxnSpPr/>
          <p:nvPr/>
        </p:nvCxnSpPr>
        <p:spPr>
          <a:xfrm rot="5400000">
            <a:off x="6035675" y="3627438"/>
            <a:ext cx="428625" cy="1587"/>
          </a:xfrm>
          <a:prstGeom prst="straightConnector1">
            <a:avLst/>
          </a:prstGeom>
          <a:ln w="38100" cap="flat" cmpd="sng">
            <a:solidFill>
              <a:srgbClr val="00B050"/>
            </a:solidFill>
            <a:prstDash val="solid"/>
            <a:miter/>
            <a:headEnd type="none" w="med" len="med"/>
            <a:tailEnd type="arrow" w="med" len="med"/>
          </a:ln>
        </p:spPr>
      </p:cxnSp>
      <p:cxnSp>
        <p:nvCxnSpPr>
          <p:cNvPr id="67" name="直接连接符 66"/>
          <p:cNvCxnSpPr/>
          <p:nvPr/>
        </p:nvCxnSpPr>
        <p:spPr>
          <a:xfrm rot="10800000">
            <a:off x="7251700" y="3154363"/>
            <a:ext cx="571500" cy="0"/>
          </a:xfrm>
          <a:prstGeom prst="line">
            <a:avLst/>
          </a:prstGeom>
          <a:ln w="38100" cap="flat" cmpd="sng">
            <a:solidFill>
              <a:srgbClr val="00B050"/>
            </a:solidFill>
            <a:prstDash val="solid"/>
            <a:miter/>
            <a:headEnd type="none" w="med" len="med"/>
            <a:tailEnd type="none" w="med" len="med"/>
          </a:ln>
        </p:spPr>
      </p:cxnSp>
      <p:sp>
        <p:nvSpPr>
          <p:cNvPr id="68" name="TextBox 67"/>
          <p:cNvSpPr txBox="1"/>
          <p:nvPr/>
        </p:nvSpPr>
        <p:spPr>
          <a:xfrm>
            <a:off x="7108825" y="2701925"/>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N</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cxnSp>
        <p:nvCxnSpPr>
          <p:cNvPr id="69" name="直接连接符 68"/>
          <p:cNvCxnSpPr/>
          <p:nvPr/>
        </p:nvCxnSpPr>
        <p:spPr>
          <a:xfrm rot="5400000" flipH="1" flipV="1">
            <a:off x="3506788" y="4016375"/>
            <a:ext cx="2786062" cy="12700"/>
          </a:xfrm>
          <a:prstGeom prst="line">
            <a:avLst/>
          </a:prstGeom>
          <a:ln w="38100" cap="flat" cmpd="sng">
            <a:solidFill>
              <a:srgbClr val="00B050"/>
            </a:solidFill>
            <a:prstDash val="solid"/>
            <a:miter/>
            <a:headEnd type="none" w="med" len="med"/>
            <a:tailEnd type="none" w="med" len="med"/>
          </a:ln>
        </p:spPr>
      </p:cxnSp>
      <p:cxnSp>
        <p:nvCxnSpPr>
          <p:cNvPr id="70" name="直接连接符 69"/>
          <p:cNvCxnSpPr/>
          <p:nvPr/>
        </p:nvCxnSpPr>
        <p:spPr>
          <a:xfrm rot="5400000" flipH="1" flipV="1">
            <a:off x="6546850" y="4425950"/>
            <a:ext cx="2547938" cy="0"/>
          </a:xfrm>
          <a:prstGeom prst="line">
            <a:avLst/>
          </a:prstGeom>
          <a:ln w="38100" cap="flat" cmpd="sng">
            <a:solidFill>
              <a:srgbClr val="00B050"/>
            </a:solidFill>
            <a:prstDash val="solid"/>
            <a:miter/>
            <a:headEnd type="none" w="med" len="med"/>
            <a:tailEnd type="none" w="med" len="med"/>
          </a:ln>
        </p:spPr>
      </p:cxnSp>
      <p:cxnSp>
        <p:nvCxnSpPr>
          <p:cNvPr id="71" name="直接连接符 70"/>
          <p:cNvCxnSpPr/>
          <p:nvPr/>
        </p:nvCxnSpPr>
        <p:spPr>
          <a:xfrm rot="10800000">
            <a:off x="6251575" y="5702300"/>
            <a:ext cx="1571625" cy="0"/>
          </a:xfrm>
          <a:prstGeom prst="line">
            <a:avLst/>
          </a:prstGeom>
          <a:ln w="38100" cap="flat" cmpd="sng">
            <a:solidFill>
              <a:srgbClr val="00B050"/>
            </a:solidFill>
            <a:prstDash val="solid"/>
            <a:miter/>
            <a:headEnd type="none" w="med" len="med"/>
            <a:tailEnd type="none" w="med" len="med"/>
          </a:ln>
        </p:spPr>
      </p:cxnSp>
      <p:cxnSp>
        <p:nvCxnSpPr>
          <p:cNvPr id="72" name="直接连接符 71"/>
          <p:cNvCxnSpPr/>
          <p:nvPr/>
        </p:nvCxnSpPr>
        <p:spPr>
          <a:xfrm rot="5400000">
            <a:off x="6119813" y="5260975"/>
            <a:ext cx="260350" cy="0"/>
          </a:xfrm>
          <a:prstGeom prst="line">
            <a:avLst/>
          </a:prstGeom>
          <a:ln w="38100" cap="flat" cmpd="sng">
            <a:solidFill>
              <a:srgbClr val="00B050"/>
            </a:solidFill>
            <a:prstDash val="solid"/>
            <a:miter/>
            <a:headEnd type="none" w="med" len="med"/>
            <a:tailEnd type="none" w="med" len="med"/>
          </a:ln>
        </p:spPr>
      </p:cxnSp>
      <p:sp>
        <p:nvSpPr>
          <p:cNvPr id="73" name="TextBox 72"/>
          <p:cNvSpPr txBox="1"/>
          <p:nvPr/>
        </p:nvSpPr>
        <p:spPr>
          <a:xfrm>
            <a:off x="5608638" y="2058988"/>
            <a:ext cx="1285875"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0</a:t>
            </a:r>
            <a:r>
              <a:rPr lang="en-US" altLang="zh-CN" sz="2800" dirty="0">
                <a:solidFill>
                  <a:srgbClr val="003399"/>
                </a:solidFill>
                <a:latin typeface="Times New Roman" panose="02020603050405020304" pitchFamily="18" charset="0"/>
                <a:cs typeface="Times New Roman" panose="02020603050405020304" pitchFamily="18" charset="0"/>
                <a:sym typeface="Symbol" panose="05050102010706020507" pitchFamily="18" charset="2"/>
              </a:rPr>
              <a:t>x</a:t>
            </a:r>
            <a:endParaRPr lang="en-US" altLang="zh-CN" sz="2800" dirty="0">
              <a:solidFill>
                <a:srgbClr val="003399"/>
              </a:solidFill>
              <a:latin typeface="Times New Roman" panose="02020603050405020304" pitchFamily="18" charset="0"/>
              <a:ea typeface="Times New Roman" panose="02020603050405020304" pitchFamily="18" charset="0"/>
              <a:sym typeface="Symbol" panose="05050102010706020507" pitchFamily="18" charset="2"/>
            </a:endParaRPr>
          </a:p>
        </p:txBody>
      </p:sp>
      <p:cxnSp>
        <p:nvCxnSpPr>
          <p:cNvPr id="74" name="直接箭头连接符 73"/>
          <p:cNvCxnSpPr/>
          <p:nvPr/>
        </p:nvCxnSpPr>
        <p:spPr>
          <a:xfrm rot="5400000">
            <a:off x="6034088" y="1841500"/>
            <a:ext cx="428625" cy="1588"/>
          </a:xfrm>
          <a:prstGeom prst="straightConnector1">
            <a:avLst/>
          </a:prstGeom>
          <a:ln w="38100" cap="flat" cmpd="sng">
            <a:solidFill>
              <a:srgbClr val="00B050"/>
            </a:solidFill>
            <a:prstDash val="solid"/>
            <a:miter/>
            <a:headEnd type="none" w="med" len="med"/>
            <a:tailEnd type="arrow" w="med" len="med"/>
          </a:ln>
        </p:spPr>
      </p:cxnSp>
      <p:grpSp>
        <p:nvGrpSpPr>
          <p:cNvPr id="8" name="组合 26"/>
          <p:cNvGrpSpPr/>
          <p:nvPr/>
        </p:nvGrpSpPr>
        <p:grpSpPr>
          <a:xfrm>
            <a:off x="5108575" y="3773488"/>
            <a:ext cx="2376488" cy="523875"/>
            <a:chOff x="900784" y="4405161"/>
            <a:chExt cx="1968104" cy="523220"/>
          </a:xfrm>
        </p:grpSpPr>
        <p:sp>
          <p:nvSpPr>
            <p:cNvPr id="48167" name="平行四边形 75"/>
            <p:cNvSpPr/>
            <p:nvPr/>
          </p:nvSpPr>
          <p:spPr>
            <a:xfrm>
              <a:off x="900784" y="4476599"/>
              <a:ext cx="1954962" cy="428628"/>
            </a:xfrm>
            <a:prstGeom prst="parallelogram">
              <a:avLst>
                <a:gd name="adj" fmla="val 24998"/>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aseline="-25000" dirty="0">
                <a:solidFill>
                  <a:srgbClr val="003399"/>
                </a:solidFill>
                <a:latin typeface="Times New Roman" panose="02020603050405020304" pitchFamily="18" charset="0"/>
                <a:ea typeface="Times New Roman" panose="02020603050405020304" pitchFamily="18" charset="0"/>
              </a:endParaRPr>
            </a:p>
          </p:txBody>
        </p:sp>
        <p:sp>
          <p:nvSpPr>
            <p:cNvPr id="48168" name="TextBox 76"/>
            <p:cNvSpPr txBox="1"/>
            <p:nvPr/>
          </p:nvSpPr>
          <p:spPr>
            <a:xfrm>
              <a:off x="959964" y="4405161"/>
              <a:ext cx="190892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dirty="0">
                  <a:solidFill>
                    <a:srgbClr val="003399"/>
                  </a:solidFill>
                  <a:latin typeface="Times New Roman" panose="02020603050405020304" pitchFamily="18" charset="0"/>
                  <a:cs typeface="Times New Roman" panose="02020603050405020304" pitchFamily="18" charset="0"/>
                </a:rPr>
                <a:t>输出</a:t>
              </a:r>
              <a:r>
                <a:rPr lang="en-US" altLang="zh-CN" sz="2800" dirty="0">
                  <a:solidFill>
                    <a:srgbClr val="003399"/>
                  </a:solidFill>
                  <a:latin typeface="Times New Roman" panose="02020603050405020304" pitchFamily="18" charset="0"/>
                  <a:cs typeface="Times New Roman" panose="02020603050405020304" pitchFamily="18" charset="0"/>
                </a:rPr>
                <a:t>x</a:t>
              </a:r>
              <a:r>
                <a:rPr lang="zh-CN" altLang="en-US" sz="2800" dirty="0">
                  <a:solidFill>
                    <a:srgbClr val="003399"/>
                  </a:solidFill>
                  <a:latin typeface="Times New Roman" panose="02020603050405020304" pitchFamily="18" charset="0"/>
                  <a:cs typeface="Times New Roman" panose="02020603050405020304" pitchFamily="18" charset="0"/>
                </a:rPr>
                <a:t>的值</a:t>
              </a:r>
              <a:endParaRPr lang="zh-CN" altLang="en-US" sz="2800" dirty="0">
                <a:solidFill>
                  <a:srgbClr val="003399"/>
                </a:solidFill>
                <a:latin typeface="Times New Roman" panose="02020603050405020304" pitchFamily="18" charset="0"/>
                <a:ea typeface="Times New Roman" panose="02020603050405020304" pitchFamily="18" charset="0"/>
              </a:endParaRPr>
            </a:p>
          </p:txBody>
        </p:sp>
      </p:grpSp>
      <p:sp>
        <p:nvSpPr>
          <p:cNvPr id="78" name="TextBox 77"/>
          <p:cNvSpPr txBox="1"/>
          <p:nvPr/>
        </p:nvSpPr>
        <p:spPr>
          <a:xfrm>
            <a:off x="5394325" y="4702175"/>
            <a:ext cx="1714500"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dirty="0">
                <a:solidFill>
                  <a:srgbClr val="003399"/>
                </a:solidFill>
                <a:latin typeface="Times New Roman" panose="02020603050405020304" pitchFamily="18" charset="0"/>
                <a:cs typeface="Times New Roman" panose="02020603050405020304" pitchFamily="18" charset="0"/>
              </a:rPr>
              <a:t>x+1</a:t>
            </a:r>
            <a:r>
              <a:rPr lang="en-US" altLang="zh-CN" sz="2800" dirty="0">
                <a:solidFill>
                  <a:srgbClr val="003399"/>
                </a:solidFill>
                <a:latin typeface="Times New Roman" panose="02020603050405020304" pitchFamily="18" charset="0"/>
                <a:cs typeface="Times New Roman" panose="02020603050405020304" pitchFamily="18" charset="0"/>
                <a:sym typeface="Symbol" panose="05050102010706020507" pitchFamily="18" charset="2"/>
              </a:rPr>
              <a:t>x</a:t>
            </a:r>
            <a:endParaRPr lang="en-US" altLang="zh-CN" sz="2800" dirty="0">
              <a:solidFill>
                <a:srgbClr val="003399"/>
              </a:solidFill>
              <a:latin typeface="Times New Roman" panose="02020603050405020304" pitchFamily="18" charset="0"/>
              <a:ea typeface="Times New Roman" panose="02020603050405020304" pitchFamily="18" charset="0"/>
              <a:sym typeface="Symbol" panose="05050102010706020507" pitchFamily="18" charset="2"/>
            </a:endParaRPr>
          </a:p>
        </p:txBody>
      </p:sp>
      <p:cxnSp>
        <p:nvCxnSpPr>
          <p:cNvPr id="79" name="直接箭头连接符 78"/>
          <p:cNvCxnSpPr/>
          <p:nvPr/>
        </p:nvCxnSpPr>
        <p:spPr>
          <a:xfrm rot="5400000">
            <a:off x="6034088" y="4484688"/>
            <a:ext cx="428625" cy="1587"/>
          </a:xfrm>
          <a:prstGeom prst="straightConnector1">
            <a:avLst/>
          </a:prstGeom>
          <a:ln w="38100" cap="flat" cmpd="sng">
            <a:solidFill>
              <a:srgbClr val="00B050"/>
            </a:solidFill>
            <a:prstDash val="solid"/>
            <a:miter/>
            <a:headEnd type="none" w="med" len="med"/>
            <a:tailEnd type="arrow" w="med" len="med"/>
          </a:ln>
        </p:spPr>
      </p:cxnSp>
      <p:sp>
        <p:nvSpPr>
          <p:cNvPr id="83" name="流程图: 过程 82"/>
          <p:cNvSpPr/>
          <p:nvPr/>
        </p:nvSpPr>
        <p:spPr>
          <a:xfrm>
            <a:off x="4457700" y="2563813"/>
            <a:ext cx="3786188" cy="3714750"/>
          </a:xfrm>
          <a:prstGeom prst="flowChartProcess">
            <a:avLst/>
          </a:prstGeom>
          <a:noFill/>
          <a:ln w="38100" cap="flat" cmpd="sng">
            <a:solidFill>
              <a:srgbClr val="C00000"/>
            </a:solidFill>
            <a:prstDash val="dash"/>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Times New Roman" panose="02020603050405020304" pitchFamily="18" charset="0"/>
            </a:endParaRPr>
          </a:p>
        </p:txBody>
      </p:sp>
      <p:sp>
        <p:nvSpPr>
          <p:cNvPr id="84" name="圆角矩形标注 83"/>
          <p:cNvSpPr/>
          <p:nvPr/>
        </p:nvSpPr>
        <p:spPr>
          <a:xfrm>
            <a:off x="2857500" y="857250"/>
            <a:ext cx="2786063" cy="642938"/>
          </a:xfrm>
          <a:prstGeom prst="wedgeRoundRectCallout">
            <a:avLst>
              <a:gd name="adj1" fmla="val 53162"/>
              <a:gd name="adj2" fmla="val 136259"/>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zh-CN" sz="2800" dirty="0">
                <a:solidFill>
                  <a:srgbClr val="992317"/>
                </a:solidFill>
                <a:latin typeface="Times New Roman" panose="02020603050405020304" pitchFamily="18" charset="0"/>
                <a:cs typeface="Times New Roman" panose="02020603050405020304" pitchFamily="18" charset="0"/>
              </a:rPr>
              <a:t>输出</a:t>
            </a:r>
            <a:r>
              <a:rPr lang="en-US" altLang="zh-CN" sz="2800" dirty="0">
                <a:solidFill>
                  <a:srgbClr val="992317"/>
                </a:solidFill>
                <a:latin typeface="Times New Roman" panose="02020603050405020304" pitchFamily="18" charset="0"/>
                <a:cs typeface="Times New Roman" panose="02020603050405020304" pitchFamily="18" charset="0"/>
              </a:rPr>
              <a:t>1,2,3,4,5</a:t>
            </a:r>
            <a:endParaRPr lang="zh-CN" altLang="en-US" sz="2800" dirty="0">
              <a:solidFill>
                <a:srgbClr val="992317"/>
              </a:solidFill>
              <a:latin typeface="Times New Roman" panose="02020603050405020304" pitchFamily="18" charset="0"/>
              <a:ea typeface="Times New Roman" panose="02020603050405020304" pitchFamily="18" charset="0"/>
            </a:endParaRPr>
          </a:p>
        </p:txBody>
      </p:sp>
      <p:pic>
        <p:nvPicPr>
          <p:cNvPr id="48166"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7" dur="500"/>
                                        <p:tgtEl>
                                          <p:spTgt spid="614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Top)">
                                      <p:cBhvr>
                                        <p:cTn id="12" dur="500"/>
                                        <p:tgtEl>
                                          <p:spTgt spid="4"/>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childTnLst>
                          </p:cTn>
                        </p:par>
                        <p:par>
                          <p:cTn id="22" fill="hold">
                            <p:stCondLst>
                              <p:cond delay="500"/>
                            </p:stCondLst>
                            <p:childTnLst>
                              <p:par>
                                <p:cTn id="23" presetID="12" presetClass="entr" presetSubtype="1"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slide(fromTop)">
                                      <p:cBhvr>
                                        <p:cTn id="25" dur="500"/>
                                        <p:tgtEl>
                                          <p:spTgt spid="18"/>
                                        </p:tgtEl>
                                      </p:cBhvr>
                                    </p:animEffect>
                                  </p:childTnLst>
                                </p:cTn>
                              </p:par>
                            </p:childTnLst>
                          </p:cTn>
                        </p:par>
                        <p:par>
                          <p:cTn id="26" fill="hold">
                            <p:stCondLst>
                              <p:cond delay="1000"/>
                            </p:stCondLst>
                            <p:childTnLst>
                              <p:par>
                                <p:cTn id="27" presetID="3" presetClass="entr" presetSubtype="1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slide(fromTop)">
                                      <p:cBhvr>
                                        <p:cTn id="34" dur="500"/>
                                        <p:tgtEl>
                                          <p:spTgt spid="34"/>
                                        </p:tgtEl>
                                      </p:cBhvr>
                                    </p:animEffect>
                                  </p:childTnLst>
                                </p:cTn>
                              </p:par>
                            </p:childTnLst>
                          </p:cTn>
                        </p:par>
                        <p:par>
                          <p:cTn id="35" fill="hold">
                            <p:stCondLst>
                              <p:cond delay="500"/>
                            </p:stCondLst>
                            <p:childTnLst>
                              <p:par>
                                <p:cTn id="36" presetID="12" presetClass="entr" presetSubtype="2"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slide(fromRight)">
                                      <p:cBhvr>
                                        <p:cTn id="38" dur="500"/>
                                        <p:tgtEl>
                                          <p:spTgt spid="11"/>
                                        </p:tgtEl>
                                      </p:cBhvr>
                                    </p:animEffect>
                                  </p:childTnLst>
                                </p:cTn>
                              </p:par>
                            </p:childTnLst>
                          </p:cTn>
                        </p:par>
                        <p:par>
                          <p:cTn id="39" fill="hold">
                            <p:stCondLst>
                              <p:cond delay="1000"/>
                            </p:stCondLst>
                            <p:childTnLst>
                              <p:par>
                                <p:cTn id="40" presetID="12" presetClass="entr" presetSubtype="4"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slide(fromBottom)">
                                      <p:cBhvr>
                                        <p:cTn id="42" dur="500"/>
                                        <p:tgtEl>
                                          <p:spTgt spid="23"/>
                                        </p:tgtEl>
                                      </p:cBhvr>
                                    </p:animEffect>
                                  </p:childTnLst>
                                </p:cTn>
                              </p:par>
                            </p:childTnLst>
                          </p:cTn>
                        </p:par>
                        <p:par>
                          <p:cTn id="43" fill="hold">
                            <p:stCondLst>
                              <p:cond delay="1500"/>
                            </p:stCondLst>
                            <p:childTnLst>
                              <p:par>
                                <p:cTn id="44" presetID="12" presetClass="entr" presetSubtype="8"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slide(fromLeft)">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blinds(horizontal)">
                                      <p:cBhvr>
                                        <p:cTn id="51" dur="500"/>
                                        <p:tgtEl>
                                          <p:spTgt spid="22"/>
                                        </p:tgtEl>
                                      </p:cBhvr>
                                    </p:animEffect>
                                  </p:childTnLst>
                                </p:cTn>
                              </p:par>
                            </p:childTnLst>
                          </p:cTn>
                        </p:par>
                        <p:par>
                          <p:cTn id="52" fill="hold">
                            <p:stCondLst>
                              <p:cond delay="500"/>
                            </p:stCondLst>
                            <p:childTnLst>
                              <p:par>
                                <p:cTn id="53" presetID="12" presetClass="entr" presetSubtype="8"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slide(fromLeft)">
                                      <p:cBhvr>
                                        <p:cTn id="55" dur="500"/>
                                        <p:tgtEl>
                                          <p:spTgt spid="19"/>
                                        </p:tgtEl>
                                      </p:cBhvr>
                                    </p:animEffect>
                                  </p:childTnLst>
                                </p:cTn>
                              </p:par>
                            </p:childTnLst>
                          </p:cTn>
                        </p:par>
                        <p:par>
                          <p:cTn id="56" fill="hold">
                            <p:stCondLst>
                              <p:cond delay="1000"/>
                            </p:stCondLst>
                            <p:childTnLst>
                              <p:par>
                                <p:cTn id="57" presetID="12" presetClass="entr" presetSubtype="1"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slide(fromTop)">
                                      <p:cBhvr>
                                        <p:cTn id="59" dur="500"/>
                                        <p:tgtEl>
                                          <p:spTgt spid="26"/>
                                        </p:tgtEl>
                                      </p:cBhvr>
                                    </p:animEffect>
                                  </p:childTnLst>
                                </p:cTn>
                              </p:par>
                            </p:childTnLst>
                          </p:cTn>
                        </p:par>
                        <p:par>
                          <p:cTn id="60" fill="hold">
                            <p:stCondLst>
                              <p:cond delay="1500"/>
                            </p:stCondLst>
                            <p:childTnLst>
                              <p:par>
                                <p:cTn id="61" presetID="12" presetClass="entr" presetSubtype="2" fill="hold"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slide(fromRight)">
                                      <p:cBhvr>
                                        <p:cTn id="63" dur="500"/>
                                        <p:tgtEl>
                                          <p:spTgt spid="27"/>
                                        </p:tgtEl>
                                      </p:cBhvr>
                                    </p:animEffect>
                                  </p:childTnLst>
                                </p:cTn>
                              </p:par>
                            </p:childTnLst>
                          </p:cTn>
                        </p:par>
                        <p:par>
                          <p:cTn id="64" fill="hold">
                            <p:stCondLst>
                              <p:cond delay="2000"/>
                            </p:stCondLst>
                            <p:childTnLst>
                              <p:par>
                                <p:cTn id="65" presetID="12" presetClass="entr" presetSubtype="1" fill="hold" nodeType="after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slide(fromTop)">
                                      <p:cBhvr>
                                        <p:cTn id="67" dur="5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1" fill="hold" nodeType="click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slide(fromTop)">
                                      <p:cBhvr>
                                        <p:cTn id="72" dur="500"/>
                                        <p:tgtEl>
                                          <p:spTgt spid="74"/>
                                        </p:tgtEl>
                                      </p:cBhvr>
                                    </p:animEffect>
                                  </p:childTnLst>
                                </p:cTn>
                              </p:par>
                            </p:childTnLst>
                          </p:cTn>
                        </p:par>
                        <p:par>
                          <p:cTn id="73" fill="hold">
                            <p:stCondLst>
                              <p:cond delay="500"/>
                            </p:stCondLst>
                            <p:childTnLst>
                              <p:par>
                                <p:cTn id="74" presetID="3" presetClass="entr" presetSubtype="10" fill="hold" grpId="0" nodeType="after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blinds(horizontal)">
                                      <p:cBhvr>
                                        <p:cTn id="76" dur="500"/>
                                        <p:tgtEl>
                                          <p:spTgt spid="73"/>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1" fill="hold" nodeType="clickEffect">
                                  <p:stCondLst>
                                    <p:cond delay="0"/>
                                  </p:stCondLst>
                                  <p:childTnLst>
                                    <p:set>
                                      <p:cBhvr>
                                        <p:cTn id="80" dur="1" fill="hold">
                                          <p:stCondLst>
                                            <p:cond delay="0"/>
                                          </p:stCondLst>
                                        </p:cTn>
                                        <p:tgtEl>
                                          <p:spTgt spid="57"/>
                                        </p:tgtEl>
                                        <p:attrNameLst>
                                          <p:attrName>style.visibility</p:attrName>
                                        </p:attrNameLst>
                                      </p:cBhvr>
                                      <p:to>
                                        <p:strVal val="visible"/>
                                      </p:to>
                                    </p:set>
                                    <p:animEffect transition="in" filter="slide(fromTop)">
                                      <p:cBhvr>
                                        <p:cTn id="81" dur="500"/>
                                        <p:tgtEl>
                                          <p:spTgt spid="57"/>
                                        </p:tgtEl>
                                      </p:cBhvr>
                                    </p:animEffect>
                                  </p:childTnLst>
                                </p:cTn>
                              </p:par>
                            </p:childTnLst>
                          </p:cTn>
                        </p:par>
                        <p:par>
                          <p:cTn id="82" fill="hold">
                            <p:stCondLst>
                              <p:cond delay="500"/>
                            </p:stCondLst>
                            <p:childTnLst>
                              <p:par>
                                <p:cTn id="83" presetID="3" presetClass="entr" presetSubtype="10" fill="hold" nodeType="after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blinds(horizontal)">
                                      <p:cBhvr>
                                        <p:cTn id="85" dur="500"/>
                                        <p:tgtEl>
                                          <p:spTgt spid="3"/>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blinds(horizontal)">
                                      <p:cBhvr>
                                        <p:cTn id="90" dur="500"/>
                                        <p:tgtEl>
                                          <p:spTgt spid="62"/>
                                        </p:tgtEl>
                                      </p:cBhvr>
                                    </p:animEffect>
                                  </p:childTnLst>
                                </p:cTn>
                              </p:par>
                            </p:childTnLst>
                          </p:cTn>
                        </p:par>
                        <p:par>
                          <p:cTn id="91" fill="hold">
                            <p:stCondLst>
                              <p:cond delay="500"/>
                            </p:stCondLst>
                            <p:childTnLst>
                              <p:par>
                                <p:cTn id="92" presetID="12" presetClass="entr" presetSubtype="1" fill="hold" nodeType="afterEffect">
                                  <p:stCondLst>
                                    <p:cond delay="0"/>
                                  </p:stCondLst>
                                  <p:childTnLst>
                                    <p:set>
                                      <p:cBhvr>
                                        <p:cTn id="93" dur="1" fill="hold">
                                          <p:stCondLst>
                                            <p:cond delay="0"/>
                                          </p:stCondLst>
                                        </p:cTn>
                                        <p:tgtEl>
                                          <p:spTgt spid="66"/>
                                        </p:tgtEl>
                                        <p:attrNameLst>
                                          <p:attrName>style.visibility</p:attrName>
                                        </p:attrNameLst>
                                      </p:cBhvr>
                                      <p:to>
                                        <p:strVal val="visible"/>
                                      </p:to>
                                    </p:set>
                                    <p:animEffect transition="in" filter="slide(fromTop)">
                                      <p:cBhvr>
                                        <p:cTn id="94" dur="500"/>
                                        <p:tgtEl>
                                          <p:spTgt spid="66"/>
                                        </p:tgtEl>
                                      </p:cBhvr>
                                    </p:animEffect>
                                  </p:childTnLst>
                                </p:cTn>
                              </p:par>
                            </p:childTnLst>
                          </p:cTn>
                        </p:par>
                        <p:par>
                          <p:cTn id="95" fill="hold">
                            <p:stCondLst>
                              <p:cond delay="1000"/>
                            </p:stCondLst>
                            <p:childTnLst>
                              <p:par>
                                <p:cTn id="96" presetID="3" presetClass="entr" presetSubtype="10" fill="hold" nodeType="after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blinds(horizontal)">
                                      <p:cBhvr>
                                        <p:cTn id="98" dur="500"/>
                                        <p:tgtEl>
                                          <p:spTgt spid="8"/>
                                        </p:tgtEl>
                                      </p:cBhvr>
                                    </p:animEffect>
                                  </p:childTnLst>
                                </p:cTn>
                              </p:par>
                            </p:childTnLst>
                          </p:cTn>
                        </p:par>
                      </p:childTnLst>
                    </p:cTn>
                  </p:par>
                  <p:par>
                    <p:cTn id="99" fill="hold">
                      <p:stCondLst>
                        <p:cond delay="indefinite"/>
                      </p:stCondLst>
                      <p:childTnLst>
                        <p:par>
                          <p:cTn id="100" fill="hold">
                            <p:stCondLst>
                              <p:cond delay="0"/>
                            </p:stCondLst>
                            <p:childTnLst>
                              <p:par>
                                <p:cTn id="101" presetID="12" presetClass="entr" presetSubtype="1" fill="hold" nodeType="clickEffect">
                                  <p:stCondLst>
                                    <p:cond delay="0"/>
                                  </p:stCondLst>
                                  <p:childTnLst>
                                    <p:set>
                                      <p:cBhvr>
                                        <p:cTn id="102" dur="1" fill="hold">
                                          <p:stCondLst>
                                            <p:cond delay="0"/>
                                          </p:stCondLst>
                                        </p:cTn>
                                        <p:tgtEl>
                                          <p:spTgt spid="79"/>
                                        </p:tgtEl>
                                        <p:attrNameLst>
                                          <p:attrName>style.visibility</p:attrName>
                                        </p:attrNameLst>
                                      </p:cBhvr>
                                      <p:to>
                                        <p:strVal val="visible"/>
                                      </p:to>
                                    </p:set>
                                    <p:animEffect transition="in" filter="slide(fromTop)">
                                      <p:cBhvr>
                                        <p:cTn id="103" dur="500"/>
                                        <p:tgtEl>
                                          <p:spTgt spid="79"/>
                                        </p:tgtEl>
                                      </p:cBhvr>
                                    </p:animEffect>
                                  </p:childTnLst>
                                </p:cTn>
                              </p:par>
                            </p:childTnLst>
                          </p:cTn>
                        </p:par>
                        <p:par>
                          <p:cTn id="104" fill="hold">
                            <p:stCondLst>
                              <p:cond delay="500"/>
                            </p:stCondLst>
                            <p:childTnLst>
                              <p:par>
                                <p:cTn id="105" presetID="3" presetClass="entr" presetSubtype="10" fill="hold" grpId="0" nodeType="afterEffect">
                                  <p:stCondLst>
                                    <p:cond delay="0"/>
                                  </p:stCondLst>
                                  <p:childTnLst>
                                    <p:set>
                                      <p:cBhvr>
                                        <p:cTn id="106" dur="1" fill="hold">
                                          <p:stCondLst>
                                            <p:cond delay="0"/>
                                          </p:stCondLst>
                                        </p:cTn>
                                        <p:tgtEl>
                                          <p:spTgt spid="78"/>
                                        </p:tgtEl>
                                        <p:attrNameLst>
                                          <p:attrName>style.visibility</p:attrName>
                                        </p:attrNameLst>
                                      </p:cBhvr>
                                      <p:to>
                                        <p:strVal val="visible"/>
                                      </p:to>
                                    </p:set>
                                    <p:animEffect transition="in" filter="blinds(horizontal)">
                                      <p:cBhvr>
                                        <p:cTn id="107" dur="500"/>
                                        <p:tgtEl>
                                          <p:spTgt spid="78"/>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1" fill="hold" nodeType="click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slide(fromTop)">
                                      <p:cBhvr>
                                        <p:cTn id="112" dur="500"/>
                                        <p:tgtEl>
                                          <p:spTgt spid="72"/>
                                        </p:tgtEl>
                                      </p:cBhvr>
                                    </p:animEffect>
                                  </p:childTnLst>
                                </p:cTn>
                              </p:par>
                            </p:childTnLst>
                          </p:cTn>
                        </p:par>
                        <p:par>
                          <p:cTn id="113" fill="hold">
                            <p:stCondLst>
                              <p:cond delay="500"/>
                            </p:stCondLst>
                            <p:childTnLst>
                              <p:par>
                                <p:cTn id="114" presetID="12" presetClass="entr" presetSubtype="2" fill="hold" nodeType="afterEffect">
                                  <p:stCondLst>
                                    <p:cond delay="0"/>
                                  </p:stCondLst>
                                  <p:childTnLst>
                                    <p:set>
                                      <p:cBhvr>
                                        <p:cTn id="115" dur="1" fill="hold">
                                          <p:stCondLst>
                                            <p:cond delay="0"/>
                                          </p:stCondLst>
                                        </p:cTn>
                                        <p:tgtEl>
                                          <p:spTgt spid="61"/>
                                        </p:tgtEl>
                                        <p:attrNameLst>
                                          <p:attrName>style.visibility</p:attrName>
                                        </p:attrNameLst>
                                      </p:cBhvr>
                                      <p:to>
                                        <p:strVal val="visible"/>
                                      </p:to>
                                    </p:set>
                                    <p:animEffect transition="in" filter="slide(fromRight)">
                                      <p:cBhvr>
                                        <p:cTn id="116" dur="500"/>
                                        <p:tgtEl>
                                          <p:spTgt spid="61"/>
                                        </p:tgtEl>
                                      </p:cBhvr>
                                    </p:animEffect>
                                  </p:childTnLst>
                                </p:cTn>
                              </p:par>
                            </p:childTnLst>
                          </p:cTn>
                        </p:par>
                        <p:par>
                          <p:cTn id="117" fill="hold">
                            <p:stCondLst>
                              <p:cond delay="1000"/>
                            </p:stCondLst>
                            <p:childTnLst>
                              <p:par>
                                <p:cTn id="118" presetID="12" presetClass="entr" presetSubtype="4" fill="hold" nodeType="afterEffect">
                                  <p:stCondLst>
                                    <p:cond delay="0"/>
                                  </p:stCondLst>
                                  <p:childTnLst>
                                    <p:set>
                                      <p:cBhvr>
                                        <p:cTn id="119" dur="1" fill="hold">
                                          <p:stCondLst>
                                            <p:cond delay="0"/>
                                          </p:stCondLst>
                                        </p:cTn>
                                        <p:tgtEl>
                                          <p:spTgt spid="69"/>
                                        </p:tgtEl>
                                        <p:attrNameLst>
                                          <p:attrName>style.visibility</p:attrName>
                                        </p:attrNameLst>
                                      </p:cBhvr>
                                      <p:to>
                                        <p:strVal val="visible"/>
                                      </p:to>
                                    </p:set>
                                    <p:animEffect transition="in" filter="slide(fromBottom)">
                                      <p:cBhvr>
                                        <p:cTn id="120" dur="500"/>
                                        <p:tgtEl>
                                          <p:spTgt spid="69"/>
                                        </p:tgtEl>
                                      </p:cBhvr>
                                    </p:animEffect>
                                  </p:childTnLst>
                                </p:cTn>
                              </p:par>
                            </p:childTnLst>
                          </p:cTn>
                        </p:par>
                        <p:par>
                          <p:cTn id="121" fill="hold">
                            <p:stCondLst>
                              <p:cond delay="1500"/>
                            </p:stCondLst>
                            <p:childTnLst>
                              <p:par>
                                <p:cTn id="122" presetID="12" presetClass="entr" presetSubtype="8" fill="hold" nodeType="afterEffect">
                                  <p:stCondLst>
                                    <p:cond delay="0"/>
                                  </p:stCondLst>
                                  <p:childTnLst>
                                    <p:set>
                                      <p:cBhvr>
                                        <p:cTn id="123" dur="1" fill="hold">
                                          <p:stCondLst>
                                            <p:cond delay="0"/>
                                          </p:stCondLst>
                                        </p:cTn>
                                        <p:tgtEl>
                                          <p:spTgt spid="58"/>
                                        </p:tgtEl>
                                        <p:attrNameLst>
                                          <p:attrName>style.visibility</p:attrName>
                                        </p:attrNameLst>
                                      </p:cBhvr>
                                      <p:to>
                                        <p:strVal val="visible"/>
                                      </p:to>
                                    </p:set>
                                    <p:animEffect transition="in" filter="slide(fromLeft)">
                                      <p:cBhvr>
                                        <p:cTn id="124" dur="500"/>
                                        <p:tgtEl>
                                          <p:spTgt spid="58"/>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68"/>
                                        </p:tgtEl>
                                        <p:attrNameLst>
                                          <p:attrName>style.visibility</p:attrName>
                                        </p:attrNameLst>
                                      </p:cBhvr>
                                      <p:to>
                                        <p:strVal val="visible"/>
                                      </p:to>
                                    </p:set>
                                    <p:animEffect transition="in" filter="blinds(horizontal)">
                                      <p:cBhvr>
                                        <p:cTn id="129" dur="500"/>
                                        <p:tgtEl>
                                          <p:spTgt spid="68"/>
                                        </p:tgtEl>
                                      </p:cBhvr>
                                    </p:animEffect>
                                  </p:childTnLst>
                                </p:cTn>
                              </p:par>
                            </p:childTnLst>
                          </p:cTn>
                        </p:par>
                        <p:par>
                          <p:cTn id="130" fill="hold">
                            <p:stCondLst>
                              <p:cond delay="500"/>
                            </p:stCondLst>
                            <p:childTnLst>
                              <p:par>
                                <p:cTn id="131" presetID="12" presetClass="entr" presetSubtype="8" fill="hold" nodeType="afterEffect">
                                  <p:stCondLst>
                                    <p:cond delay="0"/>
                                  </p:stCondLst>
                                  <p:childTnLst>
                                    <p:set>
                                      <p:cBhvr>
                                        <p:cTn id="132" dur="1" fill="hold">
                                          <p:stCondLst>
                                            <p:cond delay="0"/>
                                          </p:stCondLst>
                                        </p:cTn>
                                        <p:tgtEl>
                                          <p:spTgt spid="67"/>
                                        </p:tgtEl>
                                        <p:attrNameLst>
                                          <p:attrName>style.visibility</p:attrName>
                                        </p:attrNameLst>
                                      </p:cBhvr>
                                      <p:to>
                                        <p:strVal val="visible"/>
                                      </p:to>
                                    </p:set>
                                    <p:animEffect transition="in" filter="slide(fromLeft)">
                                      <p:cBhvr>
                                        <p:cTn id="133" dur="500"/>
                                        <p:tgtEl>
                                          <p:spTgt spid="67"/>
                                        </p:tgtEl>
                                      </p:cBhvr>
                                    </p:animEffect>
                                  </p:childTnLst>
                                </p:cTn>
                              </p:par>
                            </p:childTnLst>
                          </p:cTn>
                        </p:par>
                        <p:par>
                          <p:cTn id="134" fill="hold">
                            <p:stCondLst>
                              <p:cond delay="1000"/>
                            </p:stCondLst>
                            <p:childTnLst>
                              <p:par>
                                <p:cTn id="135" presetID="12" presetClass="entr" presetSubtype="1" fill="hold" nodeType="afterEffect">
                                  <p:stCondLst>
                                    <p:cond delay="0"/>
                                  </p:stCondLst>
                                  <p:childTnLst>
                                    <p:set>
                                      <p:cBhvr>
                                        <p:cTn id="136" dur="1" fill="hold">
                                          <p:stCondLst>
                                            <p:cond delay="0"/>
                                          </p:stCondLst>
                                        </p:cTn>
                                        <p:tgtEl>
                                          <p:spTgt spid="70"/>
                                        </p:tgtEl>
                                        <p:attrNameLst>
                                          <p:attrName>style.visibility</p:attrName>
                                        </p:attrNameLst>
                                      </p:cBhvr>
                                      <p:to>
                                        <p:strVal val="visible"/>
                                      </p:to>
                                    </p:set>
                                    <p:animEffect transition="in" filter="slide(fromTop)">
                                      <p:cBhvr>
                                        <p:cTn id="137" dur="500"/>
                                        <p:tgtEl>
                                          <p:spTgt spid="70"/>
                                        </p:tgtEl>
                                      </p:cBhvr>
                                    </p:animEffect>
                                  </p:childTnLst>
                                </p:cTn>
                              </p:par>
                            </p:childTnLst>
                          </p:cTn>
                        </p:par>
                        <p:par>
                          <p:cTn id="138" fill="hold">
                            <p:stCondLst>
                              <p:cond delay="1500"/>
                            </p:stCondLst>
                            <p:childTnLst>
                              <p:par>
                                <p:cTn id="139" presetID="12" presetClass="entr" presetSubtype="2" fill="hold" nodeType="afterEffect">
                                  <p:stCondLst>
                                    <p:cond delay="0"/>
                                  </p:stCondLst>
                                  <p:childTnLst>
                                    <p:set>
                                      <p:cBhvr>
                                        <p:cTn id="140" dur="1" fill="hold">
                                          <p:stCondLst>
                                            <p:cond delay="0"/>
                                          </p:stCondLst>
                                        </p:cTn>
                                        <p:tgtEl>
                                          <p:spTgt spid="71"/>
                                        </p:tgtEl>
                                        <p:attrNameLst>
                                          <p:attrName>style.visibility</p:attrName>
                                        </p:attrNameLst>
                                      </p:cBhvr>
                                      <p:to>
                                        <p:strVal val="visible"/>
                                      </p:to>
                                    </p:set>
                                    <p:animEffect transition="in" filter="slide(fromRight)">
                                      <p:cBhvr>
                                        <p:cTn id="141" dur="500"/>
                                        <p:tgtEl>
                                          <p:spTgt spid="71"/>
                                        </p:tgtEl>
                                      </p:cBhvr>
                                    </p:animEffect>
                                  </p:childTnLst>
                                </p:cTn>
                              </p:par>
                            </p:childTnLst>
                          </p:cTn>
                        </p:par>
                        <p:par>
                          <p:cTn id="142" fill="hold">
                            <p:stCondLst>
                              <p:cond delay="2000"/>
                            </p:stCondLst>
                            <p:childTnLst>
                              <p:par>
                                <p:cTn id="143" presetID="12" presetClass="entr" presetSubtype="1" fill="hold" nodeType="after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slide(fromTop)">
                                      <p:cBhvr>
                                        <p:cTn id="145" dur="500"/>
                                        <p:tgtEl>
                                          <p:spTgt spid="60"/>
                                        </p:tgtEl>
                                      </p:cBhvr>
                                    </p:animEffect>
                                  </p:child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grpId="0" nodeType="clickEffect">
                                  <p:stCondLst>
                                    <p:cond delay="0"/>
                                  </p:stCondLst>
                                  <p:childTnLst>
                                    <p:set>
                                      <p:cBhvr>
                                        <p:cTn id="149" dur="1" fill="hold">
                                          <p:stCondLst>
                                            <p:cond delay="0"/>
                                          </p:stCondLst>
                                        </p:cTn>
                                        <p:tgtEl>
                                          <p:spTgt spid="83"/>
                                        </p:tgtEl>
                                        <p:attrNameLst>
                                          <p:attrName>style.visibility</p:attrName>
                                        </p:attrNameLst>
                                      </p:cBhvr>
                                      <p:to>
                                        <p:strVal val="visible"/>
                                      </p:to>
                                    </p:set>
                                    <p:animEffect transition="in" filter="blinds(horizontal)">
                                      <p:cBhvr>
                                        <p:cTn id="150" dur="500"/>
                                        <p:tgtEl>
                                          <p:spTgt spid="83"/>
                                        </p:tgtEl>
                                      </p:cBhvr>
                                    </p:animEffect>
                                  </p:childTnLst>
                                </p:cTn>
                              </p:par>
                            </p:childTnLst>
                          </p:cTn>
                        </p:par>
                      </p:childTnLst>
                    </p:cTn>
                  </p:par>
                  <p:par>
                    <p:cTn id="151" fill="hold">
                      <p:stCondLst>
                        <p:cond delay="indefinite"/>
                      </p:stCondLst>
                      <p:childTnLst>
                        <p:par>
                          <p:cTn id="152" fill="hold">
                            <p:stCondLst>
                              <p:cond delay="0"/>
                            </p:stCondLst>
                            <p:childTnLst>
                              <p:par>
                                <p:cTn id="153" presetID="3" presetClass="entr" presetSubtype="10" fill="hold" grpId="0" nodeType="clickEffect">
                                  <p:stCondLst>
                                    <p:cond delay="0"/>
                                  </p:stCondLst>
                                  <p:childTnLst>
                                    <p:set>
                                      <p:cBhvr>
                                        <p:cTn id="154" dur="1" fill="hold">
                                          <p:stCondLst>
                                            <p:cond delay="0"/>
                                          </p:stCondLst>
                                        </p:cTn>
                                        <p:tgtEl>
                                          <p:spTgt spid="84"/>
                                        </p:tgtEl>
                                        <p:attrNameLst>
                                          <p:attrName>style.visibility</p:attrName>
                                        </p:attrNameLst>
                                      </p:cBhvr>
                                      <p:to>
                                        <p:strVal val="visible"/>
                                      </p:to>
                                    </p:set>
                                    <p:animEffect transition="in" filter="blinds(horizontal)">
                                      <p:cBhvr>
                                        <p:cTn id="155"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22" grpId="0"/>
      <p:bldP spid="62" grpId="0"/>
      <p:bldP spid="68" grpId="0"/>
      <p:bldP spid="73" grpId="0" animBg="1"/>
      <p:bldP spid="78" grpId="0" animBg="1"/>
      <p:bldP spid="83" grpId="0" animBg="1"/>
      <p:bldP spid="8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261938" y="561975"/>
            <a:ext cx="7572375" cy="646113"/>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微软雅黑" panose="020B0503020204020204" pitchFamily="34" charset="-122"/>
              </a:rPr>
              <a:t>2.4.3 </a:t>
            </a:r>
            <a:r>
              <a:rPr lang="zh-CN" altLang="zh-CN" sz="3600" b="0" dirty="0">
                <a:solidFill>
                  <a:srgbClr val="235A67"/>
                </a:solidFill>
                <a:latin typeface="Times New Roman" panose="02020603050405020304" pitchFamily="18" charset="0"/>
                <a:ea typeface="微软雅黑" panose="020B0503020204020204" pitchFamily="34" charset="-122"/>
              </a:rPr>
              <a:t>三种基本结构和改进的流程图</a:t>
            </a:r>
            <a:endParaRPr lang="zh-CN" altLang="en-US" sz="3600" b="0" dirty="0">
              <a:solidFill>
                <a:srgbClr val="235A67"/>
              </a:solidFill>
              <a:latin typeface="Times New Roman" panose="02020603050405020304" pitchFamily="18" charset="0"/>
              <a:ea typeface="微软雅黑" panose="020B0503020204020204" pitchFamily="34" charset="-122"/>
            </a:endParaRPr>
          </a:p>
        </p:txBody>
      </p:sp>
      <p:sp>
        <p:nvSpPr>
          <p:cNvPr id="6147" name="Rectangle 3"/>
          <p:cNvSpPr>
            <a:spLocks noGrp="1"/>
          </p:cNvSpPr>
          <p:nvPr>
            <p:ph idx="1"/>
          </p:nvPr>
        </p:nvSpPr>
        <p:spPr>
          <a:xfrm>
            <a:off x="250825" y="1268413"/>
            <a:ext cx="4159250" cy="2071687"/>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2. 三种基本结构</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    (3) 循环结构</a:t>
            </a:r>
            <a:endParaRPr lang="en-US" altLang="zh-CN" b="0" dirty="0">
              <a:latin typeface="Times New Roman" panose="02020603050405020304" pitchFamily="18" charset="0"/>
              <a:ea typeface="微软雅黑" panose="020B0503020204020204" pitchFamily="34" charset="-122"/>
              <a:cs typeface="+mn-cs"/>
            </a:endParaRPr>
          </a:p>
          <a:p>
            <a:pPr lvl="1">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② 直到型循环结构</a:t>
            </a:r>
            <a:endParaRPr lang="en-US" altLang="en-US" b="0" dirty="0">
              <a:latin typeface="Times New Roman" panose="02020603050405020304" pitchFamily="18" charset="0"/>
              <a:ea typeface="微软雅黑" panose="020B0503020204020204" pitchFamily="34" charset="-122"/>
            </a:endParaRPr>
          </a:p>
        </p:txBody>
      </p:sp>
      <p:cxnSp>
        <p:nvCxnSpPr>
          <p:cNvPr id="4" name="直接箭头连接符 3"/>
          <p:cNvCxnSpPr/>
          <p:nvPr/>
        </p:nvCxnSpPr>
        <p:spPr>
          <a:xfrm rot="5400000">
            <a:off x="2589213" y="4048125"/>
            <a:ext cx="530225" cy="1588"/>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a:off x="1500188" y="3962400"/>
            <a:ext cx="1357312" cy="1588"/>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2357438" y="4286250"/>
            <a:ext cx="1000125" cy="522288"/>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7" name="直接箭头连接符 6"/>
          <p:cNvCxnSpPr/>
          <p:nvPr/>
        </p:nvCxnSpPr>
        <p:spPr>
          <a:xfrm rot="5400000">
            <a:off x="2643188" y="5926138"/>
            <a:ext cx="428625" cy="3175"/>
          </a:xfrm>
          <a:prstGeom prst="straightConnector1">
            <a:avLst/>
          </a:prstGeom>
          <a:ln w="38100" cap="flat" cmpd="sng">
            <a:solidFill>
              <a:srgbClr val="00B050"/>
            </a:solidFill>
            <a:prstDash val="solid"/>
            <a:miter/>
            <a:headEnd type="none" w="med" len="med"/>
            <a:tailEnd type="arrow" w="med" len="med"/>
          </a:ln>
        </p:spPr>
      </p:cxnSp>
      <p:cxnSp>
        <p:nvCxnSpPr>
          <p:cNvPr id="11" name="直接连接符 10"/>
          <p:cNvCxnSpPr/>
          <p:nvPr/>
        </p:nvCxnSpPr>
        <p:spPr>
          <a:xfrm rot="10800000">
            <a:off x="1504950" y="5462588"/>
            <a:ext cx="571500" cy="0"/>
          </a:xfrm>
          <a:prstGeom prst="line">
            <a:avLst/>
          </a:prstGeom>
          <a:ln w="38100" cap="flat" cmpd="sng">
            <a:solidFill>
              <a:srgbClr val="00B050"/>
            </a:solidFill>
            <a:prstDash val="solid"/>
            <a:miter/>
            <a:headEnd type="none" w="med" len="med"/>
            <a:tailEnd type="none" w="med" len="med"/>
          </a:ln>
        </p:spPr>
      </p:cxnSp>
      <p:sp>
        <p:nvSpPr>
          <p:cNvPr id="12" name="TextBox 11"/>
          <p:cNvSpPr txBox="1"/>
          <p:nvPr/>
        </p:nvSpPr>
        <p:spPr>
          <a:xfrm>
            <a:off x="2714625" y="5691188"/>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2" name="组合 13"/>
          <p:cNvGrpSpPr/>
          <p:nvPr/>
        </p:nvGrpSpPr>
        <p:grpSpPr>
          <a:xfrm>
            <a:off x="2071688" y="5156200"/>
            <a:ext cx="1571625" cy="555625"/>
            <a:chOff x="1571604" y="3444876"/>
            <a:chExt cx="1571636" cy="555628"/>
          </a:xfrm>
        </p:grpSpPr>
        <p:sp>
          <p:nvSpPr>
            <p:cNvPr id="49187" name="流程图: 决策 8"/>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9188" name="TextBox 12"/>
            <p:cNvSpPr txBox="1"/>
            <p:nvPr/>
          </p:nvSpPr>
          <p:spPr>
            <a:xfrm>
              <a:off x="1857356" y="344487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p2</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18" name="直接箭头连接符 17"/>
          <p:cNvCxnSpPr/>
          <p:nvPr/>
        </p:nvCxnSpPr>
        <p:spPr>
          <a:xfrm rot="5400000">
            <a:off x="2641600" y="5010150"/>
            <a:ext cx="428625" cy="1588"/>
          </a:xfrm>
          <a:prstGeom prst="straightConnector1">
            <a:avLst/>
          </a:prstGeom>
          <a:ln w="38100" cap="flat" cmpd="sng">
            <a:solidFill>
              <a:srgbClr val="00B050"/>
            </a:solidFill>
            <a:prstDash val="solid"/>
            <a:miter/>
            <a:headEnd type="none" w="med" len="med"/>
            <a:tailEnd type="arrow" w="med" len="med"/>
          </a:ln>
        </p:spPr>
      </p:cxnSp>
      <p:sp>
        <p:nvSpPr>
          <p:cNvPr id="22" name="TextBox 21"/>
          <p:cNvSpPr txBox="1"/>
          <p:nvPr/>
        </p:nvSpPr>
        <p:spPr>
          <a:xfrm>
            <a:off x="1500188" y="4976813"/>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3" name="直接连接符 22"/>
          <p:cNvCxnSpPr/>
          <p:nvPr/>
        </p:nvCxnSpPr>
        <p:spPr>
          <a:xfrm rot="5400000" flipH="1" flipV="1">
            <a:off x="749300" y="4711700"/>
            <a:ext cx="1501775" cy="0"/>
          </a:xfrm>
          <a:prstGeom prst="line">
            <a:avLst/>
          </a:prstGeom>
          <a:ln w="38100" cap="flat" cmpd="sng">
            <a:solidFill>
              <a:srgbClr val="00B050"/>
            </a:solidFill>
            <a:prstDash val="solid"/>
            <a:miter/>
            <a:headEnd type="none" w="med" len="med"/>
            <a:tailEnd type="none" w="med" len="med"/>
          </a:ln>
        </p:spPr>
      </p:cxnSp>
      <p:cxnSp>
        <p:nvCxnSpPr>
          <p:cNvPr id="57" name="直接箭头连接符 56"/>
          <p:cNvCxnSpPr/>
          <p:nvPr/>
        </p:nvCxnSpPr>
        <p:spPr>
          <a:xfrm rot="5400000">
            <a:off x="6459538" y="2944813"/>
            <a:ext cx="428625" cy="1587"/>
          </a:xfrm>
          <a:prstGeom prst="straightConnector1">
            <a:avLst/>
          </a:prstGeom>
          <a:ln w="38100" cap="flat" cmpd="sng">
            <a:solidFill>
              <a:srgbClr val="00B050"/>
            </a:solidFill>
            <a:prstDash val="solid"/>
            <a:miter/>
            <a:headEnd type="none" w="med" len="med"/>
            <a:tailEnd type="arrow" w="med" len="med"/>
          </a:ln>
        </p:spPr>
      </p:cxnSp>
      <p:cxnSp>
        <p:nvCxnSpPr>
          <p:cNvPr id="58" name="直接箭头连接符 57"/>
          <p:cNvCxnSpPr/>
          <p:nvPr/>
        </p:nvCxnSpPr>
        <p:spPr>
          <a:xfrm>
            <a:off x="4948238" y="2846388"/>
            <a:ext cx="1714500" cy="1587"/>
          </a:xfrm>
          <a:prstGeom prst="straightConnector1">
            <a:avLst/>
          </a:prstGeom>
          <a:ln w="38100" cap="flat" cmpd="sng">
            <a:solidFill>
              <a:srgbClr val="00B050"/>
            </a:solidFill>
            <a:prstDash val="solid"/>
            <a:miter/>
            <a:headEnd type="none" w="med" len="med"/>
            <a:tailEnd type="arrow" w="med" len="med"/>
          </a:ln>
        </p:spPr>
      </p:cxnSp>
      <p:cxnSp>
        <p:nvCxnSpPr>
          <p:cNvPr id="60" name="直接箭头连接符 59"/>
          <p:cNvCxnSpPr/>
          <p:nvPr/>
        </p:nvCxnSpPr>
        <p:spPr>
          <a:xfrm rot="5400000">
            <a:off x="6303963" y="5667375"/>
            <a:ext cx="714375" cy="3175"/>
          </a:xfrm>
          <a:prstGeom prst="straightConnector1">
            <a:avLst/>
          </a:prstGeom>
          <a:ln w="38100" cap="flat" cmpd="sng">
            <a:solidFill>
              <a:srgbClr val="00B050"/>
            </a:solidFill>
            <a:prstDash val="solid"/>
            <a:miter/>
            <a:headEnd type="none" w="med" len="med"/>
            <a:tailEnd type="arrow" w="med" len="med"/>
          </a:ln>
        </p:spPr>
      </p:cxnSp>
      <p:cxnSp>
        <p:nvCxnSpPr>
          <p:cNvPr id="61" name="直接连接符 60"/>
          <p:cNvCxnSpPr/>
          <p:nvPr/>
        </p:nvCxnSpPr>
        <p:spPr>
          <a:xfrm rot="10800000">
            <a:off x="4948238" y="5068888"/>
            <a:ext cx="714375" cy="0"/>
          </a:xfrm>
          <a:prstGeom prst="line">
            <a:avLst/>
          </a:prstGeom>
          <a:ln w="38100" cap="flat" cmpd="sng">
            <a:solidFill>
              <a:srgbClr val="00B050"/>
            </a:solidFill>
            <a:prstDash val="solid"/>
            <a:miter/>
            <a:headEnd type="none" w="med" len="med"/>
            <a:tailEnd type="none" w="med" len="med"/>
          </a:ln>
        </p:spPr>
      </p:cxnSp>
      <p:sp>
        <p:nvSpPr>
          <p:cNvPr id="62" name="TextBox 61"/>
          <p:cNvSpPr txBox="1"/>
          <p:nvPr/>
        </p:nvSpPr>
        <p:spPr>
          <a:xfrm>
            <a:off x="6519863" y="534670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3" name="组合 13"/>
          <p:cNvGrpSpPr/>
          <p:nvPr/>
        </p:nvGrpSpPr>
        <p:grpSpPr>
          <a:xfrm>
            <a:off x="5683250" y="4783138"/>
            <a:ext cx="1941513" cy="530225"/>
            <a:chOff x="1571604" y="3470276"/>
            <a:chExt cx="1571636" cy="530228"/>
          </a:xfrm>
        </p:grpSpPr>
        <p:sp>
          <p:nvSpPr>
            <p:cNvPr id="49185" name="流程图: 决策 63"/>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49186" name="TextBox 64"/>
            <p:cNvSpPr txBox="1"/>
            <p:nvPr/>
          </p:nvSpPr>
          <p:spPr>
            <a:xfrm>
              <a:off x="1857356" y="347027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x≧5</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66" name="直接箭头连接符 65"/>
          <p:cNvCxnSpPr/>
          <p:nvPr/>
        </p:nvCxnSpPr>
        <p:spPr>
          <a:xfrm rot="5400000">
            <a:off x="6446838" y="3771900"/>
            <a:ext cx="428625" cy="1588"/>
          </a:xfrm>
          <a:prstGeom prst="straightConnector1">
            <a:avLst/>
          </a:prstGeom>
          <a:ln w="38100" cap="flat" cmpd="sng">
            <a:solidFill>
              <a:srgbClr val="00B050"/>
            </a:solidFill>
            <a:prstDash val="solid"/>
            <a:miter/>
            <a:headEnd type="none" w="med" len="med"/>
            <a:tailEnd type="arrow" w="med" len="med"/>
          </a:ln>
        </p:spPr>
      </p:cxnSp>
      <p:sp>
        <p:nvSpPr>
          <p:cNvPr id="68" name="TextBox 67"/>
          <p:cNvSpPr txBox="1"/>
          <p:nvPr/>
        </p:nvSpPr>
        <p:spPr>
          <a:xfrm>
            <a:off x="5019675" y="4608513"/>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69" name="直接连接符 68"/>
          <p:cNvCxnSpPr/>
          <p:nvPr/>
        </p:nvCxnSpPr>
        <p:spPr>
          <a:xfrm rot="-5400000" flipV="1">
            <a:off x="3840163" y="3952875"/>
            <a:ext cx="2214562" cy="0"/>
          </a:xfrm>
          <a:prstGeom prst="line">
            <a:avLst/>
          </a:prstGeom>
          <a:ln w="38100" cap="flat" cmpd="sng">
            <a:solidFill>
              <a:srgbClr val="00B050"/>
            </a:solidFill>
            <a:prstDash val="solid"/>
            <a:miter/>
            <a:headEnd type="none" w="med" len="med"/>
            <a:tailEnd type="none" w="med" len="med"/>
          </a:ln>
        </p:spPr>
      </p:cxnSp>
      <p:sp>
        <p:nvSpPr>
          <p:cNvPr id="73" name="TextBox 72"/>
          <p:cNvSpPr txBox="1"/>
          <p:nvPr/>
        </p:nvSpPr>
        <p:spPr>
          <a:xfrm>
            <a:off x="6019800" y="2274888"/>
            <a:ext cx="1285875"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0</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x</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cxnSp>
        <p:nvCxnSpPr>
          <p:cNvPr id="74" name="直接箭头连接符 73"/>
          <p:cNvCxnSpPr/>
          <p:nvPr/>
        </p:nvCxnSpPr>
        <p:spPr>
          <a:xfrm rot="5400000">
            <a:off x="6446838" y="2057400"/>
            <a:ext cx="428625" cy="3175"/>
          </a:xfrm>
          <a:prstGeom prst="straightConnector1">
            <a:avLst/>
          </a:prstGeom>
          <a:ln w="38100" cap="flat" cmpd="sng">
            <a:solidFill>
              <a:srgbClr val="00B050"/>
            </a:solidFill>
            <a:prstDash val="solid"/>
            <a:miter/>
            <a:headEnd type="none" w="med" len="med"/>
            <a:tailEnd type="arrow" w="med" len="med"/>
          </a:ln>
        </p:spPr>
      </p:cxnSp>
      <p:grpSp>
        <p:nvGrpSpPr>
          <p:cNvPr id="8" name="组合 26"/>
          <p:cNvGrpSpPr/>
          <p:nvPr/>
        </p:nvGrpSpPr>
        <p:grpSpPr>
          <a:xfrm>
            <a:off x="5519738" y="3917950"/>
            <a:ext cx="2376487" cy="523875"/>
            <a:chOff x="900784" y="4405161"/>
            <a:chExt cx="1968104" cy="523220"/>
          </a:xfrm>
        </p:grpSpPr>
        <p:sp>
          <p:nvSpPr>
            <p:cNvPr id="49183" name="平行四边形 75"/>
            <p:cNvSpPr/>
            <p:nvPr/>
          </p:nvSpPr>
          <p:spPr>
            <a:xfrm>
              <a:off x="900784" y="4476599"/>
              <a:ext cx="1954962" cy="428628"/>
            </a:xfrm>
            <a:prstGeom prst="parallelogram">
              <a:avLst>
                <a:gd name="adj" fmla="val 24998"/>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3399"/>
                </a:solidFill>
                <a:latin typeface="Times New Roman" panose="02020603050405020304" pitchFamily="18" charset="0"/>
                <a:ea typeface="微软雅黑" panose="020B0503020204020204" pitchFamily="34" charset="-122"/>
              </a:endParaRPr>
            </a:p>
          </p:txBody>
        </p:sp>
        <p:sp>
          <p:nvSpPr>
            <p:cNvPr id="49184" name="TextBox 76"/>
            <p:cNvSpPr txBox="1"/>
            <p:nvPr/>
          </p:nvSpPr>
          <p:spPr>
            <a:xfrm>
              <a:off x="959964" y="4405161"/>
              <a:ext cx="190892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x</a:t>
              </a:r>
              <a:r>
                <a:rPr lang="zh-CN" altLang="en-US" sz="2800" b="0" dirty="0">
                  <a:solidFill>
                    <a:srgbClr val="003399"/>
                  </a:solidFill>
                  <a:latin typeface="Times New Roman" panose="02020603050405020304" pitchFamily="18" charset="0"/>
                  <a:ea typeface="微软雅黑" panose="020B0503020204020204" pitchFamily="34" charset="-122"/>
                </a:rPr>
                <a:t>的值</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sp>
        <p:nvSpPr>
          <p:cNvPr id="78" name="TextBox 77"/>
          <p:cNvSpPr txBox="1"/>
          <p:nvPr/>
        </p:nvSpPr>
        <p:spPr>
          <a:xfrm>
            <a:off x="5818188" y="3132138"/>
            <a:ext cx="1714500" cy="438150"/>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x+1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x</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cxnSp>
        <p:nvCxnSpPr>
          <p:cNvPr id="79" name="直接箭头连接符 78"/>
          <p:cNvCxnSpPr/>
          <p:nvPr/>
        </p:nvCxnSpPr>
        <p:spPr>
          <a:xfrm rot="5400000">
            <a:off x="6445250" y="4637088"/>
            <a:ext cx="428625" cy="1587"/>
          </a:xfrm>
          <a:prstGeom prst="straightConnector1">
            <a:avLst/>
          </a:prstGeom>
          <a:ln w="38100" cap="flat" cmpd="sng">
            <a:solidFill>
              <a:srgbClr val="00B050"/>
            </a:solidFill>
            <a:prstDash val="solid"/>
            <a:miter/>
            <a:headEnd type="none" w="med" len="med"/>
            <a:tailEnd type="arrow" w="med" len="med"/>
          </a:ln>
        </p:spPr>
      </p:cxnSp>
      <p:sp>
        <p:nvSpPr>
          <p:cNvPr id="52" name="流程图: 过程 51"/>
          <p:cNvSpPr/>
          <p:nvPr/>
        </p:nvSpPr>
        <p:spPr>
          <a:xfrm>
            <a:off x="4530725" y="2779713"/>
            <a:ext cx="3786188" cy="3357562"/>
          </a:xfrm>
          <a:prstGeom prst="flowChartProcess">
            <a:avLst/>
          </a:prstGeom>
          <a:noFill/>
          <a:ln w="38100" cap="flat" cmpd="sng">
            <a:solidFill>
              <a:srgbClr val="C00000"/>
            </a:solidFill>
            <a:prstDash val="dash"/>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sp>
        <p:nvSpPr>
          <p:cNvPr id="53" name="圆角矩形标注 52"/>
          <p:cNvSpPr/>
          <p:nvPr/>
        </p:nvSpPr>
        <p:spPr>
          <a:xfrm>
            <a:off x="2857500" y="857250"/>
            <a:ext cx="2786063" cy="642938"/>
          </a:xfrm>
          <a:prstGeom prst="wedgeRoundRectCallout">
            <a:avLst>
              <a:gd name="adj1" fmla="val 53162"/>
              <a:gd name="adj2" fmla="val 136259"/>
              <a:gd name="adj3" fmla="val 16667"/>
            </a:avLst>
          </a:prstGeom>
          <a:solidFill>
            <a:srgbClr val="FF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zh-CN" sz="2800" b="0" dirty="0">
                <a:solidFill>
                  <a:srgbClr val="992317"/>
                </a:solidFill>
                <a:latin typeface="Times New Roman" panose="02020603050405020304" pitchFamily="18" charset="0"/>
                <a:ea typeface="微软雅黑" panose="020B0503020204020204" pitchFamily="34" charset="-122"/>
              </a:rPr>
              <a:t>输出</a:t>
            </a:r>
            <a:r>
              <a:rPr lang="en-US" altLang="zh-CN" sz="2800" b="0" dirty="0">
                <a:solidFill>
                  <a:srgbClr val="992317"/>
                </a:solidFill>
                <a:latin typeface="Times New Roman" panose="02020603050405020304" pitchFamily="18" charset="0"/>
                <a:ea typeface="微软雅黑" panose="020B0503020204020204" pitchFamily="34" charset="-122"/>
              </a:rPr>
              <a:t>1,2,3,4,5</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pic>
        <p:nvPicPr>
          <p:cNvPr id="49182"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7" dur="500"/>
                                        <p:tgtEl>
                                          <p:spTgt spid="614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Top)">
                                      <p:cBhvr>
                                        <p:cTn id="12" dur="500"/>
                                        <p:tgtEl>
                                          <p:spTgt spid="4"/>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slide(fromTop)">
                                      <p:cBhvr>
                                        <p:cTn id="21" dur="500"/>
                                        <p:tgtEl>
                                          <p:spTgt spid="18"/>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blinds(horizontal)">
                                      <p:cBhvr>
                                        <p:cTn id="30" dur="500"/>
                                        <p:tgtEl>
                                          <p:spTgt spid="22"/>
                                        </p:tgtEl>
                                      </p:cBhvr>
                                    </p:animEffect>
                                  </p:childTnLst>
                                </p:cTn>
                              </p:par>
                            </p:childTnLst>
                          </p:cTn>
                        </p:par>
                        <p:par>
                          <p:cTn id="31" fill="hold">
                            <p:stCondLst>
                              <p:cond delay="500"/>
                            </p:stCondLst>
                            <p:childTnLst>
                              <p:par>
                                <p:cTn id="32" presetID="12" presetClass="entr" presetSubtype="2"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slide(fromRight)">
                                      <p:cBhvr>
                                        <p:cTn id="34" dur="500"/>
                                        <p:tgtEl>
                                          <p:spTgt spid="11"/>
                                        </p:tgtEl>
                                      </p:cBhvr>
                                    </p:animEffect>
                                  </p:childTnLst>
                                </p:cTn>
                              </p:par>
                            </p:childTnLst>
                          </p:cTn>
                        </p:par>
                        <p:par>
                          <p:cTn id="35" fill="hold">
                            <p:stCondLst>
                              <p:cond delay="1000"/>
                            </p:stCondLst>
                            <p:childTnLst>
                              <p:par>
                                <p:cTn id="36" presetID="12" presetClass="entr" presetSubtype="4" fill="hold"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slide(fromBottom)">
                                      <p:cBhvr>
                                        <p:cTn id="38" dur="500"/>
                                        <p:tgtEl>
                                          <p:spTgt spid="23"/>
                                        </p:tgtEl>
                                      </p:cBhvr>
                                    </p:animEffect>
                                  </p:childTnLst>
                                </p:cTn>
                              </p:par>
                            </p:childTnLst>
                          </p:cTn>
                        </p:par>
                        <p:par>
                          <p:cTn id="39" fill="hold">
                            <p:stCondLst>
                              <p:cond delay="1500"/>
                            </p:stCondLst>
                            <p:childTnLst>
                              <p:par>
                                <p:cTn id="40" presetID="12" presetClass="entr" presetSubtype="8"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slide(from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linds(horizontal)">
                                      <p:cBhvr>
                                        <p:cTn id="47" dur="500"/>
                                        <p:tgtEl>
                                          <p:spTgt spid="12"/>
                                        </p:tgtEl>
                                      </p:cBhvr>
                                    </p:animEffect>
                                  </p:childTnLst>
                                </p:cTn>
                              </p:par>
                            </p:childTnLst>
                          </p:cTn>
                        </p:par>
                        <p:par>
                          <p:cTn id="48" fill="hold">
                            <p:stCondLst>
                              <p:cond delay="500"/>
                            </p:stCondLst>
                            <p:childTnLst>
                              <p:par>
                                <p:cTn id="49" presetID="12" presetClass="entr" presetSubtype="1"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slide(fromTop)">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nodeType="clickEffect">
                                  <p:stCondLst>
                                    <p:cond delay="0"/>
                                  </p:stCondLst>
                                  <p:childTnLst>
                                    <p:set>
                                      <p:cBhvr>
                                        <p:cTn id="55" dur="1" fill="hold">
                                          <p:stCondLst>
                                            <p:cond delay="0"/>
                                          </p:stCondLst>
                                        </p:cTn>
                                        <p:tgtEl>
                                          <p:spTgt spid="74"/>
                                        </p:tgtEl>
                                        <p:attrNameLst>
                                          <p:attrName>style.visibility</p:attrName>
                                        </p:attrNameLst>
                                      </p:cBhvr>
                                      <p:to>
                                        <p:strVal val="visible"/>
                                      </p:to>
                                    </p:set>
                                    <p:animEffect transition="in" filter="slide(fromTop)">
                                      <p:cBhvr>
                                        <p:cTn id="56" dur="500"/>
                                        <p:tgtEl>
                                          <p:spTgt spid="74"/>
                                        </p:tgtEl>
                                      </p:cBhvr>
                                    </p:animEffect>
                                  </p:childTnLst>
                                </p:cTn>
                              </p:par>
                            </p:childTnLst>
                          </p:cTn>
                        </p:par>
                        <p:par>
                          <p:cTn id="57" fill="hold">
                            <p:stCondLst>
                              <p:cond delay="500"/>
                            </p:stCondLst>
                            <p:childTnLst>
                              <p:par>
                                <p:cTn id="58" presetID="3" presetClass="entr" presetSubtype="10" fill="hold" grpId="0" nodeType="afterEffect">
                                  <p:stCondLst>
                                    <p:cond delay="0"/>
                                  </p:stCondLst>
                                  <p:childTnLst>
                                    <p:set>
                                      <p:cBhvr>
                                        <p:cTn id="59" dur="1" fill="hold">
                                          <p:stCondLst>
                                            <p:cond delay="0"/>
                                          </p:stCondLst>
                                        </p:cTn>
                                        <p:tgtEl>
                                          <p:spTgt spid="73"/>
                                        </p:tgtEl>
                                        <p:attrNameLst>
                                          <p:attrName>style.visibility</p:attrName>
                                        </p:attrNameLst>
                                      </p:cBhvr>
                                      <p:to>
                                        <p:strVal val="visible"/>
                                      </p:to>
                                    </p:set>
                                    <p:animEffect transition="in" filter="blinds(horizontal)">
                                      <p:cBhvr>
                                        <p:cTn id="60" dur="500"/>
                                        <p:tgtEl>
                                          <p:spTgt spid="73"/>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slide(fromTop)">
                                      <p:cBhvr>
                                        <p:cTn id="65" dur="500"/>
                                        <p:tgtEl>
                                          <p:spTgt spid="57"/>
                                        </p:tgtEl>
                                      </p:cBhvr>
                                    </p:animEffect>
                                  </p:childTnLst>
                                </p:cTn>
                              </p:par>
                            </p:childTnLst>
                          </p:cTn>
                        </p:par>
                        <p:par>
                          <p:cTn id="66" fill="hold">
                            <p:stCondLst>
                              <p:cond delay="500"/>
                            </p:stCondLst>
                            <p:childTnLst>
                              <p:par>
                                <p:cTn id="67" presetID="3" presetClass="entr" presetSubtype="10" fill="hold" grpId="0" nodeType="after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blinds(horizontal)">
                                      <p:cBhvr>
                                        <p:cTn id="69" dur="500"/>
                                        <p:tgtEl>
                                          <p:spTgt spid="78"/>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nodeType="click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slide(fromTop)">
                                      <p:cBhvr>
                                        <p:cTn id="74" dur="500"/>
                                        <p:tgtEl>
                                          <p:spTgt spid="66"/>
                                        </p:tgtEl>
                                      </p:cBhvr>
                                    </p:animEffect>
                                  </p:childTnLst>
                                </p:cTn>
                              </p:par>
                            </p:childTnLst>
                          </p:cTn>
                        </p:par>
                        <p:par>
                          <p:cTn id="75" fill="hold">
                            <p:stCondLst>
                              <p:cond delay="500"/>
                            </p:stCondLst>
                            <p:childTnLst>
                              <p:par>
                                <p:cTn id="76" presetID="3" presetClass="entr" presetSubtype="10" fill="hold" nodeType="after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blinds(horizontal)">
                                      <p:cBhvr>
                                        <p:cTn id="78" dur="500"/>
                                        <p:tgtEl>
                                          <p:spTgt spid="8"/>
                                        </p:tgtEl>
                                      </p:cBhvr>
                                    </p:animEffect>
                                  </p:childTnLst>
                                </p:cTn>
                              </p:par>
                            </p:childTnLst>
                          </p:cTn>
                        </p:par>
                      </p:childTnLst>
                    </p:cTn>
                  </p:par>
                  <p:par>
                    <p:cTn id="79" fill="hold">
                      <p:stCondLst>
                        <p:cond delay="indefinite"/>
                      </p:stCondLst>
                      <p:childTnLst>
                        <p:par>
                          <p:cTn id="80" fill="hold">
                            <p:stCondLst>
                              <p:cond delay="0"/>
                            </p:stCondLst>
                            <p:childTnLst>
                              <p:par>
                                <p:cTn id="81" presetID="12" presetClass="entr" presetSubtype="1" fill="hold" nodeType="clickEffect">
                                  <p:stCondLst>
                                    <p:cond delay="0"/>
                                  </p:stCondLst>
                                  <p:childTnLst>
                                    <p:set>
                                      <p:cBhvr>
                                        <p:cTn id="82" dur="1" fill="hold">
                                          <p:stCondLst>
                                            <p:cond delay="0"/>
                                          </p:stCondLst>
                                        </p:cTn>
                                        <p:tgtEl>
                                          <p:spTgt spid="79"/>
                                        </p:tgtEl>
                                        <p:attrNameLst>
                                          <p:attrName>style.visibility</p:attrName>
                                        </p:attrNameLst>
                                      </p:cBhvr>
                                      <p:to>
                                        <p:strVal val="visible"/>
                                      </p:to>
                                    </p:set>
                                    <p:animEffect transition="in" filter="slide(fromTop)">
                                      <p:cBhvr>
                                        <p:cTn id="83" dur="500"/>
                                        <p:tgtEl>
                                          <p:spTgt spid="79"/>
                                        </p:tgtEl>
                                      </p:cBhvr>
                                    </p:animEffect>
                                  </p:childTnLst>
                                </p:cTn>
                              </p:par>
                            </p:childTnLst>
                          </p:cTn>
                        </p:par>
                        <p:par>
                          <p:cTn id="84" fill="hold">
                            <p:stCondLst>
                              <p:cond delay="500"/>
                            </p:stCondLst>
                            <p:childTnLst>
                              <p:par>
                                <p:cTn id="85" presetID="3" presetClass="entr" presetSubtype="10" fill="hold" nodeType="after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blinds(horizontal)">
                                      <p:cBhvr>
                                        <p:cTn id="87" dur="500"/>
                                        <p:tgtEl>
                                          <p:spTgt spid="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blinds(horizontal)">
                                      <p:cBhvr>
                                        <p:cTn id="92" dur="500"/>
                                        <p:tgtEl>
                                          <p:spTgt spid="68"/>
                                        </p:tgtEl>
                                      </p:cBhvr>
                                    </p:animEffect>
                                  </p:childTnLst>
                                </p:cTn>
                              </p:par>
                            </p:childTnLst>
                          </p:cTn>
                        </p:par>
                        <p:par>
                          <p:cTn id="93" fill="hold">
                            <p:stCondLst>
                              <p:cond delay="500"/>
                            </p:stCondLst>
                            <p:childTnLst>
                              <p:par>
                                <p:cTn id="94" presetID="12" presetClass="entr" presetSubtype="2" fill="hold" nodeType="afterEffect">
                                  <p:stCondLst>
                                    <p:cond delay="0"/>
                                  </p:stCondLst>
                                  <p:childTnLst>
                                    <p:set>
                                      <p:cBhvr>
                                        <p:cTn id="95" dur="1" fill="hold">
                                          <p:stCondLst>
                                            <p:cond delay="0"/>
                                          </p:stCondLst>
                                        </p:cTn>
                                        <p:tgtEl>
                                          <p:spTgt spid="61"/>
                                        </p:tgtEl>
                                        <p:attrNameLst>
                                          <p:attrName>style.visibility</p:attrName>
                                        </p:attrNameLst>
                                      </p:cBhvr>
                                      <p:to>
                                        <p:strVal val="visible"/>
                                      </p:to>
                                    </p:set>
                                    <p:animEffect transition="in" filter="slide(fromRight)">
                                      <p:cBhvr>
                                        <p:cTn id="96" dur="500"/>
                                        <p:tgtEl>
                                          <p:spTgt spid="61"/>
                                        </p:tgtEl>
                                      </p:cBhvr>
                                    </p:animEffect>
                                  </p:childTnLst>
                                </p:cTn>
                              </p:par>
                            </p:childTnLst>
                          </p:cTn>
                        </p:par>
                        <p:par>
                          <p:cTn id="97" fill="hold">
                            <p:stCondLst>
                              <p:cond delay="1000"/>
                            </p:stCondLst>
                            <p:childTnLst>
                              <p:par>
                                <p:cTn id="98" presetID="12" presetClass="entr" presetSubtype="4" fill="hold" nodeType="afterEffect">
                                  <p:stCondLst>
                                    <p:cond delay="0"/>
                                  </p:stCondLst>
                                  <p:childTnLst>
                                    <p:set>
                                      <p:cBhvr>
                                        <p:cTn id="99" dur="1" fill="hold">
                                          <p:stCondLst>
                                            <p:cond delay="0"/>
                                          </p:stCondLst>
                                        </p:cTn>
                                        <p:tgtEl>
                                          <p:spTgt spid="69"/>
                                        </p:tgtEl>
                                        <p:attrNameLst>
                                          <p:attrName>style.visibility</p:attrName>
                                        </p:attrNameLst>
                                      </p:cBhvr>
                                      <p:to>
                                        <p:strVal val="visible"/>
                                      </p:to>
                                    </p:set>
                                    <p:animEffect transition="in" filter="slide(fromBottom)">
                                      <p:cBhvr>
                                        <p:cTn id="100" dur="500"/>
                                        <p:tgtEl>
                                          <p:spTgt spid="69"/>
                                        </p:tgtEl>
                                      </p:cBhvr>
                                    </p:animEffect>
                                  </p:childTnLst>
                                </p:cTn>
                              </p:par>
                            </p:childTnLst>
                          </p:cTn>
                        </p:par>
                        <p:par>
                          <p:cTn id="101" fill="hold">
                            <p:stCondLst>
                              <p:cond delay="1500"/>
                            </p:stCondLst>
                            <p:childTnLst>
                              <p:par>
                                <p:cTn id="102" presetID="12" presetClass="entr" presetSubtype="8" fill="hold" nodeType="after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slide(fromLeft)">
                                      <p:cBhvr>
                                        <p:cTn id="104" dur="500"/>
                                        <p:tgtEl>
                                          <p:spTgt spid="58"/>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62"/>
                                        </p:tgtEl>
                                        <p:attrNameLst>
                                          <p:attrName>style.visibility</p:attrName>
                                        </p:attrNameLst>
                                      </p:cBhvr>
                                      <p:to>
                                        <p:strVal val="visible"/>
                                      </p:to>
                                    </p:set>
                                    <p:animEffect transition="in" filter="blinds(horizontal)">
                                      <p:cBhvr>
                                        <p:cTn id="109" dur="500"/>
                                        <p:tgtEl>
                                          <p:spTgt spid="62"/>
                                        </p:tgtEl>
                                      </p:cBhvr>
                                    </p:animEffect>
                                  </p:childTnLst>
                                </p:cTn>
                              </p:par>
                            </p:childTnLst>
                          </p:cTn>
                        </p:par>
                        <p:par>
                          <p:cTn id="110" fill="hold">
                            <p:stCondLst>
                              <p:cond delay="500"/>
                            </p:stCondLst>
                            <p:childTnLst>
                              <p:par>
                                <p:cTn id="111" presetID="12" presetClass="entr" presetSubtype="1" fill="hold" nodeType="afterEffect">
                                  <p:stCondLst>
                                    <p:cond delay="0"/>
                                  </p:stCondLst>
                                  <p:childTnLst>
                                    <p:set>
                                      <p:cBhvr>
                                        <p:cTn id="112" dur="1" fill="hold">
                                          <p:stCondLst>
                                            <p:cond delay="0"/>
                                          </p:stCondLst>
                                        </p:cTn>
                                        <p:tgtEl>
                                          <p:spTgt spid="60"/>
                                        </p:tgtEl>
                                        <p:attrNameLst>
                                          <p:attrName>style.visibility</p:attrName>
                                        </p:attrNameLst>
                                      </p:cBhvr>
                                      <p:to>
                                        <p:strVal val="visible"/>
                                      </p:to>
                                    </p:set>
                                    <p:animEffect transition="in" filter="slide(fromTop)">
                                      <p:cBhvr>
                                        <p:cTn id="113" dur="500"/>
                                        <p:tgtEl>
                                          <p:spTgt spid="6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blinds(horizontal)">
                                      <p:cBhvr>
                                        <p:cTn id="118" dur="500"/>
                                        <p:tgtEl>
                                          <p:spTgt spid="52"/>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blinds(horizontal)">
                                      <p:cBhvr>
                                        <p:cTn id="12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22" grpId="0"/>
      <p:bldP spid="62" grpId="0"/>
      <p:bldP spid="68" grpId="0"/>
      <p:bldP spid="73" grpId="0" animBg="1"/>
      <p:bldP spid="78" grpId="0" animBg="1"/>
      <p:bldP spid="52" grpId="0" animBg="1"/>
      <p:bldP spid="5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250825" y="684213"/>
            <a:ext cx="8424863" cy="5337175"/>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以上三种基本结构，有以下共同特点：</a:t>
            </a:r>
            <a:endParaRPr kumimoji="1" lang="zh-CN" altLang="zh-CN" sz="32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只有一个入口</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只有一个出口</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143000" marR="0" lvl="2"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l"/>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a:t>
            </a:r>
            <a:r>
              <a:rPr kumimoji="1" lang="zh-CN"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判断框</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有两个出口</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143000" marR="0" lvl="2" indent="-228600" algn="l" defTabSz="914400" rtl="0" eaLnBrk="0" fontAlgn="base" latinLnBrk="0" hangingPunct="0">
              <a:lnSpc>
                <a:spcPct val="120000"/>
              </a:lnSpc>
              <a:spcBef>
                <a:spcPct val="20000"/>
              </a:spcBef>
              <a:spcAft>
                <a:spcPct val="0"/>
              </a:spcAft>
              <a:buClrTx/>
              <a:buSzTx/>
              <a:buFont typeface="Wingdings" panose="05000000000000000000" pitchFamily="2" charset="2"/>
              <a:buChar char="l"/>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a:t>
            </a:r>
            <a:r>
              <a:rPr kumimoji="1" lang="zh-CN"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选择结构</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只有一个出口</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1027430" marR="0" lvl="1" indent="-57023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结构内的每一部分都有机会被执行到。也就是说，对每一个框来说，都应当有一条从入口到出口的路径通过它</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结构内不存在“死循环”</a:t>
            </a:r>
            <a:endPar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017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8">
                                            <p:txEl>
                                              <p:pRg st="1" end="1"/>
                                            </p:txEl>
                                          </p:spTgt>
                                        </p:tgtEl>
                                        <p:attrNameLst>
                                          <p:attrName>style.visibility</p:attrName>
                                        </p:attrNameLst>
                                      </p:cBhvr>
                                      <p:to>
                                        <p:strVal val="visible"/>
                                      </p:to>
                                    </p:set>
                                    <p:animEffect transition="in" filter="blinds(horizontal)">
                                      <p:cBhvr>
                                        <p:cTn id="7" dur="500"/>
                                        <p:tgtEl>
                                          <p:spTgt spid="5529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298">
                                            <p:txEl>
                                              <p:pRg st="2" end="2"/>
                                            </p:txEl>
                                          </p:spTgt>
                                        </p:tgtEl>
                                        <p:attrNameLst>
                                          <p:attrName>style.visibility</p:attrName>
                                        </p:attrNameLst>
                                      </p:cBhvr>
                                      <p:to>
                                        <p:strVal val="visible"/>
                                      </p:to>
                                    </p:set>
                                    <p:animEffect transition="in" filter="blinds(horizontal)">
                                      <p:cBhvr>
                                        <p:cTn id="12" dur="500"/>
                                        <p:tgtEl>
                                          <p:spTgt spid="55298">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5298">
                                            <p:txEl>
                                              <p:pRg st="3" end="3"/>
                                            </p:txEl>
                                          </p:spTgt>
                                        </p:tgtEl>
                                        <p:attrNameLst>
                                          <p:attrName>style.visibility</p:attrName>
                                        </p:attrNameLst>
                                      </p:cBhvr>
                                      <p:to>
                                        <p:strVal val="visible"/>
                                      </p:to>
                                    </p:set>
                                    <p:animEffect transition="in" filter="blinds(horizontal)">
                                      <p:cBhvr>
                                        <p:cTn id="15" dur="500"/>
                                        <p:tgtEl>
                                          <p:spTgt spid="55298">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5298">
                                            <p:txEl>
                                              <p:pRg st="4" end="4"/>
                                            </p:txEl>
                                          </p:spTgt>
                                        </p:tgtEl>
                                        <p:attrNameLst>
                                          <p:attrName>style.visibility</p:attrName>
                                        </p:attrNameLst>
                                      </p:cBhvr>
                                      <p:to>
                                        <p:strVal val="visible"/>
                                      </p:to>
                                    </p:set>
                                    <p:animEffect transition="in" filter="blinds(horizontal)">
                                      <p:cBhvr>
                                        <p:cTn id="18" dur="500"/>
                                        <p:tgtEl>
                                          <p:spTgt spid="5529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5298">
                                            <p:txEl>
                                              <p:pRg st="5" end="5"/>
                                            </p:txEl>
                                          </p:spTgt>
                                        </p:tgtEl>
                                        <p:attrNameLst>
                                          <p:attrName>style.visibility</p:attrName>
                                        </p:attrNameLst>
                                      </p:cBhvr>
                                      <p:to>
                                        <p:strVal val="visible"/>
                                      </p:to>
                                    </p:set>
                                    <p:animEffect transition="in" filter="blinds(horizontal)">
                                      <p:cBhvr>
                                        <p:cTn id="23" dur="500"/>
                                        <p:tgtEl>
                                          <p:spTgt spid="55298">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5298">
                                            <p:txEl>
                                              <p:pRg st="6" end="6"/>
                                            </p:txEl>
                                          </p:spTgt>
                                        </p:tgtEl>
                                        <p:attrNameLst>
                                          <p:attrName>style.visibility</p:attrName>
                                        </p:attrNameLst>
                                      </p:cBhvr>
                                      <p:to>
                                        <p:strVal val="visible"/>
                                      </p:to>
                                    </p:set>
                                    <p:animEffect transition="in" filter="blinds(horizontal)">
                                      <p:cBhvr>
                                        <p:cTn id="28" dur="500"/>
                                        <p:tgtEl>
                                          <p:spTgt spid="5529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p:cNvSpPr>
            <a:spLocks noGrp="1"/>
          </p:cNvSpPr>
          <p:nvPr>
            <p:ph idx="1"/>
          </p:nvPr>
        </p:nvSpPr>
        <p:spPr>
          <a:xfrm>
            <a:off x="306388" y="692150"/>
            <a:ext cx="8153400" cy="785813"/>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 由三种基本结构派生出来的</a:t>
            </a:r>
            <a:r>
              <a:rPr lang="en-US" altLang="en-US" b="0" dirty="0">
                <a:latin typeface="Times New Roman" panose="02020603050405020304" pitchFamily="18" charset="0"/>
                <a:ea typeface="微软雅黑" panose="020B0503020204020204" pitchFamily="34" charset="-122"/>
                <a:cs typeface="+mn-cs"/>
              </a:rPr>
              <a:t>结构：</a:t>
            </a:r>
            <a:endParaRPr lang="en-US" altLang="en-US" b="0" dirty="0">
              <a:latin typeface="Times New Roman" panose="02020603050405020304" pitchFamily="18" charset="0"/>
              <a:ea typeface="微软雅黑" panose="020B0503020204020204" pitchFamily="34" charset="-122"/>
              <a:cs typeface="+mn-cs"/>
            </a:endParaRPr>
          </a:p>
        </p:txBody>
      </p:sp>
      <p:cxnSp>
        <p:nvCxnSpPr>
          <p:cNvPr id="4" name="直接箭头连接符 3"/>
          <p:cNvCxnSpPr/>
          <p:nvPr/>
        </p:nvCxnSpPr>
        <p:spPr>
          <a:xfrm rot="5400000">
            <a:off x="1984375" y="2033588"/>
            <a:ext cx="530225" cy="1587"/>
          </a:xfrm>
          <a:prstGeom prst="straightConnector1">
            <a:avLst/>
          </a:prstGeom>
          <a:ln w="38100" cap="flat" cmpd="sng">
            <a:solidFill>
              <a:srgbClr val="00B050"/>
            </a:solidFill>
            <a:prstDash val="solid"/>
            <a:miter/>
            <a:headEnd type="none" w="med" len="med"/>
            <a:tailEnd type="arrow" w="med" len="med"/>
          </a:ln>
        </p:spPr>
      </p:cxnSp>
      <p:cxnSp>
        <p:nvCxnSpPr>
          <p:cNvPr id="5" name="直接箭头连接符 4"/>
          <p:cNvCxnSpPr/>
          <p:nvPr/>
        </p:nvCxnSpPr>
        <p:spPr>
          <a:xfrm>
            <a:off x="895350" y="1946275"/>
            <a:ext cx="1357313" cy="1588"/>
          </a:xfrm>
          <a:prstGeom prst="straightConnector1">
            <a:avLst/>
          </a:prstGeom>
          <a:ln w="38100" cap="flat" cmpd="sng">
            <a:solidFill>
              <a:srgbClr val="00B050"/>
            </a:solidFill>
            <a:prstDash val="solid"/>
            <a:miter/>
            <a:headEnd type="none" w="med" len="med"/>
            <a:tailEnd type="arrow" w="med" len="med"/>
          </a:ln>
        </p:spPr>
      </p:cxnSp>
      <p:sp>
        <p:nvSpPr>
          <p:cNvPr id="6" name="TextBox 5"/>
          <p:cNvSpPr txBox="1"/>
          <p:nvPr/>
        </p:nvSpPr>
        <p:spPr>
          <a:xfrm>
            <a:off x="1752600" y="2270125"/>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7" name="直接箭头连接符 6"/>
          <p:cNvCxnSpPr/>
          <p:nvPr/>
        </p:nvCxnSpPr>
        <p:spPr>
          <a:xfrm rot="5400000">
            <a:off x="2038350" y="3911600"/>
            <a:ext cx="428625" cy="3175"/>
          </a:xfrm>
          <a:prstGeom prst="straightConnector1">
            <a:avLst/>
          </a:prstGeom>
          <a:ln w="38100" cap="flat" cmpd="sng">
            <a:solidFill>
              <a:srgbClr val="00B050"/>
            </a:solidFill>
            <a:prstDash val="solid"/>
            <a:miter/>
            <a:headEnd type="none" w="med" len="med"/>
            <a:tailEnd type="arrow" w="med" len="med"/>
          </a:ln>
        </p:spPr>
      </p:cxnSp>
      <p:cxnSp>
        <p:nvCxnSpPr>
          <p:cNvPr id="8" name="直接连接符 7"/>
          <p:cNvCxnSpPr/>
          <p:nvPr/>
        </p:nvCxnSpPr>
        <p:spPr>
          <a:xfrm rot="10800000">
            <a:off x="900113" y="3448050"/>
            <a:ext cx="571500" cy="0"/>
          </a:xfrm>
          <a:prstGeom prst="line">
            <a:avLst/>
          </a:prstGeom>
          <a:ln w="38100" cap="flat" cmpd="sng">
            <a:solidFill>
              <a:srgbClr val="00B050"/>
            </a:solidFill>
            <a:prstDash val="solid"/>
            <a:miter/>
            <a:headEnd type="none" w="med" len="med"/>
            <a:tailEnd type="none" w="med" len="med"/>
          </a:ln>
        </p:spPr>
      </p:cxnSp>
      <p:sp>
        <p:nvSpPr>
          <p:cNvPr id="9" name="TextBox 8"/>
          <p:cNvSpPr txBox="1"/>
          <p:nvPr/>
        </p:nvSpPr>
        <p:spPr>
          <a:xfrm>
            <a:off x="2109788" y="3676650"/>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nvGrpSpPr>
          <p:cNvPr id="2" name="组合 13"/>
          <p:cNvGrpSpPr/>
          <p:nvPr/>
        </p:nvGrpSpPr>
        <p:grpSpPr>
          <a:xfrm>
            <a:off x="1466850" y="3140075"/>
            <a:ext cx="1571625" cy="557213"/>
            <a:chOff x="1571604" y="3444876"/>
            <a:chExt cx="1571636" cy="555628"/>
          </a:xfrm>
        </p:grpSpPr>
        <p:sp>
          <p:nvSpPr>
            <p:cNvPr id="51237" name="流程图: 决策 10"/>
            <p:cNvSpPr/>
            <p:nvPr/>
          </p:nvSpPr>
          <p:spPr>
            <a:xfrm>
              <a:off x="1571604" y="3500438"/>
              <a:ext cx="1571636" cy="500066"/>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3399"/>
                </a:solidFill>
                <a:latin typeface="Times New Roman" panose="02020603050405020304" pitchFamily="18" charset="0"/>
                <a:ea typeface="微软雅黑" panose="020B0503020204020204" pitchFamily="34" charset="-122"/>
              </a:endParaRPr>
            </a:p>
          </p:txBody>
        </p:sp>
        <p:sp>
          <p:nvSpPr>
            <p:cNvPr id="51238" name="TextBox 11"/>
            <p:cNvSpPr txBox="1"/>
            <p:nvPr/>
          </p:nvSpPr>
          <p:spPr>
            <a:xfrm>
              <a:off x="1857356" y="344487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p2</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cxnSp>
        <p:nvCxnSpPr>
          <p:cNvPr id="13" name="直接箭头连接符 12"/>
          <p:cNvCxnSpPr/>
          <p:nvPr/>
        </p:nvCxnSpPr>
        <p:spPr>
          <a:xfrm rot="5400000">
            <a:off x="2038350" y="2994025"/>
            <a:ext cx="428625" cy="3175"/>
          </a:xfrm>
          <a:prstGeom prst="straightConnector1">
            <a:avLst/>
          </a:prstGeom>
          <a:ln w="38100" cap="flat" cmpd="sng">
            <a:solidFill>
              <a:srgbClr val="00B050"/>
            </a:solidFill>
            <a:prstDash val="solid"/>
            <a:miter/>
            <a:headEnd type="none" w="med" len="med"/>
            <a:tailEnd type="arrow" w="med" len="med"/>
          </a:ln>
        </p:spPr>
      </p:cxnSp>
      <p:sp>
        <p:nvSpPr>
          <p:cNvPr id="14" name="TextBox 13"/>
          <p:cNvSpPr txBox="1"/>
          <p:nvPr/>
        </p:nvSpPr>
        <p:spPr>
          <a:xfrm>
            <a:off x="895350" y="2962275"/>
            <a:ext cx="71437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5" name="直接连接符 14"/>
          <p:cNvCxnSpPr>
            <a:stCxn id="16" idx="0"/>
          </p:cNvCxnSpPr>
          <p:nvPr/>
        </p:nvCxnSpPr>
        <p:spPr>
          <a:xfrm rot="5400000" flipH="1" flipV="1">
            <a:off x="696913" y="2144713"/>
            <a:ext cx="396875" cy="0"/>
          </a:xfrm>
          <a:prstGeom prst="line">
            <a:avLst/>
          </a:prstGeom>
          <a:ln w="38100" cap="flat" cmpd="sng">
            <a:solidFill>
              <a:srgbClr val="00B050"/>
            </a:solidFill>
            <a:prstDash val="solid"/>
            <a:miter/>
            <a:headEnd type="none" w="med" len="med"/>
            <a:tailEnd type="none" w="med" len="med"/>
          </a:ln>
        </p:spPr>
      </p:cxnSp>
      <p:sp>
        <p:nvSpPr>
          <p:cNvPr id="16" name="TextBox 15"/>
          <p:cNvSpPr txBox="1"/>
          <p:nvPr/>
        </p:nvSpPr>
        <p:spPr>
          <a:xfrm>
            <a:off x="395288" y="2343150"/>
            <a:ext cx="1000125"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2" name="直接箭头连接符 21"/>
          <p:cNvCxnSpPr>
            <a:stCxn id="16" idx="0"/>
          </p:cNvCxnSpPr>
          <p:nvPr/>
        </p:nvCxnSpPr>
        <p:spPr>
          <a:xfrm rot="5400000" flipH="1" flipV="1">
            <a:off x="584200" y="3151188"/>
            <a:ext cx="620713" cy="1587"/>
          </a:xfrm>
          <a:prstGeom prst="straightConnector1">
            <a:avLst/>
          </a:prstGeom>
          <a:ln w="38100" cap="flat" cmpd="sng">
            <a:solidFill>
              <a:srgbClr val="00B050"/>
            </a:solidFill>
            <a:prstDash val="solid"/>
            <a:miter/>
            <a:headEnd type="none" w="med" len="med"/>
            <a:tailEnd type="arrow" w="med" len="med"/>
          </a:ln>
        </p:spPr>
      </p:cxnSp>
      <p:cxnSp>
        <p:nvCxnSpPr>
          <p:cNvPr id="25" name="直接箭头连接符 24"/>
          <p:cNvCxnSpPr>
            <a:stCxn id="16" idx="0"/>
          </p:cNvCxnSpPr>
          <p:nvPr/>
        </p:nvCxnSpPr>
        <p:spPr>
          <a:xfrm rot="5400000">
            <a:off x="5486400" y="1676400"/>
            <a:ext cx="530225" cy="1588"/>
          </a:xfrm>
          <a:prstGeom prst="straightConnector1">
            <a:avLst/>
          </a:prstGeom>
          <a:ln w="38100" cap="flat" cmpd="sng">
            <a:solidFill>
              <a:srgbClr val="00B050"/>
            </a:solidFill>
            <a:prstDash val="solid"/>
            <a:miter/>
            <a:headEnd type="none" w="med" len="med"/>
            <a:tailEnd type="arrow" w="med" len="med"/>
          </a:ln>
        </p:spPr>
      </p:cxnSp>
      <p:sp>
        <p:nvSpPr>
          <p:cNvPr id="26" name="TextBox 25"/>
          <p:cNvSpPr txBox="1"/>
          <p:nvPr/>
        </p:nvSpPr>
        <p:spPr>
          <a:xfrm>
            <a:off x="4467225" y="1901825"/>
            <a:ext cx="2571750" cy="954088"/>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根据表达式</a:t>
            </a:r>
            <a:r>
              <a:rPr lang="en-US" altLang="zh-CN" sz="2800" b="0" dirty="0">
                <a:solidFill>
                  <a:srgbClr val="003399"/>
                </a:solidFill>
                <a:latin typeface="Times New Roman" panose="02020603050405020304" pitchFamily="18" charset="0"/>
                <a:ea typeface="微软雅黑" panose="020B0503020204020204" pitchFamily="34" charset="-122"/>
              </a:rPr>
              <a:t>p</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的值进行选择</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7" name="TextBox 26"/>
          <p:cNvSpPr txBox="1"/>
          <p:nvPr/>
        </p:nvSpPr>
        <p:spPr>
          <a:xfrm>
            <a:off x="2967038" y="4129088"/>
            <a:ext cx="7858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8" name="TextBox 27"/>
          <p:cNvSpPr txBox="1"/>
          <p:nvPr/>
        </p:nvSpPr>
        <p:spPr>
          <a:xfrm>
            <a:off x="4467225" y="4129088"/>
            <a:ext cx="7858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9" name="直接箭头连接符 28"/>
          <p:cNvCxnSpPr>
            <a:stCxn id="16" idx="0"/>
            <a:endCxn id="27" idx="0"/>
          </p:cNvCxnSpPr>
          <p:nvPr/>
        </p:nvCxnSpPr>
        <p:spPr>
          <a:xfrm rot="-10800000" flipV="1">
            <a:off x="3359150" y="2843213"/>
            <a:ext cx="1393825" cy="1285875"/>
          </a:xfrm>
          <a:prstGeom prst="straightConnector1">
            <a:avLst/>
          </a:prstGeom>
          <a:ln w="38100" cap="flat" cmpd="sng">
            <a:solidFill>
              <a:srgbClr val="00B050"/>
            </a:solidFill>
            <a:prstDash val="solid"/>
            <a:miter/>
            <a:headEnd type="none" w="med" len="med"/>
            <a:tailEnd type="arrow" w="med" len="med"/>
          </a:ln>
        </p:spPr>
      </p:cxnSp>
      <p:sp>
        <p:nvSpPr>
          <p:cNvPr id="31" name="TextBox 30"/>
          <p:cNvSpPr txBox="1"/>
          <p:nvPr/>
        </p:nvSpPr>
        <p:spPr>
          <a:xfrm rot="-2581432">
            <a:off x="3227388" y="3143250"/>
            <a:ext cx="11430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p=p1</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4" name="直接箭头连接符 33"/>
          <p:cNvCxnSpPr>
            <a:stCxn id="16" idx="0"/>
            <a:endCxn id="28" idx="0"/>
          </p:cNvCxnSpPr>
          <p:nvPr/>
        </p:nvCxnSpPr>
        <p:spPr>
          <a:xfrm rot="5400000">
            <a:off x="4324350" y="3378200"/>
            <a:ext cx="1285875" cy="212725"/>
          </a:xfrm>
          <a:prstGeom prst="straightConnector1">
            <a:avLst/>
          </a:prstGeom>
          <a:ln w="38100" cap="flat" cmpd="sng">
            <a:solidFill>
              <a:srgbClr val="00B050"/>
            </a:solidFill>
            <a:prstDash val="solid"/>
            <a:miter/>
            <a:headEnd type="none" w="med" len="med"/>
            <a:tailEnd type="arrow" w="med" len="med"/>
          </a:ln>
        </p:spPr>
      </p:cxnSp>
      <p:sp>
        <p:nvSpPr>
          <p:cNvPr id="35" name="TextBox 34"/>
          <p:cNvSpPr txBox="1"/>
          <p:nvPr/>
        </p:nvSpPr>
        <p:spPr>
          <a:xfrm rot="-4721167">
            <a:off x="4121150" y="3233738"/>
            <a:ext cx="11430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p=p2</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8" name="TextBox 37"/>
          <p:cNvSpPr txBox="1"/>
          <p:nvPr/>
        </p:nvSpPr>
        <p:spPr>
          <a:xfrm>
            <a:off x="5538788" y="4129088"/>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9" name="TextBox 38"/>
          <p:cNvSpPr txBox="1"/>
          <p:nvPr/>
        </p:nvSpPr>
        <p:spPr>
          <a:xfrm>
            <a:off x="6396038" y="4129088"/>
            <a:ext cx="785812"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M</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0" name="TextBox 39"/>
          <p:cNvSpPr txBox="1"/>
          <p:nvPr/>
        </p:nvSpPr>
        <p:spPr>
          <a:xfrm>
            <a:off x="7896225" y="4129088"/>
            <a:ext cx="785813" cy="523875"/>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1" name="直接箭头连接符 40"/>
          <p:cNvCxnSpPr>
            <a:stCxn id="16" idx="0"/>
            <a:endCxn id="39" idx="0"/>
          </p:cNvCxnSpPr>
          <p:nvPr/>
        </p:nvCxnSpPr>
        <p:spPr>
          <a:xfrm rot="-5400000" flipH="1">
            <a:off x="5949950" y="3289300"/>
            <a:ext cx="1285875" cy="393700"/>
          </a:xfrm>
          <a:prstGeom prst="straightConnector1">
            <a:avLst/>
          </a:prstGeom>
          <a:ln w="38100" cap="flat" cmpd="sng">
            <a:solidFill>
              <a:srgbClr val="00B050"/>
            </a:solidFill>
            <a:prstDash val="solid"/>
            <a:miter/>
            <a:headEnd type="none" w="med" len="med"/>
            <a:tailEnd type="arrow" w="med" len="med"/>
          </a:ln>
        </p:spPr>
      </p:cxnSp>
      <p:sp>
        <p:nvSpPr>
          <p:cNvPr id="42" name="TextBox 41"/>
          <p:cNvSpPr txBox="1"/>
          <p:nvPr/>
        </p:nvSpPr>
        <p:spPr>
          <a:xfrm rot="4431337">
            <a:off x="6305550" y="3141663"/>
            <a:ext cx="11430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p=pm</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3" name="直接箭头连接符 42"/>
          <p:cNvCxnSpPr>
            <a:stCxn id="16" idx="0"/>
            <a:endCxn id="40" idx="0"/>
          </p:cNvCxnSpPr>
          <p:nvPr/>
        </p:nvCxnSpPr>
        <p:spPr>
          <a:xfrm>
            <a:off x="6896100" y="2914650"/>
            <a:ext cx="1393825" cy="1214438"/>
          </a:xfrm>
          <a:prstGeom prst="straightConnector1">
            <a:avLst/>
          </a:prstGeom>
          <a:ln w="38100" cap="flat" cmpd="sng">
            <a:solidFill>
              <a:srgbClr val="00B050"/>
            </a:solidFill>
            <a:prstDash val="solid"/>
            <a:miter/>
            <a:headEnd type="none" w="med" len="med"/>
            <a:tailEnd type="arrow" w="med" len="med"/>
          </a:ln>
        </p:spPr>
      </p:cxnSp>
      <p:sp>
        <p:nvSpPr>
          <p:cNvPr id="44" name="TextBox 43"/>
          <p:cNvSpPr txBox="1"/>
          <p:nvPr/>
        </p:nvSpPr>
        <p:spPr>
          <a:xfrm rot="2557767">
            <a:off x="7278688" y="3089275"/>
            <a:ext cx="1143000"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p=pn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7" name="直接箭头连接符 46"/>
          <p:cNvCxnSpPr>
            <a:stCxn id="16" idx="0"/>
            <a:endCxn id="59" idx="2"/>
          </p:cNvCxnSpPr>
          <p:nvPr/>
        </p:nvCxnSpPr>
        <p:spPr>
          <a:xfrm>
            <a:off x="3467100" y="4629150"/>
            <a:ext cx="2117725" cy="935038"/>
          </a:xfrm>
          <a:prstGeom prst="straightConnector1">
            <a:avLst/>
          </a:prstGeom>
          <a:ln w="38100" cap="flat" cmpd="sng">
            <a:solidFill>
              <a:srgbClr val="00B050"/>
            </a:solidFill>
            <a:prstDash val="solid"/>
            <a:miter/>
            <a:headEnd type="none" w="med" len="med"/>
            <a:tailEnd type="arrow" w="med" len="med"/>
          </a:ln>
        </p:spPr>
      </p:cxnSp>
      <p:cxnSp>
        <p:nvCxnSpPr>
          <p:cNvPr id="50" name="直接箭头连接符 49"/>
          <p:cNvCxnSpPr>
            <a:stCxn id="16" idx="0"/>
            <a:endCxn id="59" idx="1"/>
          </p:cNvCxnSpPr>
          <p:nvPr/>
        </p:nvCxnSpPr>
        <p:spPr>
          <a:xfrm>
            <a:off x="4824413" y="4629150"/>
            <a:ext cx="854075" cy="706438"/>
          </a:xfrm>
          <a:prstGeom prst="straightConnector1">
            <a:avLst/>
          </a:prstGeom>
          <a:ln w="38100" cap="flat" cmpd="sng">
            <a:solidFill>
              <a:srgbClr val="00B050"/>
            </a:solidFill>
            <a:prstDash val="solid"/>
            <a:miter/>
            <a:headEnd type="none" w="med" len="med"/>
            <a:tailEnd type="arrow" w="med" len="med"/>
          </a:ln>
        </p:spPr>
      </p:cxnSp>
      <p:cxnSp>
        <p:nvCxnSpPr>
          <p:cNvPr id="52" name="直接箭头连接符 51"/>
          <p:cNvCxnSpPr>
            <a:stCxn id="16" idx="0"/>
            <a:endCxn id="59" idx="7"/>
          </p:cNvCxnSpPr>
          <p:nvPr/>
        </p:nvCxnSpPr>
        <p:spPr>
          <a:xfrm rot="5400000">
            <a:off x="6088063" y="4670425"/>
            <a:ext cx="706437" cy="619125"/>
          </a:xfrm>
          <a:prstGeom prst="straightConnector1">
            <a:avLst/>
          </a:prstGeom>
          <a:ln w="38100" cap="flat" cmpd="sng">
            <a:solidFill>
              <a:srgbClr val="00B050"/>
            </a:solidFill>
            <a:prstDash val="solid"/>
            <a:miter/>
            <a:headEnd type="none" w="med" len="med"/>
            <a:tailEnd type="arrow" w="med" len="med"/>
          </a:ln>
        </p:spPr>
      </p:cxnSp>
      <p:cxnSp>
        <p:nvCxnSpPr>
          <p:cNvPr id="54" name="直接箭头连接符 53"/>
          <p:cNvCxnSpPr>
            <a:stCxn id="16" idx="0"/>
            <a:endCxn id="59" idx="6"/>
          </p:cNvCxnSpPr>
          <p:nvPr/>
        </p:nvCxnSpPr>
        <p:spPr>
          <a:xfrm rot="-10800000" flipV="1">
            <a:off x="6227763" y="4629150"/>
            <a:ext cx="2097087" cy="935038"/>
          </a:xfrm>
          <a:prstGeom prst="straightConnector1">
            <a:avLst/>
          </a:prstGeom>
          <a:ln w="38100" cap="flat" cmpd="sng">
            <a:solidFill>
              <a:srgbClr val="00B050"/>
            </a:solidFill>
            <a:prstDash val="solid"/>
            <a:miter/>
            <a:headEnd type="none" w="med" len="med"/>
            <a:tailEnd type="arrow" w="med" len="med"/>
          </a:ln>
        </p:spPr>
      </p:cxnSp>
      <p:sp>
        <p:nvSpPr>
          <p:cNvPr id="59" name="椭圆 58"/>
          <p:cNvSpPr/>
          <p:nvPr/>
        </p:nvSpPr>
        <p:spPr>
          <a:xfrm>
            <a:off x="5584825" y="5241925"/>
            <a:ext cx="642938" cy="642938"/>
          </a:xfrm>
          <a:prstGeom prst="ellipse">
            <a:avLst/>
          </a:prstGeom>
          <a:solidFill>
            <a:srgbClr val="FF99CC"/>
          </a:solidFill>
          <a:ln w="9525" cap="flat" cmpd="sng">
            <a:solidFill>
              <a:srgbClr val="FF99CC"/>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64" name="直接箭头连接符 63"/>
          <p:cNvCxnSpPr>
            <a:stCxn id="59" idx="4"/>
            <a:endCxn id="59" idx="6"/>
          </p:cNvCxnSpPr>
          <p:nvPr/>
        </p:nvCxnSpPr>
        <p:spPr>
          <a:xfrm rot="5400000">
            <a:off x="5705475" y="6070600"/>
            <a:ext cx="387350" cy="11113"/>
          </a:xfrm>
          <a:prstGeom prst="straightConnector1">
            <a:avLst/>
          </a:prstGeom>
          <a:ln w="38100" cap="flat" cmpd="sng">
            <a:solidFill>
              <a:srgbClr val="00B050"/>
            </a:solidFill>
            <a:prstDash val="solid"/>
            <a:miter/>
            <a:headEnd type="none" w="med" len="med"/>
            <a:tailEnd type="arrow" w="med" len="med"/>
          </a:ln>
        </p:spPr>
      </p:cxnSp>
      <p:pic>
        <p:nvPicPr>
          <p:cNvPr id="51236" name="图片 4" descr="Untitled2.png">
            <a:hlinkClick r:id="rId1" action="ppaction://hlinksldjump"/>
          </p:cNvPr>
          <p:cNvPicPr>
            <a:picLocks noChangeAspect="1"/>
          </p:cNvPicPr>
          <p:nvPr/>
        </p:nvPicPr>
        <p:blipFill>
          <a:blip r:embed="rId2"/>
          <a:stretch>
            <a:fillRect/>
          </a:stretch>
        </p:blipFill>
        <p:spPr>
          <a:xfrm>
            <a:off x="8253413" y="5986463"/>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lide(fromTop)">
                                      <p:cBhvr>
                                        <p:cTn id="16" dur="500"/>
                                        <p:tgtEl>
                                          <p:spTgt spid="13"/>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par>
                          <p:cTn id="26" fill="hold">
                            <p:stCondLst>
                              <p:cond delay="500"/>
                            </p:stCondLst>
                            <p:childTnLst>
                              <p:par>
                                <p:cTn id="27" presetID="12" presetClass="entr" presetSubtype="2"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slide(fromRight)">
                                      <p:cBhvr>
                                        <p:cTn id="29" dur="500"/>
                                        <p:tgtEl>
                                          <p:spTgt spid="8"/>
                                        </p:tgtEl>
                                      </p:cBhvr>
                                    </p:animEffect>
                                  </p:childTnLst>
                                </p:cTn>
                              </p:par>
                            </p:childTnLst>
                          </p:cTn>
                        </p:par>
                        <p:par>
                          <p:cTn id="30" fill="hold">
                            <p:stCondLst>
                              <p:cond delay="1000"/>
                            </p:stCondLst>
                            <p:childTnLst>
                              <p:par>
                                <p:cTn id="31" presetID="12" presetClass="entr" presetSubtype="4"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slide(fromBottom)">
                                      <p:cBhvr>
                                        <p:cTn id="33" dur="500"/>
                                        <p:tgtEl>
                                          <p:spTgt spid="22"/>
                                        </p:tgtEl>
                                      </p:cBhvr>
                                    </p:animEffect>
                                  </p:childTnLst>
                                </p:cTn>
                              </p:par>
                            </p:childTnLst>
                          </p:cTn>
                        </p:par>
                        <p:par>
                          <p:cTn id="34" fill="hold">
                            <p:stCondLst>
                              <p:cond delay="1500"/>
                            </p:stCondLst>
                            <p:childTnLst>
                              <p:par>
                                <p:cTn id="35" presetID="3" presetClass="entr" presetSubtype="1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slide(fromBottom)">
                                      <p:cBhvr>
                                        <p:cTn id="42" dur="500"/>
                                        <p:tgtEl>
                                          <p:spTgt spid="15"/>
                                        </p:tgtEl>
                                      </p:cBhvr>
                                    </p:animEffect>
                                  </p:childTnLst>
                                </p:cTn>
                              </p:par>
                            </p:childTnLst>
                          </p:cTn>
                        </p:par>
                        <p:par>
                          <p:cTn id="43" fill="hold">
                            <p:stCondLst>
                              <p:cond delay="500"/>
                            </p:stCondLst>
                            <p:childTnLst>
                              <p:par>
                                <p:cTn id="44" presetID="12" presetClass="entr" presetSubtype="8"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slide(fromLeft)">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blinds(horizontal)">
                                      <p:cBhvr>
                                        <p:cTn id="51" dur="500"/>
                                        <p:tgtEl>
                                          <p:spTgt spid="9"/>
                                        </p:tgtEl>
                                      </p:cBhvr>
                                    </p:animEffect>
                                  </p:childTnLst>
                                </p:cTn>
                              </p:par>
                            </p:childTnLst>
                          </p:cTn>
                        </p:par>
                        <p:par>
                          <p:cTn id="52" fill="hold">
                            <p:stCondLst>
                              <p:cond delay="500"/>
                            </p:stCondLst>
                            <p:childTnLst>
                              <p:par>
                                <p:cTn id="53" presetID="12" presetClass="entr" presetSubtype="1" fill="hold"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slide(fromTop)">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slide(fromTop)">
                                      <p:cBhvr>
                                        <p:cTn id="60" dur="500"/>
                                        <p:tgtEl>
                                          <p:spTgt spid="25"/>
                                        </p:tgtEl>
                                      </p:cBhvr>
                                    </p:animEffect>
                                  </p:childTnLst>
                                </p:cTn>
                              </p:par>
                            </p:childTnLst>
                          </p:cTn>
                        </p:par>
                        <p:par>
                          <p:cTn id="61" fill="hold">
                            <p:stCondLst>
                              <p:cond delay="500"/>
                            </p:stCondLst>
                            <p:childTnLst>
                              <p:par>
                                <p:cTn id="62" presetID="3" presetClass="entr" presetSubtype="1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blinds(horizontal)">
                                      <p:cBhvr>
                                        <p:cTn id="64" dur="5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blinds(horizontal)">
                                      <p:cBhvr>
                                        <p:cTn id="69" dur="500"/>
                                        <p:tgtEl>
                                          <p:spTgt spid="31"/>
                                        </p:tgtEl>
                                      </p:cBhvr>
                                    </p:animEffect>
                                  </p:childTnLst>
                                </p:cTn>
                              </p:par>
                            </p:childTnLst>
                          </p:cTn>
                        </p:par>
                        <p:par>
                          <p:cTn id="70" fill="hold">
                            <p:stCondLst>
                              <p:cond delay="500"/>
                            </p:stCondLst>
                            <p:childTnLst>
                              <p:par>
                                <p:cTn id="71" presetID="4" presetClass="entr" presetSubtype="16" fill="hold"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box(in)">
                                      <p:cBhvr>
                                        <p:cTn id="73" dur="500"/>
                                        <p:tgtEl>
                                          <p:spTgt spid="29"/>
                                        </p:tgtEl>
                                      </p:cBhvr>
                                    </p:animEffect>
                                  </p:childTnLst>
                                </p:cTn>
                              </p:par>
                            </p:childTnLst>
                          </p:cTn>
                        </p:par>
                        <p:par>
                          <p:cTn id="74" fill="hold">
                            <p:stCondLst>
                              <p:cond delay="1000"/>
                            </p:stCondLst>
                            <p:childTnLst>
                              <p:par>
                                <p:cTn id="75" presetID="3" presetClass="entr" presetSubtype="10" fill="hold" grpId="0"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blinds(horizontal)">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blinds(horizontal)">
                                      <p:cBhvr>
                                        <p:cTn id="82" dur="500"/>
                                        <p:tgtEl>
                                          <p:spTgt spid="35"/>
                                        </p:tgtEl>
                                      </p:cBhvr>
                                    </p:animEffect>
                                  </p:childTnLst>
                                </p:cTn>
                              </p:par>
                            </p:childTnLst>
                          </p:cTn>
                        </p:par>
                        <p:par>
                          <p:cTn id="83" fill="hold">
                            <p:stCondLst>
                              <p:cond delay="500"/>
                            </p:stCondLst>
                            <p:childTnLst>
                              <p:par>
                                <p:cTn id="84" presetID="4" presetClass="entr" presetSubtype="16" fill="hold" nodeType="after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box(in)">
                                      <p:cBhvr>
                                        <p:cTn id="86" dur="500"/>
                                        <p:tgtEl>
                                          <p:spTgt spid="34"/>
                                        </p:tgtEl>
                                      </p:cBhvr>
                                    </p:animEffect>
                                  </p:childTnLst>
                                </p:cTn>
                              </p:par>
                            </p:childTnLst>
                          </p:cTn>
                        </p:par>
                        <p:par>
                          <p:cTn id="87" fill="hold">
                            <p:stCondLst>
                              <p:cond delay="1000"/>
                            </p:stCondLst>
                            <p:childTnLst>
                              <p:par>
                                <p:cTn id="88" presetID="3" presetClass="entr" presetSubtype="10" fill="hold" grpId="0"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blinds(horizontal)">
                                      <p:cBhvr>
                                        <p:cTn id="90" dur="500"/>
                                        <p:tgtEl>
                                          <p:spTgt spid="28"/>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blinds(horizontal)">
                                      <p:cBhvr>
                                        <p:cTn id="95" dur="500"/>
                                        <p:tgtEl>
                                          <p:spTgt spid="38"/>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blinds(horizontal)">
                                      <p:cBhvr>
                                        <p:cTn id="100" dur="500"/>
                                        <p:tgtEl>
                                          <p:spTgt spid="42"/>
                                        </p:tgtEl>
                                      </p:cBhvr>
                                    </p:animEffect>
                                  </p:childTnLst>
                                </p:cTn>
                              </p:par>
                            </p:childTnLst>
                          </p:cTn>
                        </p:par>
                        <p:par>
                          <p:cTn id="101" fill="hold">
                            <p:stCondLst>
                              <p:cond delay="500"/>
                            </p:stCondLst>
                            <p:childTnLst>
                              <p:par>
                                <p:cTn id="102" presetID="4" presetClass="entr" presetSubtype="16"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box(in)">
                                      <p:cBhvr>
                                        <p:cTn id="104" dur="500"/>
                                        <p:tgtEl>
                                          <p:spTgt spid="41"/>
                                        </p:tgtEl>
                                      </p:cBhvr>
                                    </p:animEffect>
                                  </p:childTnLst>
                                </p:cTn>
                              </p:par>
                            </p:childTnLst>
                          </p:cTn>
                        </p:par>
                        <p:par>
                          <p:cTn id="105" fill="hold">
                            <p:stCondLst>
                              <p:cond delay="1000"/>
                            </p:stCondLst>
                            <p:childTnLst>
                              <p:par>
                                <p:cTn id="106" presetID="3" presetClass="entr" presetSubtype="10" fill="hold" grpId="0" nodeType="after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blinds(horizontal)">
                                      <p:cBhvr>
                                        <p:cTn id="108" dur="5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blinds(horizontal)">
                                      <p:cBhvr>
                                        <p:cTn id="113" dur="500"/>
                                        <p:tgtEl>
                                          <p:spTgt spid="44"/>
                                        </p:tgtEl>
                                      </p:cBhvr>
                                    </p:animEffect>
                                  </p:childTnLst>
                                </p:cTn>
                              </p:par>
                            </p:childTnLst>
                          </p:cTn>
                        </p:par>
                        <p:par>
                          <p:cTn id="114" fill="hold">
                            <p:stCondLst>
                              <p:cond delay="500"/>
                            </p:stCondLst>
                            <p:childTnLst>
                              <p:par>
                                <p:cTn id="115" presetID="4" presetClass="entr" presetSubtype="16" fill="hold" nodeType="after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box(in)">
                                      <p:cBhvr>
                                        <p:cTn id="117" dur="500"/>
                                        <p:tgtEl>
                                          <p:spTgt spid="43"/>
                                        </p:tgtEl>
                                      </p:cBhvr>
                                    </p:animEffect>
                                  </p:childTnLst>
                                </p:cTn>
                              </p:par>
                            </p:childTnLst>
                          </p:cTn>
                        </p:par>
                        <p:par>
                          <p:cTn id="118" fill="hold">
                            <p:stCondLst>
                              <p:cond delay="1000"/>
                            </p:stCondLst>
                            <p:childTnLst>
                              <p:par>
                                <p:cTn id="119" presetID="3" presetClass="entr" presetSubtype="10" fill="hold" grpId="0" nodeType="after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blinds(horizontal)">
                                      <p:cBhvr>
                                        <p:cTn id="121" dur="500"/>
                                        <p:tgtEl>
                                          <p:spTgt spid="40"/>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59"/>
                                        </p:tgtEl>
                                        <p:attrNameLst>
                                          <p:attrName>style.visibility</p:attrName>
                                        </p:attrNameLst>
                                      </p:cBhvr>
                                      <p:to>
                                        <p:strVal val="visible"/>
                                      </p:to>
                                    </p:set>
                                    <p:animEffect transition="in" filter="blinds(horizontal)">
                                      <p:cBhvr>
                                        <p:cTn id="126" dur="500"/>
                                        <p:tgtEl>
                                          <p:spTgt spid="59"/>
                                        </p:tgtEl>
                                      </p:cBhvr>
                                    </p:animEffect>
                                  </p:childTnLst>
                                </p:cTn>
                              </p:par>
                            </p:childTnLst>
                          </p:cTn>
                        </p:par>
                        <p:par>
                          <p:cTn id="127" fill="hold">
                            <p:stCondLst>
                              <p:cond delay="500"/>
                            </p:stCondLst>
                            <p:childTnLst>
                              <p:par>
                                <p:cTn id="128" presetID="4" presetClass="entr" presetSubtype="16" fill="hold" nodeType="after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box(in)">
                                      <p:cBhvr>
                                        <p:cTn id="130" dur="500"/>
                                        <p:tgtEl>
                                          <p:spTgt spid="47"/>
                                        </p:tgtEl>
                                      </p:cBhvr>
                                    </p:animEffect>
                                  </p:childTnLst>
                                </p:cTn>
                              </p:par>
                            </p:childTnLst>
                          </p:cTn>
                        </p:par>
                        <p:par>
                          <p:cTn id="131" fill="hold">
                            <p:stCondLst>
                              <p:cond delay="1000"/>
                            </p:stCondLst>
                            <p:childTnLst>
                              <p:par>
                                <p:cTn id="132" presetID="4" presetClass="entr" presetSubtype="16" fill="hold" nodeType="afterEffect">
                                  <p:stCondLst>
                                    <p:cond delay="0"/>
                                  </p:stCondLst>
                                  <p:childTnLst>
                                    <p:set>
                                      <p:cBhvr>
                                        <p:cTn id="133" dur="1" fill="hold">
                                          <p:stCondLst>
                                            <p:cond delay="0"/>
                                          </p:stCondLst>
                                        </p:cTn>
                                        <p:tgtEl>
                                          <p:spTgt spid="50"/>
                                        </p:tgtEl>
                                        <p:attrNameLst>
                                          <p:attrName>style.visibility</p:attrName>
                                        </p:attrNameLst>
                                      </p:cBhvr>
                                      <p:to>
                                        <p:strVal val="visible"/>
                                      </p:to>
                                    </p:set>
                                    <p:animEffect transition="in" filter="box(in)">
                                      <p:cBhvr>
                                        <p:cTn id="134" dur="500"/>
                                        <p:tgtEl>
                                          <p:spTgt spid="50"/>
                                        </p:tgtEl>
                                      </p:cBhvr>
                                    </p:animEffect>
                                  </p:childTnLst>
                                </p:cTn>
                              </p:par>
                            </p:childTnLst>
                          </p:cTn>
                        </p:par>
                        <p:par>
                          <p:cTn id="135" fill="hold">
                            <p:stCondLst>
                              <p:cond delay="1500"/>
                            </p:stCondLst>
                            <p:childTnLst>
                              <p:par>
                                <p:cTn id="136" presetID="4" presetClass="entr" presetSubtype="16" fill="hold" nodeType="afterEffect">
                                  <p:stCondLst>
                                    <p:cond delay="0"/>
                                  </p:stCondLst>
                                  <p:childTnLst>
                                    <p:set>
                                      <p:cBhvr>
                                        <p:cTn id="137" dur="1" fill="hold">
                                          <p:stCondLst>
                                            <p:cond delay="0"/>
                                          </p:stCondLst>
                                        </p:cTn>
                                        <p:tgtEl>
                                          <p:spTgt spid="52"/>
                                        </p:tgtEl>
                                        <p:attrNameLst>
                                          <p:attrName>style.visibility</p:attrName>
                                        </p:attrNameLst>
                                      </p:cBhvr>
                                      <p:to>
                                        <p:strVal val="visible"/>
                                      </p:to>
                                    </p:set>
                                    <p:animEffect transition="in" filter="box(in)">
                                      <p:cBhvr>
                                        <p:cTn id="138" dur="500"/>
                                        <p:tgtEl>
                                          <p:spTgt spid="52"/>
                                        </p:tgtEl>
                                      </p:cBhvr>
                                    </p:animEffect>
                                  </p:childTnLst>
                                </p:cTn>
                              </p:par>
                            </p:childTnLst>
                          </p:cTn>
                        </p:par>
                        <p:par>
                          <p:cTn id="139" fill="hold">
                            <p:stCondLst>
                              <p:cond delay="2000"/>
                            </p:stCondLst>
                            <p:childTnLst>
                              <p:par>
                                <p:cTn id="140" presetID="4" presetClass="entr" presetSubtype="16" fill="hold" nodeType="afterEffect">
                                  <p:stCondLst>
                                    <p:cond delay="0"/>
                                  </p:stCondLst>
                                  <p:childTnLst>
                                    <p:set>
                                      <p:cBhvr>
                                        <p:cTn id="141" dur="1" fill="hold">
                                          <p:stCondLst>
                                            <p:cond delay="0"/>
                                          </p:stCondLst>
                                        </p:cTn>
                                        <p:tgtEl>
                                          <p:spTgt spid="54"/>
                                        </p:tgtEl>
                                        <p:attrNameLst>
                                          <p:attrName>style.visibility</p:attrName>
                                        </p:attrNameLst>
                                      </p:cBhvr>
                                      <p:to>
                                        <p:strVal val="visible"/>
                                      </p:to>
                                    </p:set>
                                    <p:animEffect transition="in" filter="box(in)">
                                      <p:cBhvr>
                                        <p:cTn id="142" dur="500"/>
                                        <p:tgtEl>
                                          <p:spTgt spid="54"/>
                                        </p:tgtEl>
                                      </p:cBhvr>
                                    </p:animEffect>
                                  </p:childTnLst>
                                </p:cTn>
                              </p:par>
                            </p:childTnLst>
                          </p:cTn>
                        </p:par>
                        <p:par>
                          <p:cTn id="143" fill="hold">
                            <p:stCondLst>
                              <p:cond delay="2500"/>
                            </p:stCondLst>
                            <p:childTnLst>
                              <p:par>
                                <p:cTn id="144" presetID="12" presetClass="entr" presetSubtype="1" fill="hold" nodeType="afterEffect">
                                  <p:stCondLst>
                                    <p:cond delay="0"/>
                                  </p:stCondLst>
                                  <p:childTnLst>
                                    <p:set>
                                      <p:cBhvr>
                                        <p:cTn id="145" dur="1" fill="hold">
                                          <p:stCondLst>
                                            <p:cond delay="0"/>
                                          </p:stCondLst>
                                        </p:cTn>
                                        <p:tgtEl>
                                          <p:spTgt spid="64"/>
                                        </p:tgtEl>
                                        <p:attrNameLst>
                                          <p:attrName>style.visibility</p:attrName>
                                        </p:attrNameLst>
                                      </p:cBhvr>
                                      <p:to>
                                        <p:strVal val="visible"/>
                                      </p:to>
                                    </p:set>
                                    <p:animEffect transition="in" filter="slide(fromTop)">
                                      <p:cBhvr>
                                        <p:cTn id="146"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4" grpId="0"/>
      <p:bldP spid="16" grpId="0" animBg="1"/>
      <p:bldP spid="26" grpId="0" animBg="1"/>
      <p:bldP spid="27" grpId="0" animBg="1"/>
      <p:bldP spid="28" grpId="0" animBg="1"/>
      <p:bldP spid="31" grpId="0"/>
      <p:bldP spid="35" grpId="0"/>
      <p:bldP spid="38" grpId="0"/>
      <p:bldP spid="39" grpId="0" animBg="1"/>
      <p:bldP spid="40" grpId="0" animBg="1"/>
      <p:bldP spid="42" grpId="0"/>
      <p:bldP spid="44" grpId="0"/>
      <p:bldP spid="5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261938" y="561975"/>
            <a:ext cx="6000750" cy="646113"/>
          </a:xfrm>
        </p:spPr>
        <p:txBody>
          <a:bodyPr vert="horz" wrap="square" lIns="91440" tIns="45720" rIns="91440" bIns="45720" anchor="b" anchorCtr="0">
            <a:spAutoFit/>
          </a:bodyPr>
          <a:lstStyle/>
          <a:p>
            <a:pPr algn="l" eaLnBrk="1" hangingPunct="1">
              <a:buNone/>
            </a:pPr>
            <a:r>
              <a:rPr lang="en-US" altLang="zh-CN" sz="3600" b="0" dirty="0">
                <a:solidFill>
                  <a:srgbClr val="235A67"/>
                </a:solidFill>
                <a:latin typeface="Times New Roman" panose="02020603050405020304" pitchFamily="18" charset="0"/>
                <a:ea typeface="微软雅黑" panose="020B0503020204020204" pitchFamily="34" charset="-122"/>
              </a:rPr>
              <a:t>2.4.4 </a:t>
            </a:r>
            <a:r>
              <a:rPr lang="zh-CN" altLang="zh-CN" sz="3600" b="0" dirty="0">
                <a:solidFill>
                  <a:srgbClr val="235A67"/>
                </a:solidFill>
                <a:latin typeface="Times New Roman" panose="02020603050405020304" pitchFamily="18" charset="0"/>
                <a:ea typeface="微软雅黑" panose="020B0503020204020204" pitchFamily="34" charset="-122"/>
              </a:rPr>
              <a:t>用</a:t>
            </a:r>
            <a:r>
              <a:rPr lang="en-US" altLang="zh-CN" sz="3600" b="0" dirty="0">
                <a:solidFill>
                  <a:srgbClr val="235A67"/>
                </a:solidFill>
                <a:latin typeface="Times New Roman" panose="02020603050405020304" pitchFamily="18" charset="0"/>
                <a:ea typeface="微软雅黑" panose="020B0503020204020204" pitchFamily="34" charset="-122"/>
              </a:rPr>
              <a:t>N-S</a:t>
            </a:r>
            <a:r>
              <a:rPr lang="zh-CN" altLang="zh-CN" sz="3600" b="0" dirty="0">
                <a:solidFill>
                  <a:srgbClr val="235A67"/>
                </a:solidFill>
                <a:latin typeface="Times New Roman" panose="02020603050405020304" pitchFamily="18" charset="0"/>
                <a:ea typeface="微软雅黑" panose="020B0503020204020204" pitchFamily="34" charset="-122"/>
              </a:rPr>
              <a:t>流程图表示算法</a:t>
            </a:r>
            <a:endParaRPr lang="zh-CN" altLang="en-US" sz="3600" b="0" dirty="0">
              <a:solidFill>
                <a:srgbClr val="235A67"/>
              </a:solidFill>
              <a:latin typeface="Times New Roman" panose="02020603050405020304" pitchFamily="18" charset="0"/>
              <a:ea typeface="微软雅黑" panose="020B0503020204020204" pitchFamily="34" charset="-122"/>
            </a:endParaRPr>
          </a:p>
        </p:txBody>
      </p:sp>
      <p:sp>
        <p:nvSpPr>
          <p:cNvPr id="52227" name="Rectangle 3"/>
          <p:cNvSpPr>
            <a:spLocks noGrp="1"/>
          </p:cNvSpPr>
          <p:nvPr>
            <p:ph idx="1"/>
          </p:nvPr>
        </p:nvSpPr>
        <p:spPr>
          <a:xfrm>
            <a:off x="319088" y="1354138"/>
            <a:ext cx="6556375" cy="714375"/>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N-S流程图用以下的流程图符号</a:t>
            </a:r>
            <a:r>
              <a:rPr lang="en-US" altLang="en-US" b="0" dirty="0">
                <a:latin typeface="Times New Roman" panose="02020603050405020304" pitchFamily="18" charset="0"/>
                <a:ea typeface="微软雅黑" panose="020B0503020204020204" pitchFamily="34" charset="-122"/>
                <a:cs typeface="+mn-cs"/>
              </a:rPr>
              <a:t>：</a:t>
            </a:r>
            <a:endParaRPr lang="en-US" altLang="en-US" b="0" dirty="0">
              <a:latin typeface="Times New Roman" panose="02020603050405020304" pitchFamily="18" charset="0"/>
              <a:ea typeface="微软雅黑" panose="020B0503020204020204" pitchFamily="34" charset="-122"/>
              <a:cs typeface="+mn-cs"/>
            </a:endParaRPr>
          </a:p>
        </p:txBody>
      </p:sp>
      <p:grpSp>
        <p:nvGrpSpPr>
          <p:cNvPr id="2" name="组合 49"/>
          <p:cNvGrpSpPr/>
          <p:nvPr/>
        </p:nvGrpSpPr>
        <p:grpSpPr>
          <a:xfrm>
            <a:off x="214313" y="2716213"/>
            <a:ext cx="1643062" cy="1571625"/>
            <a:chOff x="214282" y="3071810"/>
            <a:chExt cx="1643074" cy="1571636"/>
          </a:xfrm>
        </p:grpSpPr>
        <p:sp>
          <p:nvSpPr>
            <p:cNvPr id="52257" name="流程图: 过程 3"/>
            <p:cNvSpPr/>
            <p:nvPr/>
          </p:nvSpPr>
          <p:spPr>
            <a:xfrm>
              <a:off x="214282" y="3071810"/>
              <a:ext cx="1643074" cy="1571636"/>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52258" name="直接连接符 5"/>
            <p:cNvCxnSpPr/>
            <p:nvPr/>
          </p:nvCxnSpPr>
          <p:spPr>
            <a:xfrm rot="-10800000" flipH="1">
              <a:off x="214282" y="3857628"/>
              <a:ext cx="1643074" cy="0"/>
            </a:xfrm>
            <a:prstGeom prst="line">
              <a:avLst/>
            </a:prstGeom>
            <a:ln w="38100" cap="flat" cmpd="sng">
              <a:solidFill>
                <a:schemeClr val="tx1"/>
              </a:solidFill>
              <a:prstDash val="solid"/>
              <a:miter/>
              <a:headEnd type="none" w="med" len="med"/>
              <a:tailEnd type="none" w="med" len="med"/>
            </a:ln>
          </p:spPr>
        </p:cxnSp>
        <p:sp>
          <p:nvSpPr>
            <p:cNvPr id="52259" name="TextBox 6"/>
            <p:cNvSpPr txBox="1"/>
            <p:nvPr/>
          </p:nvSpPr>
          <p:spPr>
            <a:xfrm>
              <a:off x="642910" y="3214686"/>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60" name="TextBox 7"/>
            <p:cNvSpPr txBox="1"/>
            <p:nvPr/>
          </p:nvSpPr>
          <p:spPr>
            <a:xfrm>
              <a:off x="642910" y="4000504"/>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pSp>
      <p:grpSp>
        <p:nvGrpSpPr>
          <p:cNvPr id="3" name="组合 50"/>
          <p:cNvGrpSpPr/>
          <p:nvPr/>
        </p:nvGrpSpPr>
        <p:grpSpPr>
          <a:xfrm>
            <a:off x="2071688" y="2359025"/>
            <a:ext cx="1928812" cy="1928813"/>
            <a:chOff x="2071670" y="2714620"/>
            <a:chExt cx="1928826" cy="1928826"/>
          </a:xfrm>
        </p:grpSpPr>
        <p:sp>
          <p:nvSpPr>
            <p:cNvPr id="52247" name="流程图: 过程 8"/>
            <p:cNvSpPr/>
            <p:nvPr/>
          </p:nvSpPr>
          <p:spPr>
            <a:xfrm>
              <a:off x="2071670" y="2714620"/>
              <a:ext cx="1928826" cy="1928826"/>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52248" name="直接连接符 9"/>
            <p:cNvCxnSpPr/>
            <p:nvPr/>
          </p:nvCxnSpPr>
          <p:spPr>
            <a:xfrm>
              <a:off x="2071670" y="3857628"/>
              <a:ext cx="1928826" cy="0"/>
            </a:xfrm>
            <a:prstGeom prst="line">
              <a:avLst/>
            </a:prstGeom>
            <a:ln w="38100" cap="flat" cmpd="sng">
              <a:solidFill>
                <a:schemeClr val="tx1"/>
              </a:solidFill>
              <a:prstDash val="solid"/>
              <a:miter/>
              <a:headEnd type="none" w="med" len="med"/>
              <a:tailEnd type="none" w="med" len="med"/>
            </a:ln>
          </p:spPr>
        </p:cxnSp>
        <p:sp>
          <p:nvSpPr>
            <p:cNvPr id="52249" name="TextBox 10"/>
            <p:cNvSpPr txBox="1"/>
            <p:nvPr/>
          </p:nvSpPr>
          <p:spPr>
            <a:xfrm>
              <a:off x="2214546" y="4000504"/>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50" name="TextBox 11"/>
            <p:cNvSpPr txBox="1"/>
            <p:nvPr/>
          </p:nvSpPr>
          <p:spPr>
            <a:xfrm>
              <a:off x="3143240" y="4000504"/>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B</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52251" name="直接连接符 12"/>
            <p:cNvCxnSpPr/>
            <p:nvPr/>
          </p:nvCxnSpPr>
          <p:spPr>
            <a:xfrm rot="-5400000" flipH="1">
              <a:off x="2000232" y="2786058"/>
              <a:ext cx="1143008" cy="1000132"/>
            </a:xfrm>
            <a:prstGeom prst="line">
              <a:avLst/>
            </a:prstGeom>
            <a:ln w="38100" cap="flat" cmpd="sng">
              <a:solidFill>
                <a:schemeClr val="tx1"/>
              </a:solidFill>
              <a:prstDash val="solid"/>
              <a:miter/>
              <a:headEnd type="none" w="med" len="med"/>
              <a:tailEnd type="none" w="med" len="med"/>
            </a:ln>
          </p:spPr>
        </p:cxnSp>
        <p:cxnSp>
          <p:nvCxnSpPr>
            <p:cNvPr id="52252" name="直接连接符 15"/>
            <p:cNvCxnSpPr/>
            <p:nvPr/>
          </p:nvCxnSpPr>
          <p:spPr>
            <a:xfrm rot="5400000">
              <a:off x="2964645" y="2821777"/>
              <a:ext cx="1143008" cy="928694"/>
            </a:xfrm>
            <a:prstGeom prst="line">
              <a:avLst/>
            </a:prstGeom>
            <a:ln w="38100" cap="flat" cmpd="sng">
              <a:solidFill>
                <a:schemeClr val="tx1"/>
              </a:solidFill>
              <a:prstDash val="solid"/>
              <a:miter/>
              <a:headEnd type="none" w="med" len="med"/>
              <a:tailEnd type="none" w="med" len="med"/>
            </a:ln>
          </p:spPr>
        </p:cxnSp>
        <p:sp>
          <p:nvSpPr>
            <p:cNvPr id="52253" name="TextBox 18"/>
            <p:cNvSpPr txBox="1"/>
            <p:nvPr/>
          </p:nvSpPr>
          <p:spPr>
            <a:xfrm>
              <a:off x="2214546" y="3357562"/>
              <a:ext cx="500066"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54" name="TextBox 19"/>
            <p:cNvSpPr txBox="1"/>
            <p:nvPr/>
          </p:nvSpPr>
          <p:spPr>
            <a:xfrm>
              <a:off x="3479792" y="3332162"/>
              <a:ext cx="4699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55" name="TextBox 28"/>
            <p:cNvSpPr txBox="1"/>
            <p:nvPr/>
          </p:nvSpPr>
          <p:spPr>
            <a:xfrm>
              <a:off x="2857488" y="2928934"/>
              <a:ext cx="4699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p</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52256" name="直接连接符 34"/>
            <p:cNvCxnSpPr/>
            <p:nvPr/>
          </p:nvCxnSpPr>
          <p:spPr>
            <a:xfrm rot="5400000">
              <a:off x="2678893" y="4250537"/>
              <a:ext cx="785818" cy="0"/>
            </a:xfrm>
            <a:prstGeom prst="line">
              <a:avLst/>
            </a:prstGeom>
            <a:ln w="38100" cap="flat" cmpd="sng">
              <a:solidFill>
                <a:schemeClr val="tx1"/>
              </a:solidFill>
              <a:prstDash val="solid"/>
              <a:miter/>
              <a:headEnd type="none" w="med" len="med"/>
              <a:tailEnd type="none" w="med" len="med"/>
            </a:ln>
          </p:spPr>
        </p:cxnSp>
      </p:grpSp>
      <p:grpSp>
        <p:nvGrpSpPr>
          <p:cNvPr id="4" name="组合 51"/>
          <p:cNvGrpSpPr/>
          <p:nvPr/>
        </p:nvGrpSpPr>
        <p:grpSpPr>
          <a:xfrm>
            <a:off x="4214813" y="2716213"/>
            <a:ext cx="2214562" cy="1571625"/>
            <a:chOff x="4214810" y="3071810"/>
            <a:chExt cx="2214578" cy="1571636"/>
          </a:xfrm>
        </p:grpSpPr>
        <p:sp>
          <p:nvSpPr>
            <p:cNvPr id="52242" name="流程图: 过程 38"/>
            <p:cNvSpPr/>
            <p:nvPr/>
          </p:nvSpPr>
          <p:spPr>
            <a:xfrm>
              <a:off x="4214810" y="3071810"/>
              <a:ext cx="2214578" cy="1571636"/>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52243" name="直接连接符 39"/>
            <p:cNvCxnSpPr/>
            <p:nvPr/>
          </p:nvCxnSpPr>
          <p:spPr>
            <a:xfrm rot="-10800000" flipH="1">
              <a:off x="4786314" y="3857628"/>
              <a:ext cx="1643074" cy="0"/>
            </a:xfrm>
            <a:prstGeom prst="line">
              <a:avLst/>
            </a:prstGeom>
            <a:ln w="38100" cap="flat" cmpd="sng">
              <a:solidFill>
                <a:schemeClr val="tx1"/>
              </a:solidFill>
              <a:prstDash val="solid"/>
              <a:miter/>
              <a:headEnd type="none" w="med" len="med"/>
              <a:tailEnd type="none" w="med" len="med"/>
            </a:ln>
          </p:spPr>
        </p:cxnSp>
        <p:sp>
          <p:nvSpPr>
            <p:cNvPr id="52244" name="TextBox 40"/>
            <p:cNvSpPr txBox="1"/>
            <p:nvPr/>
          </p:nvSpPr>
          <p:spPr>
            <a:xfrm>
              <a:off x="5286380" y="4000504"/>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45" name="TextBox 42"/>
            <p:cNvSpPr txBox="1"/>
            <p:nvPr/>
          </p:nvSpPr>
          <p:spPr>
            <a:xfrm>
              <a:off x="4357686" y="3143248"/>
              <a:ext cx="185738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当</a:t>
              </a:r>
              <a:r>
                <a:rPr lang="en-US" altLang="zh-CN" sz="2800" b="0" dirty="0">
                  <a:solidFill>
                    <a:srgbClr val="003399"/>
                  </a:solidFill>
                  <a:latin typeface="Times New Roman" panose="02020603050405020304" pitchFamily="18" charset="0"/>
                  <a:ea typeface="微软雅黑" panose="020B0503020204020204" pitchFamily="34" charset="-122"/>
                </a:rPr>
                <a:t>p</a:t>
              </a:r>
              <a:r>
                <a:rPr lang="en-US" altLang="zh-CN" sz="2800" b="0" baseline="-25000" dirty="0">
                  <a:solidFill>
                    <a:srgbClr val="003399"/>
                  </a:solidFill>
                  <a:latin typeface="Times New Roman" panose="02020603050405020304" pitchFamily="18" charset="0"/>
                  <a:ea typeface="微软雅黑" panose="020B0503020204020204" pitchFamily="34" charset="-122"/>
                </a:rPr>
                <a:t>1</a:t>
              </a:r>
              <a:r>
                <a:rPr lang="zh-CN" altLang="en-US" sz="2800" b="0" dirty="0">
                  <a:solidFill>
                    <a:srgbClr val="003399"/>
                  </a:solidFill>
                  <a:latin typeface="Times New Roman" panose="02020603050405020304" pitchFamily="18" charset="0"/>
                  <a:ea typeface="微软雅黑" panose="020B0503020204020204" pitchFamily="34" charset="-122"/>
                </a:rPr>
                <a:t>成立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52246" name="直接连接符 43"/>
            <p:cNvCxnSpPr/>
            <p:nvPr/>
          </p:nvCxnSpPr>
          <p:spPr>
            <a:xfrm rot="5400000">
              <a:off x="4393405" y="4250537"/>
              <a:ext cx="785818" cy="0"/>
            </a:xfrm>
            <a:prstGeom prst="line">
              <a:avLst/>
            </a:prstGeom>
            <a:ln w="38100" cap="flat" cmpd="sng">
              <a:solidFill>
                <a:schemeClr val="tx1"/>
              </a:solidFill>
              <a:prstDash val="solid"/>
              <a:miter/>
              <a:headEnd type="none" w="med" len="med"/>
              <a:tailEnd type="none" w="med" len="med"/>
            </a:ln>
          </p:spPr>
        </p:cxnSp>
      </p:grpSp>
      <p:grpSp>
        <p:nvGrpSpPr>
          <p:cNvPr id="5" name="组合 52"/>
          <p:cNvGrpSpPr/>
          <p:nvPr/>
        </p:nvGrpSpPr>
        <p:grpSpPr>
          <a:xfrm>
            <a:off x="6643688" y="2716213"/>
            <a:ext cx="2214562" cy="1571625"/>
            <a:chOff x="6643702" y="3071810"/>
            <a:chExt cx="2214578" cy="1571636"/>
          </a:xfrm>
        </p:grpSpPr>
        <p:sp>
          <p:nvSpPr>
            <p:cNvPr id="52237" name="流程图: 过程 44"/>
            <p:cNvSpPr/>
            <p:nvPr/>
          </p:nvSpPr>
          <p:spPr>
            <a:xfrm>
              <a:off x="6643702" y="3071810"/>
              <a:ext cx="2214578" cy="1571636"/>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52238" name="直接连接符 45"/>
            <p:cNvCxnSpPr/>
            <p:nvPr/>
          </p:nvCxnSpPr>
          <p:spPr>
            <a:xfrm rot="-10800000" flipH="1">
              <a:off x="6715140" y="3857628"/>
              <a:ext cx="1643074" cy="0"/>
            </a:xfrm>
            <a:prstGeom prst="line">
              <a:avLst/>
            </a:prstGeom>
            <a:ln w="38100" cap="flat" cmpd="sng">
              <a:solidFill>
                <a:schemeClr val="tx1"/>
              </a:solidFill>
              <a:prstDash val="solid"/>
              <a:miter/>
              <a:headEnd type="none" w="med" len="med"/>
              <a:tailEnd type="none" w="med" len="med"/>
            </a:ln>
          </p:spPr>
        </p:cxnSp>
        <p:sp>
          <p:nvSpPr>
            <p:cNvPr id="52239" name="TextBox 46"/>
            <p:cNvSpPr txBox="1"/>
            <p:nvPr/>
          </p:nvSpPr>
          <p:spPr>
            <a:xfrm>
              <a:off x="7143768" y="3214686"/>
              <a:ext cx="71438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A</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52240" name="TextBox 47"/>
            <p:cNvSpPr txBox="1"/>
            <p:nvPr/>
          </p:nvSpPr>
          <p:spPr>
            <a:xfrm>
              <a:off x="6643702" y="3977350"/>
              <a:ext cx="2143140"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直到</a:t>
              </a:r>
              <a:r>
                <a:rPr lang="en-US" altLang="zh-CN" sz="2800" b="0" dirty="0">
                  <a:solidFill>
                    <a:srgbClr val="003399"/>
                  </a:solidFill>
                  <a:latin typeface="Times New Roman" panose="02020603050405020304" pitchFamily="18" charset="0"/>
                  <a:ea typeface="微软雅黑" panose="020B0503020204020204" pitchFamily="34" charset="-122"/>
                </a:rPr>
                <a:t>p</a:t>
              </a:r>
              <a:r>
                <a:rPr lang="en-US" altLang="zh-CN" sz="2800" b="0" baseline="-25000" dirty="0">
                  <a:solidFill>
                    <a:srgbClr val="003399"/>
                  </a:solidFill>
                  <a:latin typeface="Times New Roman" panose="02020603050405020304" pitchFamily="18" charset="0"/>
                  <a:ea typeface="微软雅黑" panose="020B0503020204020204" pitchFamily="34" charset="-122"/>
                </a:rPr>
                <a:t>2</a:t>
              </a:r>
              <a:r>
                <a:rPr lang="zh-CN" altLang="en-US" sz="2800" b="0" dirty="0">
                  <a:solidFill>
                    <a:srgbClr val="003399"/>
                  </a:solidFill>
                  <a:latin typeface="Times New Roman" panose="02020603050405020304" pitchFamily="18" charset="0"/>
                  <a:ea typeface="微软雅黑" panose="020B0503020204020204" pitchFamily="34" charset="-122"/>
                </a:rPr>
                <a:t>成立</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52241" name="直接连接符 48"/>
            <p:cNvCxnSpPr/>
            <p:nvPr/>
          </p:nvCxnSpPr>
          <p:spPr>
            <a:xfrm rot="5400000">
              <a:off x="7965305" y="3464719"/>
              <a:ext cx="785818" cy="0"/>
            </a:xfrm>
            <a:prstGeom prst="line">
              <a:avLst/>
            </a:prstGeom>
            <a:ln w="38100" cap="flat" cmpd="sng">
              <a:solidFill>
                <a:schemeClr val="tx1"/>
              </a:solidFill>
              <a:prstDash val="solid"/>
              <a:miter/>
              <a:headEnd type="none" w="med" len="med"/>
              <a:tailEnd type="none" w="med" len="med"/>
            </a:ln>
          </p:spPr>
        </p:cxnSp>
      </p:grpSp>
      <p:sp>
        <p:nvSpPr>
          <p:cNvPr id="54" name="TextBox 53"/>
          <p:cNvSpPr txBox="1"/>
          <p:nvPr/>
        </p:nvSpPr>
        <p:spPr>
          <a:xfrm>
            <a:off x="142875" y="4518025"/>
            <a:ext cx="1785938"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顺序结构</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55" name="TextBox 54"/>
          <p:cNvSpPr txBox="1"/>
          <p:nvPr/>
        </p:nvSpPr>
        <p:spPr>
          <a:xfrm>
            <a:off x="2143125" y="4500563"/>
            <a:ext cx="1785938"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选择结构</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56" name="TextBox 55"/>
          <p:cNvSpPr txBox="1"/>
          <p:nvPr/>
        </p:nvSpPr>
        <p:spPr>
          <a:xfrm>
            <a:off x="4429125" y="4491038"/>
            <a:ext cx="1785938" cy="95408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循环结构</a:t>
            </a:r>
            <a:endParaRPr lang="en-US" altLang="zh-CN" sz="2800" b="0" dirty="0">
              <a:solidFill>
                <a:srgbClr val="992317"/>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（当型）</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sp>
        <p:nvSpPr>
          <p:cNvPr id="57" name="TextBox 56"/>
          <p:cNvSpPr txBox="1"/>
          <p:nvPr/>
        </p:nvSpPr>
        <p:spPr>
          <a:xfrm>
            <a:off x="6786563" y="4473575"/>
            <a:ext cx="2000250" cy="954088"/>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92317"/>
                </a:solidFill>
                <a:latin typeface="Times New Roman" panose="02020603050405020304" pitchFamily="18" charset="0"/>
                <a:ea typeface="微软雅黑" panose="020B0503020204020204" pitchFamily="34" charset="-122"/>
              </a:rPr>
              <a:t>循环结构（直到型）</a:t>
            </a:r>
            <a:endParaRPr lang="zh-CN" altLang="en-US" sz="2800" b="0" dirty="0">
              <a:solidFill>
                <a:srgbClr val="992317"/>
              </a:solidFill>
              <a:latin typeface="Times New Roman" panose="02020603050405020304" pitchFamily="18" charset="0"/>
              <a:ea typeface="微软雅黑" panose="020B0503020204020204" pitchFamily="34" charset="-122"/>
            </a:endParaRPr>
          </a:p>
        </p:txBody>
      </p:sp>
      <p:pic>
        <p:nvPicPr>
          <p:cNvPr id="52236"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linds(horizontal)">
                                      <p:cBhvr>
                                        <p:cTn id="11" dur="500"/>
                                        <p:tgtEl>
                                          <p:spTgt spid="5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blinds(horizontal)">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blinds(horizontal)">
                                      <p:cBhvr>
                                        <p:cTn id="29" dur="500"/>
                                        <p:tgtEl>
                                          <p:spTgt spid="5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par>
                          <p:cTn id="35" fill="hold">
                            <p:stCondLst>
                              <p:cond delay="500"/>
                            </p:stCondLst>
                            <p:childTnLst>
                              <p:par>
                                <p:cTn id="36" presetID="3" presetClass="entr" presetSubtype="10" fill="hold" grpId="0" nodeType="after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blinds(horizontal)">
                                      <p:cBhvr>
                                        <p:cTn id="3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1"/>
          </p:nvPr>
        </p:nvSpPr>
        <p:spPr>
          <a:xfrm>
            <a:off x="280988" y="598488"/>
            <a:ext cx="8153400" cy="857250"/>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例2.11 将例2.1的求5!算法用N-S图表示。</a:t>
            </a:r>
            <a:endParaRPr lang="en-US" altLang="en-US" b="0" dirty="0">
              <a:solidFill>
                <a:srgbClr val="235A67"/>
              </a:solidFill>
              <a:latin typeface="Times New Roman" panose="02020603050405020304" pitchFamily="18" charset="0"/>
              <a:ea typeface="微软雅黑" panose="020B0503020204020204" pitchFamily="34" charset="-122"/>
              <a:cs typeface="+mn-cs"/>
            </a:endParaRPr>
          </a:p>
        </p:txBody>
      </p:sp>
      <p:sp>
        <p:nvSpPr>
          <p:cNvPr id="5" name="流程图: 过程 4"/>
          <p:cNvSpPr/>
          <p:nvPr/>
        </p:nvSpPr>
        <p:spPr>
          <a:xfrm>
            <a:off x="2714625" y="1844675"/>
            <a:ext cx="3143250" cy="3429000"/>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cxnSp>
        <p:nvCxnSpPr>
          <p:cNvPr id="6" name="直接连接符 5"/>
          <p:cNvCxnSpPr/>
          <p:nvPr/>
        </p:nvCxnSpPr>
        <p:spPr>
          <a:xfrm>
            <a:off x="2714625" y="2416175"/>
            <a:ext cx="3143250" cy="0"/>
          </a:xfrm>
          <a:prstGeom prst="line">
            <a:avLst/>
          </a:prstGeom>
          <a:ln w="38100" cap="flat" cmpd="sng">
            <a:solidFill>
              <a:schemeClr val="tx1"/>
            </a:solidFill>
            <a:prstDash val="solid"/>
            <a:miter/>
            <a:headEnd type="none" w="med" len="med"/>
            <a:tailEnd type="none" w="med" len="med"/>
          </a:ln>
        </p:spPr>
      </p:cxnSp>
      <p:sp>
        <p:nvSpPr>
          <p:cNvPr id="8" name="TextBox 7"/>
          <p:cNvSpPr txBox="1"/>
          <p:nvPr/>
        </p:nvSpPr>
        <p:spPr>
          <a:xfrm>
            <a:off x="3122613" y="4202113"/>
            <a:ext cx="2071687"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      直到</a:t>
            </a:r>
            <a:r>
              <a:rPr lang="en-US" altLang="zh-CN" sz="2800" b="0" dirty="0">
                <a:solidFill>
                  <a:srgbClr val="003399"/>
                </a:solidFill>
                <a:latin typeface="Times New Roman" panose="02020603050405020304" pitchFamily="18" charset="0"/>
                <a:ea typeface="微软雅黑" panose="020B0503020204020204" pitchFamily="34" charset="-122"/>
              </a:rPr>
              <a:t>i&gt;5</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9" name="直接连接符 8"/>
          <p:cNvCxnSpPr/>
          <p:nvPr/>
        </p:nvCxnSpPr>
        <p:spPr>
          <a:xfrm rot="5400000">
            <a:off x="4357688" y="3559175"/>
            <a:ext cx="1143000" cy="0"/>
          </a:xfrm>
          <a:prstGeom prst="line">
            <a:avLst/>
          </a:prstGeom>
          <a:ln w="38100" cap="flat" cmpd="sng">
            <a:solidFill>
              <a:schemeClr val="tx1"/>
            </a:solidFill>
            <a:prstDash val="solid"/>
            <a:miter/>
            <a:headEnd type="none" w="med" len="med"/>
            <a:tailEnd type="none" w="med" len="med"/>
          </a:ln>
        </p:spPr>
      </p:cxnSp>
      <p:sp>
        <p:nvSpPr>
          <p:cNvPr id="12" name="TextBox 11"/>
          <p:cNvSpPr txBox="1"/>
          <p:nvPr/>
        </p:nvSpPr>
        <p:spPr>
          <a:xfrm>
            <a:off x="3708400" y="1916113"/>
            <a:ext cx="100012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3" name="平行四边形 12"/>
          <p:cNvSpPr/>
          <p:nvPr/>
        </p:nvSpPr>
        <p:spPr>
          <a:xfrm>
            <a:off x="3505200" y="4722813"/>
            <a:ext cx="1571625" cy="571500"/>
          </a:xfrm>
          <a:prstGeom prst="parallelogram">
            <a:avLst>
              <a:gd name="adj" fmla="val 25005"/>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9" name="TextBox 18"/>
          <p:cNvSpPr txBox="1"/>
          <p:nvPr/>
        </p:nvSpPr>
        <p:spPr>
          <a:xfrm>
            <a:off x="3708400" y="2487613"/>
            <a:ext cx="100012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0" name="TextBox 19"/>
          <p:cNvSpPr txBox="1"/>
          <p:nvPr/>
        </p:nvSpPr>
        <p:spPr>
          <a:xfrm>
            <a:off x="3071813" y="3059113"/>
            <a:ext cx="13573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t*i</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2" name="TextBox 21"/>
          <p:cNvSpPr txBox="1"/>
          <p:nvPr/>
        </p:nvSpPr>
        <p:spPr>
          <a:xfrm>
            <a:off x="3143250" y="3630613"/>
            <a:ext cx="135731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5" name="直接连接符 24"/>
          <p:cNvCxnSpPr/>
          <p:nvPr/>
        </p:nvCxnSpPr>
        <p:spPr>
          <a:xfrm>
            <a:off x="2714625" y="2987675"/>
            <a:ext cx="3143250" cy="0"/>
          </a:xfrm>
          <a:prstGeom prst="line">
            <a:avLst/>
          </a:prstGeom>
          <a:ln w="38100" cap="flat" cmpd="sng">
            <a:solidFill>
              <a:schemeClr val="tx1"/>
            </a:solidFill>
            <a:prstDash val="solid"/>
            <a:miter/>
            <a:headEnd type="none" w="med" len="med"/>
            <a:tailEnd type="none" w="med" len="med"/>
          </a:ln>
        </p:spPr>
      </p:cxnSp>
      <p:cxnSp>
        <p:nvCxnSpPr>
          <p:cNvPr id="29" name="直接连接符 28"/>
          <p:cNvCxnSpPr/>
          <p:nvPr/>
        </p:nvCxnSpPr>
        <p:spPr>
          <a:xfrm>
            <a:off x="2714625" y="3559175"/>
            <a:ext cx="2214563" cy="0"/>
          </a:xfrm>
          <a:prstGeom prst="line">
            <a:avLst/>
          </a:prstGeom>
          <a:ln w="38100" cap="flat" cmpd="sng">
            <a:solidFill>
              <a:schemeClr val="tx1"/>
            </a:solidFill>
            <a:prstDash val="solid"/>
            <a:miter/>
            <a:headEnd type="none" w="med" len="med"/>
            <a:tailEnd type="none" w="med" len="med"/>
          </a:ln>
        </p:spPr>
      </p:cxnSp>
      <p:cxnSp>
        <p:nvCxnSpPr>
          <p:cNvPr id="31" name="直接连接符 30"/>
          <p:cNvCxnSpPr/>
          <p:nvPr/>
        </p:nvCxnSpPr>
        <p:spPr>
          <a:xfrm>
            <a:off x="2714625" y="4130675"/>
            <a:ext cx="2214563" cy="0"/>
          </a:xfrm>
          <a:prstGeom prst="line">
            <a:avLst/>
          </a:prstGeom>
          <a:ln w="38100" cap="flat" cmpd="sng">
            <a:solidFill>
              <a:schemeClr val="tx1"/>
            </a:solidFill>
            <a:prstDash val="solid"/>
            <a:miter/>
            <a:headEnd type="none" w="med" len="med"/>
            <a:tailEnd type="none" w="med" len="med"/>
          </a:ln>
        </p:spPr>
      </p:cxnSp>
      <p:cxnSp>
        <p:nvCxnSpPr>
          <p:cNvPr id="33" name="直接连接符 32"/>
          <p:cNvCxnSpPr/>
          <p:nvPr/>
        </p:nvCxnSpPr>
        <p:spPr>
          <a:xfrm>
            <a:off x="2714625" y="4702175"/>
            <a:ext cx="3143250" cy="0"/>
          </a:xfrm>
          <a:prstGeom prst="line">
            <a:avLst/>
          </a:prstGeom>
          <a:ln w="38100" cap="flat" cmpd="sng">
            <a:solidFill>
              <a:schemeClr val="tx1"/>
            </a:solidFill>
            <a:prstDash val="solid"/>
            <a:miter/>
            <a:headEnd type="none" w="med" len="med"/>
            <a:tailEnd type="none" w="med" len="med"/>
          </a:ln>
        </p:spPr>
      </p:cxnSp>
      <p:pic>
        <p:nvPicPr>
          <p:cNvPr id="53264"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slide(fromLeft)">
                                      <p:cBhvr>
                                        <p:cTn id="21" dur="500"/>
                                        <p:tgtEl>
                                          <p:spTgt spid="25"/>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slide(fromLeft)">
                                      <p:cBhvr>
                                        <p:cTn id="30" dur="500"/>
                                        <p:tgtEl>
                                          <p:spTgt spid="29"/>
                                        </p:tgtEl>
                                      </p:cBhvr>
                                    </p:animEffect>
                                  </p:childTnLst>
                                </p:cTn>
                              </p:par>
                              <p:par>
                                <p:cTn id="31" presetID="12" presetClass="entr" presetSubtype="8"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slide(fromLeft)">
                                      <p:cBhvr>
                                        <p:cTn id="33" dur="500"/>
                                        <p:tgtEl>
                                          <p:spTgt spid="31"/>
                                        </p:tgtEl>
                                      </p:cBhvr>
                                    </p:animEffect>
                                  </p:childTnLst>
                                </p:cTn>
                              </p:par>
                            </p:childTnLst>
                          </p:cTn>
                        </p:par>
                        <p:par>
                          <p:cTn id="34" fill="hold">
                            <p:stCondLst>
                              <p:cond delay="500"/>
                            </p:stCondLst>
                            <p:childTnLst>
                              <p:par>
                                <p:cTn id="35" presetID="12" presetClass="entr" presetSubtype="1"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Top)">
                                      <p:cBhvr>
                                        <p:cTn id="37" dur="500"/>
                                        <p:tgtEl>
                                          <p:spTgt spid="9"/>
                                        </p:tgtEl>
                                      </p:cBhvr>
                                    </p:animEffect>
                                  </p:childTnLst>
                                </p:cTn>
                              </p:par>
                            </p:childTnLst>
                          </p:cTn>
                        </p:par>
                        <p:par>
                          <p:cTn id="38" fill="hold">
                            <p:stCondLst>
                              <p:cond delay="1000"/>
                            </p:stCondLst>
                            <p:childTnLst>
                              <p:par>
                                <p:cTn id="39" presetID="3" presetClass="entr" presetSubtype="1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linds(horizontal)">
                                      <p:cBhvr>
                                        <p:cTn id="41" dur="500"/>
                                        <p:tgtEl>
                                          <p:spTgt spid="20"/>
                                        </p:tgtEl>
                                      </p:cBhvr>
                                    </p:animEffect>
                                  </p:childTnLst>
                                </p:cTn>
                              </p:par>
                            </p:childTnLst>
                          </p:cTn>
                        </p:par>
                        <p:par>
                          <p:cTn id="42" fill="hold">
                            <p:stCondLst>
                              <p:cond delay="1500"/>
                            </p:stCondLst>
                            <p:childTnLst>
                              <p:par>
                                <p:cTn id="43" presetID="3" presetClass="entr" presetSubtype="10"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blinds(horizontal)">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slide(fromLeft)">
                                      <p:cBhvr>
                                        <p:cTn id="50" dur="500"/>
                                        <p:tgtEl>
                                          <p:spTgt spid="33"/>
                                        </p:tgtEl>
                                      </p:cBhvr>
                                    </p:animEffect>
                                  </p:childTnLst>
                                </p:cTn>
                              </p:par>
                            </p:childTnLst>
                          </p:cTn>
                        </p:par>
                        <p:par>
                          <p:cTn id="51" fill="hold">
                            <p:stCondLst>
                              <p:cond delay="500"/>
                            </p:stCondLst>
                            <p:childTnLst>
                              <p:par>
                                <p:cTn id="52" presetID="3" presetClass="entr" presetSubtype="10"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blinds(horizontal)">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linds(horizontal)">
                                      <p:cBhvr>
                                        <p:cTn id="5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2" grpId="0"/>
      <p:bldP spid="13" grpId="0"/>
      <p:bldP spid="19" grpId="0"/>
      <p:bldP spid="20" grpId="0"/>
      <p:bldP spid="2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a:xfrm>
            <a:off x="250825" y="866775"/>
            <a:ext cx="4175125" cy="5124450"/>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例2.12 将例2.2的算法用N-S图表示。将50名学生中成绩高于80分者的学号和成绩输出。</a:t>
            </a:r>
            <a:endParaRPr lang="en-US" altLang="en-US" b="0" dirty="0">
              <a:solidFill>
                <a:srgbClr val="235A67"/>
              </a:solidFill>
              <a:latin typeface="Times New Roman" panose="02020603050405020304" pitchFamily="18" charset="0"/>
              <a:ea typeface="微软雅黑" panose="020B0503020204020204" pitchFamily="34" charset="-122"/>
              <a:cs typeface="+mn-cs"/>
            </a:endParaRPr>
          </a:p>
        </p:txBody>
      </p:sp>
      <p:sp>
        <p:nvSpPr>
          <p:cNvPr id="5" name="流程图: 过程 4"/>
          <p:cNvSpPr/>
          <p:nvPr/>
        </p:nvSpPr>
        <p:spPr>
          <a:xfrm>
            <a:off x="4568825" y="866775"/>
            <a:ext cx="3786188" cy="5214938"/>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sp>
        <p:nvSpPr>
          <p:cNvPr id="7" name="TextBox 6"/>
          <p:cNvSpPr txBox="1"/>
          <p:nvPr/>
        </p:nvSpPr>
        <p:spPr>
          <a:xfrm>
            <a:off x="5522913" y="5510213"/>
            <a:ext cx="1928812"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直到</a:t>
            </a:r>
            <a:r>
              <a:rPr lang="en-US" altLang="zh-CN" sz="2800" b="0" dirty="0">
                <a:solidFill>
                  <a:srgbClr val="003399"/>
                </a:solidFill>
                <a:latin typeface="Times New Roman" panose="02020603050405020304" pitchFamily="18" charset="0"/>
                <a:ea typeface="微软雅黑" panose="020B0503020204020204" pitchFamily="34" charset="-122"/>
              </a:rPr>
              <a:t>i&gt;50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8" name="直接连接符 7"/>
          <p:cNvCxnSpPr/>
          <p:nvPr/>
        </p:nvCxnSpPr>
        <p:spPr>
          <a:xfrm rot="5400000">
            <a:off x="6711950" y="4581525"/>
            <a:ext cx="1857375" cy="0"/>
          </a:xfrm>
          <a:prstGeom prst="line">
            <a:avLst/>
          </a:prstGeom>
          <a:ln w="38100" cap="flat" cmpd="sng">
            <a:solidFill>
              <a:schemeClr val="tx1"/>
            </a:solidFill>
            <a:prstDash val="solid"/>
            <a:miter/>
            <a:headEnd type="none" w="med" len="med"/>
            <a:tailEnd type="none" w="med" len="med"/>
          </a:ln>
        </p:spPr>
      </p:cxnSp>
      <p:sp>
        <p:nvSpPr>
          <p:cNvPr id="9" name="TextBox 8"/>
          <p:cNvSpPr txBox="1"/>
          <p:nvPr/>
        </p:nvSpPr>
        <p:spPr>
          <a:xfrm>
            <a:off x="5997575" y="866775"/>
            <a:ext cx="100012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t</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1" name="TextBox 10"/>
          <p:cNvSpPr txBox="1"/>
          <p:nvPr/>
        </p:nvSpPr>
        <p:spPr>
          <a:xfrm>
            <a:off x="5854700" y="3132138"/>
            <a:ext cx="100012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3" name="TextBox 12"/>
          <p:cNvSpPr txBox="1"/>
          <p:nvPr/>
        </p:nvSpPr>
        <p:spPr>
          <a:xfrm>
            <a:off x="5527675" y="4945063"/>
            <a:ext cx="135731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5" name="直接连接符 14"/>
          <p:cNvCxnSpPr/>
          <p:nvPr/>
        </p:nvCxnSpPr>
        <p:spPr>
          <a:xfrm>
            <a:off x="4568825" y="4367213"/>
            <a:ext cx="3071813" cy="0"/>
          </a:xfrm>
          <a:prstGeom prst="line">
            <a:avLst/>
          </a:prstGeom>
          <a:ln w="38100" cap="flat" cmpd="sng">
            <a:solidFill>
              <a:schemeClr val="tx1"/>
            </a:solidFill>
            <a:prstDash val="solid"/>
            <a:miter/>
            <a:headEnd type="none" w="med" len="med"/>
            <a:tailEnd type="none" w="med" len="med"/>
          </a:ln>
        </p:spPr>
      </p:cxnSp>
      <p:cxnSp>
        <p:nvCxnSpPr>
          <p:cNvPr id="16" name="直接连接符 15"/>
          <p:cNvCxnSpPr/>
          <p:nvPr/>
        </p:nvCxnSpPr>
        <p:spPr>
          <a:xfrm>
            <a:off x="4568825" y="4938713"/>
            <a:ext cx="3071813" cy="0"/>
          </a:xfrm>
          <a:prstGeom prst="line">
            <a:avLst/>
          </a:prstGeom>
          <a:ln w="38100" cap="flat" cmpd="sng">
            <a:solidFill>
              <a:schemeClr val="tx1"/>
            </a:solidFill>
            <a:prstDash val="solid"/>
            <a:miter/>
            <a:headEnd type="none" w="med" len="med"/>
            <a:tailEnd type="none" w="med" len="med"/>
          </a:ln>
        </p:spPr>
      </p:cxnSp>
      <p:cxnSp>
        <p:nvCxnSpPr>
          <p:cNvPr id="17" name="直接连接符 16"/>
          <p:cNvCxnSpPr/>
          <p:nvPr/>
        </p:nvCxnSpPr>
        <p:spPr>
          <a:xfrm>
            <a:off x="4568825" y="5510213"/>
            <a:ext cx="3071813" cy="0"/>
          </a:xfrm>
          <a:prstGeom prst="line">
            <a:avLst/>
          </a:prstGeom>
          <a:ln w="38100" cap="flat" cmpd="sng">
            <a:solidFill>
              <a:schemeClr val="tx1"/>
            </a:solidFill>
            <a:prstDash val="solid"/>
            <a:miter/>
            <a:headEnd type="none" w="med" len="med"/>
            <a:tailEnd type="none" w="med" len="med"/>
          </a:ln>
        </p:spPr>
      </p:cxnSp>
      <p:cxnSp>
        <p:nvCxnSpPr>
          <p:cNvPr id="18" name="直接连接符 17"/>
          <p:cNvCxnSpPr/>
          <p:nvPr/>
        </p:nvCxnSpPr>
        <p:spPr>
          <a:xfrm>
            <a:off x="4568825" y="1366838"/>
            <a:ext cx="3786188" cy="0"/>
          </a:xfrm>
          <a:prstGeom prst="line">
            <a:avLst/>
          </a:prstGeom>
          <a:ln w="38100" cap="flat" cmpd="sng">
            <a:solidFill>
              <a:schemeClr val="tx1"/>
            </a:solidFill>
            <a:prstDash val="solid"/>
            <a:miter/>
            <a:headEnd type="none" w="med" len="med"/>
            <a:tailEnd type="none" w="med" len="med"/>
          </a:ln>
        </p:spPr>
      </p:cxnSp>
      <p:sp>
        <p:nvSpPr>
          <p:cNvPr id="19" name="平行四边形 18"/>
          <p:cNvSpPr/>
          <p:nvPr/>
        </p:nvSpPr>
        <p:spPr>
          <a:xfrm>
            <a:off x="4926013" y="1366838"/>
            <a:ext cx="2286000" cy="571500"/>
          </a:xfrm>
          <a:prstGeom prst="parallelogram">
            <a:avLst>
              <a:gd name="adj" fmla="val 25000"/>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zh-CN" altLang="en-US" sz="2800" b="0" dirty="0">
                <a:solidFill>
                  <a:srgbClr val="003399"/>
                </a:solidFill>
                <a:latin typeface="Times New Roman" panose="02020603050405020304" pitchFamily="18" charset="0"/>
                <a:ea typeface="微软雅黑" panose="020B0503020204020204" pitchFamily="34" charset="-122"/>
              </a:rPr>
              <a:t>、</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cxnSp>
        <p:nvCxnSpPr>
          <p:cNvPr id="20" name="直接连接符 19"/>
          <p:cNvCxnSpPr/>
          <p:nvPr/>
        </p:nvCxnSpPr>
        <p:spPr>
          <a:xfrm>
            <a:off x="4640263" y="1938338"/>
            <a:ext cx="2500312" cy="0"/>
          </a:xfrm>
          <a:prstGeom prst="line">
            <a:avLst/>
          </a:prstGeom>
          <a:ln w="38100" cap="flat" cmpd="sng">
            <a:solidFill>
              <a:schemeClr val="tx1"/>
            </a:solidFill>
            <a:prstDash val="solid"/>
            <a:miter/>
            <a:headEnd type="none" w="med" len="med"/>
            <a:tailEnd type="none" w="med" len="med"/>
          </a:ln>
        </p:spPr>
      </p:cxnSp>
      <p:sp>
        <p:nvSpPr>
          <p:cNvPr id="21" name="TextBox 20"/>
          <p:cNvSpPr txBox="1"/>
          <p:nvPr/>
        </p:nvSpPr>
        <p:spPr>
          <a:xfrm>
            <a:off x="5426075" y="1939925"/>
            <a:ext cx="135731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3" name="直接连接符 22"/>
          <p:cNvCxnSpPr/>
          <p:nvPr/>
        </p:nvCxnSpPr>
        <p:spPr>
          <a:xfrm rot="5400000">
            <a:off x="6569075" y="1938338"/>
            <a:ext cx="1143000" cy="0"/>
          </a:xfrm>
          <a:prstGeom prst="line">
            <a:avLst/>
          </a:prstGeom>
          <a:ln w="38100" cap="flat" cmpd="sng">
            <a:solidFill>
              <a:schemeClr val="tx1"/>
            </a:solidFill>
            <a:prstDash val="solid"/>
            <a:miter/>
            <a:headEnd type="none" w="med" len="med"/>
            <a:tailEnd type="none" w="med" len="med"/>
          </a:ln>
        </p:spPr>
      </p:cxnSp>
      <p:cxnSp>
        <p:nvCxnSpPr>
          <p:cNvPr id="24" name="直接连接符 23"/>
          <p:cNvCxnSpPr/>
          <p:nvPr/>
        </p:nvCxnSpPr>
        <p:spPr>
          <a:xfrm>
            <a:off x="4568825" y="2509838"/>
            <a:ext cx="2571750" cy="0"/>
          </a:xfrm>
          <a:prstGeom prst="line">
            <a:avLst/>
          </a:prstGeom>
          <a:ln w="38100" cap="flat" cmpd="sng">
            <a:solidFill>
              <a:schemeClr val="tx1"/>
            </a:solidFill>
            <a:prstDash val="solid"/>
            <a:miter/>
            <a:headEnd type="none" w="med" len="med"/>
            <a:tailEnd type="none" w="med" len="med"/>
          </a:ln>
        </p:spPr>
      </p:cxnSp>
      <p:sp>
        <p:nvSpPr>
          <p:cNvPr id="26" name="TextBox 25"/>
          <p:cNvSpPr txBox="1"/>
          <p:nvPr/>
        </p:nvSpPr>
        <p:spPr>
          <a:xfrm>
            <a:off x="5522913" y="2509838"/>
            <a:ext cx="1928812"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  直到</a:t>
            </a:r>
            <a:r>
              <a:rPr lang="en-US" altLang="zh-CN" sz="2800" b="0" dirty="0">
                <a:solidFill>
                  <a:srgbClr val="003399"/>
                </a:solidFill>
                <a:latin typeface="Times New Roman" panose="02020603050405020304" pitchFamily="18" charset="0"/>
                <a:ea typeface="微软雅黑" panose="020B0503020204020204" pitchFamily="34" charset="-122"/>
              </a:rPr>
              <a:t>i&gt;50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7" name="TextBox 26"/>
          <p:cNvSpPr txBox="1"/>
          <p:nvPr/>
        </p:nvSpPr>
        <p:spPr>
          <a:xfrm>
            <a:off x="5711825" y="3627438"/>
            <a:ext cx="135731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en-US" altLang="zh-CN" sz="2800" b="0" dirty="0">
                <a:solidFill>
                  <a:srgbClr val="003399"/>
                </a:solidFill>
                <a:latin typeface="Times New Roman" panose="02020603050405020304" pitchFamily="18" charset="0"/>
                <a:ea typeface="微软雅黑" panose="020B0503020204020204" pitchFamily="34" charset="-122"/>
              </a:rPr>
              <a:t>≧80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4" name="直接连接符 33"/>
          <p:cNvCxnSpPr/>
          <p:nvPr/>
        </p:nvCxnSpPr>
        <p:spPr>
          <a:xfrm rot="-10800000" flipV="1">
            <a:off x="6283325" y="3652838"/>
            <a:ext cx="1357313" cy="714375"/>
          </a:xfrm>
          <a:prstGeom prst="line">
            <a:avLst/>
          </a:prstGeom>
          <a:ln w="38100" cap="flat" cmpd="sng">
            <a:solidFill>
              <a:schemeClr val="tx1"/>
            </a:solidFill>
            <a:prstDash val="solid"/>
            <a:miter/>
            <a:headEnd type="none" w="med" len="med"/>
            <a:tailEnd type="none" w="med" len="med"/>
          </a:ln>
        </p:spPr>
      </p:cxnSp>
      <p:cxnSp>
        <p:nvCxnSpPr>
          <p:cNvPr id="38" name="直接连接符 37"/>
          <p:cNvCxnSpPr/>
          <p:nvPr/>
        </p:nvCxnSpPr>
        <p:spPr>
          <a:xfrm>
            <a:off x="4640263" y="3652838"/>
            <a:ext cx="1714500" cy="714375"/>
          </a:xfrm>
          <a:prstGeom prst="line">
            <a:avLst/>
          </a:prstGeom>
          <a:ln w="38100" cap="flat" cmpd="sng">
            <a:solidFill>
              <a:schemeClr val="tx1"/>
            </a:solidFill>
            <a:prstDash val="solid"/>
            <a:miter/>
            <a:headEnd type="none" w="med" len="med"/>
            <a:tailEnd type="none" w="med" len="med"/>
          </a:ln>
        </p:spPr>
      </p:cxnSp>
      <p:sp>
        <p:nvSpPr>
          <p:cNvPr id="40" name="TextBox 39"/>
          <p:cNvSpPr txBox="1"/>
          <p:nvPr/>
        </p:nvSpPr>
        <p:spPr>
          <a:xfrm>
            <a:off x="6854825" y="3867150"/>
            <a:ext cx="78581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1" name="TextBox 40"/>
          <p:cNvSpPr txBox="1"/>
          <p:nvPr/>
        </p:nvSpPr>
        <p:spPr>
          <a:xfrm>
            <a:off x="4783138" y="3867150"/>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3" name="直接连接符 42"/>
          <p:cNvCxnSpPr/>
          <p:nvPr/>
        </p:nvCxnSpPr>
        <p:spPr>
          <a:xfrm rot="5400000">
            <a:off x="5997575" y="4652963"/>
            <a:ext cx="571500" cy="0"/>
          </a:xfrm>
          <a:prstGeom prst="line">
            <a:avLst/>
          </a:prstGeom>
          <a:ln w="38100" cap="flat" cmpd="sng">
            <a:solidFill>
              <a:schemeClr val="tx1"/>
            </a:solidFill>
            <a:prstDash val="solid"/>
            <a:miter/>
            <a:headEnd type="none" w="med" len="med"/>
            <a:tailEnd type="none" w="med" len="med"/>
          </a:ln>
        </p:spPr>
      </p:cxnSp>
      <p:sp>
        <p:nvSpPr>
          <p:cNvPr id="45" name="平行四边形 44"/>
          <p:cNvSpPr/>
          <p:nvPr/>
        </p:nvSpPr>
        <p:spPr>
          <a:xfrm>
            <a:off x="4425950" y="4367213"/>
            <a:ext cx="2143125" cy="571500"/>
          </a:xfrm>
          <a:prstGeom prst="parallelogram">
            <a:avLst>
              <a:gd name="adj" fmla="val 25001"/>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r>
              <a:rPr lang="en-US" altLang="zh-CN" sz="2800" b="0" dirty="0">
                <a:solidFill>
                  <a:srgbClr val="003399"/>
                </a:solidFill>
                <a:latin typeface="Times New Roman" panose="02020603050405020304" pitchFamily="18" charset="0"/>
                <a:ea typeface="微软雅黑" panose="020B0503020204020204" pitchFamily="34" charset="-122"/>
              </a:rPr>
              <a:t>,g</a:t>
            </a:r>
            <a:r>
              <a:rPr lang="en-US" altLang="zh-CN" sz="2800" b="0" baseline="-25000" dirty="0">
                <a:solidFill>
                  <a:srgbClr val="003399"/>
                </a:solidFill>
                <a:latin typeface="Times New Roman" panose="02020603050405020304" pitchFamily="18" charset="0"/>
                <a:ea typeface="微软雅黑" panose="020B0503020204020204" pitchFamily="34" charset="-122"/>
              </a:rPr>
              <a:t>i</a:t>
            </a:r>
            <a:endParaRPr lang="zh-CN" altLang="en-US" sz="2800" b="0" baseline="-25000" dirty="0">
              <a:solidFill>
                <a:srgbClr val="003399"/>
              </a:solidFill>
              <a:latin typeface="Times New Roman" panose="02020603050405020304" pitchFamily="18" charset="0"/>
              <a:ea typeface="微软雅黑" panose="020B0503020204020204" pitchFamily="34" charset="-122"/>
            </a:endParaRPr>
          </a:p>
        </p:txBody>
      </p:sp>
      <p:cxnSp>
        <p:nvCxnSpPr>
          <p:cNvPr id="62" name="直接连接符 61"/>
          <p:cNvCxnSpPr/>
          <p:nvPr/>
        </p:nvCxnSpPr>
        <p:spPr>
          <a:xfrm>
            <a:off x="4568825" y="3081338"/>
            <a:ext cx="3786188" cy="0"/>
          </a:xfrm>
          <a:prstGeom prst="line">
            <a:avLst/>
          </a:prstGeom>
          <a:ln w="38100" cap="flat" cmpd="sng">
            <a:solidFill>
              <a:schemeClr val="tx1"/>
            </a:solidFill>
            <a:prstDash val="solid"/>
            <a:miter/>
            <a:headEnd type="none" w="med" len="med"/>
            <a:tailEnd type="none" w="med" len="med"/>
          </a:ln>
        </p:spPr>
      </p:cxnSp>
      <p:cxnSp>
        <p:nvCxnSpPr>
          <p:cNvPr id="63" name="直接连接符 62"/>
          <p:cNvCxnSpPr/>
          <p:nvPr/>
        </p:nvCxnSpPr>
        <p:spPr>
          <a:xfrm>
            <a:off x="4568825" y="3652838"/>
            <a:ext cx="3786188" cy="0"/>
          </a:xfrm>
          <a:prstGeom prst="line">
            <a:avLst/>
          </a:prstGeom>
          <a:ln w="38100" cap="flat" cmpd="sng">
            <a:solidFill>
              <a:schemeClr val="tx1"/>
            </a:solidFill>
            <a:prstDash val="solid"/>
            <a:miter/>
            <a:headEnd type="none" w="med" len="med"/>
            <a:tailEnd type="none" w="med" len="med"/>
          </a:ln>
        </p:spPr>
      </p:cxnSp>
      <p:pic>
        <p:nvPicPr>
          <p:cNvPr id="54300" name="图片 4" descr="Untitled2.png">
            <a:hlinkClick r:id="rId1" action="ppaction://hlinksldjump"/>
          </p:cNvPr>
          <p:cNvPicPr>
            <a:picLocks noChangeAspect="1"/>
          </p:cNvPicPr>
          <p:nvPr/>
        </p:nvPicPr>
        <p:blipFill>
          <a:blip r:embed="rId2"/>
          <a:stretch>
            <a:fillRect/>
          </a:stretch>
        </p:blipFill>
        <p:spPr>
          <a:xfrm>
            <a:off x="8140700" y="601027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lide(fromLeft)">
                                      <p:cBhvr>
                                        <p:cTn id="12" dur="500"/>
                                        <p:tgtEl>
                                          <p:spTgt spid="1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linds(horizontal)">
                                      <p:cBhvr>
                                        <p:cTn id="21" dur="500"/>
                                        <p:tgtEl>
                                          <p:spTgt spid="24"/>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par>
                                <p:cTn id="25" presetID="3" presetClass="entr" presetSubtype="1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childTnLst>
                          </p:cTn>
                        </p:par>
                        <p:par>
                          <p:cTn id="28" fill="hold">
                            <p:stCondLst>
                              <p:cond delay="500"/>
                            </p:stCondLst>
                            <p:childTnLst>
                              <p:par>
                                <p:cTn id="29" presetID="3" presetClass="entr" presetSubtype="1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childTnLst>
                          </p:cTn>
                        </p:par>
                        <p:par>
                          <p:cTn id="32" fill="hold">
                            <p:stCondLst>
                              <p:cond delay="1000"/>
                            </p:stCondLst>
                            <p:childTnLst>
                              <p:par>
                                <p:cTn id="33" presetID="3" presetClass="entr" presetSubtype="1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linds(horizontal)">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slide(fromLeft)">
                                      <p:cBhvr>
                                        <p:cTn id="40" dur="500"/>
                                        <p:tgtEl>
                                          <p:spTgt spid="62"/>
                                        </p:tgtEl>
                                      </p:cBhvr>
                                    </p:animEffect>
                                  </p:childTnLst>
                                </p:cTn>
                              </p:par>
                            </p:childTnLst>
                          </p:cTn>
                        </p:par>
                        <p:par>
                          <p:cTn id="41" fill="hold">
                            <p:stCondLst>
                              <p:cond delay="500"/>
                            </p:stCondLst>
                            <p:childTnLst>
                              <p:par>
                                <p:cTn id="42" presetID="3" presetClass="entr" presetSubtype="10"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blinds(horizontal)">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8" fill="hold" nodeType="click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slide(fromLeft)">
                                      <p:cBhvr>
                                        <p:cTn id="49" dur="500"/>
                                        <p:tgtEl>
                                          <p:spTgt spid="63"/>
                                        </p:tgtEl>
                                      </p:cBhvr>
                                    </p:animEffect>
                                  </p:childTnLst>
                                </p:cTn>
                              </p:par>
                            </p:childTnLst>
                          </p:cTn>
                        </p:par>
                        <p:par>
                          <p:cTn id="50" fill="hold">
                            <p:stCondLst>
                              <p:cond delay="500"/>
                            </p:stCondLst>
                            <p:childTnLst>
                              <p:par>
                                <p:cTn id="51" presetID="3" presetClass="entr" presetSubtype="10"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linds(horizontal)">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box(in)">
                                      <p:cBhvr>
                                        <p:cTn id="58" dur="500"/>
                                        <p:tgtEl>
                                          <p:spTgt spid="38"/>
                                        </p:tgtEl>
                                      </p:cBhvr>
                                    </p:animEffect>
                                  </p:childTnLst>
                                </p:cTn>
                              </p:par>
                              <p:par>
                                <p:cTn id="59" presetID="4" presetClass="entr" presetSubtype="16"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box(in)">
                                      <p:cBhvr>
                                        <p:cTn id="61" dur="500"/>
                                        <p:tgtEl>
                                          <p:spTgt spid="34"/>
                                        </p:tgtEl>
                                      </p:cBhvr>
                                    </p:animEffect>
                                  </p:childTnLst>
                                </p:cTn>
                              </p:par>
                            </p:childTnLst>
                          </p:cTn>
                        </p:par>
                        <p:par>
                          <p:cTn id="62" fill="hold">
                            <p:stCondLst>
                              <p:cond delay="500"/>
                            </p:stCondLst>
                            <p:childTnLst>
                              <p:par>
                                <p:cTn id="63" presetID="3" presetClass="entr" presetSubtype="10"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blinds(horizontal)">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8"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slide(fromLeft)">
                                      <p:cBhvr>
                                        <p:cTn id="70" dur="500"/>
                                        <p:tgtEl>
                                          <p:spTgt spid="15"/>
                                        </p:tgtEl>
                                      </p:cBhvr>
                                    </p:animEffect>
                                  </p:childTnLst>
                                </p:cTn>
                              </p:par>
                            </p:childTnLst>
                          </p:cTn>
                        </p:par>
                        <p:par>
                          <p:cTn id="71" fill="hold">
                            <p:stCondLst>
                              <p:cond delay="500"/>
                            </p:stCondLst>
                            <p:childTnLst>
                              <p:par>
                                <p:cTn id="72" presetID="3" presetClass="entr" presetSubtype="10" fill="hold" grpId="0" nodeType="after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blinds(horizontal)">
                                      <p:cBhvr>
                                        <p:cTn id="74" dur="500"/>
                                        <p:tgtEl>
                                          <p:spTgt spid="41"/>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8"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slide(fromLeft)">
                                      <p:cBhvr>
                                        <p:cTn id="79" dur="500"/>
                                        <p:tgtEl>
                                          <p:spTgt spid="16"/>
                                        </p:tgtEl>
                                      </p:cBhvr>
                                    </p:animEffect>
                                  </p:childTnLst>
                                </p:cTn>
                              </p:par>
                            </p:childTnLst>
                          </p:cTn>
                        </p:par>
                        <p:par>
                          <p:cTn id="80" fill="hold">
                            <p:stCondLst>
                              <p:cond delay="500"/>
                            </p:stCondLst>
                            <p:childTnLst>
                              <p:par>
                                <p:cTn id="81" presetID="12" presetClass="entr" presetSubtype="1" fill="hold" nodeType="after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slide(fromTop)">
                                      <p:cBhvr>
                                        <p:cTn id="83" dur="500"/>
                                        <p:tgtEl>
                                          <p:spTgt spid="43"/>
                                        </p:tgtEl>
                                      </p:cBhvr>
                                    </p:animEffect>
                                  </p:childTnLst>
                                </p:cTn>
                              </p:par>
                            </p:childTnLst>
                          </p:cTn>
                        </p:par>
                        <p:par>
                          <p:cTn id="84" fill="hold">
                            <p:stCondLst>
                              <p:cond delay="1000"/>
                            </p:stCondLst>
                            <p:childTnLst>
                              <p:par>
                                <p:cTn id="85" presetID="3" presetClass="entr" presetSubtype="10" fill="hold" grpId="0" nodeType="after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blinds(horizontal)">
                                      <p:cBhvr>
                                        <p:cTn id="87" dur="500"/>
                                        <p:tgtEl>
                                          <p:spTgt spid="45"/>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blinds(horizontal)">
                                      <p:cBhvr>
                                        <p:cTn id="92" dur="500"/>
                                        <p:tgtEl>
                                          <p:spTgt spid="40"/>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8" fill="hold" nodeType="click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slide(fromLeft)">
                                      <p:cBhvr>
                                        <p:cTn id="97" dur="500"/>
                                        <p:tgtEl>
                                          <p:spTgt spid="17"/>
                                        </p:tgtEl>
                                      </p:cBhvr>
                                    </p:animEffect>
                                  </p:childTnLst>
                                </p:cTn>
                              </p:par>
                            </p:childTnLst>
                          </p:cTn>
                        </p:par>
                        <p:par>
                          <p:cTn id="98" fill="hold">
                            <p:stCondLst>
                              <p:cond delay="500"/>
                            </p:stCondLst>
                            <p:childTnLst>
                              <p:par>
                                <p:cTn id="99" presetID="12" presetClass="entr" presetSubtype="4" fill="hold" nodeType="after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slide(fromBottom)">
                                      <p:cBhvr>
                                        <p:cTn id="101" dur="500"/>
                                        <p:tgtEl>
                                          <p:spTgt spid="8"/>
                                        </p:tgtEl>
                                      </p:cBhvr>
                                    </p:animEffect>
                                  </p:childTnLst>
                                </p:cTn>
                              </p:par>
                            </p:childTnLst>
                          </p:cTn>
                        </p:par>
                        <p:par>
                          <p:cTn id="102" fill="hold">
                            <p:stCondLst>
                              <p:cond delay="1000"/>
                            </p:stCondLst>
                            <p:childTnLst>
                              <p:par>
                                <p:cTn id="103" presetID="3" presetClass="entr" presetSubtype="10" fill="hold" grpId="0" nodeType="afterEffect">
                                  <p:stCondLst>
                                    <p:cond delay="0"/>
                                  </p:stCondLst>
                                  <p:childTnLst>
                                    <p:set>
                                      <p:cBhvr>
                                        <p:cTn id="104" dur="1" fill="hold">
                                          <p:stCondLst>
                                            <p:cond delay="0"/>
                                          </p:stCondLst>
                                        </p:cTn>
                                        <p:tgtEl>
                                          <p:spTgt spid="13"/>
                                        </p:tgtEl>
                                        <p:attrNameLst>
                                          <p:attrName>style.visibility</p:attrName>
                                        </p:attrNameLst>
                                      </p:cBhvr>
                                      <p:to>
                                        <p:strVal val="visible"/>
                                      </p:to>
                                    </p:set>
                                    <p:animEffect transition="in" filter="blinds(horizontal)">
                                      <p:cBhvr>
                                        <p:cTn id="105" dur="500"/>
                                        <p:tgtEl>
                                          <p:spTgt spid="13"/>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7"/>
                                        </p:tgtEl>
                                        <p:attrNameLst>
                                          <p:attrName>style.visibility</p:attrName>
                                        </p:attrNameLst>
                                      </p:cBhvr>
                                      <p:to>
                                        <p:strVal val="visible"/>
                                      </p:to>
                                    </p:set>
                                    <p:animEffect transition="in" filter="blinds(horizontal)">
                                      <p:cBhvr>
                                        <p:cTn id="1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1" grpId="0"/>
      <p:bldP spid="13" grpId="0"/>
      <p:bldP spid="19" grpId="0"/>
      <p:bldP spid="21" grpId="0"/>
      <p:bldP spid="26" grpId="0"/>
      <p:bldP spid="27" grpId="0"/>
      <p:bldP spid="40" grpId="0"/>
      <p:bldP spid="41" grpId="0"/>
      <p:bldP spid="4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250825" y="549275"/>
            <a:ext cx="8786813" cy="785813"/>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例2.13 将例2.3判定闰年的算法用N-S图表示</a:t>
            </a:r>
            <a:endParaRPr lang="en-US" altLang="en-US" b="0" dirty="0">
              <a:solidFill>
                <a:srgbClr val="235A67"/>
              </a:solidFill>
              <a:latin typeface="Times New Roman" panose="02020603050405020304" pitchFamily="18" charset="0"/>
              <a:ea typeface="微软雅黑" panose="020B0503020204020204" pitchFamily="34" charset="-122"/>
              <a:cs typeface="+mn-cs"/>
            </a:endParaRPr>
          </a:p>
        </p:txBody>
      </p:sp>
      <p:sp>
        <p:nvSpPr>
          <p:cNvPr id="5" name="流程图: 过程 4"/>
          <p:cNvSpPr/>
          <p:nvPr/>
        </p:nvSpPr>
        <p:spPr>
          <a:xfrm>
            <a:off x="393700" y="1335088"/>
            <a:ext cx="8358188" cy="5214937"/>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sp>
        <p:nvSpPr>
          <p:cNvPr id="6" name="TextBox 5"/>
          <p:cNvSpPr txBox="1"/>
          <p:nvPr/>
        </p:nvSpPr>
        <p:spPr>
          <a:xfrm>
            <a:off x="2906713" y="5978525"/>
            <a:ext cx="3286125"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直到</a:t>
            </a:r>
            <a:r>
              <a:rPr lang="en-US" altLang="zh-CN" sz="2800" b="0" dirty="0">
                <a:solidFill>
                  <a:srgbClr val="003399"/>
                </a:solidFill>
                <a:latin typeface="Times New Roman" panose="02020603050405020304" pitchFamily="18" charset="0"/>
                <a:ea typeface="微软雅黑" panose="020B0503020204020204" pitchFamily="34" charset="-122"/>
              </a:rPr>
              <a:t>year&gt;2500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 name="TextBox 7"/>
          <p:cNvSpPr txBox="1"/>
          <p:nvPr/>
        </p:nvSpPr>
        <p:spPr>
          <a:xfrm>
            <a:off x="3179763" y="1335088"/>
            <a:ext cx="25003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2000</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year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0" name="TextBox 9"/>
          <p:cNvSpPr txBox="1"/>
          <p:nvPr/>
        </p:nvSpPr>
        <p:spPr>
          <a:xfrm>
            <a:off x="2679700" y="5284788"/>
            <a:ext cx="278606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year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2" name="直接连接符 11"/>
          <p:cNvCxnSpPr/>
          <p:nvPr/>
        </p:nvCxnSpPr>
        <p:spPr>
          <a:xfrm>
            <a:off x="393700" y="5192713"/>
            <a:ext cx="7715250" cy="0"/>
          </a:xfrm>
          <a:prstGeom prst="line">
            <a:avLst/>
          </a:prstGeom>
          <a:ln w="38100" cap="flat" cmpd="sng">
            <a:solidFill>
              <a:schemeClr val="tx1"/>
            </a:solidFill>
            <a:prstDash val="solid"/>
            <a:miter/>
            <a:headEnd type="none" w="med" len="med"/>
            <a:tailEnd type="none" w="med" len="med"/>
          </a:ln>
        </p:spPr>
      </p:cxnSp>
      <p:cxnSp>
        <p:nvCxnSpPr>
          <p:cNvPr id="13" name="直接连接符 12"/>
          <p:cNvCxnSpPr/>
          <p:nvPr/>
        </p:nvCxnSpPr>
        <p:spPr>
          <a:xfrm>
            <a:off x="393700" y="5907088"/>
            <a:ext cx="7715250" cy="0"/>
          </a:xfrm>
          <a:prstGeom prst="line">
            <a:avLst/>
          </a:prstGeom>
          <a:ln w="38100" cap="flat" cmpd="sng">
            <a:solidFill>
              <a:schemeClr val="tx1"/>
            </a:solidFill>
            <a:prstDash val="solid"/>
            <a:miter/>
            <a:headEnd type="none" w="med" len="med"/>
            <a:tailEnd type="none" w="med" len="med"/>
          </a:ln>
        </p:spPr>
      </p:cxnSp>
      <p:cxnSp>
        <p:nvCxnSpPr>
          <p:cNvPr id="14" name="直接连接符 13"/>
          <p:cNvCxnSpPr/>
          <p:nvPr/>
        </p:nvCxnSpPr>
        <p:spPr>
          <a:xfrm>
            <a:off x="393700" y="1835150"/>
            <a:ext cx="8358188" cy="0"/>
          </a:xfrm>
          <a:prstGeom prst="line">
            <a:avLst/>
          </a:prstGeom>
          <a:ln w="38100" cap="flat" cmpd="sng">
            <a:solidFill>
              <a:schemeClr val="tx1"/>
            </a:solidFill>
            <a:prstDash val="solid"/>
            <a:miter/>
            <a:headEnd type="none" w="med" len="med"/>
            <a:tailEnd type="none" w="med" len="med"/>
          </a:ln>
        </p:spPr>
      </p:cxnSp>
      <p:cxnSp>
        <p:nvCxnSpPr>
          <p:cNvPr id="18" name="直接连接符 17"/>
          <p:cNvCxnSpPr/>
          <p:nvPr/>
        </p:nvCxnSpPr>
        <p:spPr>
          <a:xfrm rot="-10800000" flipV="1">
            <a:off x="6394450" y="1835150"/>
            <a:ext cx="1785938" cy="714375"/>
          </a:xfrm>
          <a:prstGeom prst="line">
            <a:avLst/>
          </a:prstGeom>
          <a:ln w="38100" cap="flat" cmpd="sng">
            <a:solidFill>
              <a:schemeClr val="tx1"/>
            </a:solidFill>
            <a:prstDash val="solid"/>
            <a:miter/>
            <a:headEnd type="none" w="med" len="med"/>
            <a:tailEnd type="none" w="med" len="med"/>
          </a:ln>
        </p:spPr>
      </p:cxnSp>
      <p:cxnSp>
        <p:nvCxnSpPr>
          <p:cNvPr id="19" name="直接连接符 18"/>
          <p:cNvCxnSpPr/>
          <p:nvPr/>
        </p:nvCxnSpPr>
        <p:spPr>
          <a:xfrm>
            <a:off x="393700" y="1835150"/>
            <a:ext cx="6072188" cy="714375"/>
          </a:xfrm>
          <a:prstGeom prst="line">
            <a:avLst/>
          </a:prstGeom>
          <a:ln w="38100" cap="flat" cmpd="sng">
            <a:solidFill>
              <a:schemeClr val="tx1"/>
            </a:solidFill>
            <a:prstDash val="solid"/>
            <a:miter/>
            <a:headEnd type="none" w="med" len="med"/>
            <a:tailEnd type="none" w="med" len="med"/>
          </a:ln>
        </p:spPr>
      </p:cxnSp>
      <p:cxnSp>
        <p:nvCxnSpPr>
          <p:cNvPr id="22" name="直接连接符 21"/>
          <p:cNvCxnSpPr/>
          <p:nvPr/>
        </p:nvCxnSpPr>
        <p:spPr>
          <a:xfrm rot="-10800000" flipV="1">
            <a:off x="4179888" y="3335338"/>
            <a:ext cx="2286000" cy="785812"/>
          </a:xfrm>
          <a:prstGeom prst="line">
            <a:avLst/>
          </a:prstGeom>
          <a:ln w="38100" cap="flat" cmpd="sng">
            <a:solidFill>
              <a:schemeClr val="tx1"/>
            </a:solidFill>
            <a:prstDash val="solid"/>
            <a:miter/>
            <a:headEnd type="none" w="med" len="med"/>
            <a:tailEnd type="none" w="med" len="med"/>
          </a:ln>
        </p:spPr>
      </p:cxnSp>
      <p:cxnSp>
        <p:nvCxnSpPr>
          <p:cNvPr id="23" name="直接连接符 22"/>
          <p:cNvCxnSpPr/>
          <p:nvPr/>
        </p:nvCxnSpPr>
        <p:spPr>
          <a:xfrm>
            <a:off x="1822450" y="3335338"/>
            <a:ext cx="2357438" cy="785812"/>
          </a:xfrm>
          <a:prstGeom prst="line">
            <a:avLst/>
          </a:prstGeom>
          <a:ln w="38100" cap="flat" cmpd="sng">
            <a:solidFill>
              <a:schemeClr val="tx1"/>
            </a:solidFill>
            <a:prstDash val="solid"/>
            <a:miter/>
            <a:headEnd type="none" w="med" len="med"/>
            <a:tailEnd type="none" w="med" len="med"/>
          </a:ln>
        </p:spPr>
      </p:cxnSp>
      <p:sp>
        <p:nvSpPr>
          <p:cNvPr id="24" name="TextBox 23"/>
          <p:cNvSpPr txBox="1"/>
          <p:nvPr/>
        </p:nvSpPr>
        <p:spPr>
          <a:xfrm>
            <a:off x="5608638" y="3621088"/>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25" name="TextBox 24"/>
          <p:cNvSpPr txBox="1"/>
          <p:nvPr/>
        </p:nvSpPr>
        <p:spPr>
          <a:xfrm>
            <a:off x="1893888" y="3621088"/>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26" name="直接连接符 25"/>
          <p:cNvCxnSpPr/>
          <p:nvPr/>
        </p:nvCxnSpPr>
        <p:spPr>
          <a:xfrm rot="5400000">
            <a:off x="3641725" y="4654550"/>
            <a:ext cx="1071563" cy="0"/>
          </a:xfrm>
          <a:prstGeom prst="line">
            <a:avLst/>
          </a:prstGeom>
          <a:ln w="38100" cap="flat" cmpd="sng">
            <a:solidFill>
              <a:schemeClr val="tx1"/>
            </a:solidFill>
            <a:prstDash val="solid"/>
            <a:miter/>
            <a:headEnd type="none" w="med" len="med"/>
            <a:tailEnd type="none" w="med" len="med"/>
          </a:ln>
        </p:spPr>
      </p:cxnSp>
      <p:cxnSp>
        <p:nvCxnSpPr>
          <p:cNvPr id="28" name="直接连接符 27"/>
          <p:cNvCxnSpPr/>
          <p:nvPr/>
        </p:nvCxnSpPr>
        <p:spPr>
          <a:xfrm>
            <a:off x="393700" y="2549525"/>
            <a:ext cx="7715250" cy="0"/>
          </a:xfrm>
          <a:prstGeom prst="line">
            <a:avLst/>
          </a:prstGeom>
          <a:ln w="38100" cap="flat" cmpd="sng">
            <a:solidFill>
              <a:schemeClr val="tx1"/>
            </a:solidFill>
            <a:prstDash val="solid"/>
            <a:miter/>
            <a:headEnd type="none" w="med" len="med"/>
            <a:tailEnd type="none" w="med" len="med"/>
          </a:ln>
        </p:spPr>
      </p:cxnSp>
      <p:cxnSp>
        <p:nvCxnSpPr>
          <p:cNvPr id="29" name="直接连接符 28"/>
          <p:cNvCxnSpPr/>
          <p:nvPr/>
        </p:nvCxnSpPr>
        <p:spPr>
          <a:xfrm>
            <a:off x="393700" y="3335338"/>
            <a:ext cx="6072188" cy="0"/>
          </a:xfrm>
          <a:prstGeom prst="line">
            <a:avLst/>
          </a:prstGeom>
          <a:ln w="38100" cap="flat" cmpd="sng">
            <a:solidFill>
              <a:schemeClr val="tx1"/>
            </a:solidFill>
            <a:prstDash val="solid"/>
            <a:miter/>
            <a:headEnd type="none" w="med" len="med"/>
            <a:tailEnd type="none" w="med" len="med"/>
          </a:ln>
        </p:spPr>
      </p:cxnSp>
      <p:sp>
        <p:nvSpPr>
          <p:cNvPr id="32" name="TextBox 31"/>
          <p:cNvSpPr txBox="1"/>
          <p:nvPr/>
        </p:nvSpPr>
        <p:spPr>
          <a:xfrm>
            <a:off x="4965700" y="1835150"/>
            <a:ext cx="2357438"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year%4</a:t>
            </a:r>
            <a:r>
              <a:rPr lang="zh-CN" altLang="en-US" sz="2800" b="0" dirty="0">
                <a:solidFill>
                  <a:srgbClr val="003399"/>
                </a:solidFill>
                <a:latin typeface="Times New Roman" panose="02020603050405020304" pitchFamily="18" charset="0"/>
                <a:ea typeface="微软雅黑" panose="020B0503020204020204" pitchFamily="34" charset="-122"/>
              </a:rPr>
              <a:t>为</a:t>
            </a:r>
            <a:r>
              <a:rPr lang="en-US" altLang="zh-CN" sz="2800" b="0" dirty="0">
                <a:solidFill>
                  <a:srgbClr val="003399"/>
                </a:solidFill>
                <a:latin typeface="Times New Roman" panose="02020603050405020304" pitchFamily="18" charset="0"/>
                <a:ea typeface="微软雅黑" panose="020B0503020204020204" pitchFamily="34" charset="-122"/>
              </a:rPr>
              <a:t>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6" name="TextBox 35"/>
          <p:cNvSpPr txBox="1"/>
          <p:nvPr/>
        </p:nvSpPr>
        <p:spPr>
          <a:xfrm>
            <a:off x="7466013" y="2049463"/>
            <a:ext cx="571500"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1" name="TextBox 40"/>
          <p:cNvSpPr txBox="1"/>
          <p:nvPr/>
        </p:nvSpPr>
        <p:spPr>
          <a:xfrm>
            <a:off x="965200" y="1978025"/>
            <a:ext cx="571500"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2" name="直接连接符 41"/>
          <p:cNvCxnSpPr/>
          <p:nvPr/>
        </p:nvCxnSpPr>
        <p:spPr>
          <a:xfrm rot="5400000">
            <a:off x="5143500" y="3870325"/>
            <a:ext cx="2641600" cy="0"/>
          </a:xfrm>
          <a:prstGeom prst="line">
            <a:avLst/>
          </a:prstGeom>
          <a:ln w="38100" cap="flat" cmpd="sng">
            <a:solidFill>
              <a:schemeClr val="tx1"/>
            </a:solidFill>
            <a:prstDash val="solid"/>
            <a:miter/>
            <a:headEnd type="none" w="med" len="med"/>
            <a:tailEnd type="none" w="med" len="med"/>
          </a:ln>
        </p:spPr>
      </p:cxnSp>
      <p:sp>
        <p:nvSpPr>
          <p:cNvPr id="45" name="平行四边形 44"/>
          <p:cNvSpPr/>
          <p:nvPr/>
        </p:nvSpPr>
        <p:spPr>
          <a:xfrm>
            <a:off x="6323013" y="2978150"/>
            <a:ext cx="2071687" cy="1571625"/>
          </a:xfrm>
          <a:prstGeom prst="parallelogram">
            <a:avLst>
              <a:gd name="adj" fmla="val 25003"/>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非闰年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6" name="直接连接符 45"/>
          <p:cNvCxnSpPr/>
          <p:nvPr/>
        </p:nvCxnSpPr>
        <p:spPr>
          <a:xfrm>
            <a:off x="465138" y="2549525"/>
            <a:ext cx="1357312" cy="785813"/>
          </a:xfrm>
          <a:prstGeom prst="line">
            <a:avLst/>
          </a:prstGeom>
          <a:ln w="38100" cap="flat" cmpd="sng">
            <a:solidFill>
              <a:schemeClr val="tx1"/>
            </a:solidFill>
            <a:prstDash val="solid"/>
            <a:miter/>
            <a:headEnd type="none" w="med" len="med"/>
            <a:tailEnd type="none" w="med" len="med"/>
          </a:ln>
        </p:spPr>
      </p:cxnSp>
      <p:cxnSp>
        <p:nvCxnSpPr>
          <p:cNvPr id="48" name="直接连接符 47"/>
          <p:cNvCxnSpPr/>
          <p:nvPr/>
        </p:nvCxnSpPr>
        <p:spPr>
          <a:xfrm rot="-10800000" flipV="1">
            <a:off x="1822450" y="2549525"/>
            <a:ext cx="4714875" cy="785813"/>
          </a:xfrm>
          <a:prstGeom prst="line">
            <a:avLst/>
          </a:prstGeom>
          <a:ln w="38100" cap="flat" cmpd="sng">
            <a:solidFill>
              <a:schemeClr val="tx1"/>
            </a:solidFill>
            <a:prstDash val="solid"/>
            <a:miter/>
            <a:headEnd type="none" w="med" len="med"/>
            <a:tailEnd type="none" w="med" len="med"/>
          </a:ln>
        </p:spPr>
      </p:cxnSp>
      <p:sp>
        <p:nvSpPr>
          <p:cNvPr id="51" name="TextBox 50"/>
          <p:cNvSpPr txBox="1"/>
          <p:nvPr/>
        </p:nvSpPr>
        <p:spPr>
          <a:xfrm>
            <a:off x="1179513" y="2549525"/>
            <a:ext cx="3071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year%100</a:t>
            </a:r>
            <a:r>
              <a:rPr lang="zh-CN" altLang="en-US" sz="2800" b="0" dirty="0">
                <a:solidFill>
                  <a:srgbClr val="003399"/>
                </a:solidFill>
                <a:latin typeface="Times New Roman" panose="02020603050405020304" pitchFamily="18" charset="0"/>
                <a:ea typeface="微软雅黑" panose="020B0503020204020204" pitchFamily="34" charset="-122"/>
              </a:rPr>
              <a:t>不为</a:t>
            </a:r>
            <a:r>
              <a:rPr lang="en-US" altLang="zh-CN" sz="2800" b="0" dirty="0">
                <a:solidFill>
                  <a:srgbClr val="003399"/>
                </a:solidFill>
                <a:latin typeface="Times New Roman" panose="02020603050405020304" pitchFamily="18" charset="0"/>
                <a:ea typeface="微软雅黑" panose="020B0503020204020204" pitchFamily="34" charset="-122"/>
              </a:rPr>
              <a:t>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60" name="直接连接符 59"/>
          <p:cNvCxnSpPr/>
          <p:nvPr/>
        </p:nvCxnSpPr>
        <p:spPr>
          <a:xfrm rot="5400000">
            <a:off x="893763" y="4264025"/>
            <a:ext cx="1857375" cy="0"/>
          </a:xfrm>
          <a:prstGeom prst="line">
            <a:avLst/>
          </a:prstGeom>
          <a:ln w="38100" cap="flat" cmpd="sng">
            <a:solidFill>
              <a:schemeClr val="tx1"/>
            </a:solidFill>
            <a:prstDash val="solid"/>
            <a:miter/>
            <a:headEnd type="none" w="med" len="med"/>
            <a:tailEnd type="none" w="med" len="med"/>
          </a:ln>
        </p:spPr>
      </p:cxnSp>
      <p:sp>
        <p:nvSpPr>
          <p:cNvPr id="61" name="TextBox 60"/>
          <p:cNvSpPr txBox="1"/>
          <p:nvPr/>
        </p:nvSpPr>
        <p:spPr>
          <a:xfrm>
            <a:off x="2751138" y="3263900"/>
            <a:ext cx="3071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year%400</a:t>
            </a:r>
            <a:r>
              <a:rPr lang="zh-CN" altLang="en-US" sz="2800" b="0" dirty="0">
                <a:solidFill>
                  <a:srgbClr val="003399"/>
                </a:solidFill>
                <a:latin typeface="Times New Roman" panose="02020603050405020304" pitchFamily="18" charset="0"/>
                <a:ea typeface="微软雅黑" panose="020B0503020204020204" pitchFamily="34" charset="-122"/>
              </a:rPr>
              <a:t>为</a:t>
            </a:r>
            <a:r>
              <a:rPr lang="en-US" altLang="zh-CN" sz="2800" b="0" dirty="0">
                <a:solidFill>
                  <a:srgbClr val="003399"/>
                </a:solidFill>
                <a:latin typeface="Times New Roman" panose="02020603050405020304" pitchFamily="18" charset="0"/>
                <a:ea typeface="微软雅黑" panose="020B0503020204020204" pitchFamily="34" charset="-122"/>
              </a:rPr>
              <a:t>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62" name="直接连接符 61"/>
          <p:cNvCxnSpPr/>
          <p:nvPr/>
        </p:nvCxnSpPr>
        <p:spPr>
          <a:xfrm>
            <a:off x="1822450" y="4121150"/>
            <a:ext cx="4643438" cy="0"/>
          </a:xfrm>
          <a:prstGeom prst="line">
            <a:avLst/>
          </a:prstGeom>
          <a:ln w="38100" cap="flat" cmpd="sng">
            <a:solidFill>
              <a:schemeClr val="tx1"/>
            </a:solidFill>
            <a:prstDash val="solid"/>
            <a:miter/>
            <a:headEnd type="none" w="med" len="med"/>
            <a:tailEnd type="none" w="med" len="med"/>
          </a:ln>
        </p:spPr>
      </p:cxnSp>
      <p:sp>
        <p:nvSpPr>
          <p:cNvPr id="66" name="TextBox 65"/>
          <p:cNvSpPr txBox="1"/>
          <p:nvPr/>
        </p:nvSpPr>
        <p:spPr>
          <a:xfrm>
            <a:off x="465138" y="2835275"/>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67" name="TextBox 66"/>
          <p:cNvSpPr txBox="1"/>
          <p:nvPr/>
        </p:nvSpPr>
        <p:spPr>
          <a:xfrm>
            <a:off x="5322888" y="2763838"/>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4" name="平行四边形 83"/>
          <p:cNvSpPr/>
          <p:nvPr/>
        </p:nvSpPr>
        <p:spPr>
          <a:xfrm>
            <a:off x="4037013" y="4049713"/>
            <a:ext cx="2428875" cy="1214437"/>
          </a:xfrm>
          <a:prstGeom prst="parallelogram">
            <a:avLst>
              <a:gd name="adj" fmla="val 25000"/>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year</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非闰年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5" name="平行四边形 84"/>
          <p:cNvSpPr/>
          <p:nvPr/>
        </p:nvSpPr>
        <p:spPr>
          <a:xfrm>
            <a:off x="1679575" y="4121150"/>
            <a:ext cx="2428875" cy="1214438"/>
          </a:xfrm>
          <a:prstGeom prst="parallelogram">
            <a:avLst>
              <a:gd name="adj" fmla="val 24999"/>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year</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86" name="平行四边形 85"/>
          <p:cNvSpPr/>
          <p:nvPr/>
        </p:nvSpPr>
        <p:spPr>
          <a:xfrm>
            <a:off x="250825" y="3335338"/>
            <a:ext cx="1785938" cy="1643062"/>
          </a:xfrm>
          <a:prstGeom prst="parallelogram">
            <a:avLst>
              <a:gd name="adj" fmla="val 25000"/>
            </a:avLst>
          </a:prstGeom>
          <a:noFill/>
          <a:ln w="38100">
            <a:noFill/>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year</a:t>
            </a:r>
            <a:endParaRPr lang="en-US" altLang="zh-CN" sz="2800" b="0" dirty="0">
              <a:solidFill>
                <a:srgbClr val="003399"/>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闰年</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94" name="直接连接符 93"/>
          <p:cNvCxnSpPr/>
          <p:nvPr/>
        </p:nvCxnSpPr>
        <p:spPr>
          <a:xfrm rot="5400000">
            <a:off x="6072188" y="3870325"/>
            <a:ext cx="4071937" cy="0"/>
          </a:xfrm>
          <a:prstGeom prst="line">
            <a:avLst/>
          </a:prstGeom>
          <a:ln w="38100" cap="flat" cmpd="sng">
            <a:solidFill>
              <a:schemeClr val="tx1"/>
            </a:solidFill>
            <a:prstDash val="solid"/>
            <a:miter/>
            <a:headEnd type="none" w="med" len="med"/>
            <a:tailEnd type="none" w="med" len="med"/>
          </a:ln>
        </p:spPr>
      </p:cxnSp>
      <p:pic>
        <p:nvPicPr>
          <p:cNvPr id="55332" name="图片 4" descr="Untitled2.png">
            <a:hlinkClick r:id="rId1" action="ppaction://hlinksldjump"/>
          </p:cNvPr>
          <p:cNvPicPr>
            <a:picLocks noChangeAspect="1"/>
          </p:cNvPicPr>
          <p:nvPr/>
        </p:nvPicPr>
        <p:blipFill>
          <a:blip r:embed="rId2"/>
          <a:stretch>
            <a:fillRect/>
          </a:stretch>
        </p:blipFill>
        <p:spPr>
          <a:xfrm>
            <a:off x="8466138" y="6049963"/>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lide(fromLeft)">
                                      <p:cBhvr>
                                        <p:cTn id="12" dur="500"/>
                                        <p:tgtEl>
                                          <p:spTgt spid="14"/>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slide(fromLeft)">
                                      <p:cBhvr>
                                        <p:cTn id="21" dur="500"/>
                                        <p:tgtEl>
                                          <p:spTgt spid="13"/>
                                        </p:tgtEl>
                                      </p:cBhvr>
                                    </p:animEffect>
                                  </p:childTnLst>
                                </p:cTn>
                              </p:par>
                            </p:childTnLst>
                          </p:cTn>
                        </p:par>
                        <p:par>
                          <p:cTn id="22" fill="hold">
                            <p:stCondLst>
                              <p:cond delay="500"/>
                            </p:stCondLst>
                            <p:childTnLst>
                              <p:par>
                                <p:cTn id="23" presetID="12" presetClass="entr" presetSubtype="4" fill="hold" nodeType="after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slide(fromBottom)">
                                      <p:cBhvr>
                                        <p:cTn id="25" dur="500"/>
                                        <p:tgtEl>
                                          <p:spTgt spid="94"/>
                                        </p:tgtEl>
                                      </p:cBhvr>
                                    </p:animEffect>
                                  </p:childTnLst>
                                </p:cTn>
                              </p:par>
                            </p:childTnLst>
                          </p:cTn>
                        </p:par>
                        <p:par>
                          <p:cTn id="26" fill="hold">
                            <p:stCondLst>
                              <p:cond delay="1000"/>
                            </p:stCondLst>
                            <p:childTnLst>
                              <p:par>
                                <p:cTn id="27" presetID="12" presetClass="entr" presetSubtype="8" fill="hold"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slide(fromLeft)">
                                      <p:cBhvr>
                                        <p:cTn id="29" dur="500"/>
                                        <p:tgtEl>
                                          <p:spTgt spid="28"/>
                                        </p:tgtEl>
                                      </p:cBhvr>
                                    </p:animEffect>
                                  </p:childTnLst>
                                </p:cTn>
                              </p:par>
                            </p:childTnLst>
                          </p:cTn>
                        </p:par>
                        <p:par>
                          <p:cTn id="30" fill="hold">
                            <p:stCondLst>
                              <p:cond delay="1500"/>
                            </p:stCondLst>
                            <p:childTnLst>
                              <p:par>
                                <p:cTn id="31" presetID="4" presetClass="entr" presetSubtype="16" fill="hold"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par>
                                <p:cTn id="34" presetID="4" presetClass="entr" presetSubtype="16"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ox(in)">
                                      <p:cBhvr>
                                        <p:cTn id="36" dur="500"/>
                                        <p:tgtEl>
                                          <p:spTgt spid="18"/>
                                        </p:tgtEl>
                                      </p:cBhvr>
                                    </p:animEffect>
                                  </p:childTnLst>
                                </p:cTn>
                              </p:par>
                            </p:childTnLst>
                          </p:cTn>
                        </p:par>
                        <p:par>
                          <p:cTn id="37" fill="hold">
                            <p:stCondLst>
                              <p:cond delay="2000"/>
                            </p:stCondLst>
                            <p:childTnLst>
                              <p:par>
                                <p:cTn id="38" presetID="3" presetClass="entr" presetSubtype="1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blinds(horizontal)">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blinds(horizontal)">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slide(fromLeft)">
                                      <p:cBhvr>
                                        <p:cTn id="50" dur="500"/>
                                        <p:tgtEl>
                                          <p:spTgt spid="12"/>
                                        </p:tgtEl>
                                      </p:cBhvr>
                                    </p:animEffect>
                                  </p:childTnLst>
                                </p:cTn>
                              </p:par>
                            </p:childTnLst>
                          </p:cTn>
                        </p:par>
                        <p:par>
                          <p:cTn id="51" fill="hold">
                            <p:stCondLst>
                              <p:cond delay="500"/>
                            </p:stCondLst>
                            <p:childTnLst>
                              <p:par>
                                <p:cTn id="52" presetID="12" presetClass="entr" presetSubtype="4" fill="hold"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slide(fromBottom)">
                                      <p:cBhvr>
                                        <p:cTn id="54" dur="500"/>
                                        <p:tgtEl>
                                          <p:spTgt spid="42"/>
                                        </p:tgtEl>
                                      </p:cBhvr>
                                    </p:animEffect>
                                  </p:childTnLst>
                                </p:cTn>
                              </p:par>
                            </p:childTnLst>
                          </p:cTn>
                        </p:par>
                        <p:par>
                          <p:cTn id="55" fill="hold">
                            <p:stCondLst>
                              <p:cond delay="1000"/>
                            </p:stCondLst>
                            <p:childTnLst>
                              <p:par>
                                <p:cTn id="56" presetID="3" presetClass="entr" presetSubtype="10" fill="hold" grpId="0"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blinds(horizontal)">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blinds(horizontal)">
                                      <p:cBhvr>
                                        <p:cTn id="63" dur="500"/>
                                        <p:tgtEl>
                                          <p:spTgt spid="41"/>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slide(fromLeft)">
                                      <p:cBhvr>
                                        <p:cTn id="68" dur="500"/>
                                        <p:tgtEl>
                                          <p:spTgt spid="29"/>
                                        </p:tgtEl>
                                      </p:cBhvr>
                                    </p:animEffect>
                                  </p:childTnLst>
                                </p:cTn>
                              </p:par>
                            </p:childTnLst>
                          </p:cTn>
                        </p:par>
                        <p:par>
                          <p:cTn id="69" fill="hold">
                            <p:stCondLst>
                              <p:cond delay="500"/>
                            </p:stCondLst>
                            <p:childTnLst>
                              <p:par>
                                <p:cTn id="70" presetID="4" presetClass="entr" presetSubtype="16" fill="hold" nodeType="after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box(in)">
                                      <p:cBhvr>
                                        <p:cTn id="72" dur="500"/>
                                        <p:tgtEl>
                                          <p:spTgt spid="46"/>
                                        </p:tgtEl>
                                      </p:cBhvr>
                                    </p:animEffect>
                                  </p:childTnLst>
                                </p:cTn>
                              </p:par>
                              <p:par>
                                <p:cTn id="73" presetID="4" presetClass="entr" presetSubtype="16"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box(in)">
                                      <p:cBhvr>
                                        <p:cTn id="75" dur="500"/>
                                        <p:tgtEl>
                                          <p:spTgt spid="48"/>
                                        </p:tgtEl>
                                      </p:cBhvr>
                                    </p:animEffect>
                                  </p:childTnLst>
                                </p:cTn>
                              </p:par>
                            </p:childTnLst>
                          </p:cTn>
                        </p:par>
                        <p:par>
                          <p:cTn id="76" fill="hold">
                            <p:stCondLst>
                              <p:cond delay="1000"/>
                            </p:stCondLst>
                            <p:childTnLst>
                              <p:par>
                                <p:cTn id="77" presetID="3" presetClass="entr" presetSubtype="10" fill="hold" grpId="0" nodeType="after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blinds(horizontal)">
                                      <p:cBhvr>
                                        <p:cTn id="79" dur="500"/>
                                        <p:tgtEl>
                                          <p:spTgt spid="51"/>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blinds(horizontal)">
                                      <p:cBhvr>
                                        <p:cTn id="84" dur="500"/>
                                        <p:tgtEl>
                                          <p:spTgt spid="66"/>
                                        </p:tgtEl>
                                      </p:cBhvr>
                                    </p:animEffect>
                                  </p:childTnLst>
                                </p:cTn>
                              </p:par>
                            </p:childTnLst>
                          </p:cTn>
                        </p:par>
                      </p:childTnLst>
                    </p:cTn>
                  </p:par>
                  <p:par>
                    <p:cTn id="85" fill="hold">
                      <p:stCondLst>
                        <p:cond delay="indefinite"/>
                      </p:stCondLst>
                      <p:childTnLst>
                        <p:par>
                          <p:cTn id="86" fill="hold">
                            <p:stCondLst>
                              <p:cond delay="0"/>
                            </p:stCondLst>
                            <p:childTnLst>
                              <p:par>
                                <p:cTn id="87" presetID="12" presetClass="entr" presetSubtype="1" fill="hold" nodeType="clickEffect">
                                  <p:stCondLst>
                                    <p:cond delay="0"/>
                                  </p:stCondLst>
                                  <p:childTnLst>
                                    <p:set>
                                      <p:cBhvr>
                                        <p:cTn id="88" dur="1" fill="hold">
                                          <p:stCondLst>
                                            <p:cond delay="0"/>
                                          </p:stCondLst>
                                        </p:cTn>
                                        <p:tgtEl>
                                          <p:spTgt spid="60"/>
                                        </p:tgtEl>
                                        <p:attrNameLst>
                                          <p:attrName>style.visibility</p:attrName>
                                        </p:attrNameLst>
                                      </p:cBhvr>
                                      <p:to>
                                        <p:strVal val="visible"/>
                                      </p:to>
                                    </p:set>
                                    <p:animEffect transition="in" filter="slide(fromTop)">
                                      <p:cBhvr>
                                        <p:cTn id="89" dur="500"/>
                                        <p:tgtEl>
                                          <p:spTgt spid="60"/>
                                        </p:tgtEl>
                                      </p:cBhvr>
                                    </p:animEffect>
                                  </p:childTnLst>
                                </p:cTn>
                              </p:par>
                            </p:childTnLst>
                          </p:cTn>
                        </p:par>
                        <p:par>
                          <p:cTn id="90" fill="hold">
                            <p:stCondLst>
                              <p:cond delay="500"/>
                            </p:stCondLst>
                            <p:childTnLst>
                              <p:par>
                                <p:cTn id="91" presetID="3" presetClass="entr" presetSubtype="10" fill="hold" grpId="0" nodeType="afterEffect">
                                  <p:stCondLst>
                                    <p:cond delay="0"/>
                                  </p:stCondLst>
                                  <p:childTnLst>
                                    <p:set>
                                      <p:cBhvr>
                                        <p:cTn id="92" dur="1" fill="hold">
                                          <p:stCondLst>
                                            <p:cond delay="0"/>
                                          </p:stCondLst>
                                        </p:cTn>
                                        <p:tgtEl>
                                          <p:spTgt spid="86"/>
                                        </p:tgtEl>
                                        <p:attrNameLst>
                                          <p:attrName>style.visibility</p:attrName>
                                        </p:attrNameLst>
                                      </p:cBhvr>
                                      <p:to>
                                        <p:strVal val="visible"/>
                                      </p:to>
                                    </p:set>
                                    <p:animEffect transition="in" filter="blinds(horizontal)">
                                      <p:cBhvr>
                                        <p:cTn id="93" dur="500"/>
                                        <p:tgtEl>
                                          <p:spTgt spid="86"/>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67"/>
                                        </p:tgtEl>
                                        <p:attrNameLst>
                                          <p:attrName>style.visibility</p:attrName>
                                        </p:attrNameLst>
                                      </p:cBhvr>
                                      <p:to>
                                        <p:strVal val="visible"/>
                                      </p:to>
                                    </p:set>
                                    <p:animEffect transition="in" filter="blinds(horizontal)">
                                      <p:cBhvr>
                                        <p:cTn id="98" dur="500"/>
                                        <p:tgtEl>
                                          <p:spTgt spid="67"/>
                                        </p:tgtEl>
                                      </p:cBhvr>
                                    </p:animEffect>
                                  </p:childTnLst>
                                </p:cTn>
                              </p:par>
                            </p:childTnLst>
                          </p:cTn>
                        </p:par>
                      </p:childTnLst>
                    </p:cTn>
                  </p:par>
                  <p:par>
                    <p:cTn id="99" fill="hold">
                      <p:stCondLst>
                        <p:cond delay="indefinite"/>
                      </p:stCondLst>
                      <p:childTnLst>
                        <p:par>
                          <p:cTn id="100" fill="hold">
                            <p:stCondLst>
                              <p:cond delay="0"/>
                            </p:stCondLst>
                            <p:childTnLst>
                              <p:par>
                                <p:cTn id="101" presetID="12" presetClass="entr" presetSubtype="8" fill="hold" nodeType="click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slide(fromLeft)">
                                      <p:cBhvr>
                                        <p:cTn id="103" dur="500"/>
                                        <p:tgtEl>
                                          <p:spTgt spid="62"/>
                                        </p:tgtEl>
                                      </p:cBhvr>
                                    </p:animEffect>
                                  </p:childTnLst>
                                </p:cTn>
                              </p:par>
                            </p:childTnLst>
                          </p:cTn>
                        </p:par>
                        <p:par>
                          <p:cTn id="104" fill="hold">
                            <p:stCondLst>
                              <p:cond delay="500"/>
                            </p:stCondLst>
                            <p:childTnLst>
                              <p:par>
                                <p:cTn id="105" presetID="4" presetClass="entr" presetSubtype="16" fill="hold" nodeType="after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box(in)">
                                      <p:cBhvr>
                                        <p:cTn id="107" dur="500"/>
                                        <p:tgtEl>
                                          <p:spTgt spid="23"/>
                                        </p:tgtEl>
                                      </p:cBhvr>
                                    </p:animEffect>
                                  </p:childTnLst>
                                </p:cTn>
                              </p:par>
                            </p:childTnLst>
                          </p:cTn>
                        </p:par>
                        <p:par>
                          <p:cTn id="108" fill="hold">
                            <p:stCondLst>
                              <p:cond delay="1000"/>
                            </p:stCondLst>
                            <p:childTnLst>
                              <p:par>
                                <p:cTn id="109" presetID="4" presetClass="entr" presetSubtype="16" fill="hold" nodeType="after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box(in)">
                                      <p:cBhvr>
                                        <p:cTn id="111" dur="500"/>
                                        <p:tgtEl>
                                          <p:spTgt spid="22"/>
                                        </p:tgtEl>
                                      </p:cBhvr>
                                    </p:animEffect>
                                  </p:childTnLst>
                                </p:cTn>
                              </p:par>
                            </p:childTnLst>
                          </p:cTn>
                        </p:par>
                        <p:par>
                          <p:cTn id="112" fill="hold">
                            <p:stCondLst>
                              <p:cond delay="1500"/>
                            </p:stCondLst>
                            <p:childTnLst>
                              <p:par>
                                <p:cTn id="113" presetID="3" presetClass="entr" presetSubtype="10" fill="hold" grpId="0" nodeType="afterEffect">
                                  <p:stCondLst>
                                    <p:cond delay="0"/>
                                  </p:stCondLst>
                                  <p:childTnLst>
                                    <p:set>
                                      <p:cBhvr>
                                        <p:cTn id="114" dur="1" fill="hold">
                                          <p:stCondLst>
                                            <p:cond delay="0"/>
                                          </p:stCondLst>
                                        </p:cTn>
                                        <p:tgtEl>
                                          <p:spTgt spid="61"/>
                                        </p:tgtEl>
                                        <p:attrNameLst>
                                          <p:attrName>style.visibility</p:attrName>
                                        </p:attrNameLst>
                                      </p:cBhvr>
                                      <p:to>
                                        <p:strVal val="visible"/>
                                      </p:to>
                                    </p:set>
                                    <p:animEffect transition="in" filter="blinds(horizontal)">
                                      <p:cBhvr>
                                        <p:cTn id="115" dur="500"/>
                                        <p:tgtEl>
                                          <p:spTgt spid="61"/>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blinds(horizontal)">
                                      <p:cBhvr>
                                        <p:cTn id="120" dur="500"/>
                                        <p:tgtEl>
                                          <p:spTgt spid="25"/>
                                        </p:tgtEl>
                                      </p:cBhvr>
                                    </p:animEffect>
                                  </p:childTnLst>
                                </p:cTn>
                              </p:par>
                            </p:childTnLst>
                          </p:cTn>
                        </p:par>
                      </p:childTnLst>
                    </p:cTn>
                  </p:par>
                  <p:par>
                    <p:cTn id="121" fill="hold">
                      <p:stCondLst>
                        <p:cond delay="indefinite"/>
                      </p:stCondLst>
                      <p:childTnLst>
                        <p:par>
                          <p:cTn id="122" fill="hold">
                            <p:stCondLst>
                              <p:cond delay="0"/>
                            </p:stCondLst>
                            <p:childTnLst>
                              <p:par>
                                <p:cTn id="123" presetID="12" presetClass="entr" presetSubtype="1" fill="hold" nodeType="clickEffect">
                                  <p:stCondLst>
                                    <p:cond delay="0"/>
                                  </p:stCondLst>
                                  <p:childTnLst>
                                    <p:set>
                                      <p:cBhvr>
                                        <p:cTn id="124" dur="1" fill="hold">
                                          <p:stCondLst>
                                            <p:cond delay="0"/>
                                          </p:stCondLst>
                                        </p:cTn>
                                        <p:tgtEl>
                                          <p:spTgt spid="26"/>
                                        </p:tgtEl>
                                        <p:attrNameLst>
                                          <p:attrName>style.visibility</p:attrName>
                                        </p:attrNameLst>
                                      </p:cBhvr>
                                      <p:to>
                                        <p:strVal val="visible"/>
                                      </p:to>
                                    </p:set>
                                    <p:animEffect transition="in" filter="slide(fromTop)">
                                      <p:cBhvr>
                                        <p:cTn id="125" dur="500"/>
                                        <p:tgtEl>
                                          <p:spTgt spid="26"/>
                                        </p:tgtEl>
                                      </p:cBhvr>
                                    </p:animEffect>
                                  </p:childTnLst>
                                </p:cTn>
                              </p:par>
                            </p:childTnLst>
                          </p:cTn>
                        </p:par>
                        <p:par>
                          <p:cTn id="126" fill="hold">
                            <p:stCondLst>
                              <p:cond delay="500"/>
                            </p:stCondLst>
                            <p:childTnLst>
                              <p:par>
                                <p:cTn id="127" presetID="3" presetClass="entr" presetSubtype="10" fill="hold" grpId="0" nodeType="afterEffect">
                                  <p:stCondLst>
                                    <p:cond delay="0"/>
                                  </p:stCondLst>
                                  <p:childTnLst>
                                    <p:set>
                                      <p:cBhvr>
                                        <p:cTn id="128" dur="1" fill="hold">
                                          <p:stCondLst>
                                            <p:cond delay="0"/>
                                          </p:stCondLst>
                                        </p:cTn>
                                        <p:tgtEl>
                                          <p:spTgt spid="85"/>
                                        </p:tgtEl>
                                        <p:attrNameLst>
                                          <p:attrName>style.visibility</p:attrName>
                                        </p:attrNameLst>
                                      </p:cBhvr>
                                      <p:to>
                                        <p:strVal val="visible"/>
                                      </p:to>
                                    </p:set>
                                    <p:animEffect transition="in" filter="blinds(horizontal)">
                                      <p:cBhvr>
                                        <p:cTn id="129" dur="500"/>
                                        <p:tgtEl>
                                          <p:spTgt spid="85"/>
                                        </p:tgtEl>
                                      </p:cBhvr>
                                    </p:animEffec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grpId="0" nodeType="clickEffect">
                                  <p:stCondLst>
                                    <p:cond delay="0"/>
                                  </p:stCondLst>
                                  <p:childTnLst>
                                    <p:set>
                                      <p:cBhvr>
                                        <p:cTn id="133" dur="1" fill="hold">
                                          <p:stCondLst>
                                            <p:cond delay="0"/>
                                          </p:stCondLst>
                                        </p:cTn>
                                        <p:tgtEl>
                                          <p:spTgt spid="24"/>
                                        </p:tgtEl>
                                        <p:attrNameLst>
                                          <p:attrName>style.visibility</p:attrName>
                                        </p:attrNameLst>
                                      </p:cBhvr>
                                      <p:to>
                                        <p:strVal val="visible"/>
                                      </p:to>
                                    </p:set>
                                    <p:animEffect transition="in" filter="blinds(horizontal)">
                                      <p:cBhvr>
                                        <p:cTn id="134" dur="500"/>
                                        <p:tgtEl>
                                          <p:spTgt spid="24"/>
                                        </p:tgtEl>
                                      </p:cBhvr>
                                    </p:animEffect>
                                  </p:childTnLst>
                                </p:cTn>
                              </p:par>
                            </p:childTnLst>
                          </p:cTn>
                        </p:par>
                        <p:par>
                          <p:cTn id="135" fill="hold">
                            <p:stCondLst>
                              <p:cond delay="500"/>
                            </p:stCondLst>
                            <p:childTnLst>
                              <p:par>
                                <p:cTn id="136" presetID="3" presetClass="entr" presetSubtype="10" fill="hold" grpId="0" nodeType="afterEffect">
                                  <p:stCondLst>
                                    <p:cond delay="0"/>
                                  </p:stCondLst>
                                  <p:childTnLst>
                                    <p:set>
                                      <p:cBhvr>
                                        <p:cTn id="137" dur="1" fill="hold">
                                          <p:stCondLst>
                                            <p:cond delay="0"/>
                                          </p:stCondLst>
                                        </p:cTn>
                                        <p:tgtEl>
                                          <p:spTgt spid="84"/>
                                        </p:tgtEl>
                                        <p:attrNameLst>
                                          <p:attrName>style.visibility</p:attrName>
                                        </p:attrNameLst>
                                      </p:cBhvr>
                                      <p:to>
                                        <p:strVal val="visible"/>
                                      </p:to>
                                    </p:set>
                                    <p:animEffect transition="in" filter="blinds(horizontal)">
                                      <p:cBhvr>
                                        <p:cTn id="138" dur="500"/>
                                        <p:tgtEl>
                                          <p:spTgt spid="84"/>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ntr" presetSubtype="10" fill="hold" grpId="0" nodeType="clickEffect">
                                  <p:stCondLst>
                                    <p:cond delay="0"/>
                                  </p:stCondLst>
                                  <p:childTnLst>
                                    <p:set>
                                      <p:cBhvr>
                                        <p:cTn id="142" dur="1" fill="hold">
                                          <p:stCondLst>
                                            <p:cond delay="0"/>
                                          </p:stCondLst>
                                        </p:cTn>
                                        <p:tgtEl>
                                          <p:spTgt spid="10"/>
                                        </p:tgtEl>
                                        <p:attrNameLst>
                                          <p:attrName>style.visibility</p:attrName>
                                        </p:attrNameLst>
                                      </p:cBhvr>
                                      <p:to>
                                        <p:strVal val="visible"/>
                                      </p:to>
                                    </p:set>
                                    <p:animEffect transition="in" filter="blinds(horizontal)">
                                      <p:cBhvr>
                                        <p:cTn id="143" dur="500"/>
                                        <p:tgtEl>
                                          <p:spTgt spid="10"/>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grpId="0" nodeType="clickEffect">
                                  <p:stCondLst>
                                    <p:cond delay="0"/>
                                  </p:stCondLst>
                                  <p:childTnLst>
                                    <p:set>
                                      <p:cBhvr>
                                        <p:cTn id="147" dur="1" fill="hold">
                                          <p:stCondLst>
                                            <p:cond delay="0"/>
                                          </p:stCondLst>
                                        </p:cTn>
                                        <p:tgtEl>
                                          <p:spTgt spid="6"/>
                                        </p:tgtEl>
                                        <p:attrNameLst>
                                          <p:attrName>style.visibility</p:attrName>
                                        </p:attrNameLst>
                                      </p:cBhvr>
                                      <p:to>
                                        <p:strVal val="visible"/>
                                      </p:to>
                                    </p:set>
                                    <p:animEffect transition="in" filter="blinds(horizontal)">
                                      <p:cBhvr>
                                        <p:cTn id="14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10" grpId="0"/>
      <p:bldP spid="24" grpId="0"/>
      <p:bldP spid="25" grpId="0"/>
      <p:bldP spid="32" grpId="0"/>
      <p:bldP spid="36" grpId="0"/>
      <p:bldP spid="41" grpId="0"/>
      <p:bldP spid="45" grpId="0"/>
      <p:bldP spid="51" grpId="0"/>
      <p:bldP spid="61" grpId="0"/>
      <p:bldP spid="66" grpId="0"/>
      <p:bldP spid="67" grpId="0"/>
      <p:bldP spid="84" grpId="0"/>
      <p:bldP spid="85" grpId="0"/>
      <p:bldP spid="8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301625" y="801688"/>
            <a:ext cx="4270375" cy="2428875"/>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例 2.14 将例2.4的算法用N-S图表示。求</a:t>
            </a:r>
            <a:endParaRPr lang="en-US" altLang="en-US" b="0" dirty="0">
              <a:solidFill>
                <a:srgbClr val="235A67"/>
              </a:solidFill>
              <a:latin typeface="Times New Roman" panose="02020603050405020304" pitchFamily="18" charset="0"/>
              <a:ea typeface="微软雅黑" panose="020B0503020204020204" pitchFamily="34" charset="-122"/>
              <a:cs typeface="+mn-cs"/>
            </a:endParaRPr>
          </a:p>
        </p:txBody>
      </p:sp>
      <p:graphicFrame>
        <p:nvGraphicFramePr>
          <p:cNvPr id="56323" name="Object 1"/>
          <p:cNvGraphicFramePr>
            <a:graphicFrameLocks noChangeAspect="1"/>
          </p:cNvGraphicFramePr>
          <p:nvPr/>
        </p:nvGraphicFramePr>
        <p:xfrm>
          <a:off x="274638" y="2133600"/>
          <a:ext cx="4152900" cy="1071563"/>
        </p:xfrm>
        <a:graphic>
          <a:graphicData uri="http://schemas.openxmlformats.org/presentationml/2006/ole">
            <mc:AlternateContent xmlns:mc="http://schemas.openxmlformats.org/markup-compatibility/2006">
              <mc:Choice xmlns:v="urn:schemas-microsoft-com:vml" Requires="v">
                <p:oleObj spid="_x0000_s10243" name="" r:id="rId1" imgW="1790700" imgH="393700" progId="Equation.3">
                  <p:embed/>
                </p:oleObj>
              </mc:Choice>
              <mc:Fallback>
                <p:oleObj name="" r:id="rId1" imgW="1790700" imgH="393700" progId="Equation.3">
                  <p:embed/>
                  <p:pic>
                    <p:nvPicPr>
                      <p:cNvPr id="0" name="图片 3079"/>
                      <p:cNvPicPr/>
                      <p:nvPr/>
                    </p:nvPicPr>
                    <p:blipFill>
                      <a:blip r:embed="rId2"/>
                      <a:stretch>
                        <a:fillRect/>
                      </a:stretch>
                    </p:blipFill>
                    <p:spPr>
                      <a:xfrm>
                        <a:off x="274638" y="2133600"/>
                        <a:ext cx="4152900" cy="1071563"/>
                      </a:xfrm>
                      <a:prstGeom prst="rect">
                        <a:avLst/>
                      </a:prstGeom>
                      <a:noFill/>
                      <a:ln w="38100">
                        <a:noFill/>
                        <a:miter/>
                      </a:ln>
                    </p:spPr>
                  </p:pic>
                </p:oleObj>
              </mc:Fallback>
            </mc:AlternateContent>
          </a:graphicData>
        </a:graphic>
      </p:graphicFrame>
      <p:sp>
        <p:nvSpPr>
          <p:cNvPr id="6" name="流程图: 过程 5"/>
          <p:cNvSpPr/>
          <p:nvPr/>
        </p:nvSpPr>
        <p:spPr>
          <a:xfrm>
            <a:off x="4714875" y="692150"/>
            <a:ext cx="3929063" cy="5214938"/>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sp>
        <p:nvSpPr>
          <p:cNvPr id="7" name="TextBox 6"/>
          <p:cNvSpPr txBox="1"/>
          <p:nvPr/>
        </p:nvSpPr>
        <p:spPr>
          <a:xfrm>
            <a:off x="4929188" y="4764088"/>
            <a:ext cx="2786062" cy="523875"/>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直到</a:t>
            </a:r>
            <a:r>
              <a:rPr lang="en-US" altLang="zh-CN" sz="2800" b="0" dirty="0">
                <a:solidFill>
                  <a:srgbClr val="003399"/>
                </a:solidFill>
                <a:latin typeface="Times New Roman" panose="02020603050405020304" pitchFamily="18" charset="0"/>
                <a:ea typeface="微软雅黑" panose="020B0503020204020204" pitchFamily="34" charset="-122"/>
              </a:rPr>
              <a:t>deno&gt;100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8" name="直接连接符 7"/>
          <p:cNvCxnSpPr/>
          <p:nvPr/>
        </p:nvCxnSpPr>
        <p:spPr>
          <a:xfrm rot="5400000">
            <a:off x="7072313" y="3549650"/>
            <a:ext cx="2428875" cy="0"/>
          </a:xfrm>
          <a:prstGeom prst="line">
            <a:avLst/>
          </a:prstGeom>
          <a:ln w="38100" cap="flat" cmpd="sng">
            <a:solidFill>
              <a:schemeClr val="tx1"/>
            </a:solidFill>
            <a:prstDash val="solid"/>
            <a:miter/>
            <a:headEnd type="none" w="med" len="med"/>
            <a:tailEnd type="none" w="med" len="med"/>
          </a:ln>
        </p:spPr>
      </p:cxnSp>
      <p:sp>
        <p:nvSpPr>
          <p:cNvPr id="10" name="TextBox 9"/>
          <p:cNvSpPr txBox="1"/>
          <p:nvPr/>
        </p:nvSpPr>
        <p:spPr>
          <a:xfrm>
            <a:off x="5143500" y="4264025"/>
            <a:ext cx="2928938"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deno+1deno</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11" name="TextBox 10"/>
          <p:cNvSpPr txBox="1"/>
          <p:nvPr/>
        </p:nvSpPr>
        <p:spPr>
          <a:xfrm>
            <a:off x="5446713" y="5356225"/>
            <a:ext cx="2286000"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sum</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2" name="直接连接符 11"/>
          <p:cNvCxnSpPr/>
          <p:nvPr/>
        </p:nvCxnSpPr>
        <p:spPr>
          <a:xfrm>
            <a:off x="4714875" y="4192588"/>
            <a:ext cx="3571875" cy="0"/>
          </a:xfrm>
          <a:prstGeom prst="line">
            <a:avLst/>
          </a:prstGeom>
          <a:ln w="38100" cap="flat" cmpd="sng">
            <a:solidFill>
              <a:schemeClr val="tx1"/>
            </a:solidFill>
            <a:prstDash val="solid"/>
            <a:miter/>
            <a:headEnd type="none" w="med" len="med"/>
            <a:tailEnd type="none" w="med" len="med"/>
          </a:ln>
        </p:spPr>
      </p:cxnSp>
      <p:cxnSp>
        <p:nvCxnSpPr>
          <p:cNvPr id="13" name="直接连接符 12"/>
          <p:cNvCxnSpPr/>
          <p:nvPr/>
        </p:nvCxnSpPr>
        <p:spPr>
          <a:xfrm>
            <a:off x="4714875" y="4764088"/>
            <a:ext cx="3571875" cy="0"/>
          </a:xfrm>
          <a:prstGeom prst="line">
            <a:avLst/>
          </a:prstGeom>
          <a:ln w="38100" cap="flat" cmpd="sng">
            <a:solidFill>
              <a:schemeClr val="tx1"/>
            </a:solidFill>
            <a:prstDash val="solid"/>
            <a:miter/>
            <a:headEnd type="none" w="med" len="med"/>
            <a:tailEnd type="none" w="med" len="med"/>
          </a:ln>
        </p:spPr>
      </p:cxnSp>
      <p:cxnSp>
        <p:nvCxnSpPr>
          <p:cNvPr id="14" name="直接连接符 13"/>
          <p:cNvCxnSpPr/>
          <p:nvPr/>
        </p:nvCxnSpPr>
        <p:spPr>
          <a:xfrm>
            <a:off x="4714875" y="5335588"/>
            <a:ext cx="3929063" cy="0"/>
          </a:xfrm>
          <a:prstGeom prst="line">
            <a:avLst/>
          </a:prstGeom>
          <a:ln w="38100" cap="flat" cmpd="sng">
            <a:solidFill>
              <a:schemeClr val="tx1"/>
            </a:solidFill>
            <a:prstDash val="solid"/>
            <a:miter/>
            <a:headEnd type="none" w="med" len="med"/>
            <a:tailEnd type="none" w="med" len="med"/>
          </a:ln>
        </p:spPr>
      </p:cxnSp>
      <p:cxnSp>
        <p:nvCxnSpPr>
          <p:cNvPr id="15" name="直接连接符 14"/>
          <p:cNvCxnSpPr/>
          <p:nvPr/>
        </p:nvCxnSpPr>
        <p:spPr>
          <a:xfrm>
            <a:off x="4714875" y="1192213"/>
            <a:ext cx="3929063" cy="0"/>
          </a:xfrm>
          <a:prstGeom prst="line">
            <a:avLst/>
          </a:prstGeom>
          <a:ln w="38100" cap="flat" cmpd="sng">
            <a:solidFill>
              <a:schemeClr val="tx1"/>
            </a:solidFill>
            <a:prstDash val="solid"/>
            <a:miter/>
            <a:headEnd type="none" w="med" len="med"/>
            <a:tailEnd type="none" w="med" len="med"/>
          </a:ln>
        </p:spPr>
      </p:cxnSp>
      <p:cxnSp>
        <p:nvCxnSpPr>
          <p:cNvPr id="17" name="直接连接符 16"/>
          <p:cNvCxnSpPr/>
          <p:nvPr/>
        </p:nvCxnSpPr>
        <p:spPr>
          <a:xfrm>
            <a:off x="4786313" y="1763713"/>
            <a:ext cx="3857625" cy="0"/>
          </a:xfrm>
          <a:prstGeom prst="line">
            <a:avLst/>
          </a:prstGeom>
          <a:ln w="38100" cap="flat" cmpd="sng">
            <a:solidFill>
              <a:schemeClr val="tx1"/>
            </a:solidFill>
            <a:prstDash val="solid"/>
            <a:miter/>
            <a:headEnd type="none" w="med" len="med"/>
            <a:tailEnd type="none" w="med" len="med"/>
          </a:ln>
        </p:spPr>
      </p:cxnSp>
      <p:cxnSp>
        <p:nvCxnSpPr>
          <p:cNvPr id="20" name="直接连接符 19"/>
          <p:cNvCxnSpPr/>
          <p:nvPr/>
        </p:nvCxnSpPr>
        <p:spPr>
          <a:xfrm>
            <a:off x="4714875" y="2335213"/>
            <a:ext cx="3929063" cy="0"/>
          </a:xfrm>
          <a:prstGeom prst="line">
            <a:avLst/>
          </a:prstGeom>
          <a:ln w="38100" cap="flat" cmpd="sng">
            <a:solidFill>
              <a:schemeClr val="tx1"/>
            </a:solidFill>
            <a:prstDash val="solid"/>
            <a:miter/>
            <a:headEnd type="none" w="med" len="med"/>
            <a:tailEnd type="none" w="med" len="med"/>
          </a:ln>
        </p:spPr>
      </p:cxnSp>
      <p:sp>
        <p:nvSpPr>
          <p:cNvPr id="31" name="TextBox 30"/>
          <p:cNvSpPr txBox="1"/>
          <p:nvPr/>
        </p:nvSpPr>
        <p:spPr>
          <a:xfrm>
            <a:off x="5478463" y="755650"/>
            <a:ext cx="1857375"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sum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sp>
        <p:nvSpPr>
          <p:cNvPr id="32" name="TextBox 31"/>
          <p:cNvSpPr txBox="1"/>
          <p:nvPr/>
        </p:nvSpPr>
        <p:spPr>
          <a:xfrm>
            <a:off x="5500688" y="1827213"/>
            <a:ext cx="1857375"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1sign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3" name="TextBox 32"/>
          <p:cNvSpPr txBox="1"/>
          <p:nvPr/>
        </p:nvSpPr>
        <p:spPr>
          <a:xfrm>
            <a:off x="5429250" y="1263650"/>
            <a:ext cx="1857375"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2deno</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cxnSp>
        <p:nvCxnSpPr>
          <p:cNvPr id="36" name="直接连接符 35"/>
          <p:cNvCxnSpPr/>
          <p:nvPr/>
        </p:nvCxnSpPr>
        <p:spPr>
          <a:xfrm>
            <a:off x="4714875" y="2906713"/>
            <a:ext cx="3571875" cy="0"/>
          </a:xfrm>
          <a:prstGeom prst="line">
            <a:avLst/>
          </a:prstGeom>
          <a:ln w="38100" cap="flat" cmpd="sng">
            <a:solidFill>
              <a:schemeClr val="tx1"/>
            </a:solidFill>
            <a:prstDash val="solid"/>
            <a:miter/>
            <a:headEnd type="none" w="med" len="med"/>
            <a:tailEnd type="none" w="med" len="med"/>
          </a:ln>
        </p:spPr>
      </p:cxnSp>
      <p:cxnSp>
        <p:nvCxnSpPr>
          <p:cNvPr id="37" name="直接连接符 36"/>
          <p:cNvCxnSpPr/>
          <p:nvPr/>
        </p:nvCxnSpPr>
        <p:spPr>
          <a:xfrm>
            <a:off x="4714875" y="3549650"/>
            <a:ext cx="3571875" cy="0"/>
          </a:xfrm>
          <a:prstGeom prst="line">
            <a:avLst/>
          </a:prstGeom>
          <a:ln w="38100" cap="flat" cmpd="sng">
            <a:solidFill>
              <a:schemeClr val="tx1"/>
            </a:solidFill>
            <a:prstDash val="solid"/>
            <a:miter/>
            <a:headEnd type="none" w="med" len="med"/>
            <a:tailEnd type="none" w="med" len="med"/>
          </a:ln>
        </p:spPr>
      </p:cxnSp>
      <p:sp>
        <p:nvSpPr>
          <p:cNvPr id="38" name="TextBox 37"/>
          <p:cNvSpPr txBox="1"/>
          <p:nvPr/>
        </p:nvSpPr>
        <p:spPr>
          <a:xfrm>
            <a:off x="5000625" y="2406650"/>
            <a:ext cx="2928938"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(-1)*sign</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sign</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sp>
        <p:nvSpPr>
          <p:cNvPr id="39" name="TextBox 38"/>
          <p:cNvSpPr txBox="1"/>
          <p:nvPr/>
        </p:nvSpPr>
        <p:spPr>
          <a:xfrm>
            <a:off x="4643438" y="2978150"/>
            <a:ext cx="3786187" cy="439738"/>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sign*(1/deno)term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sp>
        <p:nvSpPr>
          <p:cNvPr id="40" name="TextBox 39"/>
          <p:cNvSpPr txBox="1"/>
          <p:nvPr/>
        </p:nvSpPr>
        <p:spPr>
          <a:xfrm>
            <a:off x="4841875" y="3646488"/>
            <a:ext cx="3286125" cy="438150"/>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ts val="27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sum+termsum</a:t>
            </a:r>
            <a:endPar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endParaRPr>
          </a:p>
        </p:txBody>
      </p:sp>
      <p:pic>
        <p:nvPicPr>
          <p:cNvPr id="56343"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lide(fromLeft)">
                                      <p:cBhvr>
                                        <p:cTn id="12" dur="500"/>
                                        <p:tgtEl>
                                          <p:spTgt spid="17"/>
                                        </p:tgtEl>
                                      </p:cBhvr>
                                    </p:animEffect>
                                  </p:childTnLst>
                                </p:cTn>
                              </p:par>
                              <p:par>
                                <p:cTn id="13" presetID="12" presetClass="entr" presetSubtype="8"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slide(fromLeft)">
                                      <p:cBhvr>
                                        <p:cTn id="15" dur="500"/>
                                        <p:tgtEl>
                                          <p:spTgt spid="15"/>
                                        </p:tgtEl>
                                      </p:cBhvr>
                                    </p:animEffect>
                                  </p:childTnLst>
                                </p:cTn>
                              </p:par>
                              <p:par>
                                <p:cTn id="16" presetID="12" presetClass="entr" presetSubtype="8"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slide(fromLeft)">
                                      <p:cBhvr>
                                        <p:cTn id="18" dur="500"/>
                                        <p:tgtEl>
                                          <p:spTgt spid="20"/>
                                        </p:tgtEl>
                                      </p:cBhvr>
                                    </p:animEffect>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childTnLst>
                          </p:cTn>
                        </p:par>
                        <p:par>
                          <p:cTn id="23" fill="hold">
                            <p:stCondLst>
                              <p:cond delay="1000"/>
                            </p:stCondLst>
                            <p:childTnLst>
                              <p:par>
                                <p:cTn id="24" presetID="3" presetClass="entr" presetSubtype="10"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blinds(horizontal)">
                                      <p:cBhvr>
                                        <p:cTn id="26" dur="500"/>
                                        <p:tgtEl>
                                          <p:spTgt spid="33"/>
                                        </p:tgtEl>
                                      </p:cBhvr>
                                    </p:animEffect>
                                  </p:childTnLst>
                                </p:cTn>
                              </p:par>
                            </p:childTnLst>
                          </p:cTn>
                        </p:par>
                        <p:par>
                          <p:cTn id="27" fill="hold">
                            <p:stCondLst>
                              <p:cond delay="1500"/>
                            </p:stCondLst>
                            <p:childTnLst>
                              <p:par>
                                <p:cTn id="28" presetID="3" presetClass="entr" presetSubtype="10"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blinds(horizontal)">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slide(fromLeft)">
                                      <p:cBhvr>
                                        <p:cTn id="35" dur="500"/>
                                        <p:tgtEl>
                                          <p:spTgt spid="36"/>
                                        </p:tgtEl>
                                      </p:cBhvr>
                                    </p:animEffect>
                                  </p:childTnLst>
                                </p:cTn>
                              </p:par>
                              <p:par>
                                <p:cTn id="36" presetID="12" presetClass="entr" presetSubtype="8" fill="hold"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slide(fromLeft)">
                                      <p:cBhvr>
                                        <p:cTn id="38" dur="500"/>
                                        <p:tgtEl>
                                          <p:spTgt spid="37"/>
                                        </p:tgtEl>
                                      </p:cBhvr>
                                    </p:animEffect>
                                  </p:childTnLst>
                                </p:cTn>
                              </p:par>
                              <p:par>
                                <p:cTn id="39" presetID="12" presetClass="entr" presetSubtype="8"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slide(fromLeft)">
                                      <p:cBhvr>
                                        <p:cTn id="41" dur="500"/>
                                        <p:tgtEl>
                                          <p:spTgt spid="12"/>
                                        </p:tgtEl>
                                      </p:cBhvr>
                                    </p:animEffect>
                                  </p:childTnLst>
                                </p:cTn>
                              </p:par>
                              <p:par>
                                <p:cTn id="42" presetID="12" presetClass="entr" presetSubtype="8"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slide(fromLeft)">
                                      <p:cBhvr>
                                        <p:cTn id="44" dur="500"/>
                                        <p:tgtEl>
                                          <p:spTgt spid="13"/>
                                        </p:tgtEl>
                                      </p:cBhvr>
                                    </p:animEffect>
                                  </p:childTnLst>
                                </p:cTn>
                              </p:par>
                            </p:childTnLst>
                          </p:cTn>
                        </p:par>
                        <p:par>
                          <p:cTn id="45" fill="hold">
                            <p:stCondLst>
                              <p:cond delay="500"/>
                            </p:stCondLst>
                            <p:childTnLst>
                              <p:par>
                                <p:cTn id="46" presetID="12" presetClass="entr" presetSubtype="1"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slide(fromTop)">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blinds(horizontal)">
                                      <p:cBhvr>
                                        <p:cTn id="53" dur="500"/>
                                        <p:tgtEl>
                                          <p:spTgt spid="3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blinds(horizontal)">
                                      <p:cBhvr>
                                        <p:cTn id="56" dur="500"/>
                                        <p:tgtEl>
                                          <p:spTgt spid="39"/>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blinds(horizontal)">
                                      <p:cBhvr>
                                        <p:cTn id="59" dur="500"/>
                                        <p:tgtEl>
                                          <p:spTgt spid="40"/>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blinds(horizontal)">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slide(fromLeft)">
                                      <p:cBhvr>
                                        <p:cTn id="67" dur="500"/>
                                        <p:tgtEl>
                                          <p:spTgt spid="14"/>
                                        </p:tgtEl>
                                      </p:cBhvr>
                                    </p:animEffect>
                                  </p:childTnLst>
                                </p:cTn>
                              </p:par>
                            </p:childTnLst>
                          </p:cTn>
                        </p:par>
                        <p:par>
                          <p:cTn id="68" fill="hold">
                            <p:stCondLst>
                              <p:cond delay="500"/>
                            </p:stCondLst>
                            <p:childTnLst>
                              <p:par>
                                <p:cTn id="69" presetID="3" presetClass="entr" presetSubtype="10" fill="hold" grpId="0"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blinds(horizontal)">
                                      <p:cBhvr>
                                        <p:cTn id="71" dur="500"/>
                                        <p:tgtEl>
                                          <p:spTgt spid="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blinds(horizontal)">
                                      <p:cBhvr>
                                        <p:cTn id="7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P spid="11" grpId="0"/>
      <p:bldP spid="31" grpId="0"/>
      <p:bldP spid="32" grpId="0"/>
      <p:bldP spid="33" grpId="0"/>
      <p:bldP spid="38" grpId="0"/>
      <p:bldP spid="39" grpId="0"/>
      <p:bldP spid="4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5450" y="820738"/>
            <a:ext cx="8208963" cy="5214937"/>
          </a:xfrm>
        </p:spPr>
        <p:txBody>
          <a:bodyPr vert="horz" wrap="square" lIns="91440" tIns="45720" rIns="91440" bIns="45720" anchor="t" anchorCtr="0"/>
          <a:lstStyle/>
          <a:p>
            <a:pPr>
              <a:buFont typeface="Wingdings" panose="05000000000000000000" pitchFamily="2" charset="2"/>
              <a:buNone/>
            </a:pPr>
            <a:r>
              <a:rPr lang="en-US" altLang="zh-CN" b="0" dirty="0">
                <a:solidFill>
                  <a:srgbClr val="235A67"/>
                </a:solidFill>
                <a:latin typeface="Times New Roman" panose="02020603050405020304" pitchFamily="18" charset="0"/>
                <a:ea typeface="微软雅黑" panose="020B0503020204020204" pitchFamily="34" charset="-122"/>
                <a:cs typeface="+mn-cs"/>
              </a:rPr>
              <a:t>  例2.15 将例2.5判别素数的算法用N-S流程图表示。</a:t>
            </a:r>
            <a:endParaRPr lang="en-US" altLang="zh-CN" b="0" dirty="0">
              <a:solidFill>
                <a:srgbClr val="235A67"/>
              </a:solidFill>
              <a:latin typeface="Times New Roman" panose="02020603050405020304" pitchFamily="18" charset="0"/>
              <a:ea typeface="微软雅黑" panose="020B0503020204020204" pitchFamily="34" charset="-122"/>
              <a:cs typeface="+mn-cs"/>
            </a:endParaRPr>
          </a:p>
          <a:p>
            <a:pPr lvl="1"/>
            <a:r>
              <a:rPr lang="en-US" altLang="en-US" b="0" dirty="0">
                <a:latin typeface="Times New Roman" panose="02020603050405020304" pitchFamily="18" charset="0"/>
                <a:ea typeface="微软雅黑" panose="020B0503020204020204" pitchFamily="34" charset="-122"/>
              </a:rPr>
              <a:t> 例</a:t>
            </a:r>
            <a:r>
              <a:rPr lang="en-US" altLang="zh-CN" b="0" dirty="0">
                <a:latin typeface="Times New Roman" panose="02020603050405020304" pitchFamily="18" charset="0"/>
                <a:ea typeface="微软雅黑" panose="020B0503020204020204" pitchFamily="34" charset="-122"/>
              </a:rPr>
              <a:t>2.10</a:t>
            </a:r>
            <a:r>
              <a:rPr lang="en-US" altLang="en-US" b="0" dirty="0">
                <a:latin typeface="Times New Roman" panose="02020603050405020304" pitchFamily="18" charset="0"/>
                <a:ea typeface="微软雅黑" panose="020B0503020204020204" pitchFamily="34" charset="-122"/>
              </a:rPr>
              <a:t>的流程图</a:t>
            </a:r>
            <a:r>
              <a:rPr lang="en-US" altLang="zh-CN" b="0" dirty="0">
                <a:latin typeface="Times New Roman" panose="02020603050405020304" pitchFamily="18" charset="0"/>
                <a:ea typeface="微软雅黑" panose="020B0503020204020204" pitchFamily="34" charset="-122"/>
              </a:rPr>
              <a:t>不是由三种基本结构组成的</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a:t>
            </a:r>
            <a:r>
              <a:rPr lang="en-US" altLang="zh-CN" b="0" dirty="0" err="1">
                <a:latin typeface="Times New Roman" panose="02020603050405020304" pitchFamily="18" charset="0"/>
                <a:ea typeface="微软雅黑" panose="020B0503020204020204" pitchFamily="34" charset="-122"/>
              </a:rPr>
              <a:t>循环有两个出口，不符合基本结构的特点</a:t>
            </a:r>
            <a:endParaRPr lang="en-US" altLang="zh-CN" b="0" dirty="0">
              <a:latin typeface="Times New Roman" panose="02020603050405020304" pitchFamily="18" charset="0"/>
              <a:ea typeface="微软雅黑" panose="020B0503020204020204" pitchFamily="34" charset="-122"/>
            </a:endParaRPr>
          </a:p>
          <a:p>
            <a:pPr marL="898525" lvl="1" indent="-441325"/>
            <a:r>
              <a:rPr lang="en-US" altLang="zh-CN" b="0" dirty="0" err="1">
                <a:latin typeface="Times New Roman" panose="02020603050405020304" pitchFamily="18" charset="0"/>
                <a:ea typeface="微软雅黑" panose="020B0503020204020204" pitchFamily="34" charset="-122"/>
              </a:rPr>
              <a:t>无法直接用N-S流程图的三种基本结构的符号来表示</a:t>
            </a:r>
            <a:endParaRPr lang="en-US" altLang="zh-CN" b="0" dirty="0">
              <a:latin typeface="Times New Roman" panose="02020603050405020304" pitchFamily="18" charset="0"/>
              <a:ea typeface="微软雅黑" panose="020B0503020204020204" pitchFamily="34" charset="-122"/>
            </a:endParaRPr>
          </a:p>
          <a:p>
            <a:pPr lvl="1"/>
            <a:r>
              <a:rPr lang="en-US" altLang="zh-CN" b="0" dirty="0">
                <a:latin typeface="Times New Roman" panose="02020603050405020304" pitchFamily="18" charset="0"/>
                <a:ea typeface="微软雅黑" panose="020B0503020204020204" pitchFamily="34" charset="-122"/>
              </a:rPr>
              <a:t> </a:t>
            </a:r>
            <a:r>
              <a:rPr lang="en-US" altLang="zh-CN" b="0" dirty="0" err="1">
                <a:latin typeface="Times New Roman" panose="02020603050405020304" pitchFamily="18" charset="0"/>
                <a:ea typeface="微软雅黑" panose="020B0503020204020204" pitchFamily="34" charset="-122"/>
              </a:rPr>
              <a:t>先作必要的</a:t>
            </a:r>
            <a:r>
              <a:rPr lang="en-US" altLang="zh-CN" b="0" dirty="0" err="1">
                <a:solidFill>
                  <a:srgbClr val="992317"/>
                </a:solidFill>
                <a:latin typeface="Times New Roman" panose="02020603050405020304" pitchFamily="18" charset="0"/>
                <a:ea typeface="微软雅黑" panose="020B0503020204020204" pitchFamily="34" charset="-122"/>
              </a:rPr>
              <a:t>变换</a:t>
            </a:r>
            <a:endParaRPr lang="en-US" altLang="en-US" b="0" dirty="0">
              <a:solidFill>
                <a:srgbClr val="992317"/>
              </a:solidFill>
              <a:latin typeface="Times New Roman" panose="02020603050405020304" pitchFamily="18" charset="0"/>
              <a:ea typeface="微软雅黑" panose="020B0503020204020204" pitchFamily="34" charset="-122"/>
            </a:endParaRPr>
          </a:p>
        </p:txBody>
      </p:sp>
      <p:pic>
        <p:nvPicPr>
          <p:cNvPr id="57347"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组合 148"/>
          <p:cNvGrpSpPr/>
          <p:nvPr/>
        </p:nvGrpSpPr>
        <p:grpSpPr>
          <a:xfrm>
            <a:off x="176213" y="508000"/>
            <a:ext cx="5110162" cy="6135688"/>
            <a:chOff x="71406" y="71414"/>
            <a:chExt cx="5110909" cy="6135947"/>
          </a:xfrm>
        </p:grpSpPr>
        <p:cxnSp>
          <p:nvCxnSpPr>
            <p:cNvPr id="58392" name="直接箭头连接符 47"/>
            <p:cNvCxnSpPr/>
            <p:nvPr/>
          </p:nvCxnSpPr>
          <p:spPr>
            <a:xfrm rot="5400000">
              <a:off x="2570066" y="696100"/>
              <a:ext cx="285752" cy="1588"/>
            </a:xfrm>
            <a:prstGeom prst="straightConnector1">
              <a:avLst/>
            </a:prstGeom>
            <a:ln w="38100" cap="flat" cmpd="sng">
              <a:solidFill>
                <a:srgbClr val="00B050"/>
              </a:solidFill>
              <a:prstDash val="solid"/>
              <a:miter/>
              <a:headEnd type="none" w="med" len="med"/>
              <a:tailEnd type="arrow" w="med" len="med"/>
            </a:ln>
          </p:spPr>
        </p:cxnSp>
        <p:cxnSp>
          <p:nvCxnSpPr>
            <p:cNvPr id="58393" name="直接连接符 48"/>
            <p:cNvCxnSpPr/>
            <p:nvPr/>
          </p:nvCxnSpPr>
          <p:spPr>
            <a:xfrm rot="10800000">
              <a:off x="1043673" y="4857760"/>
              <a:ext cx="500066" cy="0"/>
            </a:xfrm>
            <a:prstGeom prst="line">
              <a:avLst/>
            </a:prstGeom>
            <a:ln w="38100" cap="flat" cmpd="sng">
              <a:solidFill>
                <a:srgbClr val="00B050"/>
              </a:solidFill>
              <a:prstDash val="solid"/>
              <a:miter/>
              <a:headEnd type="none" w="med" len="med"/>
              <a:tailEnd type="none" w="med" len="med"/>
            </a:ln>
          </p:spPr>
        </p:cxnSp>
        <p:cxnSp>
          <p:nvCxnSpPr>
            <p:cNvPr id="58394" name="直接连接符 49"/>
            <p:cNvCxnSpPr/>
            <p:nvPr/>
          </p:nvCxnSpPr>
          <p:spPr>
            <a:xfrm rot="5400000" flipH="1" flipV="1">
              <a:off x="-1203367" y="3548063"/>
              <a:ext cx="2679720" cy="12701"/>
            </a:xfrm>
            <a:prstGeom prst="line">
              <a:avLst/>
            </a:prstGeom>
            <a:ln w="38100" cap="flat" cmpd="sng">
              <a:solidFill>
                <a:srgbClr val="00B050"/>
              </a:solidFill>
              <a:prstDash val="solid"/>
              <a:miter/>
              <a:headEnd type="none" w="med" len="med"/>
              <a:tailEnd type="none" w="med" len="med"/>
            </a:ln>
          </p:spPr>
        </p:cxnSp>
        <p:cxnSp>
          <p:nvCxnSpPr>
            <p:cNvPr id="58395" name="直接箭头连接符 51"/>
            <p:cNvCxnSpPr/>
            <p:nvPr/>
          </p:nvCxnSpPr>
          <p:spPr>
            <a:xfrm>
              <a:off x="142844" y="2214554"/>
              <a:ext cx="2543903" cy="1588"/>
            </a:xfrm>
            <a:prstGeom prst="straightConnector1">
              <a:avLst/>
            </a:prstGeom>
            <a:ln w="38100" cap="flat" cmpd="sng">
              <a:solidFill>
                <a:srgbClr val="00B050"/>
              </a:solidFill>
              <a:prstDash val="solid"/>
              <a:miter/>
              <a:headEnd type="none" w="med" len="med"/>
              <a:tailEnd type="arrow" w="med" len="med"/>
            </a:ln>
          </p:spPr>
        </p:cxnSp>
        <p:sp>
          <p:nvSpPr>
            <p:cNvPr id="58396" name="TextBox 52"/>
            <p:cNvSpPr txBox="1"/>
            <p:nvPr/>
          </p:nvSpPr>
          <p:spPr>
            <a:xfrm>
              <a:off x="2681985" y="5154626"/>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N</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sp>
          <p:nvSpPr>
            <p:cNvPr id="58397" name="TextBox 53"/>
            <p:cNvSpPr txBox="1"/>
            <p:nvPr/>
          </p:nvSpPr>
          <p:spPr>
            <a:xfrm>
              <a:off x="71406" y="4357694"/>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Y</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cxnSp>
          <p:nvCxnSpPr>
            <p:cNvPr id="58398" name="直接箭头连接符 54"/>
            <p:cNvCxnSpPr/>
            <p:nvPr/>
          </p:nvCxnSpPr>
          <p:spPr>
            <a:xfrm rot="5400000">
              <a:off x="2458146" y="5441965"/>
              <a:ext cx="500066" cy="1588"/>
            </a:xfrm>
            <a:prstGeom prst="straightConnector1">
              <a:avLst/>
            </a:prstGeom>
            <a:ln w="38100" cap="flat" cmpd="sng">
              <a:solidFill>
                <a:srgbClr val="00B050"/>
              </a:solidFill>
              <a:prstDash val="solid"/>
              <a:miter/>
              <a:headEnd type="none" w="med" len="med"/>
              <a:tailEnd type="arrow" w="med" len="med"/>
            </a:ln>
          </p:spPr>
        </p:cxnSp>
        <p:grpSp>
          <p:nvGrpSpPr>
            <p:cNvPr id="58399" name="组合 34"/>
            <p:cNvGrpSpPr/>
            <p:nvPr/>
          </p:nvGrpSpPr>
          <p:grpSpPr>
            <a:xfrm>
              <a:off x="2043806" y="71414"/>
              <a:ext cx="1285883" cy="523220"/>
              <a:chOff x="1214415" y="123666"/>
              <a:chExt cx="1285883" cy="523220"/>
            </a:xfrm>
          </p:grpSpPr>
          <p:sp>
            <p:nvSpPr>
              <p:cNvPr id="58427" name="流程图: 终止 62"/>
              <p:cNvSpPr/>
              <p:nvPr/>
            </p:nvSpPr>
            <p:spPr>
              <a:xfrm>
                <a:off x="1214415" y="161766"/>
                <a:ext cx="1285883" cy="428628"/>
              </a:xfrm>
              <a:prstGeom prst="flowChartTerminator">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00CC"/>
                  </a:solidFill>
                  <a:latin typeface="Times New Roman" panose="02020603050405020304" pitchFamily="18" charset="0"/>
                  <a:ea typeface="微软雅黑" panose="020B0503020204020204" pitchFamily="34" charset="-122"/>
                </a:endParaRPr>
              </a:p>
            </p:txBody>
          </p:sp>
          <p:sp>
            <p:nvSpPr>
              <p:cNvPr id="58428" name="TextBox 63"/>
              <p:cNvSpPr txBox="1"/>
              <p:nvPr/>
            </p:nvSpPr>
            <p:spPr>
              <a:xfrm>
                <a:off x="1462066" y="123666"/>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00CC"/>
                    </a:solidFill>
                    <a:latin typeface="Times New Roman" panose="02020603050405020304" pitchFamily="18" charset="0"/>
                    <a:ea typeface="微软雅黑" panose="020B0503020204020204" pitchFamily="34" charset="-122"/>
                  </a:rPr>
                  <a:t>开始</a:t>
                </a:r>
                <a:endParaRPr lang="zh-CN" altLang="en-US" sz="2800" b="0" dirty="0">
                  <a:latin typeface="Times New Roman" panose="02020603050405020304" pitchFamily="18" charset="0"/>
                  <a:ea typeface="微软雅黑" panose="020B0503020204020204" pitchFamily="34" charset="-122"/>
                </a:endParaRPr>
              </a:p>
            </p:txBody>
          </p:sp>
        </p:grpSp>
        <p:grpSp>
          <p:nvGrpSpPr>
            <p:cNvPr id="58400" name="组合 64"/>
            <p:cNvGrpSpPr/>
            <p:nvPr/>
          </p:nvGrpSpPr>
          <p:grpSpPr>
            <a:xfrm>
              <a:off x="1758053" y="785794"/>
              <a:ext cx="1857388" cy="523220"/>
              <a:chOff x="785786" y="4405161"/>
              <a:chExt cx="2357454" cy="523220"/>
            </a:xfrm>
          </p:grpSpPr>
          <p:sp>
            <p:nvSpPr>
              <p:cNvPr id="58425" name="平行四边形 65"/>
              <p:cNvSpPr/>
              <p:nvPr/>
            </p:nvSpPr>
            <p:spPr>
              <a:xfrm>
                <a:off x="785786" y="4467504"/>
                <a:ext cx="2357454" cy="428628"/>
              </a:xfrm>
              <a:prstGeom prst="parallelogram">
                <a:avLst>
                  <a:gd name="adj" fmla="val 25003"/>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00CC"/>
                  </a:solidFill>
                  <a:latin typeface="Times New Roman" panose="02020603050405020304" pitchFamily="18" charset="0"/>
                  <a:ea typeface="微软雅黑" panose="020B0503020204020204" pitchFamily="34" charset="-122"/>
                </a:endParaRPr>
              </a:p>
            </p:txBody>
          </p:sp>
          <p:sp>
            <p:nvSpPr>
              <p:cNvPr id="58426" name="TextBox 66"/>
              <p:cNvSpPr txBox="1"/>
              <p:nvPr/>
            </p:nvSpPr>
            <p:spPr>
              <a:xfrm>
                <a:off x="882624" y="4405161"/>
                <a:ext cx="221457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00CC"/>
                    </a:solidFill>
                    <a:latin typeface="Times New Roman" panose="02020603050405020304" pitchFamily="18" charset="0"/>
                    <a:ea typeface="微软雅黑" panose="020B0503020204020204" pitchFamily="34" charset="-122"/>
                  </a:rPr>
                  <a:t>输入</a:t>
                </a:r>
                <a:r>
                  <a:rPr lang="en-US" altLang="zh-CN" sz="2800" b="0" dirty="0">
                    <a:solidFill>
                      <a:srgbClr val="0000CC"/>
                    </a:solidFill>
                    <a:latin typeface="Times New Roman" panose="02020603050405020304" pitchFamily="18" charset="0"/>
                    <a:ea typeface="微软雅黑" panose="020B0503020204020204" pitchFamily="34" charset="-122"/>
                  </a:rPr>
                  <a:t>n</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grpSp>
        <p:sp>
          <p:nvSpPr>
            <p:cNvPr id="58401" name="TextBox 67"/>
            <p:cNvSpPr txBox="1"/>
            <p:nvPr/>
          </p:nvSpPr>
          <p:spPr>
            <a:xfrm>
              <a:off x="1181787" y="1558912"/>
              <a:ext cx="2571768" cy="438582"/>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0w   </a:t>
              </a:r>
              <a:r>
                <a:rPr lang="en-US" altLang="zh-CN" sz="2800" b="0" dirty="0">
                  <a:solidFill>
                    <a:srgbClr val="0000CC"/>
                  </a:solidFill>
                  <a:latin typeface="Times New Roman" panose="02020603050405020304" pitchFamily="18" charset="0"/>
                  <a:ea typeface="微软雅黑" panose="020B0503020204020204" pitchFamily="34" charset="-122"/>
                  <a:sym typeface="Symbol" panose="05050102010706020507" pitchFamily="18" charset="2"/>
                </a:rPr>
                <a:t>2i</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cxnSp>
          <p:nvCxnSpPr>
            <p:cNvPr id="58402" name="直接箭头连接符 68"/>
            <p:cNvCxnSpPr/>
            <p:nvPr/>
          </p:nvCxnSpPr>
          <p:spPr>
            <a:xfrm rot="5400000">
              <a:off x="2544665" y="1427942"/>
              <a:ext cx="285752" cy="1588"/>
            </a:xfrm>
            <a:prstGeom prst="straightConnector1">
              <a:avLst/>
            </a:prstGeom>
            <a:ln w="38100" cap="flat" cmpd="sng">
              <a:solidFill>
                <a:srgbClr val="00B050"/>
              </a:solidFill>
              <a:prstDash val="solid"/>
              <a:miter/>
              <a:headEnd type="none" w="med" len="med"/>
              <a:tailEnd type="arrow" w="med" len="med"/>
            </a:ln>
          </p:spPr>
        </p:cxnSp>
        <p:cxnSp>
          <p:nvCxnSpPr>
            <p:cNvPr id="58403" name="直接箭头连接符 69"/>
            <p:cNvCxnSpPr/>
            <p:nvPr/>
          </p:nvCxnSpPr>
          <p:spPr>
            <a:xfrm rot="5400000">
              <a:off x="2473227" y="2213760"/>
              <a:ext cx="428628" cy="1588"/>
            </a:xfrm>
            <a:prstGeom prst="straightConnector1">
              <a:avLst/>
            </a:prstGeom>
            <a:ln w="38100" cap="flat" cmpd="sng">
              <a:solidFill>
                <a:srgbClr val="00B050"/>
              </a:solidFill>
              <a:prstDash val="solid"/>
              <a:miter/>
              <a:headEnd type="none" w="med" len="med"/>
              <a:tailEnd type="arrow" w="med" len="med"/>
            </a:ln>
          </p:spPr>
        </p:cxnSp>
        <p:sp>
          <p:nvSpPr>
            <p:cNvPr id="58404" name="TextBox 70"/>
            <p:cNvSpPr txBox="1"/>
            <p:nvPr/>
          </p:nvSpPr>
          <p:spPr>
            <a:xfrm>
              <a:off x="1900929" y="2416168"/>
              <a:ext cx="1571636" cy="438582"/>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n%i</a:t>
              </a:r>
              <a:r>
                <a:rPr lang="en-US" altLang="zh-CN" sz="2800" b="0" dirty="0">
                  <a:solidFill>
                    <a:srgbClr val="0000CC"/>
                  </a:solidFill>
                  <a:latin typeface="Times New Roman" panose="02020603050405020304" pitchFamily="18" charset="0"/>
                  <a:ea typeface="微软雅黑" panose="020B0503020204020204" pitchFamily="34" charset="-122"/>
                  <a:sym typeface="Symbol" panose="05050102010706020507" pitchFamily="18" charset="2"/>
                </a:rPr>
                <a:t>r</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cxnSp>
          <p:nvCxnSpPr>
            <p:cNvPr id="58405" name="直接箭头连接符 71"/>
            <p:cNvCxnSpPr/>
            <p:nvPr/>
          </p:nvCxnSpPr>
          <p:spPr>
            <a:xfrm rot="5400000">
              <a:off x="2544665" y="2999578"/>
              <a:ext cx="285752" cy="1588"/>
            </a:xfrm>
            <a:prstGeom prst="straightConnector1">
              <a:avLst/>
            </a:prstGeom>
            <a:ln w="38100" cap="flat" cmpd="sng">
              <a:solidFill>
                <a:srgbClr val="00B050"/>
              </a:solidFill>
              <a:prstDash val="solid"/>
              <a:miter/>
              <a:headEnd type="none" w="med" len="med"/>
              <a:tailEnd type="arrow" w="med" len="med"/>
            </a:ln>
          </p:spPr>
        </p:cxnSp>
        <p:grpSp>
          <p:nvGrpSpPr>
            <p:cNvPr id="58406" name="组合 72"/>
            <p:cNvGrpSpPr/>
            <p:nvPr/>
          </p:nvGrpSpPr>
          <p:grpSpPr>
            <a:xfrm>
              <a:off x="1846482" y="3082924"/>
              <a:ext cx="1714512" cy="523220"/>
              <a:chOff x="3093555" y="3143248"/>
              <a:chExt cx="1714512" cy="523220"/>
            </a:xfrm>
          </p:grpSpPr>
          <p:sp>
            <p:nvSpPr>
              <p:cNvPr id="58423" name="流程图: 决策 73"/>
              <p:cNvSpPr/>
              <p:nvPr/>
            </p:nvSpPr>
            <p:spPr>
              <a:xfrm>
                <a:off x="3093555" y="3181348"/>
                <a:ext cx="1714512" cy="428628"/>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00CC"/>
                  </a:solidFill>
                  <a:latin typeface="Times New Roman" panose="02020603050405020304" pitchFamily="18" charset="0"/>
                  <a:ea typeface="微软雅黑" panose="020B0503020204020204" pitchFamily="34" charset="-122"/>
                </a:endParaRPr>
              </a:p>
            </p:txBody>
          </p:sp>
          <p:sp>
            <p:nvSpPr>
              <p:cNvPr id="58424" name="TextBox 74"/>
              <p:cNvSpPr txBox="1"/>
              <p:nvPr/>
            </p:nvSpPr>
            <p:spPr>
              <a:xfrm>
                <a:off x="3163878" y="3143248"/>
                <a:ext cx="1622436"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r=0</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grpSp>
        <p:sp>
          <p:nvSpPr>
            <p:cNvPr id="58407" name="TextBox 75"/>
            <p:cNvSpPr txBox="1"/>
            <p:nvPr/>
          </p:nvSpPr>
          <p:spPr>
            <a:xfrm>
              <a:off x="1908867" y="3814766"/>
              <a:ext cx="1643074" cy="438582"/>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sym typeface="Symbol" panose="05050102010706020507" pitchFamily="18" charset="2"/>
                </a:rPr>
                <a:t>i+1i</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cxnSp>
          <p:nvCxnSpPr>
            <p:cNvPr id="58408" name="直接箭头连接符 76"/>
            <p:cNvCxnSpPr/>
            <p:nvPr/>
          </p:nvCxnSpPr>
          <p:spPr>
            <a:xfrm rot="5400000">
              <a:off x="2544665" y="3704434"/>
              <a:ext cx="285752" cy="1588"/>
            </a:xfrm>
            <a:prstGeom prst="straightConnector1">
              <a:avLst/>
            </a:prstGeom>
            <a:ln w="38100" cap="flat" cmpd="sng">
              <a:solidFill>
                <a:srgbClr val="00B050"/>
              </a:solidFill>
              <a:prstDash val="solid"/>
              <a:miter/>
              <a:headEnd type="none" w="med" len="med"/>
              <a:tailEnd type="arrow" w="med" len="med"/>
            </a:ln>
          </p:spPr>
        </p:cxnSp>
        <p:grpSp>
          <p:nvGrpSpPr>
            <p:cNvPr id="58409" name="组合 98"/>
            <p:cNvGrpSpPr/>
            <p:nvPr/>
          </p:nvGrpSpPr>
          <p:grpSpPr>
            <a:xfrm>
              <a:off x="278493" y="4583122"/>
              <a:ext cx="4853022" cy="604842"/>
              <a:chOff x="2790812" y="4630746"/>
              <a:chExt cx="4853022" cy="604842"/>
            </a:xfrm>
          </p:grpSpPr>
          <p:sp>
            <p:nvSpPr>
              <p:cNvPr id="58420" name="流程图: 决策 78"/>
              <p:cNvSpPr/>
              <p:nvPr/>
            </p:nvSpPr>
            <p:spPr>
              <a:xfrm>
                <a:off x="2790812" y="4630746"/>
                <a:ext cx="4853022" cy="604842"/>
              </a:xfrm>
              <a:prstGeom prst="flowChartDecision">
                <a:avLst/>
              </a:prstGeom>
              <a:solidFill>
                <a:schemeClr val="accent1"/>
              </a:solidFill>
              <a:ln w="38100" cap="flat" cmpd="sng">
                <a:solidFill>
                  <a:srgbClr val="00B05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00CC"/>
                  </a:solidFill>
                  <a:latin typeface="Times New Roman" panose="02020603050405020304" pitchFamily="18" charset="0"/>
                  <a:ea typeface="微软雅黑" panose="020B0503020204020204" pitchFamily="34" charset="-122"/>
                </a:endParaRPr>
              </a:p>
            </p:txBody>
          </p:sp>
          <p:sp>
            <p:nvSpPr>
              <p:cNvPr id="58421" name="TextBox 79"/>
              <p:cNvSpPr txBox="1"/>
              <p:nvPr/>
            </p:nvSpPr>
            <p:spPr>
              <a:xfrm>
                <a:off x="4043358" y="4681546"/>
                <a:ext cx="2528906"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i≦      </a:t>
                </a:r>
                <a:r>
                  <a:rPr lang="zh-CN" altLang="en-US" sz="2800" b="0" dirty="0">
                    <a:solidFill>
                      <a:srgbClr val="0000CC"/>
                    </a:solidFill>
                    <a:latin typeface="Times New Roman" panose="02020603050405020304" pitchFamily="18" charset="0"/>
                    <a:ea typeface="微软雅黑" panose="020B0503020204020204" pitchFamily="34" charset="-122"/>
                  </a:rPr>
                  <a:t>和</a:t>
                </a:r>
                <a:r>
                  <a:rPr lang="en-US" altLang="zh-CN" sz="2800" b="0" dirty="0">
                    <a:solidFill>
                      <a:srgbClr val="C00000"/>
                    </a:solidFill>
                    <a:latin typeface="Times New Roman" panose="02020603050405020304" pitchFamily="18" charset="0"/>
                    <a:ea typeface="微软雅黑" panose="020B0503020204020204" pitchFamily="34" charset="-122"/>
                  </a:rPr>
                  <a:t>w=0</a:t>
                </a:r>
                <a:endParaRPr lang="zh-CN" altLang="en-US" sz="2800" b="0" dirty="0">
                  <a:solidFill>
                    <a:srgbClr val="C00000"/>
                  </a:solidFill>
                  <a:latin typeface="Times New Roman" panose="02020603050405020304" pitchFamily="18" charset="0"/>
                  <a:ea typeface="微软雅黑" panose="020B0503020204020204" pitchFamily="34" charset="-122"/>
                </a:endParaRPr>
              </a:p>
            </p:txBody>
          </p:sp>
          <p:graphicFrame>
            <p:nvGraphicFramePr>
              <p:cNvPr id="58422" name="Object 3"/>
              <p:cNvGraphicFramePr>
                <a:graphicFrameLocks noChangeAspect="1"/>
              </p:cNvGraphicFramePr>
              <p:nvPr/>
            </p:nvGraphicFramePr>
            <p:xfrm>
              <a:off x="4530724" y="4656146"/>
              <a:ext cx="554637" cy="548413"/>
            </p:xfrm>
            <a:graphic>
              <a:graphicData uri="http://schemas.openxmlformats.org/presentationml/2006/ole">
                <mc:AlternateContent xmlns:mc="http://schemas.openxmlformats.org/markup-compatibility/2006">
                  <mc:Choice xmlns:v="urn:schemas-microsoft-com:vml" Requires="v">
                    <p:oleObj spid="_x0000_s11267" name="" r:id="rId1" imgW="241300" imgH="228600" progId="Equation.3">
                      <p:embed/>
                    </p:oleObj>
                  </mc:Choice>
                  <mc:Fallback>
                    <p:oleObj name="" r:id="rId1" imgW="241300" imgH="228600" progId="Equation.3">
                      <p:embed/>
                      <p:pic>
                        <p:nvPicPr>
                          <p:cNvPr id="0" name="图片 3080"/>
                          <p:cNvPicPr/>
                          <p:nvPr/>
                        </p:nvPicPr>
                        <p:blipFill>
                          <a:blip r:embed="rId2"/>
                          <a:stretch>
                            <a:fillRect/>
                          </a:stretch>
                        </p:blipFill>
                        <p:spPr>
                          <a:xfrm>
                            <a:off x="4530724" y="4656146"/>
                            <a:ext cx="554637" cy="548413"/>
                          </a:xfrm>
                          <a:prstGeom prst="rect">
                            <a:avLst/>
                          </a:prstGeom>
                          <a:noFill/>
                          <a:ln w="38100">
                            <a:noFill/>
                            <a:miter/>
                          </a:ln>
                        </p:spPr>
                      </p:pic>
                    </p:oleObj>
                  </mc:Fallback>
                </mc:AlternateContent>
              </a:graphicData>
            </a:graphic>
          </p:graphicFrame>
        </p:grpSp>
        <p:cxnSp>
          <p:nvCxnSpPr>
            <p:cNvPr id="58410" name="直接箭头连接符 81"/>
            <p:cNvCxnSpPr/>
            <p:nvPr/>
          </p:nvCxnSpPr>
          <p:spPr>
            <a:xfrm rot="5400000">
              <a:off x="2508946" y="4433895"/>
              <a:ext cx="357190" cy="1588"/>
            </a:xfrm>
            <a:prstGeom prst="straightConnector1">
              <a:avLst/>
            </a:prstGeom>
            <a:ln w="38100" cap="flat" cmpd="sng">
              <a:solidFill>
                <a:srgbClr val="00B050"/>
              </a:solidFill>
              <a:prstDash val="solid"/>
              <a:miter/>
              <a:headEnd type="none" w="med" len="med"/>
              <a:tailEnd type="arrow" w="med" len="med"/>
            </a:ln>
          </p:spPr>
        </p:cxnSp>
        <p:cxnSp>
          <p:nvCxnSpPr>
            <p:cNvPr id="58411" name="直接连接符 82"/>
            <p:cNvCxnSpPr/>
            <p:nvPr/>
          </p:nvCxnSpPr>
          <p:spPr>
            <a:xfrm rot="10800000">
              <a:off x="3564641" y="3335338"/>
              <a:ext cx="1000132" cy="0"/>
            </a:xfrm>
            <a:prstGeom prst="line">
              <a:avLst/>
            </a:prstGeom>
            <a:ln w="38100" cap="flat" cmpd="sng">
              <a:solidFill>
                <a:srgbClr val="00B050"/>
              </a:solidFill>
              <a:prstDash val="solid"/>
              <a:miter/>
              <a:headEnd type="none" w="med" len="med"/>
              <a:tailEnd type="none" w="med" len="med"/>
            </a:ln>
          </p:spPr>
        </p:cxnSp>
        <p:cxnSp>
          <p:nvCxnSpPr>
            <p:cNvPr id="58412" name="直接连接符 86"/>
            <p:cNvCxnSpPr/>
            <p:nvPr/>
          </p:nvCxnSpPr>
          <p:spPr>
            <a:xfrm rot="5400000" flipH="1" flipV="1">
              <a:off x="4396497" y="4225932"/>
              <a:ext cx="285752" cy="0"/>
            </a:xfrm>
            <a:prstGeom prst="line">
              <a:avLst/>
            </a:prstGeom>
            <a:ln w="38100" cap="flat" cmpd="sng">
              <a:solidFill>
                <a:srgbClr val="00B050"/>
              </a:solidFill>
              <a:prstDash val="solid"/>
              <a:miter/>
              <a:headEnd type="none" w="med" len="med"/>
              <a:tailEnd type="none" w="med" len="med"/>
            </a:ln>
          </p:spPr>
        </p:cxnSp>
        <p:cxnSp>
          <p:nvCxnSpPr>
            <p:cNvPr id="58413" name="直接箭头连接符 87"/>
            <p:cNvCxnSpPr/>
            <p:nvPr/>
          </p:nvCxnSpPr>
          <p:spPr>
            <a:xfrm rot="10800000">
              <a:off x="2681985" y="4368808"/>
              <a:ext cx="1857388" cy="1588"/>
            </a:xfrm>
            <a:prstGeom prst="straightConnector1">
              <a:avLst/>
            </a:prstGeom>
            <a:ln w="38100" cap="flat" cmpd="sng">
              <a:solidFill>
                <a:srgbClr val="00B050"/>
              </a:solidFill>
              <a:prstDash val="solid"/>
              <a:miter/>
              <a:headEnd type="none" w="med" len="med"/>
              <a:tailEnd type="arrow" w="med" len="med"/>
            </a:ln>
          </p:spPr>
        </p:cxnSp>
        <p:cxnSp>
          <p:nvCxnSpPr>
            <p:cNvPr id="58414" name="直接箭头连接符 88"/>
            <p:cNvCxnSpPr/>
            <p:nvPr/>
          </p:nvCxnSpPr>
          <p:spPr>
            <a:xfrm rot="5400000">
              <a:off x="4371493" y="3504012"/>
              <a:ext cx="362748" cy="1588"/>
            </a:xfrm>
            <a:prstGeom prst="straightConnector1">
              <a:avLst/>
            </a:prstGeom>
            <a:ln w="38100" cap="flat" cmpd="sng">
              <a:solidFill>
                <a:srgbClr val="00B050"/>
              </a:solidFill>
              <a:prstDash val="solid"/>
              <a:miter/>
              <a:headEnd type="none" w="med" len="med"/>
              <a:tailEnd type="arrow" w="med" len="med"/>
            </a:ln>
          </p:spPr>
        </p:cxnSp>
        <p:sp>
          <p:nvSpPr>
            <p:cNvPr id="58415" name="TextBox 89"/>
            <p:cNvSpPr txBox="1"/>
            <p:nvPr/>
          </p:nvSpPr>
          <p:spPr>
            <a:xfrm>
              <a:off x="3643306" y="2857496"/>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Y</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sp>
          <p:nvSpPr>
            <p:cNvPr id="58416" name="TextBox 90"/>
            <p:cNvSpPr txBox="1"/>
            <p:nvPr/>
          </p:nvSpPr>
          <p:spPr>
            <a:xfrm>
              <a:off x="2651823" y="3416960"/>
              <a:ext cx="57150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00CC"/>
                  </a:solidFill>
                  <a:latin typeface="Times New Roman" panose="02020603050405020304" pitchFamily="18" charset="0"/>
                  <a:ea typeface="微软雅黑" panose="020B0503020204020204" pitchFamily="34" charset="-122"/>
                </a:rPr>
                <a:t>N</a:t>
              </a:r>
              <a:endParaRPr lang="zh-CN" altLang="en-US" sz="2800" b="0" dirty="0">
                <a:solidFill>
                  <a:srgbClr val="0000CC"/>
                </a:solidFill>
                <a:latin typeface="Times New Roman" panose="02020603050405020304" pitchFamily="18" charset="0"/>
                <a:ea typeface="微软雅黑" panose="020B0503020204020204" pitchFamily="34" charset="-122"/>
              </a:endParaRPr>
            </a:p>
          </p:txBody>
        </p:sp>
        <p:sp>
          <p:nvSpPr>
            <p:cNvPr id="58417" name="TextBox 91"/>
            <p:cNvSpPr txBox="1"/>
            <p:nvPr/>
          </p:nvSpPr>
          <p:spPr>
            <a:xfrm>
              <a:off x="3967869" y="3654428"/>
              <a:ext cx="1214446" cy="438582"/>
            </a:xfrm>
            <a:prstGeom prst="rect">
              <a:avLst/>
            </a:prstGeom>
            <a:no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ts val="2700"/>
                </a:lnSpc>
                <a:spcBef>
                  <a:spcPct val="0"/>
                </a:spcBef>
                <a:buFontTx/>
                <a:buNone/>
              </a:pPr>
              <a:r>
                <a:rPr lang="en-US" altLang="zh-CN" sz="2800" b="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1w</a:t>
              </a:r>
              <a:endParaRPr lang="zh-CN" altLang="en-US" sz="2800" b="0" dirty="0">
                <a:solidFill>
                  <a:srgbClr val="C00000"/>
                </a:solidFill>
                <a:latin typeface="Times New Roman" panose="02020603050405020304" pitchFamily="18" charset="0"/>
                <a:ea typeface="微软雅黑" panose="020B0503020204020204" pitchFamily="34" charset="-122"/>
              </a:endParaRPr>
            </a:p>
          </p:txBody>
        </p:sp>
        <p:cxnSp>
          <p:nvCxnSpPr>
            <p:cNvPr id="58418" name="直接连接符 100"/>
            <p:cNvCxnSpPr/>
            <p:nvPr/>
          </p:nvCxnSpPr>
          <p:spPr>
            <a:xfrm rot="10800000">
              <a:off x="108531" y="4881574"/>
              <a:ext cx="216000" cy="0"/>
            </a:xfrm>
            <a:prstGeom prst="line">
              <a:avLst/>
            </a:prstGeom>
            <a:ln w="38100" cap="flat" cmpd="sng">
              <a:solidFill>
                <a:srgbClr val="00B050"/>
              </a:solidFill>
              <a:prstDash val="solid"/>
              <a:miter/>
              <a:headEnd type="none" w="med" len="med"/>
              <a:tailEnd type="none" w="med" len="med"/>
            </a:ln>
          </p:spPr>
        </p:cxnSp>
        <p:sp>
          <p:nvSpPr>
            <p:cNvPr id="58419" name="TextBox 109"/>
            <p:cNvSpPr txBox="1"/>
            <p:nvPr/>
          </p:nvSpPr>
          <p:spPr>
            <a:xfrm>
              <a:off x="2421633" y="5561030"/>
              <a:ext cx="571504" cy="646331"/>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3600" b="0" dirty="0">
                  <a:solidFill>
                    <a:srgbClr val="FF0000"/>
                  </a:solidFill>
                  <a:latin typeface="Times New Roman" panose="02020603050405020304" pitchFamily="18" charset="0"/>
                  <a:ea typeface="微软雅黑" panose="020B0503020204020204" pitchFamily="34" charset="-122"/>
                </a:rPr>
                <a:t>①</a:t>
              </a:r>
              <a:endParaRPr lang="zh-CN" altLang="en-US" sz="3600" b="0" dirty="0">
                <a:solidFill>
                  <a:srgbClr val="FF0000"/>
                </a:solidFill>
                <a:latin typeface="Times New Roman" panose="02020603050405020304" pitchFamily="18" charset="0"/>
                <a:ea typeface="微软雅黑" panose="020B0503020204020204" pitchFamily="34" charset="-122"/>
              </a:endParaRPr>
            </a:p>
          </p:txBody>
        </p:sp>
      </p:grpSp>
      <p:grpSp>
        <p:nvGrpSpPr>
          <p:cNvPr id="58371" name="组合 149"/>
          <p:cNvGrpSpPr/>
          <p:nvPr/>
        </p:nvGrpSpPr>
        <p:grpSpPr>
          <a:xfrm>
            <a:off x="5143500" y="722313"/>
            <a:ext cx="3714750" cy="3706812"/>
            <a:chOff x="5143504" y="436893"/>
            <a:chExt cx="3714744" cy="3706487"/>
          </a:xfrm>
        </p:grpSpPr>
        <p:sp>
          <p:nvSpPr>
            <p:cNvPr id="58373" name="平行四边形 56"/>
            <p:cNvSpPr/>
            <p:nvPr/>
          </p:nvSpPr>
          <p:spPr>
            <a:xfrm>
              <a:off x="5143504" y="2196285"/>
              <a:ext cx="1785950" cy="937789"/>
            </a:xfrm>
            <a:prstGeom prst="parallelogram">
              <a:avLst>
                <a:gd name="adj" fmla="val 25005"/>
              </a:avLst>
            </a:prstGeom>
            <a:solidFill>
              <a:schemeClr val="accent1"/>
            </a:solidFill>
            <a:ln w="38100" cap="flat" cmpd="sng">
              <a:solidFill>
                <a:srgbClr val="00B0F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00CC"/>
                </a:solidFill>
                <a:latin typeface="Times New Roman" panose="02020603050405020304" pitchFamily="18" charset="0"/>
                <a:ea typeface="微软雅黑" panose="020B0503020204020204" pitchFamily="34" charset="-122"/>
              </a:endParaRPr>
            </a:p>
          </p:txBody>
        </p:sp>
        <p:sp>
          <p:nvSpPr>
            <p:cNvPr id="58374" name="TextBox 57"/>
            <p:cNvSpPr txBox="1"/>
            <p:nvPr/>
          </p:nvSpPr>
          <p:spPr>
            <a:xfrm>
              <a:off x="5143505" y="2184743"/>
              <a:ext cx="1714512" cy="95410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D138D"/>
                  </a:solidFill>
                  <a:latin typeface="Times New Roman" panose="02020603050405020304" pitchFamily="18" charset="0"/>
                  <a:ea typeface="微软雅黑" panose="020B0503020204020204" pitchFamily="34" charset="-122"/>
                </a:rPr>
                <a:t>输出</a:t>
              </a:r>
              <a:r>
                <a:rPr lang="en-US" altLang="zh-CN" sz="2800" b="0" dirty="0">
                  <a:solidFill>
                    <a:srgbClr val="9D138D"/>
                  </a:solidFill>
                  <a:latin typeface="Times New Roman" panose="02020603050405020304" pitchFamily="18" charset="0"/>
                  <a:ea typeface="微软雅黑" panose="020B0503020204020204" pitchFamily="34" charset="-122"/>
                </a:rPr>
                <a:t>n</a:t>
              </a:r>
              <a:endParaRPr lang="en-US" altLang="zh-CN" sz="2800" b="0" dirty="0">
                <a:solidFill>
                  <a:srgbClr val="9D138D"/>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9D138D"/>
                  </a:solidFill>
                  <a:latin typeface="Times New Roman" panose="02020603050405020304" pitchFamily="18" charset="0"/>
                  <a:ea typeface="微软雅黑" panose="020B0503020204020204" pitchFamily="34" charset="-122"/>
                </a:rPr>
                <a:t>是素数</a:t>
              </a:r>
              <a:endParaRPr lang="zh-CN" altLang="en-US" sz="2800" b="0" dirty="0">
                <a:solidFill>
                  <a:srgbClr val="9D138D"/>
                </a:solidFill>
                <a:latin typeface="Times New Roman" panose="02020603050405020304" pitchFamily="18" charset="0"/>
                <a:ea typeface="微软雅黑" panose="020B0503020204020204" pitchFamily="34" charset="-122"/>
              </a:endParaRPr>
            </a:p>
          </p:txBody>
        </p:sp>
        <p:sp>
          <p:nvSpPr>
            <p:cNvPr id="58375" name="流程图: 终止 59"/>
            <p:cNvSpPr/>
            <p:nvPr/>
          </p:nvSpPr>
          <p:spPr>
            <a:xfrm>
              <a:off x="6278573" y="3672412"/>
              <a:ext cx="1285883" cy="428628"/>
            </a:xfrm>
            <a:prstGeom prst="flowChartTerminator">
              <a:avLst/>
            </a:prstGeom>
            <a:solidFill>
              <a:schemeClr val="accent1"/>
            </a:solidFill>
            <a:ln w="38100" cap="flat" cmpd="sng">
              <a:solidFill>
                <a:srgbClr val="00B0F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800" b="0" dirty="0">
                <a:solidFill>
                  <a:srgbClr val="0000CC"/>
                </a:solidFill>
                <a:latin typeface="Times New Roman" panose="02020603050405020304" pitchFamily="18" charset="0"/>
                <a:ea typeface="微软雅黑" panose="020B0503020204020204" pitchFamily="34" charset="-122"/>
              </a:endParaRPr>
            </a:p>
          </p:txBody>
        </p:sp>
        <p:sp>
          <p:nvSpPr>
            <p:cNvPr id="58376" name="TextBox 60"/>
            <p:cNvSpPr txBox="1"/>
            <p:nvPr/>
          </p:nvSpPr>
          <p:spPr>
            <a:xfrm>
              <a:off x="6492887" y="3620160"/>
              <a:ext cx="928694"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9D138D"/>
                  </a:solidFill>
                  <a:latin typeface="Times New Roman" panose="02020603050405020304" pitchFamily="18" charset="0"/>
                  <a:ea typeface="微软雅黑" panose="020B0503020204020204" pitchFamily="34" charset="-122"/>
                </a:rPr>
                <a:t>结束</a:t>
              </a:r>
              <a:endParaRPr lang="zh-CN" altLang="en-US" sz="2800" b="0" dirty="0">
                <a:solidFill>
                  <a:srgbClr val="9D138D"/>
                </a:solidFill>
                <a:latin typeface="Times New Roman" panose="02020603050405020304" pitchFamily="18" charset="0"/>
                <a:ea typeface="微软雅黑" panose="020B0503020204020204" pitchFamily="34" charset="-122"/>
              </a:endParaRPr>
            </a:p>
          </p:txBody>
        </p:sp>
        <p:grpSp>
          <p:nvGrpSpPr>
            <p:cNvPr id="58377" name="组合 116"/>
            <p:cNvGrpSpPr/>
            <p:nvPr/>
          </p:nvGrpSpPr>
          <p:grpSpPr>
            <a:xfrm>
              <a:off x="5955430" y="1411625"/>
              <a:ext cx="1928826" cy="533404"/>
              <a:chOff x="5786446" y="4714884"/>
              <a:chExt cx="1928826" cy="533404"/>
            </a:xfrm>
          </p:grpSpPr>
          <p:sp>
            <p:nvSpPr>
              <p:cNvPr id="58390" name="流程图: 决策 113"/>
              <p:cNvSpPr/>
              <p:nvPr/>
            </p:nvSpPr>
            <p:spPr>
              <a:xfrm>
                <a:off x="5786446" y="4714884"/>
                <a:ext cx="1928826" cy="533404"/>
              </a:xfrm>
              <a:prstGeom prst="flowChartDecision">
                <a:avLst/>
              </a:prstGeom>
              <a:solidFill>
                <a:schemeClr val="accent1"/>
              </a:solidFill>
              <a:ln w="38100" cap="flat" cmpd="sng">
                <a:solidFill>
                  <a:srgbClr val="00B0F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b="0" dirty="0">
                  <a:solidFill>
                    <a:srgbClr val="0000CC"/>
                  </a:solidFill>
                  <a:latin typeface="Times New Roman" panose="02020603050405020304" pitchFamily="18" charset="0"/>
                  <a:ea typeface="微软雅黑" panose="020B0503020204020204" pitchFamily="34" charset="-122"/>
                </a:endParaRPr>
              </a:p>
            </p:txBody>
          </p:sp>
          <p:sp>
            <p:nvSpPr>
              <p:cNvPr id="58391" name="TextBox 114"/>
              <p:cNvSpPr txBox="1"/>
              <p:nvPr/>
            </p:nvSpPr>
            <p:spPr>
              <a:xfrm>
                <a:off x="6215074" y="4714884"/>
                <a:ext cx="1000132"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C00000"/>
                    </a:solidFill>
                    <a:latin typeface="Times New Roman" panose="02020603050405020304" pitchFamily="18" charset="0"/>
                    <a:ea typeface="微软雅黑" panose="020B0503020204020204" pitchFamily="34" charset="-122"/>
                  </a:rPr>
                  <a:t>w=0</a:t>
                </a:r>
                <a:endParaRPr lang="zh-CN" altLang="en-US" sz="2800" b="0" dirty="0">
                  <a:solidFill>
                    <a:srgbClr val="C00000"/>
                  </a:solidFill>
                  <a:latin typeface="Times New Roman" panose="02020603050405020304" pitchFamily="18" charset="0"/>
                  <a:ea typeface="微软雅黑" panose="020B0503020204020204" pitchFamily="34" charset="-122"/>
                </a:endParaRPr>
              </a:p>
            </p:txBody>
          </p:sp>
        </p:grpSp>
        <p:sp>
          <p:nvSpPr>
            <p:cNvPr id="58378" name="TextBox 117"/>
            <p:cNvSpPr txBox="1"/>
            <p:nvPr/>
          </p:nvSpPr>
          <p:spPr>
            <a:xfrm>
              <a:off x="6619010" y="436893"/>
              <a:ext cx="571504" cy="646331"/>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3600" b="0" dirty="0">
                  <a:solidFill>
                    <a:srgbClr val="FF0000"/>
                  </a:solidFill>
                  <a:latin typeface="Times New Roman" panose="02020603050405020304" pitchFamily="18" charset="0"/>
                  <a:ea typeface="微软雅黑" panose="020B0503020204020204" pitchFamily="34" charset="-122"/>
                </a:rPr>
                <a:t>①</a:t>
              </a:r>
              <a:endParaRPr lang="zh-CN" altLang="en-US" sz="3600" b="0" dirty="0">
                <a:solidFill>
                  <a:srgbClr val="FF0000"/>
                </a:solidFill>
                <a:latin typeface="Times New Roman" panose="02020603050405020304" pitchFamily="18" charset="0"/>
                <a:ea typeface="微软雅黑" panose="020B0503020204020204" pitchFamily="34" charset="-122"/>
              </a:endParaRPr>
            </a:p>
          </p:txBody>
        </p:sp>
        <p:cxnSp>
          <p:nvCxnSpPr>
            <p:cNvPr id="58379" name="直接箭头连接符 118"/>
            <p:cNvCxnSpPr/>
            <p:nvPr/>
          </p:nvCxnSpPr>
          <p:spPr>
            <a:xfrm rot="5400000">
              <a:off x="6655523" y="1219536"/>
              <a:ext cx="500066" cy="1588"/>
            </a:xfrm>
            <a:prstGeom prst="straightConnector1">
              <a:avLst/>
            </a:prstGeom>
            <a:ln w="38100" cap="flat" cmpd="sng">
              <a:solidFill>
                <a:srgbClr val="00B0F0"/>
              </a:solidFill>
              <a:prstDash val="solid"/>
              <a:miter/>
              <a:headEnd type="none" w="med" len="med"/>
              <a:tailEnd type="arrow" w="med" len="med"/>
            </a:ln>
          </p:spPr>
        </p:cxnSp>
        <p:cxnSp>
          <p:nvCxnSpPr>
            <p:cNvPr id="58380" name="直接箭头连接符 120"/>
            <p:cNvCxnSpPr/>
            <p:nvPr/>
          </p:nvCxnSpPr>
          <p:spPr>
            <a:xfrm rot="5400000">
              <a:off x="5465769" y="1933916"/>
              <a:ext cx="500066" cy="1588"/>
            </a:xfrm>
            <a:prstGeom prst="straightConnector1">
              <a:avLst/>
            </a:prstGeom>
            <a:ln w="38100" cap="flat" cmpd="sng">
              <a:solidFill>
                <a:srgbClr val="00B0F0"/>
              </a:solidFill>
              <a:prstDash val="solid"/>
              <a:miter/>
              <a:headEnd type="none" w="med" len="med"/>
              <a:tailEnd type="arrow" w="med" len="med"/>
            </a:ln>
          </p:spPr>
        </p:cxnSp>
        <p:cxnSp>
          <p:nvCxnSpPr>
            <p:cNvPr id="58381" name="直接箭头连接符 124"/>
            <p:cNvCxnSpPr/>
            <p:nvPr/>
          </p:nvCxnSpPr>
          <p:spPr>
            <a:xfrm rot="5400000">
              <a:off x="7908069" y="1933916"/>
              <a:ext cx="500066" cy="1588"/>
            </a:xfrm>
            <a:prstGeom prst="straightConnector1">
              <a:avLst/>
            </a:prstGeom>
            <a:ln w="38100" cap="flat" cmpd="sng">
              <a:solidFill>
                <a:srgbClr val="00B050"/>
              </a:solidFill>
              <a:prstDash val="solid"/>
              <a:miter/>
              <a:headEnd type="none" w="med" len="med"/>
              <a:tailEnd type="arrow" w="med" len="med"/>
            </a:ln>
          </p:spPr>
        </p:cxnSp>
        <p:sp>
          <p:nvSpPr>
            <p:cNvPr id="58382" name="平行四边形 125"/>
            <p:cNvSpPr/>
            <p:nvPr/>
          </p:nvSpPr>
          <p:spPr>
            <a:xfrm>
              <a:off x="6929454" y="2196285"/>
              <a:ext cx="1928794" cy="937789"/>
            </a:xfrm>
            <a:prstGeom prst="parallelogram">
              <a:avLst>
                <a:gd name="adj" fmla="val 25003"/>
              </a:avLst>
            </a:prstGeom>
            <a:solidFill>
              <a:schemeClr val="accent1"/>
            </a:solidFill>
            <a:ln w="38100" cap="flat" cmpd="sng">
              <a:solidFill>
                <a:srgbClr val="00B0F0"/>
              </a:solidFill>
              <a:prstDash val="solid"/>
              <a:miter/>
              <a:headEnd type="none" w="med" len="med"/>
              <a:tailEnd type="none" w="med" len="med"/>
            </a:ln>
          </p:spPr>
          <p:txBody>
            <a:bodyPr wrap="none" lIns="0" tIns="0" rIns="0" bIns="0"/>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endParaRPr lang="zh-CN" altLang="en-US" sz="2000" b="0" baseline="-25000" dirty="0">
                <a:solidFill>
                  <a:srgbClr val="0000CC"/>
                </a:solidFill>
                <a:latin typeface="Times New Roman" panose="02020603050405020304" pitchFamily="18" charset="0"/>
                <a:ea typeface="微软雅黑" panose="020B0503020204020204" pitchFamily="34" charset="-122"/>
              </a:endParaRPr>
            </a:p>
          </p:txBody>
        </p:sp>
        <p:sp>
          <p:nvSpPr>
            <p:cNvPr id="58383" name="TextBox 126"/>
            <p:cNvSpPr txBox="1"/>
            <p:nvPr/>
          </p:nvSpPr>
          <p:spPr>
            <a:xfrm>
              <a:off x="6857984" y="2184743"/>
              <a:ext cx="1857357" cy="954107"/>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9D138D"/>
                  </a:solidFill>
                  <a:latin typeface="Times New Roman" panose="02020603050405020304" pitchFamily="18" charset="0"/>
                  <a:ea typeface="微软雅黑" panose="020B0503020204020204" pitchFamily="34" charset="-122"/>
                </a:rPr>
                <a:t>输出</a:t>
              </a:r>
              <a:r>
                <a:rPr lang="en-US" altLang="zh-CN" sz="2800" b="0" dirty="0">
                  <a:solidFill>
                    <a:srgbClr val="9D138D"/>
                  </a:solidFill>
                  <a:latin typeface="Times New Roman" panose="02020603050405020304" pitchFamily="18" charset="0"/>
                  <a:ea typeface="微软雅黑" panose="020B0503020204020204" pitchFamily="34" charset="-122"/>
                </a:rPr>
                <a:t>n</a:t>
              </a:r>
              <a:endParaRPr lang="en-US" altLang="zh-CN" sz="2800" b="0" dirty="0">
                <a:solidFill>
                  <a:srgbClr val="9D138D"/>
                </a:solidFill>
                <a:latin typeface="Times New Roman" panose="02020603050405020304" pitchFamily="18" charset="0"/>
                <a:ea typeface="微软雅黑" panose="020B0503020204020204" pitchFamily="34" charset="-122"/>
              </a:endParaRPr>
            </a:p>
            <a:p>
              <a:pPr marL="0" lvl="0" indent="0" algn="ctr" eaLnBrk="1" hangingPunct="1">
                <a:lnSpc>
                  <a:spcPct val="100000"/>
                </a:lnSpc>
                <a:spcBef>
                  <a:spcPct val="0"/>
                </a:spcBef>
                <a:buFontTx/>
                <a:buNone/>
              </a:pPr>
              <a:r>
                <a:rPr lang="zh-CN" altLang="en-US" sz="2800" b="0" dirty="0">
                  <a:solidFill>
                    <a:srgbClr val="9D138D"/>
                  </a:solidFill>
                  <a:latin typeface="Times New Roman" panose="02020603050405020304" pitchFamily="18" charset="0"/>
                  <a:ea typeface="微软雅黑" panose="020B0503020204020204" pitchFamily="34" charset="-122"/>
                </a:rPr>
                <a:t>不是素数</a:t>
              </a:r>
              <a:endParaRPr lang="zh-CN" altLang="en-US" sz="2800" b="0" dirty="0">
                <a:solidFill>
                  <a:srgbClr val="9D138D"/>
                </a:solidFill>
                <a:latin typeface="Times New Roman" panose="02020603050405020304" pitchFamily="18" charset="0"/>
                <a:ea typeface="微软雅黑" panose="020B0503020204020204" pitchFamily="34" charset="-122"/>
              </a:endParaRPr>
            </a:p>
          </p:txBody>
        </p:sp>
        <p:cxnSp>
          <p:nvCxnSpPr>
            <p:cNvPr id="58384" name="直接连接符 127"/>
            <p:cNvCxnSpPr/>
            <p:nvPr/>
          </p:nvCxnSpPr>
          <p:spPr>
            <a:xfrm rot="5400000" flipH="1" flipV="1">
              <a:off x="5643570" y="3269013"/>
              <a:ext cx="285752" cy="0"/>
            </a:xfrm>
            <a:prstGeom prst="line">
              <a:avLst/>
            </a:prstGeom>
            <a:ln w="38100" cap="flat" cmpd="sng">
              <a:solidFill>
                <a:srgbClr val="00B0F0"/>
              </a:solidFill>
              <a:prstDash val="solid"/>
              <a:miter/>
              <a:headEnd type="none" w="med" len="med"/>
              <a:tailEnd type="none" w="med" len="med"/>
            </a:ln>
          </p:spPr>
        </p:cxnSp>
        <p:cxnSp>
          <p:nvCxnSpPr>
            <p:cNvPr id="58385" name="直接连接符 128"/>
            <p:cNvCxnSpPr/>
            <p:nvPr/>
          </p:nvCxnSpPr>
          <p:spPr>
            <a:xfrm rot="5400000" flipH="1" flipV="1">
              <a:off x="7929585" y="3269013"/>
              <a:ext cx="285752" cy="0"/>
            </a:xfrm>
            <a:prstGeom prst="line">
              <a:avLst/>
            </a:prstGeom>
            <a:ln w="38100" cap="flat" cmpd="sng">
              <a:solidFill>
                <a:srgbClr val="00B0F0"/>
              </a:solidFill>
              <a:prstDash val="solid"/>
              <a:miter/>
              <a:headEnd type="none" w="med" len="med"/>
              <a:tailEnd type="none" w="med" len="med"/>
            </a:ln>
          </p:spPr>
        </p:cxnSp>
        <p:cxnSp>
          <p:nvCxnSpPr>
            <p:cNvPr id="58386" name="直接连接符 129"/>
            <p:cNvCxnSpPr/>
            <p:nvPr/>
          </p:nvCxnSpPr>
          <p:spPr>
            <a:xfrm rot="10800000">
              <a:off x="5786446" y="3424589"/>
              <a:ext cx="2286016" cy="0"/>
            </a:xfrm>
            <a:prstGeom prst="line">
              <a:avLst/>
            </a:prstGeom>
            <a:ln w="38100" cap="flat" cmpd="sng">
              <a:solidFill>
                <a:srgbClr val="00B0F0"/>
              </a:solidFill>
              <a:prstDash val="solid"/>
              <a:miter/>
              <a:headEnd type="none" w="med" len="med"/>
              <a:tailEnd type="none" w="med" len="med"/>
            </a:ln>
          </p:spPr>
        </p:cxnSp>
        <p:cxnSp>
          <p:nvCxnSpPr>
            <p:cNvPr id="58387" name="直接箭头连接符 132"/>
            <p:cNvCxnSpPr/>
            <p:nvPr/>
          </p:nvCxnSpPr>
          <p:spPr>
            <a:xfrm rot="5400000">
              <a:off x="6787371" y="3553972"/>
              <a:ext cx="285752" cy="1588"/>
            </a:xfrm>
            <a:prstGeom prst="straightConnector1">
              <a:avLst/>
            </a:prstGeom>
            <a:ln w="38100" cap="flat" cmpd="sng">
              <a:solidFill>
                <a:srgbClr val="00B0F0"/>
              </a:solidFill>
              <a:prstDash val="solid"/>
              <a:miter/>
              <a:headEnd type="none" w="med" len="med"/>
              <a:tailEnd type="arrow" w="med" len="med"/>
            </a:ln>
          </p:spPr>
        </p:cxnSp>
        <p:cxnSp>
          <p:nvCxnSpPr>
            <p:cNvPr id="58388" name="直接连接符 137"/>
            <p:cNvCxnSpPr/>
            <p:nvPr/>
          </p:nvCxnSpPr>
          <p:spPr>
            <a:xfrm rot="10800000">
              <a:off x="7883548" y="1684677"/>
              <a:ext cx="285752" cy="0"/>
            </a:xfrm>
            <a:prstGeom prst="line">
              <a:avLst/>
            </a:prstGeom>
            <a:ln w="38100" cap="flat" cmpd="sng">
              <a:solidFill>
                <a:srgbClr val="00B0F0"/>
              </a:solidFill>
              <a:prstDash val="solid"/>
              <a:miter/>
              <a:headEnd type="none" w="med" len="med"/>
              <a:tailEnd type="none" w="med" len="med"/>
            </a:ln>
          </p:spPr>
        </p:cxnSp>
        <p:cxnSp>
          <p:nvCxnSpPr>
            <p:cNvPr id="58389" name="直接连接符 140"/>
            <p:cNvCxnSpPr/>
            <p:nvPr/>
          </p:nvCxnSpPr>
          <p:spPr>
            <a:xfrm rot="10800000">
              <a:off x="5707070" y="1684677"/>
              <a:ext cx="285752" cy="0"/>
            </a:xfrm>
            <a:prstGeom prst="line">
              <a:avLst/>
            </a:prstGeom>
            <a:ln w="38100" cap="flat" cmpd="sng">
              <a:solidFill>
                <a:srgbClr val="00B0F0"/>
              </a:solidFill>
              <a:prstDash val="solid"/>
              <a:miter/>
              <a:headEnd type="none" w="med" len="med"/>
              <a:tailEnd type="none" w="med" len="med"/>
            </a:ln>
          </p:spPr>
        </p:cxnSp>
      </p:grpSp>
      <p:pic>
        <p:nvPicPr>
          <p:cNvPr id="58372"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143000" y="785813"/>
            <a:ext cx="6858000" cy="5572125"/>
          </a:xfrm>
          <a:prstGeom prst="flowChartProcess">
            <a:avLst/>
          </a:prstGeom>
          <a:noFill/>
          <a:ln w="38100" cap="flat" cmpd="sng">
            <a:solidFill>
              <a:schemeClr val="tx1"/>
            </a:solidFill>
            <a:prstDash val="solid"/>
            <a:miter/>
            <a:headEnd type="none" w="med" len="med"/>
            <a:tailEnd type="none" w="med" len="med"/>
          </a:ln>
        </p:spPr>
        <p:txBody>
          <a:bodyPr wrap="none"/>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endParaRPr lang="zh-CN" altLang="en-US" sz="4000" b="0" dirty="0">
              <a:solidFill>
                <a:srgbClr val="003399"/>
              </a:solidFill>
              <a:latin typeface="Times New Roman" panose="02020603050405020304" pitchFamily="18" charset="0"/>
              <a:ea typeface="微软雅黑" panose="020B0503020204020204" pitchFamily="34" charset="-122"/>
            </a:endParaRPr>
          </a:p>
        </p:txBody>
      </p:sp>
      <p:sp>
        <p:nvSpPr>
          <p:cNvPr id="7" name="TextBox 6"/>
          <p:cNvSpPr txBox="1"/>
          <p:nvPr/>
        </p:nvSpPr>
        <p:spPr>
          <a:xfrm>
            <a:off x="3367088" y="785813"/>
            <a:ext cx="25003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输入</a:t>
            </a:r>
            <a:r>
              <a:rPr lang="en-US" altLang="zh-CN" sz="2800" b="0" dirty="0">
                <a:solidFill>
                  <a:srgbClr val="003399"/>
                </a:solidFill>
                <a:latin typeface="Times New Roman" panose="02020603050405020304" pitchFamily="18" charset="0"/>
                <a:ea typeface="微软雅黑" panose="020B0503020204020204" pitchFamily="34" charset="-122"/>
              </a:rPr>
              <a:t>n</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11" name="直接连接符 10"/>
          <p:cNvCxnSpPr/>
          <p:nvPr/>
        </p:nvCxnSpPr>
        <p:spPr>
          <a:xfrm>
            <a:off x="1143000" y="2286000"/>
            <a:ext cx="6858000" cy="0"/>
          </a:xfrm>
          <a:prstGeom prst="line">
            <a:avLst/>
          </a:prstGeom>
          <a:ln w="38100" cap="flat" cmpd="sng">
            <a:solidFill>
              <a:schemeClr val="tx1"/>
            </a:solidFill>
            <a:prstDash val="solid"/>
            <a:miter/>
            <a:headEnd type="none" w="med" len="med"/>
            <a:tailEnd type="none" w="med" len="med"/>
          </a:ln>
        </p:spPr>
      </p:cxnSp>
      <p:cxnSp>
        <p:nvCxnSpPr>
          <p:cNvPr id="18" name="直接连接符 17"/>
          <p:cNvCxnSpPr/>
          <p:nvPr/>
        </p:nvCxnSpPr>
        <p:spPr>
          <a:xfrm rot="5400000">
            <a:off x="4071938" y="3929063"/>
            <a:ext cx="571500" cy="0"/>
          </a:xfrm>
          <a:prstGeom prst="line">
            <a:avLst/>
          </a:prstGeom>
          <a:ln w="38100" cap="flat" cmpd="sng">
            <a:solidFill>
              <a:schemeClr val="tx1"/>
            </a:solidFill>
            <a:prstDash val="solid"/>
            <a:miter/>
            <a:headEnd type="none" w="med" len="med"/>
            <a:tailEnd type="none" w="med" len="med"/>
          </a:ln>
        </p:spPr>
      </p:cxnSp>
      <p:cxnSp>
        <p:nvCxnSpPr>
          <p:cNvPr id="19" name="直接连接符 18"/>
          <p:cNvCxnSpPr/>
          <p:nvPr/>
        </p:nvCxnSpPr>
        <p:spPr>
          <a:xfrm>
            <a:off x="1143000" y="2857500"/>
            <a:ext cx="6072188" cy="0"/>
          </a:xfrm>
          <a:prstGeom prst="line">
            <a:avLst/>
          </a:prstGeom>
          <a:ln w="38100" cap="flat" cmpd="sng">
            <a:solidFill>
              <a:schemeClr val="tx1"/>
            </a:solidFill>
            <a:prstDash val="solid"/>
            <a:miter/>
            <a:headEnd type="none" w="med" len="med"/>
            <a:tailEnd type="none" w="med" len="med"/>
          </a:ln>
        </p:spPr>
      </p:cxnSp>
      <p:cxnSp>
        <p:nvCxnSpPr>
          <p:cNvPr id="20" name="直接连接符 19"/>
          <p:cNvCxnSpPr/>
          <p:nvPr/>
        </p:nvCxnSpPr>
        <p:spPr>
          <a:xfrm>
            <a:off x="1143000" y="3643313"/>
            <a:ext cx="6072188" cy="0"/>
          </a:xfrm>
          <a:prstGeom prst="line">
            <a:avLst/>
          </a:prstGeom>
          <a:ln w="38100" cap="flat" cmpd="sng">
            <a:solidFill>
              <a:schemeClr val="tx1"/>
            </a:solidFill>
            <a:prstDash val="solid"/>
            <a:miter/>
            <a:headEnd type="none" w="med" len="med"/>
            <a:tailEnd type="none" w="med" len="med"/>
          </a:ln>
        </p:spPr>
      </p:cxnSp>
      <p:cxnSp>
        <p:nvCxnSpPr>
          <p:cNvPr id="26" name="直接连接符 25"/>
          <p:cNvCxnSpPr/>
          <p:nvPr/>
        </p:nvCxnSpPr>
        <p:spPr>
          <a:xfrm>
            <a:off x="1214438" y="2857500"/>
            <a:ext cx="3071812" cy="785813"/>
          </a:xfrm>
          <a:prstGeom prst="line">
            <a:avLst/>
          </a:prstGeom>
          <a:ln w="38100" cap="flat" cmpd="sng">
            <a:solidFill>
              <a:schemeClr val="tx1"/>
            </a:solidFill>
            <a:prstDash val="solid"/>
            <a:miter/>
            <a:headEnd type="none" w="med" len="med"/>
            <a:tailEnd type="none" w="med" len="med"/>
          </a:ln>
        </p:spPr>
      </p:cxnSp>
      <p:cxnSp>
        <p:nvCxnSpPr>
          <p:cNvPr id="27" name="直接连接符 26"/>
          <p:cNvCxnSpPr/>
          <p:nvPr/>
        </p:nvCxnSpPr>
        <p:spPr>
          <a:xfrm rot="-10800000" flipV="1">
            <a:off x="4286250" y="2857500"/>
            <a:ext cx="2928938" cy="785813"/>
          </a:xfrm>
          <a:prstGeom prst="line">
            <a:avLst/>
          </a:prstGeom>
          <a:ln w="38100" cap="flat" cmpd="sng">
            <a:solidFill>
              <a:schemeClr val="tx1"/>
            </a:solidFill>
            <a:prstDash val="solid"/>
            <a:miter/>
            <a:headEnd type="none" w="med" len="med"/>
            <a:tailEnd type="none" w="med" len="med"/>
          </a:ln>
        </p:spPr>
      </p:cxnSp>
      <p:sp>
        <p:nvSpPr>
          <p:cNvPr id="28" name="TextBox 27"/>
          <p:cNvSpPr txBox="1"/>
          <p:nvPr/>
        </p:nvSpPr>
        <p:spPr>
          <a:xfrm>
            <a:off x="3538538" y="2997200"/>
            <a:ext cx="1500187"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r=0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2" name="TextBox 31"/>
          <p:cNvSpPr txBox="1"/>
          <p:nvPr/>
        </p:nvSpPr>
        <p:spPr>
          <a:xfrm>
            <a:off x="1357313" y="3071813"/>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33" name="TextBox 32"/>
          <p:cNvSpPr txBox="1"/>
          <p:nvPr/>
        </p:nvSpPr>
        <p:spPr>
          <a:xfrm>
            <a:off x="6072188" y="3071813"/>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37" name="直接连接符 36"/>
          <p:cNvCxnSpPr/>
          <p:nvPr/>
        </p:nvCxnSpPr>
        <p:spPr>
          <a:xfrm rot="5400000">
            <a:off x="6249988" y="3249613"/>
            <a:ext cx="1928812" cy="0"/>
          </a:xfrm>
          <a:prstGeom prst="line">
            <a:avLst/>
          </a:prstGeom>
          <a:ln w="38100" cap="flat" cmpd="sng">
            <a:solidFill>
              <a:schemeClr val="tx1"/>
            </a:solidFill>
            <a:prstDash val="solid"/>
            <a:miter/>
            <a:headEnd type="none" w="med" len="med"/>
            <a:tailEnd type="none" w="med" len="med"/>
          </a:ln>
        </p:spPr>
      </p:cxnSp>
      <p:cxnSp>
        <p:nvCxnSpPr>
          <p:cNvPr id="38" name="直接连接符 37"/>
          <p:cNvCxnSpPr/>
          <p:nvPr/>
        </p:nvCxnSpPr>
        <p:spPr>
          <a:xfrm>
            <a:off x="1143000" y="1285875"/>
            <a:ext cx="6858000" cy="0"/>
          </a:xfrm>
          <a:prstGeom prst="line">
            <a:avLst/>
          </a:prstGeom>
          <a:ln w="38100" cap="flat" cmpd="sng">
            <a:solidFill>
              <a:schemeClr val="tx1"/>
            </a:solidFill>
            <a:prstDash val="solid"/>
            <a:miter/>
            <a:headEnd type="none" w="med" len="med"/>
            <a:tailEnd type="none" w="med" len="med"/>
          </a:ln>
        </p:spPr>
      </p:cxnSp>
      <p:sp>
        <p:nvSpPr>
          <p:cNvPr id="39" name="TextBox 38"/>
          <p:cNvSpPr txBox="1"/>
          <p:nvPr/>
        </p:nvSpPr>
        <p:spPr>
          <a:xfrm>
            <a:off x="3651250" y="1285875"/>
            <a:ext cx="185737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0</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w</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1" name="直接连接符 40"/>
          <p:cNvCxnSpPr/>
          <p:nvPr/>
        </p:nvCxnSpPr>
        <p:spPr>
          <a:xfrm>
            <a:off x="1143000" y="1785938"/>
            <a:ext cx="6858000" cy="0"/>
          </a:xfrm>
          <a:prstGeom prst="line">
            <a:avLst/>
          </a:prstGeom>
          <a:ln w="38100" cap="flat" cmpd="sng">
            <a:solidFill>
              <a:schemeClr val="tx1"/>
            </a:solidFill>
            <a:prstDash val="solid"/>
            <a:miter/>
            <a:headEnd type="none" w="med" len="med"/>
            <a:tailEnd type="none" w="med" len="med"/>
          </a:ln>
        </p:spPr>
      </p:cxnSp>
      <p:sp>
        <p:nvSpPr>
          <p:cNvPr id="42" name="TextBox 41"/>
          <p:cNvSpPr txBox="1"/>
          <p:nvPr/>
        </p:nvSpPr>
        <p:spPr>
          <a:xfrm>
            <a:off x="3651250" y="1785938"/>
            <a:ext cx="185737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2</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3" name="TextBox 42"/>
          <p:cNvSpPr txBox="1"/>
          <p:nvPr/>
        </p:nvSpPr>
        <p:spPr>
          <a:xfrm>
            <a:off x="2857500" y="2286000"/>
            <a:ext cx="2286000"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n%i</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r</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6" name="TextBox 45"/>
          <p:cNvSpPr txBox="1"/>
          <p:nvPr/>
        </p:nvSpPr>
        <p:spPr>
          <a:xfrm>
            <a:off x="1928813" y="3714750"/>
            <a:ext cx="185737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w</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47" name="TextBox 46"/>
          <p:cNvSpPr txBox="1"/>
          <p:nvPr/>
        </p:nvSpPr>
        <p:spPr>
          <a:xfrm>
            <a:off x="4857750" y="3714750"/>
            <a:ext cx="1857375"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i+1</a:t>
            </a:r>
            <a:r>
              <a:rPr lang="en-US" altLang="zh-CN" sz="2800" b="0" dirty="0">
                <a:solidFill>
                  <a:srgbClr val="003399"/>
                </a:solidFill>
                <a:latin typeface="Times New Roman" panose="02020603050405020304" pitchFamily="18" charset="0"/>
                <a:ea typeface="微软雅黑" panose="020B0503020204020204" pitchFamily="34" charset="-122"/>
                <a:sym typeface="Symbol" panose="05050102010706020507" pitchFamily="18" charset="2"/>
              </a:rPr>
              <a:t>i</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cxnSp>
        <p:nvCxnSpPr>
          <p:cNvPr id="48" name="直接连接符 47"/>
          <p:cNvCxnSpPr/>
          <p:nvPr/>
        </p:nvCxnSpPr>
        <p:spPr>
          <a:xfrm>
            <a:off x="1143000" y="4214813"/>
            <a:ext cx="6072188" cy="0"/>
          </a:xfrm>
          <a:prstGeom prst="line">
            <a:avLst/>
          </a:prstGeom>
          <a:ln w="38100" cap="flat" cmpd="sng">
            <a:solidFill>
              <a:schemeClr val="tx1"/>
            </a:solidFill>
            <a:prstDash val="solid"/>
            <a:miter/>
            <a:headEnd type="none" w="med" len="med"/>
            <a:tailEnd type="none" w="med" len="med"/>
          </a:ln>
        </p:spPr>
      </p:cxnSp>
      <p:grpSp>
        <p:nvGrpSpPr>
          <p:cNvPr id="2" name="组合 84"/>
          <p:cNvGrpSpPr/>
          <p:nvPr/>
        </p:nvGrpSpPr>
        <p:grpSpPr>
          <a:xfrm>
            <a:off x="2500313" y="4286250"/>
            <a:ext cx="3286125" cy="547688"/>
            <a:chOff x="2500298" y="4286256"/>
            <a:chExt cx="3286148" cy="548413"/>
          </a:xfrm>
        </p:grpSpPr>
        <p:sp>
          <p:nvSpPr>
            <p:cNvPr id="59426" name="TextBox 5"/>
            <p:cNvSpPr txBox="1"/>
            <p:nvPr/>
          </p:nvSpPr>
          <p:spPr>
            <a:xfrm>
              <a:off x="2500298" y="4286256"/>
              <a:ext cx="3286148" cy="523220"/>
            </a:xfrm>
            <a:prstGeom prst="rect">
              <a:avLst/>
            </a:prstGeom>
            <a:noFill/>
            <a:ln w="9525">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直到</a:t>
              </a:r>
              <a:r>
                <a:rPr lang="en-US" altLang="zh-CN" sz="2800" b="0" dirty="0">
                  <a:solidFill>
                    <a:srgbClr val="003399"/>
                  </a:solidFill>
                  <a:latin typeface="Times New Roman" panose="02020603050405020304" pitchFamily="18" charset="0"/>
                  <a:ea typeface="微软雅黑" panose="020B0503020204020204" pitchFamily="34" charset="-122"/>
                </a:rPr>
                <a:t>i&gt;      </a:t>
              </a:r>
              <a:r>
                <a:rPr lang="zh-CN" altLang="en-US" sz="2800" b="0" dirty="0">
                  <a:solidFill>
                    <a:srgbClr val="003399"/>
                  </a:solidFill>
                  <a:latin typeface="Times New Roman" panose="02020603050405020304" pitchFamily="18" charset="0"/>
                  <a:ea typeface="微软雅黑" panose="020B0503020204020204" pitchFamily="34" charset="-122"/>
                </a:rPr>
                <a:t>或</a:t>
              </a:r>
              <a:r>
                <a:rPr lang="en-US" altLang="zh-CN" sz="2800" b="0" dirty="0">
                  <a:solidFill>
                    <a:srgbClr val="003399"/>
                  </a:solidFill>
                  <a:latin typeface="Times New Roman" panose="02020603050405020304" pitchFamily="18" charset="0"/>
                  <a:ea typeface="微软雅黑" panose="020B0503020204020204" pitchFamily="34" charset="-122"/>
                </a:rPr>
                <a:t>w ≠0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graphicFrame>
          <p:nvGraphicFramePr>
            <p:cNvPr id="59427" name="Object 2"/>
            <p:cNvGraphicFramePr>
              <a:graphicFrameLocks noChangeAspect="1"/>
            </p:cNvGraphicFramePr>
            <p:nvPr/>
          </p:nvGraphicFramePr>
          <p:xfrm>
            <a:off x="3571868" y="4286256"/>
            <a:ext cx="554637" cy="548413"/>
          </p:xfrm>
          <a:graphic>
            <a:graphicData uri="http://schemas.openxmlformats.org/presentationml/2006/ole">
              <mc:AlternateContent xmlns:mc="http://schemas.openxmlformats.org/markup-compatibility/2006">
                <mc:Choice xmlns:v="urn:schemas-microsoft-com:vml" Requires="v">
                  <p:oleObj spid="_x0000_s12291" name="" r:id="rId1" imgW="241300" imgH="228600" progId="Equation.3">
                    <p:embed/>
                  </p:oleObj>
                </mc:Choice>
                <mc:Fallback>
                  <p:oleObj name="" r:id="rId1" imgW="241300" imgH="228600" progId="Equation.3">
                    <p:embed/>
                    <p:pic>
                      <p:nvPicPr>
                        <p:cNvPr id="0" name="图片 3075"/>
                        <p:cNvPicPr/>
                        <p:nvPr/>
                      </p:nvPicPr>
                      <p:blipFill>
                        <a:blip r:embed="rId2"/>
                        <a:stretch>
                          <a:fillRect/>
                        </a:stretch>
                      </p:blipFill>
                      <p:spPr>
                        <a:xfrm>
                          <a:off x="3571868" y="4286256"/>
                          <a:ext cx="554637" cy="548413"/>
                        </a:xfrm>
                        <a:prstGeom prst="rect">
                          <a:avLst/>
                        </a:prstGeom>
                        <a:noFill/>
                        <a:ln w="38100">
                          <a:noFill/>
                          <a:miter/>
                        </a:ln>
                      </p:spPr>
                    </p:pic>
                  </p:oleObj>
                </mc:Fallback>
              </mc:AlternateContent>
            </a:graphicData>
          </a:graphic>
        </p:graphicFrame>
      </p:grpSp>
      <p:cxnSp>
        <p:nvCxnSpPr>
          <p:cNvPr id="60" name="直接连接符 59"/>
          <p:cNvCxnSpPr/>
          <p:nvPr/>
        </p:nvCxnSpPr>
        <p:spPr>
          <a:xfrm>
            <a:off x="1143000" y="4857750"/>
            <a:ext cx="6858000" cy="0"/>
          </a:xfrm>
          <a:prstGeom prst="line">
            <a:avLst/>
          </a:prstGeom>
          <a:ln w="38100" cap="flat" cmpd="sng">
            <a:solidFill>
              <a:schemeClr val="tx1"/>
            </a:solidFill>
            <a:prstDash val="solid"/>
            <a:miter/>
            <a:headEnd type="none" w="med" len="med"/>
            <a:tailEnd type="none" w="med" len="med"/>
          </a:ln>
        </p:spPr>
      </p:cxnSp>
      <p:cxnSp>
        <p:nvCxnSpPr>
          <p:cNvPr id="63" name="直接连接符 62"/>
          <p:cNvCxnSpPr/>
          <p:nvPr/>
        </p:nvCxnSpPr>
        <p:spPr>
          <a:xfrm rot="5400000">
            <a:off x="4143375" y="6000750"/>
            <a:ext cx="714375" cy="0"/>
          </a:xfrm>
          <a:prstGeom prst="line">
            <a:avLst/>
          </a:prstGeom>
          <a:ln w="38100" cap="flat" cmpd="sng">
            <a:solidFill>
              <a:schemeClr val="tx1"/>
            </a:solidFill>
            <a:prstDash val="solid"/>
            <a:miter/>
            <a:headEnd type="none" w="med" len="med"/>
            <a:tailEnd type="none" w="med" len="med"/>
          </a:ln>
        </p:spPr>
      </p:cxnSp>
      <p:cxnSp>
        <p:nvCxnSpPr>
          <p:cNvPr id="65" name="直接连接符 64"/>
          <p:cNvCxnSpPr/>
          <p:nvPr/>
        </p:nvCxnSpPr>
        <p:spPr>
          <a:xfrm>
            <a:off x="1143000" y="5643563"/>
            <a:ext cx="6858000" cy="0"/>
          </a:xfrm>
          <a:prstGeom prst="line">
            <a:avLst/>
          </a:prstGeom>
          <a:ln w="38100" cap="flat" cmpd="sng">
            <a:solidFill>
              <a:schemeClr val="tx1"/>
            </a:solidFill>
            <a:prstDash val="solid"/>
            <a:miter/>
            <a:headEnd type="none" w="med" len="med"/>
            <a:tailEnd type="none" w="med" len="med"/>
          </a:ln>
        </p:spPr>
      </p:cxnSp>
      <p:cxnSp>
        <p:nvCxnSpPr>
          <p:cNvPr id="66" name="直接连接符 65"/>
          <p:cNvCxnSpPr/>
          <p:nvPr/>
        </p:nvCxnSpPr>
        <p:spPr>
          <a:xfrm>
            <a:off x="1143000" y="4857750"/>
            <a:ext cx="3357563" cy="785813"/>
          </a:xfrm>
          <a:prstGeom prst="line">
            <a:avLst/>
          </a:prstGeom>
          <a:ln w="38100" cap="flat" cmpd="sng">
            <a:solidFill>
              <a:schemeClr val="tx1"/>
            </a:solidFill>
            <a:prstDash val="solid"/>
            <a:miter/>
            <a:headEnd type="none" w="med" len="med"/>
            <a:tailEnd type="none" w="med" len="med"/>
          </a:ln>
        </p:spPr>
      </p:cxnSp>
      <p:cxnSp>
        <p:nvCxnSpPr>
          <p:cNvPr id="67" name="直接连接符 66"/>
          <p:cNvCxnSpPr/>
          <p:nvPr/>
        </p:nvCxnSpPr>
        <p:spPr>
          <a:xfrm rot="-10800000" flipV="1">
            <a:off x="4500563" y="4857750"/>
            <a:ext cx="3500437" cy="785813"/>
          </a:xfrm>
          <a:prstGeom prst="line">
            <a:avLst/>
          </a:prstGeom>
          <a:ln w="38100" cap="flat" cmpd="sng">
            <a:solidFill>
              <a:schemeClr val="tx1"/>
            </a:solidFill>
            <a:prstDash val="solid"/>
            <a:miter/>
            <a:headEnd type="none" w="med" len="med"/>
            <a:tailEnd type="none" w="med" len="med"/>
          </a:ln>
        </p:spPr>
      </p:cxnSp>
      <p:sp>
        <p:nvSpPr>
          <p:cNvPr id="68" name="TextBox 67"/>
          <p:cNvSpPr txBox="1"/>
          <p:nvPr/>
        </p:nvSpPr>
        <p:spPr>
          <a:xfrm>
            <a:off x="3784600" y="5010150"/>
            <a:ext cx="1500188"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en-US" altLang="zh-CN" sz="2800" b="0" dirty="0">
                <a:solidFill>
                  <a:srgbClr val="003399"/>
                </a:solidFill>
                <a:latin typeface="Times New Roman" panose="02020603050405020304" pitchFamily="18" charset="0"/>
                <a:ea typeface="微软雅黑" panose="020B0503020204020204" pitchFamily="34" charset="-122"/>
              </a:rPr>
              <a:t>w=0</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69" name="TextBox 68"/>
          <p:cNvSpPr txBox="1"/>
          <p:nvPr/>
        </p:nvSpPr>
        <p:spPr>
          <a:xfrm>
            <a:off x="1500188" y="5072063"/>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是</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0" name="TextBox 69"/>
          <p:cNvSpPr txBox="1"/>
          <p:nvPr/>
        </p:nvSpPr>
        <p:spPr>
          <a:xfrm>
            <a:off x="6643688" y="5119688"/>
            <a:ext cx="785812"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否</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1" name="TextBox 70"/>
          <p:cNvSpPr txBox="1"/>
          <p:nvPr/>
        </p:nvSpPr>
        <p:spPr>
          <a:xfrm>
            <a:off x="1428750" y="5740400"/>
            <a:ext cx="2786063"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zh-CN" altLang="en-US" sz="2800" b="0" dirty="0">
                <a:solidFill>
                  <a:srgbClr val="003399"/>
                </a:solidFill>
                <a:latin typeface="Times New Roman" panose="02020603050405020304" pitchFamily="18" charset="0"/>
                <a:ea typeface="微软雅黑" panose="020B0503020204020204" pitchFamily="34" charset="-122"/>
              </a:rPr>
              <a:t>是素数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sp>
        <p:nvSpPr>
          <p:cNvPr id="74" name="TextBox 73"/>
          <p:cNvSpPr txBox="1"/>
          <p:nvPr/>
        </p:nvSpPr>
        <p:spPr>
          <a:xfrm>
            <a:off x="4786313" y="5740400"/>
            <a:ext cx="2928937" cy="523875"/>
          </a:xfrm>
          <a:prstGeom prst="rect">
            <a:avLst/>
          </a:prstGeom>
          <a:noFill/>
          <a:ln w="38100">
            <a:noFill/>
          </a:ln>
        </p:spPr>
        <p:txBody>
          <a:bodyPr>
            <a:spAutoFit/>
          </a:bodyPr>
          <a:lstStyle>
            <a:lvl1pPr marL="342900" indent="-342900" algn="l" rtl="0" eaLnBrk="0" fontAlgn="base" hangingPunct="0">
              <a:lnSpc>
                <a:spcPct val="120000"/>
              </a:lnSpc>
              <a:spcBef>
                <a:spcPct val="20000"/>
              </a:spcBef>
              <a:spcAft>
                <a:spcPct val="0"/>
              </a:spcAft>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stStyle>
          <a:p>
            <a:pPr marL="0" lvl="0" indent="0" algn="ctr" eaLnBrk="1" hangingPunct="1">
              <a:lnSpc>
                <a:spcPct val="100000"/>
              </a:lnSpc>
              <a:spcBef>
                <a:spcPct val="0"/>
              </a:spcBef>
              <a:buFontTx/>
              <a:buNone/>
            </a:pPr>
            <a:r>
              <a:rPr lang="zh-CN" altLang="en-US" sz="2800" b="0" dirty="0">
                <a:solidFill>
                  <a:srgbClr val="003399"/>
                </a:solidFill>
                <a:latin typeface="Times New Roman" panose="02020603050405020304" pitchFamily="18" charset="0"/>
                <a:ea typeface="微软雅黑" panose="020B0503020204020204" pitchFamily="34" charset="-122"/>
              </a:rPr>
              <a:t>输出</a:t>
            </a:r>
            <a:r>
              <a:rPr lang="en-US" altLang="zh-CN" sz="2800" b="0" dirty="0">
                <a:solidFill>
                  <a:srgbClr val="003399"/>
                </a:solidFill>
                <a:latin typeface="Times New Roman" panose="02020603050405020304" pitchFamily="18" charset="0"/>
                <a:ea typeface="微软雅黑" panose="020B0503020204020204" pitchFamily="34" charset="-122"/>
              </a:rPr>
              <a:t>n</a:t>
            </a:r>
            <a:r>
              <a:rPr lang="zh-CN" altLang="en-US" sz="2800" b="0" dirty="0">
                <a:solidFill>
                  <a:srgbClr val="003399"/>
                </a:solidFill>
                <a:latin typeface="Times New Roman" panose="02020603050405020304" pitchFamily="18" charset="0"/>
                <a:ea typeface="微软雅黑" panose="020B0503020204020204" pitchFamily="34" charset="-122"/>
              </a:rPr>
              <a:t>不是素数</a:t>
            </a:r>
            <a:endParaRPr lang="zh-CN" altLang="en-US" sz="2800" b="0" dirty="0">
              <a:solidFill>
                <a:srgbClr val="003399"/>
              </a:solidFill>
              <a:latin typeface="Times New Roman" panose="02020603050405020304" pitchFamily="18" charset="0"/>
              <a:ea typeface="微软雅黑" panose="020B0503020204020204" pitchFamily="34" charset="-122"/>
            </a:endParaRPr>
          </a:p>
        </p:txBody>
      </p:sp>
      <p:pic>
        <p:nvPicPr>
          <p:cNvPr id="59425"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slide(fromLeft)">
                                      <p:cBhvr>
                                        <p:cTn id="12" dur="500"/>
                                        <p:tgtEl>
                                          <p:spTgt spid="38"/>
                                        </p:tgtEl>
                                      </p:cBhvr>
                                    </p:animEffect>
                                  </p:childTnLst>
                                </p:cTn>
                              </p:par>
                              <p:par>
                                <p:cTn id="13" presetID="12" presetClass="entr" presetSubtype="8"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slide(fromLeft)">
                                      <p:cBhvr>
                                        <p:cTn id="15" dur="500"/>
                                        <p:tgtEl>
                                          <p:spTgt spid="41"/>
                                        </p:tgtEl>
                                      </p:cBhvr>
                                    </p:animEffect>
                                  </p:childTnLst>
                                </p:cTn>
                              </p:par>
                              <p:par>
                                <p:cTn id="16" presetID="12" presetClass="entr" presetSubtype="8"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slide(fromLeft)">
                                      <p:cBhvr>
                                        <p:cTn id="18" dur="500"/>
                                        <p:tgtEl>
                                          <p:spTgt spid="11"/>
                                        </p:tgtEl>
                                      </p:cBhvr>
                                    </p:animEffect>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par>
                          <p:cTn id="23" fill="hold">
                            <p:stCondLst>
                              <p:cond delay="1000"/>
                            </p:stCondLst>
                            <p:childTnLst>
                              <p:par>
                                <p:cTn id="24" presetID="3" presetClass="entr" presetSubtype="10" fill="hold" grpId="0" nodeType="after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blinds(horizontal)">
                                      <p:cBhvr>
                                        <p:cTn id="26" dur="500"/>
                                        <p:tgtEl>
                                          <p:spTgt spid="39"/>
                                        </p:tgtEl>
                                      </p:cBhvr>
                                    </p:animEffect>
                                  </p:childTnLst>
                                </p:cTn>
                              </p:par>
                            </p:childTnLst>
                          </p:cTn>
                        </p:par>
                        <p:par>
                          <p:cTn id="27" fill="hold">
                            <p:stCondLst>
                              <p:cond delay="1500"/>
                            </p:stCondLst>
                            <p:childTnLst>
                              <p:par>
                                <p:cTn id="28" presetID="3" presetClass="entr" presetSubtype="10" fill="hold" grpId="0" nodeType="after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blinds(horizontal)">
                                      <p:cBhvr>
                                        <p:cTn id="30" dur="5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slide(fromLeft)">
                                      <p:cBhvr>
                                        <p:cTn id="35" dur="500"/>
                                        <p:tgtEl>
                                          <p:spTgt spid="19"/>
                                        </p:tgtEl>
                                      </p:cBhvr>
                                    </p:animEffect>
                                  </p:childTnLst>
                                </p:cTn>
                              </p:par>
                            </p:childTnLst>
                          </p:cTn>
                        </p:par>
                        <p:par>
                          <p:cTn id="36" fill="hold">
                            <p:stCondLst>
                              <p:cond delay="500"/>
                            </p:stCondLst>
                            <p:childTnLst>
                              <p:par>
                                <p:cTn id="37" presetID="12" presetClass="entr" presetSubtype="1"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slide(fromTop)">
                                      <p:cBhvr>
                                        <p:cTn id="39" dur="500"/>
                                        <p:tgtEl>
                                          <p:spTgt spid="37"/>
                                        </p:tgtEl>
                                      </p:cBhvr>
                                    </p:animEffect>
                                  </p:childTnLst>
                                </p:cTn>
                              </p:par>
                            </p:childTnLst>
                          </p:cTn>
                        </p:par>
                        <p:par>
                          <p:cTn id="40" fill="hold">
                            <p:stCondLst>
                              <p:cond delay="1000"/>
                            </p:stCondLst>
                            <p:childTnLst>
                              <p:par>
                                <p:cTn id="41" presetID="3" presetClass="entr" presetSubtype="10" fill="hold" grpId="0"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blinds(horizontal)">
                                      <p:cBhvr>
                                        <p:cTn id="43" dur="50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box(in)">
                                      <p:cBhvr>
                                        <p:cTn id="48" dur="500"/>
                                        <p:tgtEl>
                                          <p:spTgt spid="26"/>
                                        </p:tgtEl>
                                      </p:cBhvr>
                                    </p:animEffect>
                                  </p:childTnLst>
                                </p:cTn>
                              </p:par>
                              <p:par>
                                <p:cTn id="49" presetID="4" presetClass="entr" presetSubtype="16"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box(in)">
                                      <p:cBhvr>
                                        <p:cTn id="51" dur="500"/>
                                        <p:tgtEl>
                                          <p:spTgt spid="27"/>
                                        </p:tgtEl>
                                      </p:cBhvr>
                                    </p:animEffect>
                                  </p:childTnLst>
                                </p:cTn>
                              </p:par>
                            </p:childTnLst>
                          </p:cTn>
                        </p:par>
                        <p:par>
                          <p:cTn id="52" fill="hold">
                            <p:stCondLst>
                              <p:cond delay="500"/>
                            </p:stCondLst>
                            <p:childTnLst>
                              <p:par>
                                <p:cTn id="53" presetID="12" presetClass="entr" presetSubtype="8"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slide(fromLeft)">
                                      <p:cBhvr>
                                        <p:cTn id="55" dur="500"/>
                                        <p:tgtEl>
                                          <p:spTgt spid="20"/>
                                        </p:tgtEl>
                                      </p:cBhvr>
                                    </p:animEffect>
                                  </p:childTnLst>
                                </p:cTn>
                              </p:par>
                            </p:childTnLst>
                          </p:cTn>
                        </p:par>
                        <p:par>
                          <p:cTn id="56" fill="hold">
                            <p:stCondLst>
                              <p:cond delay="1000"/>
                            </p:stCondLst>
                            <p:childTnLst>
                              <p:par>
                                <p:cTn id="57" presetID="3" presetClass="entr" presetSubtype="10"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blinds(horizontal)">
                                      <p:cBhvr>
                                        <p:cTn id="59" dur="5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blinds(horizontal)">
                                      <p:cBhvr>
                                        <p:cTn id="64" dur="5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nodeType="click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slide(fromLeft)">
                                      <p:cBhvr>
                                        <p:cTn id="69" dur="500"/>
                                        <p:tgtEl>
                                          <p:spTgt spid="48"/>
                                        </p:tgtEl>
                                      </p:cBhvr>
                                    </p:animEffect>
                                  </p:childTnLst>
                                </p:cTn>
                              </p:par>
                            </p:childTnLst>
                          </p:cTn>
                        </p:par>
                        <p:par>
                          <p:cTn id="70" fill="hold">
                            <p:stCondLst>
                              <p:cond delay="500"/>
                            </p:stCondLst>
                            <p:childTnLst>
                              <p:par>
                                <p:cTn id="71" presetID="12" presetClass="entr" presetSubtype="1" fill="hold"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slide(fromTop)">
                                      <p:cBhvr>
                                        <p:cTn id="73" dur="500"/>
                                        <p:tgtEl>
                                          <p:spTgt spid="18"/>
                                        </p:tgtEl>
                                      </p:cBhvr>
                                    </p:animEffect>
                                  </p:childTnLst>
                                </p:cTn>
                              </p:par>
                            </p:childTnLst>
                          </p:cTn>
                        </p:par>
                        <p:par>
                          <p:cTn id="74" fill="hold">
                            <p:stCondLst>
                              <p:cond delay="1000"/>
                            </p:stCondLst>
                            <p:childTnLst>
                              <p:par>
                                <p:cTn id="75" presetID="3" presetClass="entr" presetSubtype="10" fill="hold" grpId="0" nodeType="after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blinds(horizontal)">
                                      <p:cBhvr>
                                        <p:cTn id="77" dur="500"/>
                                        <p:tgtEl>
                                          <p:spTgt spid="4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linds(horizontal)">
                                      <p:cBhvr>
                                        <p:cTn id="82" dur="500"/>
                                        <p:tgtEl>
                                          <p:spTgt spid="33"/>
                                        </p:tgtEl>
                                      </p:cBhvr>
                                    </p:animEffect>
                                  </p:childTnLst>
                                </p:cTn>
                              </p:par>
                            </p:childTnLst>
                          </p:cTn>
                        </p:par>
                        <p:par>
                          <p:cTn id="83" fill="hold">
                            <p:stCondLst>
                              <p:cond delay="500"/>
                            </p:stCondLst>
                            <p:childTnLst>
                              <p:par>
                                <p:cTn id="84" presetID="3" presetClass="entr" presetSubtype="10" fill="hold" grpId="0" nodeType="after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blinds(horizontal)">
                                      <p:cBhvr>
                                        <p:cTn id="86" dur="500"/>
                                        <p:tgtEl>
                                          <p:spTgt spid="47"/>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8" fill="hold" nodeType="click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slide(fromLeft)">
                                      <p:cBhvr>
                                        <p:cTn id="91" dur="500"/>
                                        <p:tgtEl>
                                          <p:spTgt spid="60"/>
                                        </p:tgtEl>
                                      </p:cBhvr>
                                    </p:animEffect>
                                  </p:childTnLst>
                                </p:cTn>
                              </p:par>
                            </p:childTnLst>
                          </p:cTn>
                        </p:par>
                        <p:par>
                          <p:cTn id="92" fill="hold">
                            <p:stCondLst>
                              <p:cond delay="500"/>
                            </p:stCondLst>
                            <p:childTnLst>
                              <p:par>
                                <p:cTn id="93" presetID="3" presetClass="entr" presetSubtype="10" fill="hold" nodeType="after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blinds(horizontal)">
                                      <p:cBhvr>
                                        <p:cTn id="95" dur="500"/>
                                        <p:tgtEl>
                                          <p:spTgt spid="2"/>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8" fill="hold" nodeType="click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slide(fromLeft)">
                                      <p:cBhvr>
                                        <p:cTn id="100" dur="500"/>
                                        <p:tgtEl>
                                          <p:spTgt spid="65"/>
                                        </p:tgtEl>
                                      </p:cBhvr>
                                    </p:animEffect>
                                  </p:childTnLst>
                                </p:cTn>
                              </p:par>
                            </p:childTnLst>
                          </p:cTn>
                        </p:par>
                        <p:par>
                          <p:cTn id="101" fill="hold">
                            <p:stCondLst>
                              <p:cond delay="500"/>
                            </p:stCondLst>
                            <p:childTnLst>
                              <p:par>
                                <p:cTn id="102" presetID="4" presetClass="entr" presetSubtype="16" fill="hold" nodeType="afterEffect">
                                  <p:stCondLst>
                                    <p:cond delay="0"/>
                                  </p:stCondLst>
                                  <p:childTnLst>
                                    <p:set>
                                      <p:cBhvr>
                                        <p:cTn id="103" dur="1" fill="hold">
                                          <p:stCondLst>
                                            <p:cond delay="0"/>
                                          </p:stCondLst>
                                        </p:cTn>
                                        <p:tgtEl>
                                          <p:spTgt spid="66"/>
                                        </p:tgtEl>
                                        <p:attrNameLst>
                                          <p:attrName>style.visibility</p:attrName>
                                        </p:attrNameLst>
                                      </p:cBhvr>
                                      <p:to>
                                        <p:strVal val="visible"/>
                                      </p:to>
                                    </p:set>
                                    <p:animEffect transition="in" filter="box(in)">
                                      <p:cBhvr>
                                        <p:cTn id="104" dur="500"/>
                                        <p:tgtEl>
                                          <p:spTgt spid="66"/>
                                        </p:tgtEl>
                                      </p:cBhvr>
                                    </p:animEffect>
                                  </p:childTnLst>
                                </p:cTn>
                              </p:par>
                              <p:par>
                                <p:cTn id="105" presetID="4" presetClass="entr" presetSubtype="16" fill="hold" nodeType="withEffect">
                                  <p:stCondLst>
                                    <p:cond delay="0"/>
                                  </p:stCondLst>
                                  <p:childTnLst>
                                    <p:set>
                                      <p:cBhvr>
                                        <p:cTn id="106" dur="1" fill="hold">
                                          <p:stCondLst>
                                            <p:cond delay="0"/>
                                          </p:stCondLst>
                                        </p:cTn>
                                        <p:tgtEl>
                                          <p:spTgt spid="67"/>
                                        </p:tgtEl>
                                        <p:attrNameLst>
                                          <p:attrName>style.visibility</p:attrName>
                                        </p:attrNameLst>
                                      </p:cBhvr>
                                      <p:to>
                                        <p:strVal val="visible"/>
                                      </p:to>
                                    </p:set>
                                    <p:animEffect transition="in" filter="box(in)">
                                      <p:cBhvr>
                                        <p:cTn id="107" dur="500"/>
                                        <p:tgtEl>
                                          <p:spTgt spid="67"/>
                                        </p:tgtEl>
                                      </p:cBhvr>
                                    </p:animEffect>
                                  </p:childTnLst>
                                </p:cTn>
                              </p:par>
                            </p:childTnLst>
                          </p:cTn>
                        </p:par>
                        <p:par>
                          <p:cTn id="108" fill="hold">
                            <p:stCondLst>
                              <p:cond delay="1000"/>
                            </p:stCondLst>
                            <p:childTnLst>
                              <p:par>
                                <p:cTn id="109" presetID="3" presetClass="entr" presetSubtype="10" fill="hold" grpId="0" nodeType="afterEffect">
                                  <p:stCondLst>
                                    <p:cond delay="0"/>
                                  </p:stCondLst>
                                  <p:childTnLst>
                                    <p:set>
                                      <p:cBhvr>
                                        <p:cTn id="110" dur="1" fill="hold">
                                          <p:stCondLst>
                                            <p:cond delay="0"/>
                                          </p:stCondLst>
                                        </p:cTn>
                                        <p:tgtEl>
                                          <p:spTgt spid="68"/>
                                        </p:tgtEl>
                                        <p:attrNameLst>
                                          <p:attrName>style.visibility</p:attrName>
                                        </p:attrNameLst>
                                      </p:cBhvr>
                                      <p:to>
                                        <p:strVal val="visible"/>
                                      </p:to>
                                    </p:set>
                                    <p:animEffect transition="in" filter="blinds(horizontal)">
                                      <p:cBhvr>
                                        <p:cTn id="111" dur="500"/>
                                        <p:tgtEl>
                                          <p:spTgt spid="68"/>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69"/>
                                        </p:tgtEl>
                                        <p:attrNameLst>
                                          <p:attrName>style.visibility</p:attrName>
                                        </p:attrNameLst>
                                      </p:cBhvr>
                                      <p:to>
                                        <p:strVal val="visible"/>
                                      </p:to>
                                    </p:set>
                                    <p:animEffect transition="in" filter="blinds(horizontal)">
                                      <p:cBhvr>
                                        <p:cTn id="116" dur="500"/>
                                        <p:tgtEl>
                                          <p:spTgt spid="69"/>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1" fill="hold" nodeType="clickEffect">
                                  <p:stCondLst>
                                    <p:cond delay="0"/>
                                  </p:stCondLst>
                                  <p:childTnLst>
                                    <p:set>
                                      <p:cBhvr>
                                        <p:cTn id="120" dur="1" fill="hold">
                                          <p:stCondLst>
                                            <p:cond delay="0"/>
                                          </p:stCondLst>
                                        </p:cTn>
                                        <p:tgtEl>
                                          <p:spTgt spid="63"/>
                                        </p:tgtEl>
                                        <p:attrNameLst>
                                          <p:attrName>style.visibility</p:attrName>
                                        </p:attrNameLst>
                                      </p:cBhvr>
                                      <p:to>
                                        <p:strVal val="visible"/>
                                      </p:to>
                                    </p:set>
                                    <p:animEffect transition="in" filter="slide(fromTop)">
                                      <p:cBhvr>
                                        <p:cTn id="121" dur="500"/>
                                        <p:tgtEl>
                                          <p:spTgt spid="63"/>
                                        </p:tgtEl>
                                      </p:cBhvr>
                                    </p:animEffect>
                                  </p:childTnLst>
                                </p:cTn>
                              </p:par>
                            </p:childTnLst>
                          </p:cTn>
                        </p:par>
                        <p:par>
                          <p:cTn id="122" fill="hold">
                            <p:stCondLst>
                              <p:cond delay="500"/>
                            </p:stCondLst>
                            <p:childTnLst>
                              <p:par>
                                <p:cTn id="123" presetID="3" presetClass="entr" presetSubtype="10" fill="hold" grpId="0" nodeType="afterEffect">
                                  <p:stCondLst>
                                    <p:cond delay="0"/>
                                  </p:stCondLst>
                                  <p:childTnLst>
                                    <p:set>
                                      <p:cBhvr>
                                        <p:cTn id="124" dur="1" fill="hold">
                                          <p:stCondLst>
                                            <p:cond delay="0"/>
                                          </p:stCondLst>
                                        </p:cTn>
                                        <p:tgtEl>
                                          <p:spTgt spid="71"/>
                                        </p:tgtEl>
                                        <p:attrNameLst>
                                          <p:attrName>style.visibility</p:attrName>
                                        </p:attrNameLst>
                                      </p:cBhvr>
                                      <p:to>
                                        <p:strVal val="visible"/>
                                      </p:to>
                                    </p:set>
                                    <p:animEffect transition="in" filter="blinds(horizontal)">
                                      <p:cBhvr>
                                        <p:cTn id="125" dur="500"/>
                                        <p:tgtEl>
                                          <p:spTgt spid="71"/>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70"/>
                                        </p:tgtEl>
                                        <p:attrNameLst>
                                          <p:attrName>style.visibility</p:attrName>
                                        </p:attrNameLst>
                                      </p:cBhvr>
                                      <p:to>
                                        <p:strVal val="visible"/>
                                      </p:to>
                                    </p:set>
                                    <p:animEffect transition="in" filter="blinds(horizontal)">
                                      <p:cBhvr>
                                        <p:cTn id="130" dur="500"/>
                                        <p:tgtEl>
                                          <p:spTgt spid="70"/>
                                        </p:tgtEl>
                                      </p:cBhvr>
                                    </p:animEffect>
                                  </p:childTnLst>
                                </p:cTn>
                              </p:par>
                            </p:childTnLst>
                          </p:cTn>
                        </p:par>
                        <p:par>
                          <p:cTn id="131" fill="hold">
                            <p:stCondLst>
                              <p:cond delay="500"/>
                            </p:stCondLst>
                            <p:childTnLst>
                              <p:par>
                                <p:cTn id="132" presetID="3" presetClass="entr" presetSubtype="10" fill="hold" grpId="0" nodeType="afterEffect">
                                  <p:stCondLst>
                                    <p:cond delay="0"/>
                                  </p:stCondLst>
                                  <p:childTnLst>
                                    <p:set>
                                      <p:cBhvr>
                                        <p:cTn id="133" dur="1" fill="hold">
                                          <p:stCondLst>
                                            <p:cond delay="0"/>
                                          </p:stCondLst>
                                        </p:cTn>
                                        <p:tgtEl>
                                          <p:spTgt spid="74"/>
                                        </p:tgtEl>
                                        <p:attrNameLst>
                                          <p:attrName>style.visibility</p:attrName>
                                        </p:attrNameLst>
                                      </p:cBhvr>
                                      <p:to>
                                        <p:strVal val="visible"/>
                                      </p:to>
                                    </p:set>
                                    <p:animEffect transition="in" filter="blinds(horizontal)">
                                      <p:cBhvr>
                                        <p:cTn id="13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28" grpId="0"/>
      <p:bldP spid="32" grpId="0"/>
      <p:bldP spid="33" grpId="0"/>
      <p:bldP spid="39" grpId="0"/>
      <p:bldP spid="42" grpId="0"/>
      <p:bldP spid="43" grpId="0"/>
      <p:bldP spid="46" grpId="0"/>
      <p:bldP spid="47" grpId="0"/>
      <p:bldP spid="68" grpId="0"/>
      <p:bldP spid="69" grpId="0"/>
      <p:bldP spid="70" grpId="0"/>
      <p:bldP spid="71" grpId="0"/>
      <p:bldP spid="7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noChangeArrowheads="1"/>
          </p:cNvSpPr>
          <p:nvPr>
            <p:ph idx="1"/>
          </p:nvPr>
        </p:nvSpPr>
        <p:spPr>
          <a:xfrm>
            <a:off x="428625" y="765175"/>
            <a:ext cx="8286750" cy="4513263"/>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一个结构化的算法是由一些基本结构顺序组成的</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24180" marR="0" lvl="0" indent="-42418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在基本结构之间不存在向前或向后的跳转，流程</a:t>
            </a: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的转移只存在于一个基本结构范围之内</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24180" marR="0" lvl="0" indent="-42418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一个非结构化的算法可以用一个等价的结构化算法代替，其功能不变</a:t>
            </a:r>
            <a:endPar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24180" marR="0" lvl="0" indent="-42418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1" lang="zh-CN"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如果一个算法不能分解为若干个基本结构，则它必然不是一个结构化的算法</a:t>
            </a:r>
            <a:endParaRPr kumimoji="1" lang="zh-CN" altLang="en-US"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041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6">
                                            <p:txEl>
                                              <p:pRg st="1" end="1"/>
                                            </p:txEl>
                                          </p:spTgt>
                                        </p:tgtEl>
                                        <p:attrNameLst>
                                          <p:attrName>style.visibility</p:attrName>
                                        </p:attrNameLst>
                                      </p:cBhvr>
                                      <p:to>
                                        <p:strVal val="visible"/>
                                      </p:to>
                                    </p:set>
                                    <p:animEffect transition="in" filter="blinds(horizontal)">
                                      <p:cBhvr>
                                        <p:cTn id="7" dur="500"/>
                                        <p:tgtEl>
                                          <p:spTgt spid="624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466">
                                            <p:txEl>
                                              <p:pRg st="2" end="2"/>
                                            </p:txEl>
                                          </p:spTgt>
                                        </p:tgtEl>
                                        <p:attrNameLst>
                                          <p:attrName>style.visibility</p:attrName>
                                        </p:attrNameLst>
                                      </p:cBhvr>
                                      <p:to>
                                        <p:strVal val="visible"/>
                                      </p:to>
                                    </p:set>
                                    <p:animEffect transition="in" filter="blinds(horizontal)">
                                      <p:cBhvr>
                                        <p:cTn id="12" dur="500"/>
                                        <p:tgtEl>
                                          <p:spTgt spid="6246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466">
                                            <p:txEl>
                                              <p:pRg st="3" end="3"/>
                                            </p:txEl>
                                          </p:spTgt>
                                        </p:tgtEl>
                                        <p:attrNameLst>
                                          <p:attrName>style.visibility</p:attrName>
                                        </p:attrNameLst>
                                      </p:cBhvr>
                                      <p:to>
                                        <p:strVal val="visible"/>
                                      </p:to>
                                    </p:set>
                                    <p:animEffect transition="in" filter="blinds(horizontal)">
                                      <p:cBhvr>
                                        <p:cTn id="17" dur="500"/>
                                        <p:tgtEl>
                                          <p:spTgt spid="624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261938" y="565150"/>
            <a:ext cx="5151437"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2.4.5 </a:t>
            </a:r>
            <a:r>
              <a:rPr lang="zh-CN" altLang="zh-CN" sz="3600" dirty="0">
                <a:solidFill>
                  <a:srgbClr val="235A67"/>
                </a:solidFill>
                <a:latin typeface="Times New Roman" panose="02020603050405020304" pitchFamily="18" charset="0"/>
                <a:ea typeface="黑体" panose="02010609060101010101" pitchFamily="49" charset="-122"/>
              </a:rPr>
              <a:t>用伪代码表示算法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1443" name="Rectangle 3"/>
          <p:cNvSpPr>
            <a:spLocks noGrp="1"/>
          </p:cNvSpPr>
          <p:nvPr>
            <p:ph idx="1"/>
          </p:nvPr>
        </p:nvSpPr>
        <p:spPr>
          <a:xfrm>
            <a:off x="571500" y="1484313"/>
            <a:ext cx="8001000" cy="4357687"/>
          </a:xfrm>
        </p:spPr>
        <p:txBody>
          <a:bodyPr vert="horz" wrap="square" lIns="91440" tIns="45720" rIns="91440" bIns="45720" anchor="t" anchorCtr="0"/>
          <a:lstStyle/>
          <a:p>
            <a:r>
              <a:rPr lang="en-US" altLang="zh-CN" b="0" dirty="0">
                <a:latin typeface="微软雅黑" panose="020B0503020204020204" pitchFamily="34" charset="-122"/>
                <a:ea typeface="微软雅黑" panose="020B0503020204020204" pitchFamily="34" charset="-122"/>
                <a:cs typeface="+mn-cs"/>
              </a:rPr>
              <a:t>伪代码是用介于自然语言和计算机语言之间的文字和符号来描述算法</a:t>
            </a:r>
            <a:endParaRPr lang="en-US" altLang="zh-CN" b="0" dirty="0">
              <a:latin typeface="微软雅黑" panose="020B0503020204020204" pitchFamily="34" charset="-122"/>
              <a:ea typeface="微软雅黑" panose="020B0503020204020204" pitchFamily="34" charset="-122"/>
              <a:cs typeface="+mn-cs"/>
            </a:endParaRPr>
          </a:p>
          <a:p>
            <a:r>
              <a:rPr lang="en-US" altLang="zh-CN" b="0" dirty="0">
                <a:latin typeface="微软雅黑" panose="020B0503020204020204" pitchFamily="34" charset="-122"/>
                <a:ea typeface="微软雅黑" panose="020B0503020204020204" pitchFamily="34" charset="-122"/>
                <a:cs typeface="+mn-cs"/>
              </a:rPr>
              <a:t>用伪代码写算法并无固定的、严格的语法规则，可以用英文，也可以中英文混用</a:t>
            </a:r>
            <a:endParaRPr lang="en-US" altLang="en-US" b="0" dirty="0">
              <a:latin typeface="微软雅黑" panose="020B0503020204020204" pitchFamily="34" charset="-122"/>
              <a:ea typeface="微软雅黑" panose="020B0503020204020204" pitchFamily="34" charset="-122"/>
              <a:cs typeface="+mn-cs"/>
            </a:endParaRPr>
          </a:p>
        </p:txBody>
      </p:sp>
      <p:pic>
        <p:nvPicPr>
          <p:cNvPr id="61444"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0" y="785813"/>
            <a:ext cx="8153400" cy="5429250"/>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2.16   求 5! 。</a:t>
            </a:r>
            <a:endParaRPr lang="en-US" altLang="zh-CN" b="0" dirty="0">
              <a:latin typeface="Times New Roman" panose="02020603050405020304" pitchFamily="18" charset="0"/>
              <a:ea typeface="微软雅黑" panose="020B0503020204020204" pitchFamily="34" charset="-122"/>
              <a:cs typeface="+mn-cs"/>
            </a:endParaRPr>
          </a:p>
          <a:p>
            <a:pPr lvl="1">
              <a:lnSpc>
                <a:spcPct val="100000"/>
              </a:lnSpc>
              <a:buFont typeface="Wingdings" panose="05000000000000000000" pitchFamily="2" charset="2"/>
              <a:buNone/>
            </a:pPr>
            <a:r>
              <a:rPr lang="en-US" altLang="zh-CN" dirty="0">
                <a:solidFill>
                  <a:srgbClr val="992317"/>
                </a:solidFill>
                <a:latin typeface="Times New Roman" panose="02020603050405020304" pitchFamily="18" charset="0"/>
                <a:ea typeface="微软雅黑" panose="020B0503020204020204" pitchFamily="34" charset="-122"/>
              </a:rPr>
              <a:t>begin</a:t>
            </a:r>
            <a:r>
              <a:rPr lang="en-US" altLang="zh-CN" b="0" dirty="0">
                <a:solidFill>
                  <a:srgbClr val="992317"/>
                </a:solidFill>
                <a:latin typeface="Times New Roman" panose="02020603050405020304" pitchFamily="18" charset="0"/>
                <a:ea typeface="微软雅黑" panose="020B0503020204020204" pitchFamily="34" charset="-122"/>
              </a:rPr>
              <a:t>    </a:t>
            </a:r>
            <a:r>
              <a:rPr lang="en-US" altLang="zh-CN" b="0" dirty="0">
                <a:latin typeface="Times New Roman" panose="02020603050405020304" pitchFamily="18" charset="0"/>
                <a:ea typeface="微软雅黑" panose="020B0503020204020204" pitchFamily="34" charset="-122"/>
              </a:rPr>
              <a:t>            ( 算法开始 )</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1</a:t>
            </a:r>
            <a:r>
              <a:rPr lang="en-US" altLang="zh-CN" b="0" dirty="0">
                <a:solidFill>
                  <a:srgbClr val="0000CC"/>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solidFill>
                  <a:srgbClr val="0000CC"/>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t</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2</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 i</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while i≤5</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     t*i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latin typeface="Times New Roman" panose="02020603050405020304" pitchFamily="18" charset="0"/>
                <a:ea typeface="微软雅黑" panose="020B0503020204020204" pitchFamily="34" charset="-122"/>
              </a:rPr>
              <a:t> t</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i+1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i</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print t</a:t>
            </a:r>
            <a:endParaRPr lang="en-US" altLang="zh-CN" b="0" dirty="0">
              <a:latin typeface="Times New Roman" panose="02020603050405020304" pitchFamily="18" charset="0"/>
              <a:ea typeface="微软雅黑" panose="020B0503020204020204" pitchFamily="34" charset="-122"/>
            </a:endParaRPr>
          </a:p>
          <a:p>
            <a:pPr lvl="1">
              <a:lnSpc>
                <a:spcPct val="100000"/>
              </a:lnSpc>
              <a:buFont typeface="Wingdings" panose="05000000000000000000" pitchFamily="2" charset="2"/>
              <a:buNone/>
            </a:pPr>
            <a:r>
              <a:rPr lang="en-US" altLang="zh-CN" dirty="0">
                <a:solidFill>
                  <a:srgbClr val="992317"/>
                </a:solidFill>
                <a:latin typeface="Times New Roman" panose="02020603050405020304" pitchFamily="18" charset="0"/>
                <a:ea typeface="微软雅黑" panose="020B0503020204020204" pitchFamily="34" charset="-122"/>
              </a:rPr>
              <a:t>end</a:t>
            </a:r>
            <a:r>
              <a:rPr lang="en-US" altLang="zh-CN" dirty="0">
                <a:solidFill>
                  <a:srgbClr val="C00000"/>
                </a:solidFill>
                <a:latin typeface="Times New Roman" panose="02020603050405020304" pitchFamily="18" charset="0"/>
                <a:ea typeface="微软雅黑" panose="020B0503020204020204" pitchFamily="34" charset="-122"/>
              </a:rPr>
              <a:t> </a:t>
            </a:r>
            <a:r>
              <a:rPr lang="en-US" altLang="zh-CN" b="0" dirty="0">
                <a:latin typeface="Times New Roman" panose="02020603050405020304" pitchFamily="18" charset="0"/>
                <a:ea typeface="微软雅黑" panose="020B0503020204020204" pitchFamily="34" charset="-122"/>
              </a:rPr>
              <a:t>                   ( 算法结束 )</a:t>
            </a:r>
            <a:endParaRPr lang="en-US" altLang="en-US" b="0" dirty="0">
              <a:latin typeface="Times New Roman" panose="02020603050405020304" pitchFamily="18" charset="0"/>
              <a:ea typeface="微软雅黑" panose="020B0503020204020204" pitchFamily="34" charset="-122"/>
            </a:endParaRPr>
          </a:p>
        </p:txBody>
      </p:sp>
      <p:pic>
        <p:nvPicPr>
          <p:cNvPr id="62467"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linds(horizontal)">
                                      <p:cBhvr>
                                        <p:cTn id="20" dur="500"/>
                                        <p:tgtEl>
                                          <p:spTgt spid="3">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blinds(horizontal)">
                                      <p:cBhvr>
                                        <p:cTn id="26" dur="500"/>
                                        <p:tgtEl>
                                          <p:spTgt spid="3">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blinds(horizontal)">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blinds(horizontal)">
                                      <p:cBhvr>
                                        <p:cTn id="3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63" y="857250"/>
            <a:ext cx="8153400" cy="5857875"/>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2.17 求</a:t>
            </a:r>
            <a:endParaRPr lang="en-US" altLang="zh-CN" b="0" dirty="0">
              <a:latin typeface="Times New Roman" panose="02020603050405020304" pitchFamily="18" charset="0"/>
              <a:ea typeface="微软雅黑" panose="020B0503020204020204" pitchFamily="34" charset="-122"/>
              <a:cs typeface="+mn-cs"/>
            </a:endParaRPr>
          </a:p>
          <a:p>
            <a:pPr lvl="1">
              <a:lnSpc>
                <a:spcPts val="2700"/>
              </a:lnSpc>
              <a:buFont typeface="Wingdings" panose="05000000000000000000" pitchFamily="2" charset="2"/>
              <a:buNone/>
            </a:pPr>
            <a:r>
              <a:rPr lang="en-US" altLang="zh-CN" dirty="0">
                <a:solidFill>
                  <a:srgbClr val="992317"/>
                </a:solidFill>
                <a:latin typeface="Times New Roman" panose="02020603050405020304" pitchFamily="18" charset="0"/>
                <a:ea typeface="微软雅黑" panose="020B0503020204020204" pitchFamily="34" charset="-122"/>
              </a:rPr>
              <a:t>begin </a:t>
            </a:r>
            <a:r>
              <a:rPr lang="en-US" altLang="zh-CN" dirty="0">
                <a:solidFill>
                  <a:srgbClr val="C00000"/>
                </a:solidFill>
                <a:latin typeface="Times New Roman" panose="02020603050405020304" pitchFamily="18" charset="0"/>
                <a:ea typeface="微软雅黑" panose="020B0503020204020204" pitchFamily="34" charset="-122"/>
              </a:rPr>
              <a:t>  </a:t>
            </a:r>
            <a:r>
              <a:rPr lang="en-US" altLang="zh-CN" b="0" dirty="0">
                <a:latin typeface="Times New Roman" panose="02020603050405020304" pitchFamily="18" charset="0"/>
                <a:ea typeface="微软雅黑" panose="020B0503020204020204" pitchFamily="34" charset="-122"/>
              </a:rPr>
              <a:t>    </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1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sum</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2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deno</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1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b="0" dirty="0">
                <a:latin typeface="Times New Roman" panose="02020603050405020304" pitchFamily="18" charset="0"/>
                <a:ea typeface="微软雅黑" panose="020B0503020204020204" pitchFamily="34" charset="-122"/>
              </a:rPr>
              <a:t>sign</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while deno ≤ 100</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      (-1)*sign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latin typeface="Times New Roman" panose="02020603050405020304" pitchFamily="18" charset="0"/>
                <a:ea typeface="微软雅黑" panose="020B0503020204020204" pitchFamily="34" charset="-122"/>
              </a:rPr>
              <a:t> sign</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sign*1/deno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latin typeface="Times New Roman" panose="02020603050405020304" pitchFamily="18" charset="0"/>
                <a:ea typeface="微软雅黑" panose="020B0503020204020204" pitchFamily="34" charset="-122"/>
              </a:rPr>
              <a:t> term</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sum+term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latin typeface="Times New Roman" panose="02020603050405020304" pitchFamily="18" charset="0"/>
                <a:ea typeface="微软雅黑" panose="020B0503020204020204" pitchFamily="34" charset="-122"/>
              </a:rPr>
              <a:t> sum</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deno+1 </a:t>
            </a:r>
            <a:r>
              <a:rPr lang="en-US" altLang="zh-CN"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b="0" dirty="0">
                <a:latin typeface="Times New Roman" panose="02020603050405020304" pitchFamily="18" charset="0"/>
                <a:ea typeface="微软雅黑" panose="020B0503020204020204" pitchFamily="34" charset="-122"/>
              </a:rPr>
              <a:t> deno</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rPr>
              <a:t>    print sum</a:t>
            </a:r>
            <a:endParaRPr lang="en-US" altLang="zh-CN" b="0" dirty="0">
              <a:latin typeface="Times New Roman" panose="02020603050405020304" pitchFamily="18" charset="0"/>
              <a:ea typeface="微软雅黑" panose="020B0503020204020204" pitchFamily="34" charset="-122"/>
            </a:endParaRPr>
          </a:p>
          <a:p>
            <a:pPr lvl="1">
              <a:lnSpc>
                <a:spcPts val="2700"/>
              </a:lnSpc>
              <a:buFont typeface="Wingdings" panose="05000000000000000000" pitchFamily="2" charset="2"/>
              <a:buNone/>
            </a:pPr>
            <a:r>
              <a:rPr lang="en-US" altLang="zh-CN" dirty="0">
                <a:solidFill>
                  <a:srgbClr val="992317"/>
                </a:solidFill>
                <a:latin typeface="Times New Roman" panose="02020603050405020304" pitchFamily="18" charset="0"/>
                <a:ea typeface="微软雅黑" panose="020B0503020204020204" pitchFamily="34" charset="-122"/>
              </a:rPr>
              <a:t>end</a:t>
            </a:r>
            <a:endParaRPr lang="en-US" altLang="en-US" dirty="0">
              <a:solidFill>
                <a:srgbClr val="992317"/>
              </a:solidFill>
              <a:latin typeface="Times New Roman" panose="02020603050405020304" pitchFamily="18" charset="0"/>
              <a:ea typeface="微软雅黑" panose="020B0503020204020204" pitchFamily="34" charset="-122"/>
            </a:endParaRPr>
          </a:p>
        </p:txBody>
      </p:sp>
      <p:graphicFrame>
        <p:nvGraphicFramePr>
          <p:cNvPr id="63491" name="Object 1"/>
          <p:cNvGraphicFramePr>
            <a:graphicFrameLocks noChangeAspect="1"/>
          </p:cNvGraphicFramePr>
          <p:nvPr/>
        </p:nvGraphicFramePr>
        <p:xfrm>
          <a:off x="2495550" y="701675"/>
          <a:ext cx="4152900" cy="1071563"/>
        </p:xfrm>
        <a:graphic>
          <a:graphicData uri="http://schemas.openxmlformats.org/presentationml/2006/ole">
            <mc:AlternateContent xmlns:mc="http://schemas.openxmlformats.org/markup-compatibility/2006">
              <mc:Choice xmlns:v="urn:schemas-microsoft-com:vml" Requires="v">
                <p:oleObj spid="_x0000_s13315" name="" r:id="rId1" imgW="1790700" imgH="393700" progId="Equation.3">
                  <p:embed/>
                </p:oleObj>
              </mc:Choice>
              <mc:Fallback>
                <p:oleObj name="" r:id="rId1" imgW="1790700" imgH="393700" progId="Equation.3">
                  <p:embed/>
                  <p:pic>
                    <p:nvPicPr>
                      <p:cNvPr id="0" name="图片 3076"/>
                      <p:cNvPicPr/>
                      <p:nvPr/>
                    </p:nvPicPr>
                    <p:blipFill>
                      <a:blip r:embed="rId2"/>
                      <a:stretch>
                        <a:fillRect/>
                      </a:stretch>
                    </p:blipFill>
                    <p:spPr>
                      <a:xfrm>
                        <a:off x="2495550" y="701675"/>
                        <a:ext cx="4152900" cy="1071563"/>
                      </a:xfrm>
                      <a:prstGeom prst="rect">
                        <a:avLst/>
                      </a:prstGeom>
                      <a:noFill/>
                      <a:ln w="38100">
                        <a:noFill/>
                        <a:miter/>
                      </a:ln>
                    </p:spPr>
                  </p:pic>
                </p:oleObj>
              </mc:Fallback>
            </mc:AlternateContent>
          </a:graphicData>
        </a:graphic>
      </p:graphicFrame>
      <p:pic>
        <p:nvPicPr>
          <p:cNvPr id="63492" name="图片 4" descr="Untitled2.png">
            <a:hlinkClick r:id="rId3" action="ppaction://hlinksldjump"/>
          </p:cNvPr>
          <p:cNvPicPr>
            <a:picLocks noChangeAspect="1"/>
          </p:cNvPicPr>
          <p:nvPr/>
        </p:nvPicPr>
        <p:blipFill>
          <a:blip r:embed="rId4"/>
          <a:stretch>
            <a:fillRect/>
          </a:stretch>
        </p:blipFill>
        <p:spPr>
          <a:xfrm>
            <a:off x="8429625" y="6143625"/>
            <a:ext cx="469900" cy="4699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blinds(horizontal)">
                                      <p:cBhvr>
                                        <p:cTn id="26" dur="500"/>
                                        <p:tgtEl>
                                          <p:spTgt spid="3">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blinds(horizontal)">
                                      <p:cBhvr>
                                        <p:cTn id="32" dur="500"/>
                                        <p:tgtEl>
                                          <p:spTgt spid="3">
                                            <p:txEl>
                                              <p:pRg st="8" end="8"/>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blinds(horizontal)">
                                      <p:cBhvr>
                                        <p:cTn id="35" dur="500"/>
                                        <p:tgtEl>
                                          <p:spTgt spid="3">
                                            <p:txEl>
                                              <p:pRg st="9" end="9"/>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blinds(horizontal)">
                                      <p:cBhvr>
                                        <p:cTn id="38" dur="500"/>
                                        <p:tgtEl>
                                          <p:spTgt spid="3">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blinds(horizontal)">
                                      <p:cBhvr>
                                        <p:cTn id="43" dur="500"/>
                                        <p:tgtEl>
                                          <p:spTgt spid="3">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blinds(horizontal)">
                                      <p:cBhvr>
                                        <p:cTn id="4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261938" y="565150"/>
            <a:ext cx="6016625"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2.4.6 </a:t>
            </a:r>
            <a:r>
              <a:rPr lang="zh-CN" altLang="zh-CN" sz="3600" dirty="0">
                <a:solidFill>
                  <a:srgbClr val="235A67"/>
                </a:solidFill>
                <a:latin typeface="Times New Roman" panose="02020603050405020304" pitchFamily="18" charset="0"/>
                <a:ea typeface="黑体" panose="02010609060101010101" pitchFamily="49" charset="-122"/>
              </a:rPr>
              <a:t>用计算机语言表示算法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5539" name="Rectangle 3"/>
          <p:cNvSpPr>
            <a:spLocks noGrp="1"/>
          </p:cNvSpPr>
          <p:nvPr>
            <p:ph idx="1"/>
          </p:nvPr>
        </p:nvSpPr>
        <p:spPr>
          <a:xfrm>
            <a:off x="428625" y="1249363"/>
            <a:ext cx="8001000" cy="4359275"/>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要完成一项工作，包括</a:t>
            </a:r>
            <a:r>
              <a:rPr lang="en-US" altLang="zh-CN" b="0" dirty="0">
                <a:solidFill>
                  <a:srgbClr val="992317"/>
                </a:solidFill>
                <a:latin typeface="Times New Roman" panose="02020603050405020304" pitchFamily="18" charset="0"/>
                <a:ea typeface="微软雅黑" panose="020B0503020204020204" pitchFamily="34" charset="-122"/>
                <a:cs typeface="+mn-cs"/>
              </a:rPr>
              <a:t>设计算法</a:t>
            </a:r>
            <a:r>
              <a:rPr lang="en-US" altLang="zh-CN" b="0" dirty="0">
                <a:latin typeface="Times New Roman" panose="02020603050405020304" pitchFamily="18" charset="0"/>
                <a:ea typeface="微软雅黑" panose="020B0503020204020204" pitchFamily="34" charset="-122"/>
                <a:cs typeface="+mn-cs"/>
              </a:rPr>
              <a:t>和</a:t>
            </a:r>
            <a:r>
              <a:rPr lang="en-US" altLang="zh-CN" b="0" dirty="0">
                <a:solidFill>
                  <a:srgbClr val="992317"/>
                </a:solidFill>
                <a:latin typeface="Times New Roman" panose="02020603050405020304" pitchFamily="18" charset="0"/>
                <a:ea typeface="微软雅黑" panose="020B0503020204020204" pitchFamily="34" charset="-122"/>
                <a:cs typeface="+mn-cs"/>
              </a:rPr>
              <a:t>实现算法</a:t>
            </a:r>
            <a:r>
              <a:rPr lang="en-US" altLang="zh-CN" b="0" dirty="0">
                <a:latin typeface="Times New Roman" panose="02020603050405020304" pitchFamily="18" charset="0"/>
                <a:ea typeface="微软雅黑" panose="020B0503020204020204" pitchFamily="34" charset="-122"/>
                <a:cs typeface="+mn-cs"/>
              </a:rPr>
              <a:t>两个部分。</a:t>
            </a:r>
            <a:endParaRPr lang="en-US" altLang="zh-CN" b="0" dirty="0">
              <a:latin typeface="Times New Roman" panose="02020603050405020304" pitchFamily="18" charset="0"/>
              <a:ea typeface="微软雅黑" panose="020B0503020204020204" pitchFamily="34" charset="-122"/>
              <a:cs typeface="+mn-cs"/>
            </a:endParaRPr>
          </a:p>
          <a:p>
            <a:r>
              <a:rPr lang="en-US" altLang="zh-CN" b="0" dirty="0">
                <a:latin typeface="Times New Roman" panose="02020603050405020304" pitchFamily="18" charset="0"/>
                <a:ea typeface="微软雅黑" panose="020B0503020204020204" pitchFamily="34" charset="-122"/>
                <a:cs typeface="+mn-cs"/>
              </a:rPr>
              <a:t>设计算法的目的是为了实现算法。</a:t>
            </a:r>
            <a:endParaRPr lang="en-US" altLang="zh-CN" b="0" dirty="0">
              <a:latin typeface="Times New Roman" panose="02020603050405020304" pitchFamily="18" charset="0"/>
              <a:ea typeface="微软雅黑" panose="020B0503020204020204" pitchFamily="34" charset="-122"/>
              <a:cs typeface="+mn-cs"/>
            </a:endParaRPr>
          </a:p>
          <a:p>
            <a:r>
              <a:rPr lang="en-US" altLang="zh-CN" b="0" dirty="0">
                <a:latin typeface="Times New Roman" panose="02020603050405020304" pitchFamily="18" charset="0"/>
                <a:ea typeface="微软雅黑" panose="020B0503020204020204" pitchFamily="34" charset="-122"/>
                <a:cs typeface="+mn-cs"/>
              </a:rPr>
              <a:t>不仅要考虑如何设计一个算法，也要考虑如何实现一个算法。</a:t>
            </a:r>
            <a:endParaRPr lang="en-US" altLang="en-US" b="0" dirty="0">
              <a:latin typeface="Times New Roman" panose="02020603050405020304" pitchFamily="18" charset="0"/>
              <a:ea typeface="微软雅黑" panose="020B0503020204020204" pitchFamily="34" charset="-122"/>
              <a:cs typeface="+mn-cs"/>
            </a:endParaRPr>
          </a:p>
        </p:txBody>
      </p:sp>
      <p:pic>
        <p:nvPicPr>
          <p:cNvPr id="64516"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7" dur="500"/>
                                        <p:tgtEl>
                                          <p:spTgt spid="655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10"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p:cNvSpPr>
            <a:spLocks noGrp="1"/>
          </p:cNvSpPr>
          <p:nvPr>
            <p:ph idx="1"/>
          </p:nvPr>
        </p:nvSpPr>
        <p:spPr>
          <a:xfrm>
            <a:off x="211138" y="563563"/>
            <a:ext cx="8688387" cy="704850"/>
          </a:xfrm>
        </p:spPr>
        <p:txBody>
          <a:bodyPr vert="horz" wrap="square" lIns="91440" tIns="45720" rIns="91440" bIns="45720" anchor="t" anchorCtr="0"/>
          <a:lstStyle/>
          <a:p>
            <a:pPr>
              <a:spcBef>
                <a:spcPct val="0"/>
              </a:spcBef>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例 2.18   将例2.16表示的算法（求5!）, 用C语言表示。</a:t>
            </a:r>
            <a:endParaRPr lang="en-US" altLang="en-US" sz="2800" b="0" dirty="0">
              <a:latin typeface="Times New Roman" panose="02020603050405020304" pitchFamily="18" charset="0"/>
              <a:ea typeface="微软雅黑" panose="020B0503020204020204" pitchFamily="34" charset="-122"/>
              <a:cs typeface="+mn-cs"/>
            </a:endParaRPr>
          </a:p>
        </p:txBody>
      </p:sp>
      <p:pic>
        <p:nvPicPr>
          <p:cNvPr id="65539"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
        <p:nvSpPr>
          <p:cNvPr id="4" name="内容占位符 2"/>
          <p:cNvSpPr txBox="1">
            <a:spLocks noChangeArrowheads="1"/>
          </p:cNvSpPr>
          <p:nvPr/>
        </p:nvSpPr>
        <p:spPr bwMode="auto">
          <a:xfrm>
            <a:off x="611188" y="1268413"/>
            <a:ext cx="6500813"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lnSpc>
                <a:spcPct val="120000"/>
              </a:lnSpc>
              <a:spcBef>
                <a:spcPct val="20000"/>
              </a:spcBef>
              <a:spcAft>
                <a:spcPct val="0"/>
              </a:spcAft>
              <a:buClrTx/>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Tx/>
              <a:buFont typeface="Wingdings" panose="05000000000000000000" pitchFamily="2" charset="2"/>
              <a:buChar char="u"/>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Tx/>
              <a:buFont typeface="Wingdings" panose="05000000000000000000" pitchFamily="2" charset="2"/>
              <a:buChar char="l"/>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3300"/>
              </a:buClr>
              <a:buFont typeface="Wingdings" panose="05000000000000000000" pitchFamily="2" charset="2"/>
              <a:buChar char="µ"/>
              <a:defRPr sz="2000" b="1">
                <a:solidFill>
                  <a:schemeClr val="tx1"/>
                </a:solidFill>
                <a:latin typeface="+mn-lt"/>
                <a:ea typeface="+mn-ea"/>
              </a:defRPr>
            </a:lvl5pPr>
            <a:lvl6pPr marL="25146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6pPr>
            <a:lvl7pPr marL="29718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7pPr>
            <a:lvl8pPr marL="34290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8pPr>
            <a:lvl9pPr marL="3886200" indent="-228600" algn="l" rtl="0" fontAlgn="base">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mn-lt"/>
                <a:ea typeface="+mn-ea"/>
              </a:defRPr>
            </a:lvl9pPr>
          </a:lstStyle>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&lt;stdio.h&gt;</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main( )</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i , t;</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 = 1;</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 = 2;</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 i&lt;= 5 )</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t = t * i ;</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 = i + 1;</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tabLst>
                <a:tab pos="4308475" algn="l"/>
              </a:tabLst>
              <a:defRPr/>
            </a:pPr>
            <a:r>
              <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printf("%d\n",t);</a:t>
            </a:r>
            <a:endParaRPr kumimoji="1" lang="en-US" altLang="zh-CN" sz="2800" b="0" i="0" u="none" strike="noStrike" kern="0" cap="none" spc="0" normalizeH="0" baseline="0" noProof="1">
              <a:ln>
                <a:noFill/>
              </a:ln>
              <a:solidFill>
                <a:srgbClr val="992317"/>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0;</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0" fontAlgn="base" latinLnBrk="0" hangingPunct="0">
              <a:lnSpc>
                <a:spcPts val="2800"/>
              </a:lnSpc>
              <a:spcBef>
                <a:spcPct val="20000"/>
              </a:spcBef>
              <a:spcAft>
                <a:spcPct val="0"/>
              </a:spcAft>
              <a:buClrTx/>
              <a:buSzTx/>
              <a:buFont typeface="Wingdings" panose="05000000000000000000" pitchFamily="2" charset="2"/>
              <a:buNone/>
              <a:defRPr/>
            </a:pPr>
            <a:endParaRPr kumimoji="1" lang="en-US" altLang="en-US" sz="2800" b="1" i="0" u="none" strike="noStrike" kern="0" cap="none" spc="0" normalizeH="0" baseline="0" noProof="1">
              <a:ln>
                <a:noFill/>
              </a:ln>
              <a:solidFill>
                <a:schemeClr val="tx1"/>
              </a:solidFill>
              <a:effectLst/>
              <a:uLnTx/>
              <a:uFillTx/>
              <a:latin typeface="+mn-lt"/>
              <a:ea typeface="+mn-ea"/>
              <a:cs typeface="+mn-cs"/>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1"/>
          </p:nvPr>
        </p:nvSpPr>
        <p:spPr>
          <a:xfrm>
            <a:off x="323850" y="692150"/>
            <a:ext cx="8640763" cy="1441450"/>
          </a:xfrm>
        </p:spPr>
        <p:txBody>
          <a:bodyPr vert="horz" wrap="square" lIns="91440" tIns="45720" rIns="91440" bIns="45720" anchor="t" anchorCtr="0"/>
          <a:lstStyle/>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例 2.19  将例 2.17表示的算法（求多项式的值） </a:t>
            </a:r>
            <a:endParaRPr lang="en-US" altLang="zh-CN" b="0" dirty="0">
              <a:latin typeface="Times New Roman" panose="02020603050405020304" pitchFamily="18" charset="0"/>
              <a:ea typeface="微软雅黑" panose="020B0503020204020204" pitchFamily="34" charset="-122"/>
              <a:cs typeface="+mn-cs"/>
            </a:endParaRPr>
          </a:p>
          <a:p>
            <a:pPr>
              <a:buFont typeface="Wingdings" panose="05000000000000000000" pitchFamily="2" charset="2"/>
              <a:buNone/>
            </a:pPr>
            <a:r>
              <a:rPr lang="en-US" altLang="zh-CN" b="0" dirty="0">
                <a:latin typeface="Times New Roman" panose="02020603050405020304" pitchFamily="18" charset="0"/>
                <a:ea typeface="微软雅黑" panose="020B0503020204020204" pitchFamily="34" charset="-122"/>
                <a:cs typeface="+mn-cs"/>
              </a:rPr>
              <a:t>              用C语言表示。</a:t>
            </a:r>
            <a:endParaRPr lang="en-US" altLang="en-US" b="0" dirty="0">
              <a:latin typeface="Times New Roman" panose="02020603050405020304" pitchFamily="18" charset="0"/>
              <a:ea typeface="微软雅黑" panose="020B0503020204020204" pitchFamily="34" charset="-122"/>
              <a:cs typeface="+mn-cs"/>
            </a:endParaRPr>
          </a:p>
        </p:txBody>
      </p:sp>
      <p:graphicFrame>
        <p:nvGraphicFramePr>
          <p:cNvPr id="66563" name="Object 1"/>
          <p:cNvGraphicFramePr>
            <a:graphicFrameLocks noChangeAspect="1"/>
          </p:cNvGraphicFramePr>
          <p:nvPr/>
        </p:nvGraphicFramePr>
        <p:xfrm>
          <a:off x="1835150" y="2133600"/>
          <a:ext cx="4393034" cy="1071563"/>
        </p:xfrm>
        <a:graphic>
          <a:graphicData uri="http://schemas.openxmlformats.org/presentationml/2006/ole">
            <mc:AlternateContent xmlns:mc="http://schemas.openxmlformats.org/markup-compatibility/2006">
              <mc:Choice xmlns:v="urn:schemas-microsoft-com:vml" Requires="v">
                <p:oleObj spid="_x0000_s14339" name="" r:id="rId1" imgW="1790700" imgH="393700" progId="Equation.3">
                  <p:embed/>
                </p:oleObj>
              </mc:Choice>
              <mc:Fallback>
                <p:oleObj name="" r:id="rId1" imgW="1790700" imgH="393700" progId="Equation.3">
                  <p:embed/>
                  <p:pic>
                    <p:nvPicPr>
                      <p:cNvPr id="0" name="图片 3077"/>
                      <p:cNvPicPr/>
                      <p:nvPr/>
                    </p:nvPicPr>
                    <p:blipFill>
                      <a:blip r:embed="rId2"/>
                      <a:stretch>
                        <a:fillRect/>
                      </a:stretch>
                    </p:blipFill>
                    <p:spPr>
                      <a:xfrm>
                        <a:off x="1835150" y="2133600"/>
                        <a:ext cx="4393034" cy="1071563"/>
                      </a:xfrm>
                      <a:prstGeom prst="rect">
                        <a:avLst/>
                      </a:prstGeom>
                      <a:noFill/>
                      <a:ln w="38100">
                        <a:noFill/>
                        <a:miter/>
                      </a:ln>
                    </p:spPr>
                  </p:pic>
                </p:oleObj>
              </mc:Fallback>
            </mc:AlternateContent>
          </a:graphicData>
        </a:graphic>
      </p:graphicFrame>
      <p:pic>
        <p:nvPicPr>
          <p:cNvPr id="66564" name="图片 4" descr="Untitled2.png">
            <a:hlinkClick r:id="rId3" action="ppaction://hlinksldjump"/>
          </p:cNvPr>
          <p:cNvPicPr>
            <a:picLocks noChangeAspect="1"/>
          </p:cNvPicPr>
          <p:nvPr/>
        </p:nvPicPr>
        <p:blipFill>
          <a:blip r:embed="rId4"/>
          <a:stretch>
            <a:fillRect/>
          </a:stretch>
        </p:blipFill>
        <p:spPr>
          <a:xfrm>
            <a:off x="8213725" y="5207000"/>
            <a:ext cx="469900" cy="469900"/>
          </a:xfrm>
          <a:prstGeom prst="rect">
            <a:avLst/>
          </a:prstGeom>
          <a:noFill/>
          <a:ln w="9525">
            <a:noFill/>
          </a:ln>
        </p:spPr>
      </p:pic>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2"/>
          <p:cNvSpPr>
            <a:spLocks noGrp="1"/>
          </p:cNvSpPr>
          <p:nvPr>
            <p:ph idx="1"/>
          </p:nvPr>
        </p:nvSpPr>
        <p:spPr>
          <a:xfrm>
            <a:off x="498475" y="720725"/>
            <a:ext cx="8143875" cy="5857875"/>
          </a:xfrm>
        </p:spPr>
        <p:txBody>
          <a:bodyPr vert="horz" wrap="square" lIns="91440" tIns="45720" rIns="91440" bIns="45720" anchor="t" anchorCtr="0"/>
          <a:lstStyle/>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#include &lt;stdio.h&gt;</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int main( )</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     int sign=1 ;</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       double deno = 2.0, sum = 1.0,  term ;  </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while ( deno &lt;= 100 )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      sign = -sign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term = sign/deno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sum = sum+term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deno = deno+1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solidFill>
                  <a:srgbClr val="992317"/>
                </a:solidFill>
                <a:latin typeface="Times New Roman" panose="02020603050405020304" pitchFamily="18" charset="0"/>
                <a:ea typeface="微软雅黑" panose="020B0503020204020204" pitchFamily="34" charset="-122"/>
                <a:cs typeface="+mn-cs"/>
              </a:rPr>
              <a:t>       printf ("%f\n",sum);</a:t>
            </a:r>
            <a:endParaRPr lang="en-US" altLang="zh-CN" sz="2800" b="0" dirty="0">
              <a:solidFill>
                <a:srgbClr val="992317"/>
              </a:solidFill>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       return 0;</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r>
              <a:rPr lang="en-US" altLang="zh-CN" sz="2800" b="0" dirty="0">
                <a:latin typeface="Times New Roman" panose="02020603050405020304" pitchFamily="18" charset="0"/>
                <a:ea typeface="微软雅黑" panose="020B0503020204020204" pitchFamily="34" charset="-122"/>
                <a:cs typeface="+mn-cs"/>
              </a:rPr>
              <a:t>}</a:t>
            </a:r>
            <a:endParaRPr lang="en-US" altLang="zh-CN" sz="2800" b="0" dirty="0">
              <a:latin typeface="Times New Roman" panose="02020603050405020304" pitchFamily="18" charset="0"/>
              <a:ea typeface="微软雅黑" panose="020B0503020204020204" pitchFamily="34" charset="-122"/>
              <a:cs typeface="+mn-cs"/>
            </a:endParaRPr>
          </a:p>
          <a:p>
            <a:pPr>
              <a:lnSpc>
                <a:spcPts val="2700"/>
              </a:lnSpc>
              <a:buFont typeface="Wingdings" panose="05000000000000000000" pitchFamily="2" charset="2"/>
              <a:buNone/>
            </a:pPr>
            <a:endParaRPr lang="en-US" altLang="en-US" sz="2800" b="0" dirty="0">
              <a:latin typeface="Times New Roman" panose="02020603050405020304" pitchFamily="18" charset="0"/>
              <a:ea typeface="微软雅黑" panose="020B0503020204020204" pitchFamily="34" charset="-122"/>
              <a:cs typeface="+mn-cs"/>
            </a:endParaRPr>
          </a:p>
        </p:txBody>
      </p:sp>
      <p:pic>
        <p:nvPicPr>
          <p:cNvPr id="67587" name="图片 4" descr="Untitled2.png">
            <a:hlinkClick r:id="rId1" action="ppaction://hlinksldjump"/>
          </p:cNvPr>
          <p:cNvPicPr>
            <a:picLocks noChangeAspect="1"/>
          </p:cNvPicPr>
          <p:nvPr/>
        </p:nvPicPr>
        <p:blipFill>
          <a:blip r:embed="rId2"/>
          <a:stretch>
            <a:fillRect/>
          </a:stretch>
        </p:blipFill>
        <p:spPr>
          <a:xfrm>
            <a:off x="8429625" y="6143625"/>
            <a:ext cx="469900" cy="469900"/>
          </a:xfrm>
          <a:prstGeom prst="rect">
            <a:avLst/>
          </a:prstGeom>
          <a:noFill/>
          <a:ln w="9525">
            <a:noFill/>
          </a:ln>
        </p:spPr>
      </p:pic>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276225" y="565150"/>
            <a:ext cx="5438775"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2.5 </a:t>
            </a:r>
            <a:r>
              <a:rPr lang="zh-CN" altLang="zh-CN" sz="3600" dirty="0">
                <a:solidFill>
                  <a:srgbClr val="235A67"/>
                </a:solidFill>
                <a:latin typeface="Times New Roman" panose="02020603050405020304" pitchFamily="18" charset="0"/>
                <a:ea typeface="黑体" panose="02010609060101010101" pitchFamily="49" charset="-122"/>
              </a:rPr>
              <a:t>结构化程序设计方法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9635" name="Rectangle 3"/>
          <p:cNvSpPr>
            <a:spLocks noGrp="1"/>
          </p:cNvSpPr>
          <p:nvPr>
            <p:ph idx="1"/>
          </p:nvPr>
        </p:nvSpPr>
        <p:spPr>
          <a:xfrm>
            <a:off x="468313" y="1249363"/>
            <a:ext cx="8175625" cy="3908425"/>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结构化程序设计强调程序设计风格和程序结构的规范化，提倡清晰的结构</a:t>
            </a:r>
            <a:r>
              <a:rPr lang="en-US" altLang="en-US" b="0" dirty="0">
                <a:latin typeface="Times New Roman" panose="02020603050405020304" pitchFamily="18" charset="0"/>
                <a:ea typeface="微软雅黑" panose="020B0503020204020204" pitchFamily="34" charset="-122"/>
                <a:cs typeface="+mn-cs"/>
              </a:rPr>
              <a:t>。</a:t>
            </a:r>
            <a:endParaRPr lang="en-US" altLang="zh-CN" b="0" dirty="0">
              <a:latin typeface="Times New Roman" panose="02020603050405020304" pitchFamily="18" charset="0"/>
              <a:ea typeface="微软雅黑" panose="020B0503020204020204" pitchFamily="34" charset="-122"/>
              <a:cs typeface="+mn-cs"/>
            </a:endParaRPr>
          </a:p>
          <a:p>
            <a:r>
              <a:rPr lang="en-US" altLang="zh-CN" b="0" dirty="0">
                <a:latin typeface="Times New Roman" panose="02020603050405020304" pitchFamily="18" charset="0"/>
                <a:ea typeface="微软雅黑" panose="020B0503020204020204" pitchFamily="34" charset="-122"/>
                <a:cs typeface="+mn-cs"/>
              </a:rPr>
              <a:t>结构化程序设计方法的</a:t>
            </a:r>
            <a:r>
              <a:rPr lang="en-US" altLang="zh-CN" b="0" dirty="0">
                <a:solidFill>
                  <a:srgbClr val="992317"/>
                </a:solidFill>
                <a:latin typeface="Times New Roman" panose="02020603050405020304" pitchFamily="18" charset="0"/>
                <a:ea typeface="微软雅黑" panose="020B0503020204020204" pitchFamily="34" charset="-122"/>
                <a:cs typeface="+mn-cs"/>
              </a:rPr>
              <a:t>基本思路</a:t>
            </a:r>
            <a:r>
              <a:rPr lang="en-US" altLang="zh-CN" b="0" dirty="0">
                <a:latin typeface="Times New Roman" panose="02020603050405020304" pitchFamily="18" charset="0"/>
                <a:ea typeface="微软雅黑" panose="020B0503020204020204" pitchFamily="34" charset="-122"/>
                <a:cs typeface="+mn-cs"/>
              </a:rPr>
              <a:t>是：把一个复杂问题的求解过程分阶段进行，每个阶段处理的问题都控制在人们容易理解和处理的范围内。</a:t>
            </a:r>
            <a:endParaRPr lang="en-US" altLang="en-US" b="0" dirty="0">
              <a:latin typeface="Times New Roman" panose="02020603050405020304" pitchFamily="18" charset="0"/>
              <a:ea typeface="微软雅黑" panose="020B0503020204020204" pitchFamily="34" charset="-122"/>
              <a:cs typeface="+mn-cs"/>
            </a:endParaRPr>
          </a:p>
        </p:txBody>
      </p:sp>
      <p:pic>
        <p:nvPicPr>
          <p:cNvPr id="68612"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blinds(horizontal)">
                                      <p:cBhvr>
                                        <p:cTn id="7" dur="500"/>
                                        <p:tgtEl>
                                          <p:spTgt spid="696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257175" y="561975"/>
            <a:ext cx="5222875" cy="646113"/>
          </a:xfrm>
        </p:spPr>
        <p:txBody>
          <a:bodyPr vert="horz" wrap="square" lIns="91440" tIns="45720" rIns="91440" bIns="45720" anchor="b" anchorCtr="0">
            <a:spAutoFit/>
          </a:bodyPr>
          <a:lstStyle/>
          <a:p>
            <a:pPr algn="l" eaLnBrk="1" hangingPunct="1">
              <a:buNone/>
            </a:pPr>
            <a:r>
              <a:rPr lang="en-US" altLang="zh-CN" sz="3600" dirty="0">
                <a:solidFill>
                  <a:srgbClr val="235A67"/>
                </a:solidFill>
                <a:latin typeface="Times New Roman" panose="02020603050405020304" pitchFamily="18" charset="0"/>
                <a:ea typeface="黑体" panose="02010609060101010101" pitchFamily="49" charset="-122"/>
              </a:rPr>
              <a:t>2.5 </a:t>
            </a:r>
            <a:r>
              <a:rPr lang="zh-CN" altLang="zh-CN" sz="3600" dirty="0">
                <a:solidFill>
                  <a:srgbClr val="235A67"/>
                </a:solidFill>
                <a:latin typeface="Times New Roman" panose="02020603050405020304" pitchFamily="18" charset="0"/>
                <a:ea typeface="黑体" panose="02010609060101010101" pitchFamily="49" charset="-122"/>
              </a:rPr>
              <a:t>结构化程序设计方法</a:t>
            </a:r>
            <a:endParaRPr lang="zh-CN" altLang="en-US" sz="3600" dirty="0">
              <a:solidFill>
                <a:srgbClr val="235A67"/>
              </a:solidFill>
              <a:latin typeface="Times New Roman" panose="02020603050405020304" pitchFamily="18" charset="0"/>
              <a:ea typeface="黑体" panose="02010609060101010101" pitchFamily="49" charset="-122"/>
            </a:endParaRPr>
          </a:p>
        </p:txBody>
      </p:sp>
      <p:sp>
        <p:nvSpPr>
          <p:cNvPr id="69635" name="Rectangle 3"/>
          <p:cNvSpPr>
            <a:spLocks noGrp="1"/>
          </p:cNvSpPr>
          <p:nvPr>
            <p:ph idx="1"/>
          </p:nvPr>
        </p:nvSpPr>
        <p:spPr>
          <a:xfrm>
            <a:off x="531813" y="1303338"/>
            <a:ext cx="7496175" cy="3494087"/>
          </a:xfrm>
        </p:spPr>
        <p:txBody>
          <a:bodyPr vert="horz" wrap="square" lIns="91440" tIns="45720" rIns="91440" bIns="45720" anchor="t" anchorCtr="0"/>
          <a:lstStyle/>
          <a:p>
            <a:r>
              <a:rPr lang="en-US" altLang="zh-CN" b="0" dirty="0">
                <a:latin typeface="Times New Roman" panose="02020603050405020304" pitchFamily="18" charset="0"/>
                <a:ea typeface="微软雅黑" panose="020B0503020204020204" pitchFamily="34" charset="-122"/>
                <a:cs typeface="+mn-cs"/>
              </a:rPr>
              <a:t>采取以下方法保证得到结构化的程序：</a:t>
            </a:r>
            <a:endParaRPr lang="en-US" altLang="zh-CN" b="0" dirty="0">
              <a:latin typeface="Times New Roman" panose="02020603050405020304" pitchFamily="18" charset="0"/>
              <a:ea typeface="微软雅黑" panose="020B0503020204020204" pitchFamily="34" charset="-122"/>
              <a:cs typeface="+mn-cs"/>
            </a:endParaRPr>
          </a:p>
          <a:p>
            <a:pPr lvl="1">
              <a:buFont typeface="Wingdings" panose="05000000000000000000" pitchFamily="2" charset="2"/>
              <a:buNone/>
            </a:pPr>
            <a:r>
              <a:rPr lang="en-US" altLang="zh-CN" sz="3200" b="0" dirty="0">
                <a:latin typeface="Times New Roman" panose="02020603050405020304" pitchFamily="18" charset="0"/>
                <a:ea typeface="微软雅黑" panose="020B0503020204020204" pitchFamily="34" charset="-122"/>
              </a:rPr>
              <a:t>（1） </a:t>
            </a:r>
            <a:r>
              <a:rPr lang="en-US" altLang="zh-CN" sz="3200" b="0" dirty="0">
                <a:solidFill>
                  <a:srgbClr val="992317"/>
                </a:solidFill>
                <a:latin typeface="Times New Roman" panose="02020603050405020304" pitchFamily="18" charset="0"/>
                <a:ea typeface="微软雅黑" panose="020B0503020204020204" pitchFamily="34" charset="-122"/>
              </a:rPr>
              <a:t>自顶向下</a:t>
            </a:r>
            <a:r>
              <a:rPr lang="en-US" altLang="zh-CN" sz="3200" b="0" dirty="0">
                <a:latin typeface="Times New Roman" panose="02020603050405020304" pitchFamily="18" charset="0"/>
                <a:ea typeface="微软雅黑" panose="020B0503020204020204" pitchFamily="34" charset="-122"/>
              </a:rPr>
              <a:t>；</a:t>
            </a:r>
            <a:endParaRPr lang="en-US" altLang="zh-CN" sz="32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3200" b="0" dirty="0">
                <a:latin typeface="Times New Roman" panose="02020603050405020304" pitchFamily="18" charset="0"/>
                <a:ea typeface="微软雅黑" panose="020B0503020204020204" pitchFamily="34" charset="-122"/>
              </a:rPr>
              <a:t>（2） </a:t>
            </a:r>
            <a:r>
              <a:rPr lang="en-US" altLang="zh-CN" sz="3200" b="0" dirty="0">
                <a:solidFill>
                  <a:srgbClr val="992317"/>
                </a:solidFill>
                <a:latin typeface="Times New Roman" panose="02020603050405020304" pitchFamily="18" charset="0"/>
                <a:ea typeface="微软雅黑" panose="020B0503020204020204" pitchFamily="34" charset="-122"/>
              </a:rPr>
              <a:t>逐步细化</a:t>
            </a:r>
            <a:r>
              <a:rPr lang="en-US" altLang="zh-CN" sz="3200" b="0" dirty="0">
                <a:latin typeface="Times New Roman" panose="02020603050405020304" pitchFamily="18" charset="0"/>
                <a:ea typeface="微软雅黑" panose="020B0503020204020204" pitchFamily="34" charset="-122"/>
              </a:rPr>
              <a:t>；</a:t>
            </a:r>
            <a:endParaRPr lang="en-US" altLang="zh-CN" sz="32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3200" b="0" dirty="0">
                <a:latin typeface="Times New Roman" panose="02020603050405020304" pitchFamily="18" charset="0"/>
                <a:ea typeface="微软雅黑" panose="020B0503020204020204" pitchFamily="34" charset="-122"/>
              </a:rPr>
              <a:t>（3） </a:t>
            </a:r>
            <a:r>
              <a:rPr lang="en-US" altLang="zh-CN" sz="3200" b="0" dirty="0">
                <a:solidFill>
                  <a:srgbClr val="992317"/>
                </a:solidFill>
                <a:latin typeface="Times New Roman" panose="02020603050405020304" pitchFamily="18" charset="0"/>
                <a:ea typeface="微软雅黑" panose="020B0503020204020204" pitchFamily="34" charset="-122"/>
              </a:rPr>
              <a:t>模块化设计</a:t>
            </a:r>
            <a:r>
              <a:rPr lang="en-US" altLang="zh-CN" sz="3200" b="0" dirty="0">
                <a:latin typeface="Times New Roman" panose="02020603050405020304" pitchFamily="18" charset="0"/>
                <a:ea typeface="微软雅黑" panose="020B0503020204020204" pitchFamily="34" charset="-122"/>
              </a:rPr>
              <a:t>；</a:t>
            </a:r>
            <a:endParaRPr lang="en-US" altLang="zh-CN" sz="3200" b="0" dirty="0">
              <a:latin typeface="Times New Roman" panose="02020603050405020304" pitchFamily="18" charset="0"/>
              <a:ea typeface="微软雅黑" panose="020B0503020204020204" pitchFamily="34" charset="-122"/>
            </a:endParaRPr>
          </a:p>
          <a:p>
            <a:pPr lvl="1">
              <a:buFont typeface="Wingdings" panose="05000000000000000000" pitchFamily="2" charset="2"/>
              <a:buNone/>
            </a:pPr>
            <a:r>
              <a:rPr lang="en-US" altLang="zh-CN" sz="3200" b="0" dirty="0">
                <a:latin typeface="Times New Roman" panose="02020603050405020304" pitchFamily="18" charset="0"/>
                <a:ea typeface="微软雅黑" panose="020B0503020204020204" pitchFamily="34" charset="-122"/>
              </a:rPr>
              <a:t>（4） </a:t>
            </a:r>
            <a:r>
              <a:rPr lang="en-US" altLang="zh-CN" sz="3200" b="0" dirty="0">
                <a:solidFill>
                  <a:srgbClr val="992317"/>
                </a:solidFill>
                <a:latin typeface="Times New Roman" panose="02020603050405020304" pitchFamily="18" charset="0"/>
                <a:ea typeface="微软雅黑" panose="020B0503020204020204" pitchFamily="34" charset="-122"/>
              </a:rPr>
              <a:t>结构化编码</a:t>
            </a:r>
            <a:r>
              <a:rPr lang="en-US" altLang="zh-CN" sz="3200" b="0" dirty="0">
                <a:latin typeface="Times New Roman" panose="02020603050405020304" pitchFamily="18" charset="0"/>
                <a:ea typeface="微软雅黑" panose="020B0503020204020204" pitchFamily="34" charset="-122"/>
              </a:rPr>
              <a:t>。</a:t>
            </a:r>
            <a:endParaRPr lang="en-US" altLang="zh-CN" sz="3200" b="0" dirty="0">
              <a:latin typeface="Times New Roman" panose="02020603050405020304" pitchFamily="18" charset="0"/>
              <a:ea typeface="微软雅黑" panose="020B0503020204020204" pitchFamily="34" charset="-122"/>
            </a:endParaRPr>
          </a:p>
        </p:txBody>
      </p:sp>
      <p:pic>
        <p:nvPicPr>
          <p:cNvPr id="69636" name="图片 4" descr="Untitled.png">
            <a:hlinkClick r:id="rId1" action="ppaction://hlinksldjump"/>
          </p:cNvPr>
          <p:cNvPicPr>
            <a:picLocks noChangeAspect="1"/>
          </p:cNvPicPr>
          <p:nvPr/>
        </p:nvPicPr>
        <p:blipFill>
          <a:blip r:embed="rId2"/>
          <a:stretch>
            <a:fillRect/>
          </a:stretch>
        </p:blipFill>
        <p:spPr>
          <a:xfrm>
            <a:off x="8216900" y="5937250"/>
            <a:ext cx="927100" cy="920750"/>
          </a:xfrm>
          <a:prstGeom prst="rect">
            <a:avLst/>
          </a:prstGeom>
          <a:noFill/>
          <a:ln w="9525">
            <a:noFill/>
          </a:ln>
        </p:spPr>
      </p:pic>
    </p:spTree>
  </p:cSld>
  <p:clrMapOvr>
    <a:masterClrMapping/>
  </p:clrMapOvr>
  <p:transition spd="med">
    <p:blinds/>
  </p:transition>
</p:sld>
</file>

<file path=ppt/tags/tag1.xml><?xml version="1.0" encoding="utf-8"?>
<p:tagLst xmlns:p="http://schemas.openxmlformats.org/presentationml/2006/main">
  <p:tag name="KSO_WM_UNIT_PLACING_PICTURE_USER_VIEWPORT" val="{&quot;height&quot;:2185,&quot;width&quot;:1856}"/>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 name="KSO_WM_UNIT_PLACING_PICTURE_USER_VIEWPORT" val="{&quot;height&quot;:2325.9984251968503,&quot;width&quot;:2295.6}"/>
</p:tagLst>
</file>

<file path=ppt/tags/tag4.xml><?xml version="1.0" encoding="utf-8"?>
<p:tagLst xmlns:p="http://schemas.openxmlformats.org/presentationml/2006/main">
  <p:tag name="COMMONDATA" val="eyJoZGlkIjoiOTZmNzUzYzA3ZTU5ZmM5MjAwMjQ1MzI0ZTA3ODFmMzIifQ=="/>
  <p:tag name="KSO_WPP_MARK_KEY" val="30fa5603-d912-43b3-9281-197edbc28661"/>
</p:tagLst>
</file>

<file path=ppt/theme/theme1.xml><?xml version="1.0" encoding="utf-8"?>
<a:theme xmlns:a="http://schemas.openxmlformats.org/drawingml/2006/main" name="Bold Stripes">
  <a:themeElements>
    <a:clrScheme name="Bold Stripes 9">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000000"/>
      </a:hlink>
      <a:folHlink>
        <a:srgbClr val="969696"/>
      </a:folHlink>
    </a:clrScheme>
    <a:fontScheme name="Bold Stripe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
      <a:clrScheme name="Bold Stripes 5">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6">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7">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DB034B"/>
        </a:folHlink>
      </a:clrScheme>
      <a:clrMap bg1="lt1" tx1="dk1" bg2="lt2" tx2="dk2" accent1="accent1" accent2="accent2" accent3="accent3" accent4="accent4" accent5="accent5" accent6="accent6" hlink="hlink" folHlink="folHlink"/>
    </a:extraClrScheme>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
      <a:clrScheme name="Bold Stripes 5">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6">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FB7373"/>
        </a:folHlink>
      </a:clrScheme>
      <a:clrMap bg1="lt1" tx1="dk1" bg2="lt2" tx2="dk2" accent1="accent1" accent2="accent2" accent3="accent3" accent4="accent4" accent5="accent5" accent6="accent6" hlink="hlink" folHlink="folHlink"/>
    </a:extraClrScheme>
    <a:extraClrScheme>
      <a:clrScheme name="Bold Stripes 7">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993300"/>
        </a:hlink>
        <a:folHlink>
          <a:srgbClr val="DB034B"/>
        </a:folHlink>
      </a:clrScheme>
      <a:clrMap bg1="lt1" tx1="dk1" bg2="lt2" tx2="dk2" accent1="accent1" accent2="accent2" accent3="accent3" accent4="accent4" accent5="accent5" accent6="accent6" hlink="hlink" folHlink="folHlink"/>
    </a:extraClrScheme>
    <a:extraClrScheme>
      <a:clrScheme name="Bold Stripes 8">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000000"/>
        </a:hlink>
        <a:folHlink>
          <a:srgbClr val="777777"/>
        </a:folHlink>
      </a:clrScheme>
      <a:clrMap bg1="lt1" tx1="dk1" bg2="lt2" tx2="dk2" accent1="accent1" accent2="accent2" accent3="accent3" accent4="accent4" accent5="accent5" accent6="accent6" hlink="hlink" folHlink="folHlink"/>
    </a:extraClrScheme>
    <a:extraClrScheme>
      <a:clrScheme name="Bold Stripes 9">
        <a:dk1>
          <a:srgbClr val="000000"/>
        </a:dk1>
        <a:lt1>
          <a:srgbClr val="F36721"/>
        </a:lt1>
        <a:dk2>
          <a:srgbClr val="000000"/>
        </a:dk2>
        <a:lt2>
          <a:srgbClr val="EAEAEA"/>
        </a:lt2>
        <a:accent1>
          <a:srgbClr val="FFFFFF"/>
        </a:accent1>
        <a:accent2>
          <a:srgbClr val="DDDDDD"/>
        </a:accent2>
        <a:accent3>
          <a:srgbClr val="F8B8AB"/>
        </a:accent3>
        <a:accent4>
          <a:srgbClr val="000000"/>
        </a:accent4>
        <a:accent5>
          <a:srgbClr val="FFFFFF"/>
        </a:accent5>
        <a:accent6>
          <a:srgbClr val="C8C8C8"/>
        </a:accent6>
        <a:hlink>
          <a:srgbClr val="000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7093</Words>
  <Application>WPS 演示</Application>
  <PresentationFormat>全屏显示(4:3)</PresentationFormat>
  <Paragraphs>1038</Paragraphs>
  <Slides>65</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12</vt:i4>
      </vt:variant>
      <vt:variant>
        <vt:lpstr>幻灯片标题</vt:lpstr>
      </vt:variant>
      <vt:variant>
        <vt:i4>65</vt:i4>
      </vt:variant>
    </vt:vector>
  </HeadingPairs>
  <TitlesOfParts>
    <vt:vector size="89" baseType="lpstr">
      <vt:lpstr>Arial</vt:lpstr>
      <vt:lpstr>宋体</vt:lpstr>
      <vt:lpstr>Wingdings</vt:lpstr>
      <vt:lpstr>Verdana</vt:lpstr>
      <vt:lpstr>黑体</vt:lpstr>
      <vt:lpstr>华文行楷</vt:lpstr>
      <vt:lpstr>Times New Roman</vt:lpstr>
      <vt:lpstr>微软雅黑</vt:lpstr>
      <vt:lpstr>Symbol</vt:lpstr>
      <vt:lpstr>Arial Unicode MS</vt:lpstr>
      <vt:lpstr>Calibri</vt:lpstr>
      <vt:lpstr>Bold Stripes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第2章 算法---程序的灵魂</vt:lpstr>
      <vt:lpstr>PowerPoint 演示文稿</vt:lpstr>
      <vt:lpstr>PowerPoint 演示文稿</vt:lpstr>
      <vt:lpstr>PowerPoint 演示文稿</vt:lpstr>
      <vt:lpstr>第2章 算法---程序的灵魂</vt:lpstr>
      <vt:lpstr>2.1 什么是算法</vt:lpstr>
      <vt:lpstr>2.1 什么是算法</vt:lpstr>
      <vt:lpstr>2.2 简单的算法举例</vt:lpstr>
      <vt:lpstr>2.2 简单的算法举例</vt:lpstr>
      <vt:lpstr>2.2 简单的算法举例</vt:lpstr>
      <vt:lpstr>2.2 简单的算法举例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算法的特性</vt:lpstr>
      <vt:lpstr>2.3 算法的特性</vt:lpstr>
      <vt:lpstr>2.4 怎样表示一个算法</vt:lpstr>
      <vt:lpstr>2.4 怎样表示一个算法</vt:lpstr>
      <vt:lpstr>2.4.1 用自然语言表示算法</vt:lpstr>
      <vt:lpstr>2.4.2 用流程图表示算法</vt:lpstr>
      <vt:lpstr>2.4.2 用流程图表示算法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2.4.3 三种基本结构和改进的流程图</vt:lpstr>
      <vt:lpstr>2.4.3 三种基本结构和改进的流程图</vt:lpstr>
      <vt:lpstr>2.4.3 三种基本结构和改进的流程图</vt:lpstr>
      <vt:lpstr>2.4.3 三种基本结构和改进的流程图</vt:lpstr>
      <vt:lpstr>2.4.3 三种基本结构和改进的流程图</vt:lpstr>
      <vt:lpstr>PowerPoint 演示文稿</vt:lpstr>
      <vt:lpstr>PowerPoint 演示文稿</vt:lpstr>
      <vt:lpstr>2.4.4 用N-S流程图表示算法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2.4.5 用伪代码表示算法</vt:lpstr>
      <vt:lpstr>PowerPoint 演示文稿</vt:lpstr>
      <vt:lpstr>PowerPoint 演示文稿</vt:lpstr>
      <vt:lpstr>2.4.6 用计算机语言表示算法</vt:lpstr>
      <vt:lpstr>PowerPoint 演示文稿</vt:lpstr>
      <vt:lpstr>PowerPoint 演示文稿</vt:lpstr>
      <vt:lpstr>PowerPoint 演示文稿</vt:lpstr>
      <vt:lpstr>2.5 结构化程序设计方法</vt:lpstr>
      <vt:lpstr>2.5 结构化程序设计方法</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谭浩强</dc:creator>
  <cp:lastModifiedBy>韩旭明</cp:lastModifiedBy>
  <cp:revision>1007</cp:revision>
  <dcterms:created xsi:type="dcterms:W3CDTF">2002-12-29T13:24:00Z</dcterms:created>
  <dcterms:modified xsi:type="dcterms:W3CDTF">2025-10-16T01:31:34Z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D0D59A16820B47DBABE01A7BEBAD60C8_13</vt:lpwstr>
  </property>
  <property fmtid="{D5CDD505-2E9C-101B-9397-08002B2CF9AE}" pid="3" name="KSOProductBuildVer">
    <vt:lpwstr>2052-12.1.0.23125</vt:lpwstr>
  </property>
</Properties>
</file>