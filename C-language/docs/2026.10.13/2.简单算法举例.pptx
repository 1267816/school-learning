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7" r:id="rId3"/>
    <p:sldId id="272" r:id="rId4"/>
    <p:sldId id="264" r:id="rId5"/>
    <p:sldId id="269" r:id="rId6"/>
    <p:sldId id="271" r:id="rId7"/>
    <p:sldId id="268" r:id="rId8"/>
    <p:sldId id="270" r:id="rId9"/>
    <p:sldId id="273" r:id="rId10"/>
    <p:sldId id="274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34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microsoft.com/office/2007/relationships/hdphoto" Target="../media/hdphoto1.wd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6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image" Target="../media/image8.png"/><Relationship Id="rId8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microsoft.com/office/2007/relationships/hdphoto" Target="../media/hdphoto5.wdp"/><Relationship Id="rId3" Type="http://schemas.openxmlformats.org/officeDocument/2006/relationships/image" Target="../media/image12.png"/><Relationship Id="rId7" Type="http://schemas.microsoft.com/office/2007/relationships/hdphoto" Target="../media/hdphoto2.wdp"/><Relationship Id="rId12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microsoft.com/office/2007/relationships/hdphoto" Target="../media/hdphoto4.wdp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GIF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32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142493"/>
            <a:ext cx="4973008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26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27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8"/>
              </p:custDataLst>
            </p:nvPr>
          </p:nvSpPr>
          <p:spPr>
            <a:xfrm>
              <a:off x="5742464" y="1539786"/>
              <a:ext cx="240633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什么是算法</a:t>
              </a:r>
            </a:p>
          </p:txBody>
        </p:sp>
        <p:sp>
          <p:nvSpPr>
            <p:cNvPr id="30" name="梯形 29"/>
            <p:cNvSpPr/>
            <p:nvPr>
              <p:custDataLst>
                <p:tags r:id="rId29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30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29307" y="2193769"/>
            <a:ext cx="4973008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21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22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23"/>
              </p:custDataLst>
            </p:nvPr>
          </p:nvSpPr>
          <p:spPr>
            <a:xfrm>
              <a:off x="5517891" y="1539786"/>
              <a:ext cx="285548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zh-CN" altLang="en-US" sz="3360" b="1" spc="315" dirty="0">
                  <a:solidFill>
                    <a:srgbClr val="FF0000"/>
                  </a:solidFill>
                  <a:latin typeface="+mn-ea"/>
                  <a:sym typeface="+mn-ea"/>
                </a:rPr>
                <a:t>简单算法举例</a:t>
              </a:r>
            </a:p>
          </p:txBody>
        </p:sp>
        <p:sp>
          <p:nvSpPr>
            <p:cNvPr id="37" name="梯形 36"/>
            <p:cNvSpPr/>
            <p:nvPr>
              <p:custDataLst>
                <p:tags r:id="rId24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25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7" y="3245045"/>
            <a:ext cx="4973008" cy="701832"/>
            <a:chOff x="4316361" y="1433503"/>
            <a:chExt cx="4736198" cy="668411"/>
          </a:xfrm>
        </p:grpSpPr>
        <p:sp>
          <p:nvSpPr>
            <p:cNvPr id="40" name="任意多边形: 形状 39"/>
            <p:cNvSpPr/>
            <p:nvPr>
              <p:custDataLst>
                <p:tags r:id="rId16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17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18"/>
              </p:custDataLst>
            </p:nvPr>
          </p:nvSpPr>
          <p:spPr>
            <a:xfrm>
              <a:off x="5967037" y="1539786"/>
              <a:ext cx="19571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算法特性</a:t>
              </a:r>
            </a:p>
          </p:txBody>
        </p:sp>
        <p:sp>
          <p:nvSpPr>
            <p:cNvPr id="43" name="梯形 42"/>
            <p:cNvSpPr/>
            <p:nvPr>
              <p:custDataLst>
                <p:tags r:id="rId19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20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4"/>
            </p:custDataLst>
          </p:nvPr>
        </p:nvGrpSpPr>
        <p:grpSpPr>
          <a:xfrm>
            <a:off x="5829307" y="4296321"/>
            <a:ext cx="4973008" cy="701832"/>
            <a:chOff x="4316361" y="1433503"/>
            <a:chExt cx="4736198" cy="668411"/>
          </a:xfrm>
        </p:grpSpPr>
        <p:sp>
          <p:nvSpPr>
            <p:cNvPr id="46" name="任意多边形: 形状 45"/>
            <p:cNvSpPr/>
            <p:nvPr>
              <p:custDataLst>
                <p:tags r:id="rId11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八边形 46"/>
            <p:cNvSpPr/>
            <p:nvPr>
              <p:custDataLst>
                <p:tags r:id="rId12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肆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13"/>
              </p:custDataLst>
            </p:nvPr>
          </p:nvSpPr>
          <p:spPr>
            <a:xfrm>
              <a:off x="5068747" y="1539786"/>
              <a:ext cx="3753775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怎样表示一个算法</a:t>
              </a:r>
            </a:p>
          </p:txBody>
        </p:sp>
        <p:sp>
          <p:nvSpPr>
            <p:cNvPr id="49" name="梯形 48"/>
            <p:cNvSpPr/>
            <p:nvPr>
              <p:custDataLst>
                <p:tags r:id="rId14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/>
            <p:cNvSpPr/>
            <p:nvPr>
              <p:custDataLst>
                <p:tags r:id="rId15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>
            <p:custDataLst>
              <p:tags r:id="rId5"/>
            </p:custDataLst>
          </p:nvPr>
        </p:nvGrpSpPr>
        <p:grpSpPr>
          <a:xfrm>
            <a:off x="5829307" y="5347598"/>
            <a:ext cx="4973009" cy="701832"/>
            <a:chOff x="4316361" y="1433503"/>
            <a:chExt cx="4736198" cy="668411"/>
          </a:xfrm>
        </p:grpSpPr>
        <p:sp>
          <p:nvSpPr>
            <p:cNvPr id="52" name="任意多边形: 形状 51"/>
            <p:cNvSpPr/>
            <p:nvPr>
              <p:custDataLst>
                <p:tags r:id="rId6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3" name="八边形 52"/>
            <p:cNvSpPr/>
            <p:nvPr>
              <p:custDataLst>
                <p:tags r:id="rId7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伍</a:t>
              </a:r>
            </a:p>
          </p:txBody>
        </p:sp>
        <p:sp>
          <p:nvSpPr>
            <p:cNvPr id="54" name="文本框 53"/>
            <p:cNvSpPr txBox="1"/>
            <p:nvPr>
              <p:custDataLst>
                <p:tags r:id="rId8"/>
              </p:custDataLst>
            </p:nvPr>
          </p:nvSpPr>
          <p:spPr>
            <a:xfrm>
              <a:off x="4844175" y="1539786"/>
              <a:ext cx="4202921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结构化程序设计方法</a:t>
              </a:r>
            </a:p>
          </p:txBody>
        </p:sp>
        <p:sp>
          <p:nvSpPr>
            <p:cNvPr id="55" name="梯形 54"/>
            <p:cNvSpPr/>
            <p:nvPr>
              <p:custDataLst>
                <p:tags r:id="rId9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梯形 55"/>
            <p:cNvSpPr/>
            <p:nvPr>
              <p:custDataLst>
                <p:tags r:id="rId10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F17C-7DE5-12E3-EE45-4A558184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3C62126-1D1D-70DD-6865-787619EA5F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B5457-36B2-9E04-E31A-131C20F409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（一）阶乘算法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154C5C-7DC4-4B7E-4AC6-88B172919F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1C94494-3714-3EF3-8FEC-1FF514CBC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800100"/>
            <a:ext cx="8072437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zh-CN" sz="3200" b="1" kern="0" dirty="0">
                <a:latin typeface="+mn-lt"/>
                <a:ea typeface="+mn-ea"/>
              </a:rPr>
              <a:t>例</a:t>
            </a:r>
            <a:r>
              <a:rPr lang="en-US" altLang="zh-CN" sz="3200" b="1" kern="0" dirty="0">
                <a:latin typeface="+mn-lt"/>
                <a:ea typeface="+mn-ea"/>
              </a:rPr>
              <a:t>2.1 </a:t>
            </a:r>
            <a:r>
              <a:rPr lang="zh-CN" altLang="zh-CN" sz="3200" b="1" kern="0" dirty="0">
                <a:latin typeface="+mn-lt"/>
                <a:ea typeface="+mn-ea"/>
              </a:rPr>
              <a:t>求</a:t>
            </a:r>
            <a:r>
              <a:rPr lang="en-US" altLang="zh-CN" sz="3200" b="1" kern="0" dirty="0">
                <a:latin typeface="+mn-lt"/>
                <a:ea typeface="+mn-ea"/>
              </a:rPr>
              <a:t>1</a:t>
            </a:r>
            <a:r>
              <a:rPr lang="zh-CN" altLang="zh-CN" sz="3200" b="1" kern="0" dirty="0">
                <a:latin typeface="+mn-lt"/>
                <a:ea typeface="+mn-ea"/>
              </a:rPr>
              <a:t>×</a:t>
            </a:r>
            <a:r>
              <a:rPr lang="en-US" altLang="zh-CN" sz="3200" b="1" kern="0" dirty="0">
                <a:latin typeface="+mn-lt"/>
                <a:ea typeface="+mn-ea"/>
              </a:rPr>
              <a:t>2</a:t>
            </a:r>
            <a:r>
              <a:rPr lang="zh-CN" altLang="zh-CN" sz="3200" b="1" kern="0" dirty="0">
                <a:latin typeface="+mn-lt"/>
                <a:ea typeface="+mn-ea"/>
              </a:rPr>
              <a:t>×</a:t>
            </a:r>
            <a:r>
              <a:rPr lang="en-US" altLang="zh-CN" sz="3200" b="1" kern="0" dirty="0">
                <a:latin typeface="+mn-lt"/>
                <a:ea typeface="+mn-ea"/>
              </a:rPr>
              <a:t>3</a:t>
            </a:r>
            <a:r>
              <a:rPr lang="zh-CN" altLang="zh-CN" sz="3200" b="1" kern="0" dirty="0">
                <a:latin typeface="+mn-lt"/>
                <a:ea typeface="+mn-ea"/>
              </a:rPr>
              <a:t>×</a:t>
            </a:r>
            <a:r>
              <a:rPr lang="en-US" altLang="zh-CN" sz="3200" b="1" kern="0" dirty="0">
                <a:latin typeface="+mn-lt"/>
                <a:ea typeface="+mn-ea"/>
              </a:rPr>
              <a:t>4</a:t>
            </a:r>
            <a:r>
              <a:rPr lang="zh-CN" altLang="zh-CN" sz="3200" b="1" kern="0" dirty="0">
                <a:latin typeface="+mn-lt"/>
                <a:ea typeface="+mn-ea"/>
              </a:rPr>
              <a:t>×</a:t>
            </a:r>
            <a:r>
              <a:rPr lang="en-US" altLang="zh-CN" sz="3200" b="1" kern="0" dirty="0">
                <a:latin typeface="+mn-lt"/>
                <a:ea typeface="+mn-ea"/>
              </a:rPr>
              <a:t>5</a:t>
            </a:r>
            <a:r>
              <a:rPr lang="zh-CN" altLang="zh-CN" sz="3200" b="1" kern="0" dirty="0">
                <a:solidFill>
                  <a:srgbClr val="C00000"/>
                </a:solidFill>
                <a:latin typeface="Arial" charset="0"/>
              </a:rPr>
              <a:t>× </a:t>
            </a:r>
            <a:r>
              <a:rPr lang="zh-CN" altLang="zh-CN" sz="3200" b="1" kern="0" dirty="0">
                <a:solidFill>
                  <a:srgbClr val="C00000"/>
                </a:solidFill>
                <a:latin typeface="+mn-lt"/>
                <a:ea typeface="+mn-ea"/>
              </a:rPr>
              <a:t>…×</a:t>
            </a:r>
            <a:r>
              <a:rPr lang="en-US" altLang="zh-CN" sz="3200" b="1" kern="0" dirty="0">
                <a:solidFill>
                  <a:srgbClr val="C00000"/>
                </a:solidFill>
                <a:latin typeface="+mn-lt"/>
                <a:ea typeface="+mn-ea"/>
              </a:rPr>
              <a:t>n</a:t>
            </a:r>
            <a:endParaRPr lang="en-US" altLang="zh-CN" sz="3200" b="1" kern="0" dirty="0">
              <a:latin typeface="+mn-lt"/>
              <a:ea typeface="+mn-ea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endParaRPr lang="zh-CN" altLang="en-US" sz="3600" b="1" kern="0" dirty="0">
              <a:latin typeface="+mn-lt"/>
              <a:ea typeface="+mn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8CAC263-0919-E03D-F99E-0DC6927A17B4}"/>
              </a:ext>
            </a:extLst>
          </p:cNvPr>
          <p:cNvSpPr txBox="1">
            <a:spLocks noChangeArrowheads="1"/>
          </p:cNvSpPr>
          <p:nvPr/>
        </p:nvSpPr>
        <p:spPr>
          <a:xfrm>
            <a:off x="928688" y="1714500"/>
            <a:ext cx="7072312" cy="3571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/>
              <a:t>算法思路：</a:t>
            </a:r>
            <a:endParaRPr lang="en-US" altLang="zh-CN" sz="3600" dirty="0"/>
          </a:p>
          <a:p>
            <a:pPr lvl="1"/>
            <a:r>
              <a:rPr lang="zh-CN" altLang="zh-CN" sz="3200" dirty="0"/>
              <a:t>设变量</a:t>
            </a:r>
            <a:r>
              <a:rPr lang="en-US" altLang="zh-CN" sz="3200" dirty="0"/>
              <a:t>p</a:t>
            </a:r>
            <a:r>
              <a:rPr lang="zh-CN" altLang="zh-CN" sz="3200" dirty="0"/>
              <a:t>为被乘数</a:t>
            </a:r>
            <a:endParaRPr lang="en-US" altLang="zh-CN" sz="3200" dirty="0"/>
          </a:p>
          <a:p>
            <a:pPr lvl="1"/>
            <a:r>
              <a:rPr lang="zh-CN" altLang="zh-CN" sz="3200" dirty="0"/>
              <a:t>变量</a:t>
            </a:r>
            <a:r>
              <a:rPr lang="en-US" altLang="zh-CN" sz="3200" dirty="0" err="1"/>
              <a:t>i</a:t>
            </a:r>
            <a:r>
              <a:rPr lang="zh-CN" altLang="zh-CN" sz="3200" dirty="0"/>
              <a:t>为乘数</a:t>
            </a:r>
            <a:endParaRPr lang="en-US" altLang="zh-CN" sz="3200" dirty="0"/>
          </a:p>
          <a:p>
            <a:pPr lvl="1"/>
            <a:r>
              <a:rPr lang="zh-CN" altLang="zh-CN" sz="3200" dirty="0"/>
              <a:t>用循环算法求结果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2468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B9FD8-FCD2-B4BD-E6F0-A18D997B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9CEE609-61DC-4AF2-8511-C464A4E161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3ED81E-B1D4-FDE8-96A0-7E1F98A5FA1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（一）阶乘算法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D4921D-27FE-BD5C-7F2B-5123391E77E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1FB2B97-BEF3-1721-D45D-1C9054A6B4D6}"/>
              </a:ext>
            </a:extLst>
          </p:cNvPr>
          <p:cNvSpPr txBox="1">
            <a:spLocks noChangeArrowheads="1"/>
          </p:cNvSpPr>
          <p:nvPr/>
        </p:nvSpPr>
        <p:spPr>
          <a:xfrm>
            <a:off x="493098" y="1289688"/>
            <a:ext cx="10445994" cy="47145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S1</a:t>
            </a:r>
            <a:r>
              <a:rPr lang="zh-CN" altLang="zh-CN" dirty="0"/>
              <a:t>：</a:t>
            </a:r>
            <a:r>
              <a:rPr lang="zh-CN" altLang="en-US" dirty="0"/>
              <a:t>输入</a:t>
            </a:r>
            <a:r>
              <a:rPr lang="en-US" altLang="zh-CN" dirty="0"/>
              <a:t>n</a:t>
            </a:r>
          </a:p>
          <a:p>
            <a:r>
              <a:rPr lang="en-US" altLang="zh-CN" dirty="0"/>
              <a:t>S2</a:t>
            </a:r>
            <a:r>
              <a:rPr lang="zh-CN" altLang="en-US" dirty="0"/>
              <a:t>：</a:t>
            </a:r>
            <a:r>
              <a:rPr lang="zh-CN" altLang="zh-CN" dirty="0"/>
              <a:t>使</a:t>
            </a:r>
            <a:r>
              <a:rPr lang="en-US" altLang="zh-CN" dirty="0"/>
              <a:t>p=1</a:t>
            </a:r>
            <a:r>
              <a:rPr lang="zh-CN" altLang="zh-CN" dirty="0"/>
              <a:t>，或写成</a:t>
            </a:r>
            <a:r>
              <a:rPr lang="en-US" altLang="zh-CN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endParaRPr lang="zh-CN" altLang="zh-CN" dirty="0"/>
          </a:p>
          <a:p>
            <a:r>
              <a:rPr lang="en-US" altLang="zh-CN" dirty="0"/>
              <a:t>S3</a:t>
            </a:r>
            <a:r>
              <a:rPr lang="zh-CN" altLang="zh-CN" dirty="0"/>
              <a:t>：使</a:t>
            </a:r>
            <a:r>
              <a:rPr lang="en-US" altLang="zh-CN" dirty="0" err="1"/>
              <a:t>i</a:t>
            </a:r>
            <a:r>
              <a:rPr lang="en-US" altLang="zh-CN" dirty="0"/>
              <a:t>=2</a:t>
            </a:r>
            <a:r>
              <a:rPr lang="zh-CN" altLang="zh-CN" dirty="0"/>
              <a:t>，或写成</a:t>
            </a:r>
            <a:r>
              <a:rPr lang="en-US" altLang="zh-CN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i</a:t>
            </a:r>
            <a:endParaRPr lang="zh-CN" altLang="zh-CN" dirty="0"/>
          </a:p>
          <a:p>
            <a:r>
              <a:rPr lang="en-US" altLang="zh-CN" dirty="0"/>
              <a:t>S4</a:t>
            </a:r>
            <a:r>
              <a:rPr lang="zh-CN" altLang="zh-CN" dirty="0"/>
              <a:t>：使</a:t>
            </a:r>
            <a:r>
              <a:rPr lang="en-US" altLang="zh-CN" dirty="0"/>
              <a:t>p</a:t>
            </a:r>
            <a:r>
              <a:rPr lang="zh-CN" altLang="zh-CN" dirty="0"/>
              <a:t>与</a:t>
            </a:r>
            <a:r>
              <a:rPr lang="en-US" altLang="zh-CN" dirty="0" err="1"/>
              <a:t>i</a:t>
            </a:r>
            <a:r>
              <a:rPr lang="zh-CN" altLang="zh-CN" dirty="0"/>
              <a:t>相乘，乘积仍放在变量</a:t>
            </a:r>
            <a:r>
              <a:rPr lang="en-US" altLang="zh-CN" dirty="0"/>
              <a:t>p</a:t>
            </a:r>
            <a:r>
              <a:rPr lang="zh-CN" altLang="zh-CN" dirty="0"/>
              <a:t>中，可表示为：</a:t>
            </a:r>
            <a:r>
              <a:rPr lang="en-US" altLang="zh-CN" dirty="0"/>
              <a:t>p*</a:t>
            </a:r>
            <a:r>
              <a:rPr lang="en-US" altLang="zh-CN" dirty="0" err="1"/>
              <a:t>i</a:t>
            </a:r>
            <a:r>
              <a:rPr lang="en-US" altLang="zh-CN" dirty="0" err="1">
                <a:sym typeface="Symbol" panose="05050102010706020507" pitchFamily="18" charset="2"/>
              </a:rPr>
              <a:t></a:t>
            </a:r>
            <a:r>
              <a:rPr lang="en-US" altLang="zh-CN" dirty="0" err="1"/>
              <a:t>p</a:t>
            </a:r>
            <a:endParaRPr lang="zh-CN" altLang="zh-CN" dirty="0"/>
          </a:p>
          <a:p>
            <a:r>
              <a:rPr lang="en-US" altLang="zh-CN" dirty="0"/>
              <a:t>S5</a:t>
            </a:r>
            <a:r>
              <a:rPr lang="zh-CN" altLang="zh-CN" dirty="0"/>
              <a:t>：使</a:t>
            </a:r>
            <a:r>
              <a:rPr lang="en-US" altLang="zh-CN" dirty="0" err="1"/>
              <a:t>i</a:t>
            </a:r>
            <a:r>
              <a:rPr lang="zh-CN" altLang="zh-CN" dirty="0"/>
              <a:t>的值加</a:t>
            </a:r>
            <a:r>
              <a:rPr lang="en-US" altLang="zh-CN" dirty="0"/>
              <a:t>1</a:t>
            </a:r>
            <a:r>
              <a:rPr lang="zh-CN" altLang="zh-CN" dirty="0"/>
              <a:t>，即</a:t>
            </a:r>
            <a:r>
              <a:rPr lang="en-US" altLang="zh-CN" dirty="0"/>
              <a:t>i+1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 err="1"/>
              <a:t>i</a:t>
            </a:r>
            <a:endParaRPr lang="zh-CN" altLang="zh-CN" dirty="0"/>
          </a:p>
          <a:p>
            <a:r>
              <a:rPr lang="en-US" altLang="zh-CN" dirty="0"/>
              <a:t>S6</a:t>
            </a:r>
            <a:r>
              <a:rPr lang="zh-CN" altLang="zh-CN" dirty="0"/>
              <a:t>：如果</a:t>
            </a:r>
            <a:r>
              <a:rPr lang="en-US" altLang="zh-CN" dirty="0" err="1"/>
              <a:t>i</a:t>
            </a:r>
            <a:r>
              <a:rPr lang="zh-CN" altLang="zh-CN" dirty="0"/>
              <a:t>不大于</a:t>
            </a:r>
            <a:r>
              <a:rPr lang="en-US" altLang="zh-CN" dirty="0"/>
              <a:t>n</a:t>
            </a:r>
            <a:r>
              <a:rPr lang="zh-CN" altLang="zh-CN" dirty="0"/>
              <a:t>，返回重新执行</a:t>
            </a:r>
            <a:r>
              <a:rPr lang="en-US" altLang="zh-CN" dirty="0"/>
              <a:t>S3</a:t>
            </a:r>
            <a:r>
              <a:rPr lang="zh-CN" altLang="zh-CN" dirty="0"/>
              <a:t>；否则，</a:t>
            </a:r>
            <a:r>
              <a:rPr lang="zh-CN" altLang="en-US" dirty="0"/>
              <a:t>输出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zh-CN" altLang="zh-CN" dirty="0"/>
              <a:t>算法结束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563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7F85-2276-2EBF-42D7-AA5FA493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7396D85-1515-5D9F-38A6-593D4592B4F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0F256C-1091-62B5-E293-DC5C0EDA34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（二）闰年判定算法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A623F7-C3B0-A1B7-CB59-5E98539EBE3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3D1FD-019C-7E6B-B1FE-654C8787EEC6}"/>
              </a:ext>
            </a:extLst>
          </p:cNvPr>
          <p:cNvSpPr txBox="1">
            <a:spLocks noChangeArrowheads="1"/>
          </p:cNvSpPr>
          <p:nvPr/>
        </p:nvSpPr>
        <p:spPr>
          <a:xfrm>
            <a:off x="622407" y="1285875"/>
            <a:ext cx="10493268" cy="5072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zh-CN" dirty="0"/>
              <a:t>判定</a:t>
            </a:r>
            <a:r>
              <a:rPr lang="en-US" altLang="zh-CN" dirty="0"/>
              <a:t>2000</a:t>
            </a:r>
            <a:r>
              <a:rPr lang="zh-CN" altLang="zh-CN" dirty="0"/>
              <a:t>—</a:t>
            </a:r>
            <a:r>
              <a:rPr lang="en-US" altLang="zh-CN" dirty="0"/>
              <a:t>2500</a:t>
            </a:r>
            <a:r>
              <a:rPr lang="zh-CN" altLang="zh-CN" dirty="0"/>
              <a:t>年中的每一年是否闰年，并将结果输出。</a:t>
            </a:r>
            <a:endParaRPr lang="en-US" altLang="zh-CN" dirty="0"/>
          </a:p>
          <a:p>
            <a:r>
              <a:rPr lang="zh-CN" altLang="zh-CN" dirty="0"/>
              <a:t>闰年的条件：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(1)</a:t>
            </a:r>
            <a:r>
              <a:rPr lang="zh-CN" altLang="zh-CN" dirty="0"/>
              <a:t>能被</a:t>
            </a:r>
            <a:r>
              <a:rPr lang="en-US" altLang="zh-CN" dirty="0"/>
              <a:t>4</a:t>
            </a:r>
            <a:r>
              <a:rPr lang="zh-CN" altLang="zh-CN" dirty="0"/>
              <a:t>整除，但不能被</a:t>
            </a:r>
            <a:r>
              <a:rPr lang="en-US" altLang="zh-CN" dirty="0"/>
              <a:t>100</a:t>
            </a:r>
            <a:r>
              <a:rPr lang="zh-CN" altLang="zh-CN" dirty="0"/>
              <a:t>整除的年份都是闰年，如</a:t>
            </a:r>
            <a:r>
              <a:rPr lang="en-US" altLang="zh-CN" dirty="0"/>
              <a:t>2008</a:t>
            </a:r>
            <a:r>
              <a:rPr lang="zh-CN" altLang="zh-CN" dirty="0"/>
              <a:t>、</a:t>
            </a:r>
            <a:r>
              <a:rPr lang="en-US" altLang="zh-CN" dirty="0"/>
              <a:t>2012</a:t>
            </a:r>
            <a:r>
              <a:rPr lang="zh-CN" altLang="zh-CN" dirty="0"/>
              <a:t>、</a:t>
            </a:r>
            <a:r>
              <a:rPr lang="en-US" altLang="zh-CN" dirty="0"/>
              <a:t>2048</a:t>
            </a:r>
            <a:r>
              <a:rPr lang="zh-CN" altLang="zh-CN" dirty="0"/>
              <a:t>年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 (2)</a:t>
            </a:r>
            <a:r>
              <a:rPr lang="zh-CN" altLang="zh-CN" dirty="0"/>
              <a:t>能被</a:t>
            </a:r>
            <a:r>
              <a:rPr lang="en-US" altLang="zh-CN" dirty="0"/>
              <a:t>400</a:t>
            </a:r>
            <a:r>
              <a:rPr lang="zh-CN" altLang="zh-CN" dirty="0"/>
              <a:t>整除的年份是闰年，如</a:t>
            </a:r>
            <a:r>
              <a:rPr lang="en-US" altLang="zh-CN" dirty="0"/>
              <a:t>2000</a:t>
            </a:r>
            <a:r>
              <a:rPr lang="zh-CN" altLang="zh-CN" dirty="0"/>
              <a:t>年</a:t>
            </a:r>
          </a:p>
          <a:p>
            <a:pPr lvl="1"/>
            <a:r>
              <a:rPr lang="zh-CN" altLang="zh-CN" dirty="0"/>
              <a:t>不符合这两个条件的年份不是闰年</a:t>
            </a:r>
            <a:endParaRPr lang="en-US" altLang="zh-CN" dirty="0"/>
          </a:p>
          <a:p>
            <a:pPr lvl="1"/>
            <a:r>
              <a:rPr lang="zh-CN" altLang="zh-CN" dirty="0"/>
              <a:t>例如</a:t>
            </a:r>
            <a:r>
              <a:rPr lang="en-US" altLang="zh-CN" dirty="0"/>
              <a:t>2009</a:t>
            </a:r>
            <a:r>
              <a:rPr lang="zh-CN" altLang="zh-CN" dirty="0"/>
              <a:t>、</a:t>
            </a:r>
            <a:r>
              <a:rPr lang="en-US" altLang="zh-CN" dirty="0"/>
              <a:t>2100</a:t>
            </a:r>
            <a:r>
              <a:rPr lang="zh-CN" altLang="zh-CN" dirty="0"/>
              <a:t>年</a:t>
            </a:r>
            <a:endParaRPr lang="en-US" altLang="zh-CN" dirty="0"/>
          </a:p>
          <a:p>
            <a:r>
              <a:rPr lang="zh-CN" altLang="en-US" dirty="0"/>
              <a:t>算法思路：通过循环遍历</a:t>
            </a:r>
            <a:r>
              <a:rPr lang="en-US" altLang="zh-CN" dirty="0"/>
              <a:t>2000~2500</a:t>
            </a:r>
            <a:r>
              <a:rPr lang="zh-CN" altLang="en-US" dirty="0"/>
              <a:t>年，判定每一个年份是否满足两个闰年判定条件，如果满足则输出是闰年，否则输出不是闰年。</a:t>
            </a:r>
            <a:endParaRPr lang="en-US" altLang="zh-CN" dirty="0"/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1785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61F8-2A0F-BEA3-4420-86E029F2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F301FB-9797-09D9-C1C6-77A7D73E86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593AD9-F65F-AB7B-F9D3-52249E5528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（二）闰年判定算法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179046-1C7E-2100-54B2-1105FE1CF9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0ADA522-68DB-B6BA-9037-692A851A92AC}"/>
              </a:ext>
            </a:extLst>
          </p:cNvPr>
          <p:cNvSpPr txBox="1">
            <a:spLocks noChangeArrowheads="1"/>
          </p:cNvSpPr>
          <p:nvPr/>
        </p:nvSpPr>
        <p:spPr>
          <a:xfrm>
            <a:off x="881496" y="1012838"/>
            <a:ext cx="8153400" cy="52032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zh-CN" dirty="0"/>
              <a:t>设</a:t>
            </a:r>
            <a:r>
              <a:rPr lang="en-US" altLang="zh-CN" dirty="0"/>
              <a:t>year</a:t>
            </a:r>
            <a:r>
              <a:rPr lang="zh-CN" altLang="zh-CN" dirty="0"/>
              <a:t>为被检测的年份。算法表示如下：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S1</a:t>
            </a:r>
            <a:r>
              <a:rPr lang="zh-CN" altLang="zh-CN" dirty="0"/>
              <a:t>：</a:t>
            </a:r>
            <a:r>
              <a:rPr lang="en-US" altLang="zh-CN" dirty="0"/>
              <a:t>2000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year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S2</a:t>
            </a:r>
            <a:r>
              <a:rPr lang="zh-CN" altLang="zh-CN" dirty="0"/>
              <a:t>：若</a:t>
            </a:r>
            <a:r>
              <a:rPr lang="en-US" altLang="zh-CN" dirty="0"/>
              <a:t>year</a:t>
            </a:r>
            <a:r>
              <a:rPr lang="zh-CN" altLang="zh-CN" dirty="0"/>
              <a:t>不能被</a:t>
            </a:r>
            <a:r>
              <a:rPr lang="en-US" altLang="zh-CN" dirty="0"/>
              <a:t>4</a:t>
            </a:r>
            <a:r>
              <a:rPr lang="zh-CN" altLang="zh-CN" dirty="0"/>
              <a:t>整除，则输出</a:t>
            </a:r>
            <a:r>
              <a:rPr lang="en-US" altLang="zh-CN" dirty="0"/>
              <a:t>year </a:t>
            </a:r>
            <a:r>
              <a:rPr lang="zh-CN" altLang="zh-CN" dirty="0"/>
              <a:t>的值和“不是闰年”。然后转到</a:t>
            </a:r>
            <a:r>
              <a:rPr lang="en-US" altLang="zh-CN" dirty="0"/>
              <a:t>S6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S3</a:t>
            </a:r>
            <a:r>
              <a:rPr lang="zh-CN" altLang="zh-CN" dirty="0"/>
              <a:t>：若</a:t>
            </a:r>
            <a:r>
              <a:rPr lang="en-US" altLang="zh-CN" dirty="0"/>
              <a:t>year</a:t>
            </a:r>
            <a:r>
              <a:rPr lang="zh-CN" altLang="zh-CN" dirty="0"/>
              <a:t>能被</a:t>
            </a:r>
            <a:r>
              <a:rPr lang="en-US" altLang="zh-CN" dirty="0"/>
              <a:t>4</a:t>
            </a:r>
            <a:r>
              <a:rPr lang="zh-CN" altLang="zh-CN" dirty="0"/>
              <a:t>整除，不能被</a:t>
            </a:r>
            <a:r>
              <a:rPr lang="en-US" altLang="zh-CN" dirty="0"/>
              <a:t>100</a:t>
            </a:r>
            <a:r>
              <a:rPr lang="zh-CN" altLang="zh-CN" dirty="0"/>
              <a:t>整除，则输出</a:t>
            </a:r>
            <a:r>
              <a:rPr lang="en-US" altLang="zh-CN" dirty="0"/>
              <a:t>year</a:t>
            </a:r>
            <a:r>
              <a:rPr lang="zh-CN" altLang="zh-CN" dirty="0"/>
              <a:t>的值和“是闰年”。然后转到</a:t>
            </a:r>
            <a:r>
              <a:rPr lang="en-US" altLang="zh-CN" dirty="0"/>
              <a:t>S6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S4</a:t>
            </a:r>
            <a:r>
              <a:rPr lang="zh-CN" altLang="zh-CN" dirty="0"/>
              <a:t>：若</a:t>
            </a:r>
            <a:r>
              <a:rPr lang="en-US" altLang="zh-CN" dirty="0"/>
              <a:t>year</a:t>
            </a:r>
            <a:r>
              <a:rPr lang="zh-CN" altLang="zh-CN" dirty="0"/>
              <a:t>能被</a:t>
            </a:r>
            <a:r>
              <a:rPr lang="en-US" altLang="zh-CN" dirty="0"/>
              <a:t>400</a:t>
            </a:r>
            <a:r>
              <a:rPr lang="zh-CN" altLang="zh-CN" dirty="0"/>
              <a:t>整除，</a:t>
            </a:r>
            <a:r>
              <a:rPr lang="zh-CN" altLang="en-US" dirty="0"/>
              <a:t>则</a:t>
            </a:r>
            <a:r>
              <a:rPr lang="zh-CN" altLang="zh-CN" dirty="0"/>
              <a:t>输出</a:t>
            </a:r>
            <a:r>
              <a:rPr lang="en-US" altLang="zh-CN" dirty="0"/>
              <a:t>year</a:t>
            </a:r>
            <a:r>
              <a:rPr lang="zh-CN" altLang="zh-CN" dirty="0"/>
              <a:t>的值和“是闰年” ，然后转到</a:t>
            </a:r>
            <a:r>
              <a:rPr lang="en-US" altLang="zh-CN" dirty="0"/>
              <a:t>S6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S5: </a:t>
            </a:r>
            <a:r>
              <a:rPr lang="zh-CN" altLang="en-US" dirty="0"/>
              <a:t>其他情况</a:t>
            </a:r>
            <a:r>
              <a:rPr lang="zh-CN" altLang="zh-CN" dirty="0"/>
              <a:t>输出</a:t>
            </a:r>
            <a:r>
              <a:rPr lang="en-US" altLang="zh-CN" dirty="0"/>
              <a:t>year</a:t>
            </a:r>
            <a:r>
              <a:rPr lang="zh-CN" altLang="zh-CN" dirty="0"/>
              <a:t>的值和“不是闰年”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S6</a:t>
            </a:r>
            <a:r>
              <a:rPr lang="zh-CN" altLang="zh-CN" dirty="0"/>
              <a:t>：</a:t>
            </a:r>
            <a:r>
              <a:rPr lang="en-US" altLang="zh-CN" dirty="0"/>
              <a:t>year+1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year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S7</a:t>
            </a:r>
            <a:r>
              <a:rPr lang="zh-CN" altLang="zh-CN" dirty="0"/>
              <a:t>：当</a:t>
            </a:r>
            <a:r>
              <a:rPr lang="en-US" altLang="zh-CN" dirty="0"/>
              <a:t>year</a:t>
            </a:r>
            <a:r>
              <a:rPr lang="zh-CN" altLang="zh-CN" dirty="0"/>
              <a:t>≤</a:t>
            </a:r>
            <a:r>
              <a:rPr lang="en-US" altLang="zh-CN" dirty="0"/>
              <a:t>2500</a:t>
            </a:r>
            <a:r>
              <a:rPr lang="zh-CN" altLang="zh-CN" dirty="0"/>
              <a:t>时，转</a:t>
            </a:r>
            <a:r>
              <a:rPr lang="en-US" altLang="zh-CN" dirty="0"/>
              <a:t>S2</a:t>
            </a:r>
            <a:r>
              <a:rPr lang="zh-CN" altLang="zh-CN" dirty="0"/>
              <a:t>，否则停止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233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C9E7-980A-5155-C899-DC2CD5D7F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D3154A8-8B8E-ACF3-BE55-5E549E5B8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868588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7BCBE5-D506-6E9D-3615-3D42E7B626E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（三）级数相加算法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63F7BC-747C-AD06-651D-974EB73E97B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9F79AAE-67CC-D0C8-2E88-74B96DAB07FC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1244456"/>
            <a:ext cx="8816686" cy="8337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3600" dirty="0"/>
              <a:t>计算级数</a:t>
            </a:r>
            <a:endParaRPr lang="en-US" altLang="zh-CN" sz="3600" dirty="0"/>
          </a:p>
        </p:txBody>
      </p:sp>
      <p:graphicFrame>
        <p:nvGraphicFramePr>
          <p:cNvPr id="9" name="Object 1">
            <a:extLst>
              <a:ext uri="{FF2B5EF4-FFF2-40B4-BE49-F238E27FC236}">
                <a16:creationId xmlns:a16="http://schemas.microsoft.com/office/drawing/2014/main" id="{6B95E314-81D3-BF02-791E-09B471FBB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290092"/>
              </p:ext>
            </p:extLst>
          </p:nvPr>
        </p:nvGraphicFramePr>
        <p:xfrm>
          <a:off x="2571750" y="1044430"/>
          <a:ext cx="52403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700" imgH="393700" progId="Equation.DSMT4">
                  <p:embed/>
                </p:oleObj>
              </mc:Choice>
              <mc:Fallback>
                <p:oleObj name="Equation" r:id="rId2" imgW="1790700" imgH="393700" progId="Equation.DSMT4">
                  <p:embed/>
                  <p:pic>
                    <p:nvPicPr>
                      <p:cNvPr id="9" name="Object 1">
                        <a:extLst>
                          <a:ext uri="{FF2B5EF4-FFF2-40B4-BE49-F238E27FC236}">
                            <a16:creationId xmlns:a16="http://schemas.microsoft.com/office/drawing/2014/main" id="{1362A983-7B01-56D7-BEB0-88B153ED53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1044430"/>
                        <a:ext cx="52403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4" descr="Untitled.png">
            <a:hlinkClick r:id="rId4" action="ppaction://hlinksldjump"/>
            <a:extLst>
              <a:ext uri="{FF2B5EF4-FFF2-40B4-BE49-F238E27FC236}">
                <a16:creationId xmlns:a16="http://schemas.microsoft.com/office/drawing/2014/main" id="{C7E228D7-A074-0E3A-B054-6C2E297BD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0" y="5937250"/>
            <a:ext cx="9271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3B0993-F13E-ABB1-ACE5-F389AD1CA689}"/>
              </a:ext>
            </a:extLst>
          </p:cNvPr>
          <p:cNvSpPr txBox="1">
            <a:spLocks noChangeArrowheads="1"/>
          </p:cNvSpPr>
          <p:nvPr/>
        </p:nvSpPr>
        <p:spPr>
          <a:xfrm>
            <a:off x="539749" y="2236644"/>
            <a:ext cx="10045123" cy="22707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级数规律：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zh-CN" altLang="en-US" dirty="0"/>
              <a:t>①</a:t>
            </a:r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项是</a:t>
            </a:r>
            <a:r>
              <a:rPr lang="en-US" altLang="zh-CN" dirty="0"/>
              <a:t>1</a:t>
            </a:r>
            <a:endParaRPr lang="zh-CN" altLang="zh-CN" dirty="0"/>
          </a:p>
          <a:p>
            <a:pPr lvl="1">
              <a:buFont typeface="Wingdings" pitchFamily="2" charset="2"/>
              <a:buNone/>
            </a:pPr>
            <a:r>
              <a:rPr lang="zh-CN" altLang="zh-CN" dirty="0"/>
              <a:t>②</a:t>
            </a:r>
            <a:r>
              <a:rPr lang="zh-CN" altLang="en-US" dirty="0"/>
              <a:t>分子都是</a:t>
            </a:r>
            <a:r>
              <a:rPr lang="en-US" altLang="zh-CN" dirty="0"/>
              <a:t>1</a:t>
            </a:r>
            <a:r>
              <a:rPr lang="zh-CN" altLang="en-US" dirty="0"/>
              <a:t>，从</a:t>
            </a:r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项</a:t>
            </a:r>
            <a:r>
              <a:rPr lang="zh-CN" altLang="en-US" dirty="0"/>
              <a:t>开始</a:t>
            </a:r>
            <a:r>
              <a:rPr lang="zh-CN" altLang="zh-CN" dirty="0"/>
              <a:t>分母是</a:t>
            </a:r>
            <a:r>
              <a:rPr lang="en-US" altLang="zh-CN" dirty="0"/>
              <a:t>2</a:t>
            </a:r>
            <a:r>
              <a:rPr lang="zh-CN" altLang="zh-CN" dirty="0"/>
              <a:t>，以后每一项的分母都是前一项的分母加</a:t>
            </a:r>
            <a:r>
              <a:rPr lang="en-US" altLang="zh-CN" dirty="0"/>
              <a:t>1</a:t>
            </a:r>
            <a:endParaRPr lang="zh-CN" altLang="zh-CN" dirty="0"/>
          </a:p>
          <a:p>
            <a:pPr lvl="1">
              <a:buFont typeface="Wingdings" pitchFamily="2" charset="2"/>
              <a:buNone/>
            </a:pPr>
            <a:r>
              <a:rPr lang="zh-CN" altLang="zh-CN" dirty="0"/>
              <a:t>③ </a:t>
            </a: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项前的运算符为“</a:t>
            </a:r>
            <a:r>
              <a:rPr lang="en-US" altLang="zh-CN" dirty="0"/>
              <a:t>-</a:t>
            </a:r>
            <a:r>
              <a:rPr lang="zh-CN" altLang="zh-CN" dirty="0"/>
              <a:t>”，后一项前面的运算符都与前一项前的运算符相反</a:t>
            </a:r>
          </a:p>
          <a:p>
            <a:pPr>
              <a:buFont typeface="Wingdings" pitchFamily="2" charset="2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46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65D5-CDAA-CF5F-B563-0405F602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DA08787-4DC9-9F67-D868-D984B90F19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868588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2062CB-66BD-E2F4-1291-A34B8BC0719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（三）级数相加算法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45B6C3-130D-6273-5A16-132484D8F1A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pic>
        <p:nvPicPr>
          <p:cNvPr id="11" name="图片 4" descr="Untitled.png">
            <a:hlinkClick r:id="rId2" action="ppaction://hlinksldjump"/>
            <a:extLst>
              <a:ext uri="{FF2B5EF4-FFF2-40B4-BE49-F238E27FC236}">
                <a16:creationId xmlns:a16="http://schemas.microsoft.com/office/drawing/2014/main" id="{FB611CB5-A023-632F-9E4F-D833E6E4E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0" y="5937250"/>
            <a:ext cx="9271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280FD2E1-E042-155D-8DCD-1F8C838A23DD}"/>
              </a:ext>
            </a:extLst>
          </p:cNvPr>
          <p:cNvSpPr txBox="1">
            <a:spLocks noChangeArrowheads="1"/>
          </p:cNvSpPr>
          <p:nvPr/>
        </p:nvSpPr>
        <p:spPr>
          <a:xfrm>
            <a:off x="761422" y="1070200"/>
            <a:ext cx="9866994" cy="55149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dirty="0"/>
              <a:t>S1</a:t>
            </a:r>
            <a:r>
              <a:rPr lang="zh-CN" altLang="zh-CN" dirty="0"/>
              <a:t>：</a:t>
            </a:r>
            <a:r>
              <a:rPr lang="en-US" altLang="zh-CN" dirty="0"/>
              <a:t>sign=1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S2</a:t>
            </a:r>
            <a:r>
              <a:rPr lang="zh-CN" altLang="zh-CN" dirty="0"/>
              <a:t>：</a:t>
            </a:r>
            <a:r>
              <a:rPr lang="en-US" altLang="zh-CN" dirty="0"/>
              <a:t>sum=1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S3</a:t>
            </a:r>
            <a:r>
              <a:rPr lang="zh-CN" altLang="zh-CN" dirty="0"/>
              <a:t>：</a:t>
            </a:r>
            <a:r>
              <a:rPr lang="en-US" altLang="zh-CN" dirty="0" err="1"/>
              <a:t>deno</a:t>
            </a:r>
            <a:r>
              <a:rPr lang="en-US" altLang="zh-CN" dirty="0"/>
              <a:t>=2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S4</a:t>
            </a:r>
            <a:r>
              <a:rPr lang="zh-CN" altLang="zh-CN" dirty="0"/>
              <a:t>：</a:t>
            </a:r>
            <a:r>
              <a:rPr lang="en-US" altLang="zh-CN" dirty="0"/>
              <a:t>sign=(-1)*sign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S5</a:t>
            </a:r>
            <a:r>
              <a:rPr lang="zh-CN" altLang="zh-CN" dirty="0"/>
              <a:t>：</a:t>
            </a:r>
            <a:r>
              <a:rPr lang="en-US" altLang="zh-CN" dirty="0"/>
              <a:t>term=sign*(1/</a:t>
            </a:r>
            <a:r>
              <a:rPr lang="en-US" altLang="zh-CN" dirty="0" err="1"/>
              <a:t>deno</a:t>
            </a:r>
            <a:r>
              <a:rPr lang="en-US" altLang="zh-CN" dirty="0"/>
              <a:t>)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S6</a:t>
            </a:r>
            <a:r>
              <a:rPr lang="zh-CN" altLang="zh-CN" dirty="0"/>
              <a:t>：</a:t>
            </a:r>
            <a:r>
              <a:rPr lang="en-US" altLang="zh-CN" dirty="0"/>
              <a:t>sum=</a:t>
            </a:r>
            <a:r>
              <a:rPr lang="en-US" altLang="zh-CN" dirty="0" err="1"/>
              <a:t>sum+term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S7</a:t>
            </a:r>
            <a:r>
              <a:rPr lang="zh-CN" altLang="zh-CN" dirty="0"/>
              <a:t>：</a:t>
            </a:r>
            <a:r>
              <a:rPr lang="en-US" altLang="zh-CN" dirty="0" err="1"/>
              <a:t>deno</a:t>
            </a:r>
            <a:r>
              <a:rPr lang="en-US" altLang="zh-CN" dirty="0"/>
              <a:t>=deno+1</a:t>
            </a:r>
            <a:endParaRPr lang="zh-CN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S8</a:t>
            </a:r>
            <a:r>
              <a:rPr lang="zh-CN" altLang="zh-CN" dirty="0"/>
              <a:t>：若</a:t>
            </a:r>
            <a:r>
              <a:rPr lang="en-US" altLang="zh-CN" dirty="0" err="1"/>
              <a:t>deno</a:t>
            </a:r>
            <a:r>
              <a:rPr lang="zh-CN" altLang="zh-CN" dirty="0"/>
              <a:t>≤</a:t>
            </a:r>
            <a:r>
              <a:rPr lang="en-US" altLang="zh-CN" dirty="0"/>
              <a:t>100</a:t>
            </a:r>
            <a:r>
              <a:rPr lang="zh-CN" altLang="zh-CN" dirty="0"/>
              <a:t>返回</a:t>
            </a:r>
            <a:r>
              <a:rPr lang="en-US" altLang="zh-CN" dirty="0"/>
              <a:t>S4</a:t>
            </a:r>
            <a:r>
              <a:rPr lang="zh-CN" altLang="zh-CN" dirty="0"/>
              <a:t>；否则</a:t>
            </a:r>
            <a:r>
              <a:rPr lang="zh-CN" altLang="en-US" dirty="0"/>
              <a:t>，输出</a:t>
            </a:r>
            <a:r>
              <a:rPr lang="en-US" altLang="zh-CN" dirty="0"/>
              <a:t>sum</a:t>
            </a:r>
            <a:r>
              <a:rPr lang="zh-CN" altLang="en-US" dirty="0"/>
              <a:t>，</a:t>
            </a:r>
            <a:r>
              <a:rPr lang="zh-CN" altLang="zh-CN" dirty="0"/>
              <a:t>算法结束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954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1FDD5-3825-4F79-F8FC-DE9F46C6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3ABB5FD-AA3B-2C92-FA07-41DE6F83E0A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701AA3-3134-8972-A0E0-20A4A04282A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（四）素数判定算法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19B645-CC28-5A2A-F7A4-CC55C37422D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77E62E-E81C-24EE-78CB-B674A9E3EDFA}"/>
              </a:ext>
            </a:extLst>
          </p:cNvPr>
          <p:cNvSpPr txBox="1">
            <a:spLocks noChangeArrowheads="1"/>
          </p:cNvSpPr>
          <p:nvPr/>
        </p:nvSpPr>
        <p:spPr>
          <a:xfrm>
            <a:off x="493568" y="1111539"/>
            <a:ext cx="10764239" cy="4495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zh-CN" dirty="0"/>
              <a:t>给出一个大于或等于</a:t>
            </a:r>
            <a:r>
              <a:rPr lang="en-US" altLang="zh-CN" dirty="0"/>
              <a:t>3</a:t>
            </a:r>
            <a:r>
              <a:rPr lang="zh-CN" altLang="zh-CN" dirty="0"/>
              <a:t>的正整数，判断它是不是一个素数。</a:t>
            </a:r>
            <a:endParaRPr lang="en-US" altLang="zh-CN" dirty="0"/>
          </a:p>
          <a:p>
            <a:r>
              <a:rPr lang="zh-CN" altLang="zh-CN" dirty="0"/>
              <a:t>所谓素数</a:t>
            </a:r>
            <a:r>
              <a:rPr lang="en-US" altLang="zh-CN" dirty="0"/>
              <a:t>(prime)</a:t>
            </a:r>
            <a:r>
              <a:rPr lang="zh-CN" altLang="zh-CN" dirty="0"/>
              <a:t>，是指除了</a:t>
            </a:r>
            <a:r>
              <a:rPr lang="en-US" altLang="zh-CN" dirty="0"/>
              <a:t>1</a:t>
            </a:r>
            <a:r>
              <a:rPr lang="zh-CN" altLang="zh-CN" dirty="0"/>
              <a:t>和该数本身之外，不能被其他任何整数整除的数</a:t>
            </a:r>
            <a:endParaRPr lang="en-US" altLang="zh-CN" dirty="0"/>
          </a:p>
          <a:p>
            <a:r>
              <a:rPr lang="zh-CN" altLang="en-US" dirty="0"/>
              <a:t>算法思路：</a:t>
            </a:r>
            <a:r>
              <a:rPr lang="zh-CN" altLang="zh-CN" dirty="0"/>
              <a:t>将</a:t>
            </a:r>
            <a:r>
              <a:rPr lang="en-US" altLang="zh-CN" dirty="0"/>
              <a:t>n</a:t>
            </a:r>
            <a:r>
              <a:rPr lang="zh-CN" altLang="zh-CN" dirty="0"/>
              <a:t>作为被除数，将</a:t>
            </a:r>
            <a:r>
              <a:rPr lang="en-US" altLang="zh-CN" dirty="0"/>
              <a:t>2</a:t>
            </a:r>
            <a:r>
              <a:rPr lang="zh-CN" altLang="zh-CN" dirty="0"/>
              <a:t>到</a:t>
            </a:r>
            <a:r>
              <a:rPr lang="en-US" altLang="zh-CN" dirty="0"/>
              <a:t>(n-1)</a:t>
            </a:r>
            <a:r>
              <a:rPr lang="zh-CN" altLang="zh-CN" dirty="0"/>
              <a:t>各个整数先后作为除数，如果都不能被整除，则</a:t>
            </a:r>
            <a:r>
              <a:rPr lang="en-US" altLang="zh-CN" dirty="0"/>
              <a:t>n</a:t>
            </a:r>
            <a:r>
              <a:rPr lang="zh-CN" altLang="zh-CN" dirty="0"/>
              <a:t>为素数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045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2DE7C-8D9D-53B3-FA28-96E64205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4A7A799-9FE6-D726-AC8E-D1B3782D36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E51C7D-1671-335C-FB3D-BFADA5046FB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（四）素数判定算法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2639ED-DE07-FD6A-7ED6-83089034AED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2BFBD-B05B-ED4E-3EA1-15CE05E87AD6}"/>
              </a:ext>
            </a:extLst>
          </p:cNvPr>
          <p:cNvSpPr txBox="1">
            <a:spLocks noChangeArrowheads="1"/>
          </p:cNvSpPr>
          <p:nvPr/>
        </p:nvSpPr>
        <p:spPr>
          <a:xfrm>
            <a:off x="1010804" y="926275"/>
            <a:ext cx="8833839" cy="57425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altLang="zh-CN" dirty="0"/>
              <a:t>S1</a:t>
            </a:r>
            <a:r>
              <a:rPr lang="zh-CN" altLang="zh-CN" dirty="0"/>
              <a:t>：输入</a:t>
            </a:r>
            <a:r>
              <a:rPr lang="en-US" altLang="zh-CN" dirty="0"/>
              <a:t>n</a:t>
            </a:r>
            <a:r>
              <a:rPr lang="zh-CN" altLang="zh-CN" dirty="0"/>
              <a:t>的值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S2</a:t>
            </a:r>
            <a:r>
              <a:rPr lang="zh-CN" altLang="zh-CN" dirty="0"/>
              <a:t>：</a:t>
            </a:r>
            <a:r>
              <a:rPr lang="en-US" altLang="zh-CN" dirty="0" err="1"/>
              <a:t>i</a:t>
            </a:r>
            <a:r>
              <a:rPr lang="en-US" altLang="zh-CN" dirty="0"/>
              <a:t>=</a:t>
            </a:r>
            <a:r>
              <a:rPr lang="en-US" altLang="zh-CN"/>
              <a:t>2           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S3</a:t>
            </a:r>
            <a:r>
              <a:rPr lang="zh-CN" altLang="zh-CN" dirty="0"/>
              <a:t>：</a:t>
            </a:r>
            <a:r>
              <a:rPr lang="en-US" altLang="zh-CN" dirty="0"/>
              <a:t>n</a:t>
            </a:r>
            <a:r>
              <a:rPr lang="zh-CN" altLang="zh-CN" dirty="0"/>
              <a:t>被</a:t>
            </a:r>
            <a:r>
              <a:rPr lang="en-US" altLang="zh-CN" dirty="0" err="1"/>
              <a:t>i</a:t>
            </a:r>
            <a:r>
              <a:rPr lang="zh-CN" altLang="zh-CN" dirty="0"/>
              <a:t>除，得余数</a:t>
            </a:r>
            <a:r>
              <a:rPr lang="en-US" altLang="zh-CN" dirty="0"/>
              <a:t>r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S4</a:t>
            </a:r>
            <a:r>
              <a:rPr lang="zh-CN" altLang="zh-CN" dirty="0"/>
              <a:t>：如果</a:t>
            </a:r>
            <a:r>
              <a:rPr lang="en-US" altLang="zh-CN" dirty="0"/>
              <a:t>r=0</a:t>
            </a:r>
            <a:r>
              <a:rPr lang="zh-CN" altLang="zh-CN" dirty="0"/>
              <a:t>，表示</a:t>
            </a:r>
            <a:r>
              <a:rPr lang="en-US" altLang="zh-CN" dirty="0"/>
              <a:t>n</a:t>
            </a:r>
            <a:r>
              <a:rPr lang="zh-CN" altLang="zh-CN" dirty="0"/>
              <a:t>能被</a:t>
            </a:r>
            <a:r>
              <a:rPr lang="en-US" altLang="zh-CN" dirty="0" err="1"/>
              <a:t>i</a:t>
            </a:r>
            <a:r>
              <a:rPr lang="zh-CN" altLang="zh-CN" dirty="0"/>
              <a:t>整除，则输出</a:t>
            </a:r>
            <a:r>
              <a:rPr lang="en-US" altLang="zh-CN" dirty="0"/>
              <a:t>n</a:t>
            </a:r>
            <a:r>
              <a:rPr lang="zh-CN" altLang="zh-CN" dirty="0"/>
              <a:t>“不是素数”，算法结束；否则执行</a:t>
            </a:r>
            <a:r>
              <a:rPr lang="en-US" altLang="zh-CN" dirty="0"/>
              <a:t>S5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S5</a:t>
            </a:r>
            <a:r>
              <a:rPr lang="zh-CN" altLang="zh-CN" dirty="0"/>
              <a:t>：</a:t>
            </a:r>
            <a:r>
              <a:rPr lang="en-US" altLang="zh-CN" dirty="0"/>
              <a:t>i+1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i</a:t>
            </a:r>
            <a:endParaRPr lang="zh-CN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S6</a:t>
            </a:r>
            <a:r>
              <a:rPr lang="zh-CN" altLang="zh-CN" dirty="0"/>
              <a:t>：如果</a:t>
            </a:r>
            <a:r>
              <a:rPr lang="en-US" altLang="zh-CN" dirty="0" err="1"/>
              <a:t>i</a:t>
            </a:r>
            <a:r>
              <a:rPr lang="zh-CN" altLang="zh-CN" dirty="0"/>
              <a:t>≤</a:t>
            </a:r>
            <a:r>
              <a:rPr lang="en-US" altLang="zh-CN" dirty="0"/>
              <a:t>n-1</a:t>
            </a:r>
            <a:r>
              <a:rPr lang="zh-CN" altLang="zh-CN" dirty="0"/>
              <a:t>，返回</a:t>
            </a:r>
            <a:r>
              <a:rPr lang="en-US" altLang="zh-CN" dirty="0"/>
              <a:t>S3</a:t>
            </a:r>
            <a:r>
              <a:rPr lang="zh-CN" altLang="zh-CN" dirty="0"/>
              <a:t>；否则输出</a:t>
            </a:r>
            <a:r>
              <a:rPr lang="en-US" altLang="zh-CN" dirty="0"/>
              <a:t>n </a:t>
            </a:r>
            <a:r>
              <a:rPr lang="zh-CN" altLang="zh-CN" dirty="0"/>
              <a:t>“是素数”，然后结束。</a:t>
            </a:r>
          </a:p>
        </p:txBody>
      </p:sp>
    </p:spTree>
    <p:extLst>
      <p:ext uri="{BB962C8B-B14F-4D97-AF65-F5344CB8AC3E}">
        <p14:creationId xmlns:p14="http://schemas.microsoft.com/office/powerpoint/2010/main" val="132177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A6F3-AE54-13AC-285D-18C240176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80C6336-CB72-A8ED-E0C3-A03FDFAA4BF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简单算法举例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AB4D48-5BC9-3B75-4711-15B39AF4C9E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E63E35-A870-AD12-8DC4-6D1A86000CA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599C9EE-AE68-C0A6-5A56-B72C099AF4C8}"/>
              </a:ext>
            </a:extLst>
          </p:cNvPr>
          <p:cNvSpPr txBox="1">
            <a:spLocks noChangeArrowheads="1"/>
          </p:cNvSpPr>
          <p:nvPr/>
        </p:nvSpPr>
        <p:spPr>
          <a:xfrm>
            <a:off x="493097" y="1289688"/>
            <a:ext cx="11051385" cy="47145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请同学们构建以下算法：</a:t>
            </a:r>
            <a:endParaRPr lang="en-US" altLang="zh-CN" dirty="0"/>
          </a:p>
          <a:p>
            <a:r>
              <a:rPr lang="zh-CN" altLang="en-US" dirty="0"/>
              <a:t> 求两个整数最大公约数。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1000</a:t>
            </a:r>
            <a:r>
              <a:rPr lang="zh-CN" altLang="en-US" dirty="0"/>
              <a:t>以内所有的完数，所谓的完数就是该数等于其真因子之和，如：</a:t>
            </a:r>
            <a:r>
              <a:rPr lang="en-US" altLang="zh-CN" dirty="0"/>
              <a:t>6</a:t>
            </a:r>
            <a:r>
              <a:rPr lang="zh-CN" altLang="en-US" dirty="0"/>
              <a:t>是完数，因为，</a:t>
            </a:r>
            <a:r>
              <a:rPr lang="en-US" altLang="zh-CN" dirty="0"/>
              <a:t>6=3+2+1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输出所有的水仙花数，所谓水仙花数是一个</a:t>
            </a:r>
            <a:r>
              <a:rPr lang="en-US" altLang="zh-CN" dirty="0"/>
              <a:t>3</a:t>
            </a:r>
            <a:r>
              <a:rPr lang="zh-CN" altLang="en-US" dirty="0"/>
              <a:t>位数，其各位立方和等于该数本身，如：</a:t>
            </a:r>
            <a:r>
              <a:rPr lang="en-US" altLang="zh-CN" dirty="0"/>
              <a:t>153</a:t>
            </a:r>
            <a:r>
              <a:rPr lang="zh-CN" altLang="en-US" dirty="0"/>
              <a:t>是一个水仙花数，因为</a:t>
            </a:r>
            <a:r>
              <a:rPr lang="en-US" altLang="zh-CN" dirty="0"/>
              <a:t>153= 1</a:t>
            </a:r>
            <a:r>
              <a:rPr lang="en-US" altLang="zh-CN" baseline="30000" dirty="0"/>
              <a:t>3 </a:t>
            </a:r>
            <a:r>
              <a:rPr lang="en-US" altLang="zh-CN" dirty="0"/>
              <a:t>+ 5</a:t>
            </a:r>
            <a:r>
              <a:rPr lang="en-US" altLang="zh-CN" baseline="30000" dirty="0"/>
              <a:t>3 </a:t>
            </a:r>
            <a:r>
              <a:rPr lang="en-US" altLang="zh-CN" dirty="0"/>
              <a:t>+ 3</a:t>
            </a:r>
            <a:r>
              <a:rPr lang="en-US" altLang="zh-CN" baseline="30000" dirty="0"/>
              <a:t>3</a:t>
            </a:r>
            <a:r>
              <a:rPr lang="zh-CN" altLang="en-US" baseline="30000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809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820</Words>
  <Application>Microsoft Office PowerPoint</Application>
  <PresentationFormat>宽屏</PresentationFormat>
  <Paragraphs>92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OPPOSans R</vt:lpstr>
      <vt:lpstr>百度综艺简体</vt:lpstr>
      <vt:lpstr>思源黑体 CN Regular</vt:lpstr>
      <vt:lpstr>微软雅黑</vt:lpstr>
      <vt:lpstr>Arial</vt:lpstr>
      <vt:lpstr>Symbol</vt:lpstr>
      <vt:lpstr>Times New Roman</vt:lpstr>
      <vt:lpstr>Wingdings</vt:lpstr>
      <vt:lpstr>Office 主题​​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Zhen Zhang</cp:lastModifiedBy>
  <cp:revision>23</cp:revision>
  <dcterms:created xsi:type="dcterms:W3CDTF">2026-05-06T02:15:00Z</dcterms:created>
  <dcterms:modified xsi:type="dcterms:W3CDTF">2026-06-17T02:03:11Z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