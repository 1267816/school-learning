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7" r:id="rId3"/>
    <p:sldId id="275" r:id="rId4"/>
    <p:sldId id="276" r:id="rId5"/>
    <p:sldId id="278" r:id="rId6"/>
    <p:sldId id="279" r:id="rId7"/>
    <p:sldId id="281" r:id="rId8"/>
    <p:sldId id="280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1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microsoft.com/office/2007/relationships/hdphoto" Target="../media/hdphoto1.wd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hdphoto" Target="../media/hdphoto4.wdp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GIF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6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517893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基本数据类型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29307" y="2193769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293319" y="1539786"/>
              <a:ext cx="330462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运算符与表达式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7" y="3245045"/>
            <a:ext cx="4973008" cy="701832"/>
            <a:chOff x="4316361" y="1433503"/>
            <a:chExt cx="4736198" cy="668411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5809640" y="1539786"/>
              <a:ext cx="227198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C</a:t>
              </a:r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语言语句</a:t>
              </a:r>
            </a:p>
          </p:txBody>
        </p:sp>
        <p:sp>
          <p:nvSpPr>
            <p:cNvPr id="43" name="梯形 42"/>
            <p:cNvSpPr/>
            <p:nvPr>
              <p:custDataLst>
                <p:tags r:id="rId1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4"/>
            </p:custDataLst>
          </p:nvPr>
        </p:nvGrpSpPr>
        <p:grpSpPr>
          <a:xfrm>
            <a:off x="5829307" y="4296321"/>
            <a:ext cx="4973008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5742467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输入与输出</a:t>
              </a:r>
            </a:p>
          </p:txBody>
        </p:sp>
        <p:sp>
          <p:nvSpPr>
            <p:cNvPr id="49" name="梯形 48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7C-7DE5-12E3-EE45-4A558184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3C62126-1D1D-70DD-6865-787619EA5F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B5457-36B2-9E04-E31A-131C20F409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</a:t>
            </a:r>
            <a:r>
              <a:rPr lang="en-US" altLang="zh-CN" dirty="0"/>
              <a:t>C</a:t>
            </a:r>
            <a:r>
              <a:rPr lang="zh-CN" altLang="en-US" dirty="0"/>
              <a:t>语句分类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154C5C-7DC4-4B7E-4AC6-88B172919F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070C2E6D-CE78-C2AE-02CE-B3E127E7DFD3}"/>
              </a:ext>
            </a:extLst>
          </p:cNvPr>
          <p:cNvSpPr txBox="1">
            <a:spLocks noChangeArrowheads="1"/>
          </p:cNvSpPr>
          <p:nvPr/>
        </p:nvSpPr>
        <p:spPr>
          <a:xfrm>
            <a:off x="763011" y="1071563"/>
            <a:ext cx="7929562" cy="37498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zh-CN" dirty="0"/>
              <a:t>分为以下</a:t>
            </a:r>
            <a:r>
              <a:rPr lang="en-US" altLang="zh-CN" dirty="0"/>
              <a:t>5</a:t>
            </a:r>
            <a:r>
              <a:rPr lang="zh-CN" altLang="zh-CN" dirty="0"/>
              <a:t>类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(1) </a:t>
            </a:r>
            <a:r>
              <a:rPr lang="zh-CN" altLang="zh-CN" dirty="0"/>
              <a:t>控制语句</a:t>
            </a:r>
            <a:r>
              <a:rPr lang="zh-CN" altLang="en-US" dirty="0"/>
              <a:t>：</a:t>
            </a:r>
            <a:r>
              <a:rPr lang="en-US" altLang="zh-CN" dirty="0"/>
              <a:t> if</a:t>
            </a:r>
            <a:r>
              <a:rPr lang="zh-CN" altLang="en-US" dirty="0"/>
              <a:t>、</a:t>
            </a:r>
            <a:r>
              <a:rPr lang="en-US" altLang="zh-CN" dirty="0"/>
              <a:t>switch</a:t>
            </a:r>
            <a:r>
              <a:rPr lang="zh-CN" altLang="en-US" dirty="0"/>
              <a:t>、</a:t>
            </a:r>
            <a:r>
              <a:rPr lang="en-US" altLang="zh-CN" dirty="0"/>
              <a:t>for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、</a:t>
            </a:r>
            <a:r>
              <a:rPr lang="en-US" altLang="zh-CN" dirty="0"/>
              <a:t>do</a:t>
            </a:r>
            <a:r>
              <a:rPr lang="zh-CN" altLang="zh-CN" dirty="0"/>
              <a:t>…</a:t>
            </a:r>
            <a:r>
              <a:rPr lang="en-US" altLang="zh-CN" dirty="0"/>
              <a:t>while</a:t>
            </a:r>
            <a:r>
              <a:rPr lang="zh-CN" altLang="en-US" dirty="0"/>
              <a:t>、</a:t>
            </a:r>
            <a:r>
              <a:rPr lang="en-US" altLang="zh-CN" dirty="0"/>
              <a:t>continue</a:t>
            </a:r>
            <a:r>
              <a:rPr lang="zh-CN" altLang="en-US" dirty="0"/>
              <a:t>、</a:t>
            </a:r>
            <a:r>
              <a:rPr lang="en-US" altLang="zh-CN" dirty="0"/>
              <a:t>break</a:t>
            </a:r>
            <a:r>
              <a:rPr lang="zh-CN" altLang="en-US" dirty="0"/>
              <a:t>、</a:t>
            </a:r>
            <a:r>
              <a:rPr lang="en-US" altLang="zh-CN" dirty="0"/>
              <a:t>return</a:t>
            </a:r>
            <a:r>
              <a:rPr lang="zh-CN" altLang="en-US" dirty="0"/>
              <a:t>、</a:t>
            </a:r>
            <a:r>
              <a:rPr lang="en-US" altLang="zh-CN" dirty="0" err="1"/>
              <a:t>goto</a:t>
            </a:r>
            <a:r>
              <a:rPr lang="zh-CN" altLang="en-US" dirty="0"/>
              <a:t>等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(2) </a:t>
            </a:r>
            <a:r>
              <a:rPr lang="zh-CN" altLang="zh-CN" dirty="0"/>
              <a:t>函数调用语句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(3) </a:t>
            </a:r>
            <a:r>
              <a:rPr lang="zh-CN" altLang="zh-CN" dirty="0"/>
              <a:t>表达式语句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zh-CN" dirty="0"/>
              <a:t>空语句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(5) </a:t>
            </a:r>
            <a:r>
              <a:rPr lang="zh-CN" altLang="zh-CN" dirty="0"/>
              <a:t>复合语句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468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4639-AED4-A737-1B90-C2668D44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CB1C1A-1F88-997F-D0E7-6A9E77ED8F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2F1C71-A623-0F98-4E47-A21A65DAD7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F1CA77-62C9-D4BF-A1D2-99A6CC0FE37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AC2D78F-AE85-7C5E-3C4D-F289A1F7EBB0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8153400" cy="3643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 lvl="1"/>
            <a:r>
              <a:rPr lang="zh-CN" altLang="zh-CN" dirty="0"/>
              <a:t>“＝”是赋值运算符</a:t>
            </a:r>
            <a:endParaRPr lang="en-US" altLang="zh-CN" dirty="0"/>
          </a:p>
          <a:p>
            <a:pPr lvl="1"/>
            <a:r>
              <a:rPr lang="zh-CN" altLang="en-US" dirty="0"/>
              <a:t>优先级低，右结合</a:t>
            </a:r>
            <a:endParaRPr lang="en-US" altLang="zh-CN" dirty="0"/>
          </a:p>
          <a:p>
            <a:pPr lvl="1"/>
            <a:r>
              <a:rPr lang="zh-CN" altLang="zh-CN" dirty="0"/>
              <a:t>作用是将一个数据赋给一个变量</a:t>
            </a:r>
            <a:endParaRPr lang="en-US" altLang="zh-CN" dirty="0"/>
          </a:p>
          <a:p>
            <a:pPr lvl="1"/>
            <a:r>
              <a:rPr lang="zh-CN" altLang="zh-CN" dirty="0"/>
              <a:t>也可以将一个表达式的值赋给一个变量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566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104A-B75A-C5F5-8D0E-1DB4E694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69A87B1-337D-7F43-DF11-417806080C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A6110-C4AF-A77B-7A97-45EEC879EF9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78B9B3-82FE-ECBE-4E0F-3B8D44868A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52A4B5E-94E2-B631-7EA6-FFDA5B865DC4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8153400" cy="3643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zh-CN" dirty="0"/>
              <a:t>复合的赋值运算符</a:t>
            </a:r>
            <a:endParaRPr lang="en-US" altLang="zh-CN" dirty="0"/>
          </a:p>
          <a:p>
            <a:pPr lvl="1"/>
            <a:r>
              <a:rPr lang="zh-CN" altLang="zh-CN" dirty="0"/>
              <a:t>在赋值符“＝”之前加上其他运算符，可以构成复合的运算符</a:t>
            </a:r>
            <a:endParaRPr lang="en-US" altLang="zh-CN" dirty="0"/>
          </a:p>
          <a:p>
            <a:pPr lvl="1"/>
            <a:r>
              <a:rPr lang="zh-CN" altLang="zh-CN" dirty="0"/>
              <a:t>ａ＋＝３</a:t>
            </a:r>
            <a:r>
              <a:rPr lang="en-US" altLang="zh-CN" dirty="0"/>
              <a:t>        </a:t>
            </a:r>
            <a:r>
              <a:rPr lang="zh-CN" altLang="zh-CN" dirty="0"/>
              <a:t>等价于</a:t>
            </a:r>
            <a:r>
              <a:rPr lang="en-US" altLang="zh-CN" dirty="0"/>
              <a:t>  </a:t>
            </a:r>
            <a:r>
              <a:rPr lang="zh-CN" altLang="zh-CN" dirty="0"/>
              <a:t>ａ＝ａ＋３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43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424F-4CA6-FD06-93CD-337D04EC7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6366757-9223-7A12-D514-F83E2420725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F8C0D6-5917-987A-6C03-8897A7AB197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074056-C881-FF6B-64AC-3E63B185D6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8999E91-F3A4-8E11-524A-C65EFDDA68A2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9080212" cy="5737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zh-CN" dirty="0"/>
              <a:t>复合的赋值运算符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3.</a:t>
            </a:r>
            <a:r>
              <a:rPr lang="zh-CN" altLang="zh-CN" dirty="0"/>
              <a:t>赋值表达式</a:t>
            </a:r>
            <a:endParaRPr lang="en-US" altLang="zh-CN" dirty="0"/>
          </a:p>
          <a:p>
            <a:pPr lvl="1"/>
            <a:r>
              <a:rPr lang="zh-CN" altLang="zh-CN" dirty="0"/>
              <a:t>一般形式为</a:t>
            </a:r>
            <a:r>
              <a:rPr lang="zh-CN" altLang="en-US" dirty="0"/>
              <a:t>：</a:t>
            </a:r>
            <a:endParaRPr lang="zh-CN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变量</a:t>
            </a:r>
            <a:r>
              <a:rPr lang="en-US" altLang="zh-CN" dirty="0"/>
              <a:t>  </a:t>
            </a:r>
            <a:r>
              <a:rPr lang="zh-CN" altLang="zh-CN" dirty="0"/>
              <a:t>赋值运算符</a:t>
            </a:r>
            <a:r>
              <a:rPr lang="en-US" altLang="zh-CN" dirty="0"/>
              <a:t>  </a:t>
            </a:r>
            <a:r>
              <a:rPr lang="zh-CN" altLang="zh-CN" dirty="0"/>
              <a:t>表达式</a:t>
            </a:r>
            <a:endParaRPr lang="en-US" altLang="zh-CN" dirty="0"/>
          </a:p>
          <a:p>
            <a:pPr lvl="1"/>
            <a:r>
              <a:rPr lang="zh-CN" altLang="zh-CN" dirty="0"/>
              <a:t>对赋值表达式求解的过程：</a:t>
            </a:r>
            <a:endParaRPr lang="en-US" altLang="zh-CN" dirty="0"/>
          </a:p>
          <a:p>
            <a:pPr lvl="2"/>
            <a:r>
              <a:rPr lang="zh-CN" altLang="zh-CN" dirty="0"/>
              <a:t>求赋值运算符</a:t>
            </a:r>
            <a:r>
              <a:rPr lang="zh-CN" altLang="zh-CN" dirty="0">
                <a:solidFill>
                  <a:srgbClr val="FF0000"/>
                </a:solidFill>
              </a:rPr>
              <a:t>右侧</a:t>
            </a:r>
            <a:r>
              <a:rPr lang="zh-CN" altLang="zh-CN" dirty="0"/>
              <a:t>的“表达式”的值</a:t>
            </a:r>
            <a:r>
              <a:rPr lang="zh-CN" altLang="en-US" dirty="0"/>
              <a:t>，赋给赋值运算符</a:t>
            </a:r>
            <a:r>
              <a:rPr lang="zh-CN" altLang="en-US" dirty="0">
                <a:solidFill>
                  <a:srgbClr val="FF0000"/>
                </a:solidFill>
              </a:rPr>
              <a:t>左侧</a:t>
            </a:r>
            <a:r>
              <a:rPr lang="zh-CN" altLang="en-US" dirty="0"/>
              <a:t>的变量</a:t>
            </a:r>
            <a:endParaRPr lang="en-US" altLang="zh-CN" dirty="0"/>
          </a:p>
          <a:p>
            <a:pPr lvl="2"/>
            <a:r>
              <a:rPr lang="zh-CN" altLang="en-US" dirty="0"/>
              <a:t>赋值表达式的值等于右侧的表达式</a:t>
            </a:r>
            <a:endParaRPr lang="en-US" altLang="zh-CN" dirty="0"/>
          </a:p>
          <a:p>
            <a:pPr lvl="2"/>
            <a:r>
              <a:rPr lang="zh-CN" altLang="zh-CN" sz="2000" dirty="0"/>
              <a:t>赋值表达式“</a:t>
            </a:r>
            <a:r>
              <a:rPr lang="en-US" altLang="zh-CN" sz="2000" dirty="0"/>
              <a:t>a=3*5</a:t>
            </a:r>
            <a:r>
              <a:rPr lang="zh-CN" altLang="zh-CN" sz="2000" dirty="0"/>
              <a:t>”的值为</a:t>
            </a:r>
            <a:r>
              <a:rPr lang="en-US" altLang="zh-CN" sz="2000" dirty="0"/>
              <a:t>15</a:t>
            </a:r>
            <a:r>
              <a:rPr lang="zh-CN" altLang="zh-CN" sz="2000" dirty="0"/>
              <a:t>，对表达式求解后，变量</a:t>
            </a:r>
            <a:r>
              <a:rPr lang="en-US" altLang="zh-CN" sz="2000" dirty="0"/>
              <a:t>a</a:t>
            </a:r>
            <a:r>
              <a:rPr lang="zh-CN" altLang="zh-CN" sz="2000" dirty="0"/>
              <a:t>的值和表达式的值都是</a:t>
            </a:r>
            <a:r>
              <a:rPr lang="en-US" altLang="zh-CN" sz="2000" dirty="0"/>
              <a:t>15</a:t>
            </a:r>
          </a:p>
          <a:p>
            <a:pPr lvl="2"/>
            <a:r>
              <a:rPr lang="en-US" altLang="zh-CN" sz="2000" dirty="0"/>
              <a:t>a=b=5</a:t>
            </a:r>
            <a:r>
              <a:rPr lang="zh-CN" altLang="zh-CN" sz="2000" dirty="0"/>
              <a:t>和</a:t>
            </a:r>
            <a:r>
              <a:rPr lang="en-US" altLang="zh-CN" sz="2000" dirty="0"/>
              <a:t>a=(b=5)</a:t>
            </a:r>
            <a:r>
              <a:rPr lang="zh-CN" altLang="zh-CN" sz="2000" dirty="0"/>
              <a:t>等价</a:t>
            </a:r>
            <a:endParaRPr lang="en-US" altLang="zh-CN" sz="2000" dirty="0"/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53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CB88-6D8E-7652-76E5-A078E831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82B9B4-2A30-DD70-8F6B-10D4E2EAF4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17EC2A-66E4-7210-6CA6-CCB054D1E4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89913D-FB95-62F8-4808-F36057143E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D5AC177-A630-3041-00CA-110E933FB501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8153400" cy="5737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zh-CN" dirty="0"/>
              <a:t>复合的赋值运算符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3.</a:t>
            </a:r>
            <a:r>
              <a:rPr lang="zh-CN" altLang="zh-CN" dirty="0"/>
              <a:t>赋值表达式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4.</a:t>
            </a:r>
            <a:r>
              <a:rPr lang="zh-CN" altLang="zh-CN" dirty="0"/>
              <a:t>赋值过程中的类型转换</a:t>
            </a:r>
            <a:endParaRPr lang="en-US" altLang="zh-CN" dirty="0"/>
          </a:p>
          <a:p>
            <a:pPr lvl="1"/>
            <a:r>
              <a:rPr lang="zh-CN" altLang="zh-CN" dirty="0"/>
              <a:t>两侧类型一致</a:t>
            </a:r>
            <a:r>
              <a:rPr lang="zh-CN" altLang="en-US" dirty="0"/>
              <a:t>时</a:t>
            </a:r>
            <a:r>
              <a:rPr lang="zh-CN" altLang="zh-CN" dirty="0"/>
              <a:t>，直接赋值</a:t>
            </a:r>
            <a:endParaRPr lang="en-US" altLang="zh-CN" dirty="0"/>
          </a:p>
          <a:p>
            <a:pPr lvl="1"/>
            <a:r>
              <a:rPr lang="zh-CN" altLang="zh-CN" dirty="0"/>
              <a:t>两侧类型不一致，但都是算术类型时，</a:t>
            </a:r>
            <a:r>
              <a:rPr lang="zh-CN" altLang="en-US" dirty="0"/>
              <a:t>自动将右侧的</a:t>
            </a:r>
            <a:r>
              <a:rPr lang="zh-CN" altLang="zh-CN" dirty="0"/>
              <a:t>类型转换</a:t>
            </a:r>
            <a:r>
              <a:rPr lang="zh-CN" altLang="en-US" dirty="0"/>
              <a:t>为左侧类型后赋值</a:t>
            </a:r>
            <a:endParaRPr lang="en-US" altLang="zh-CN" dirty="0"/>
          </a:p>
          <a:p>
            <a:pPr lvl="1"/>
            <a:r>
              <a:rPr lang="zh-CN" altLang="en-US" dirty="0"/>
              <a:t>定义变量时要防止数据溢出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410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8501-FD9E-FC79-4C07-508DB7A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0A6B60C-12C8-721D-F5F2-2DEF98CE54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D7A9A-1B84-ED70-DEB0-68EBF92202C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BBF34C-DDAA-13B3-976E-9EC207E3E8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222898-AFBE-5A8E-5C78-9388F67F5531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8153400" cy="5737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zh-CN" dirty="0"/>
              <a:t>复合的赋值运算符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3.</a:t>
            </a:r>
            <a:r>
              <a:rPr lang="zh-CN" altLang="zh-CN" dirty="0"/>
              <a:t>赋值表达式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4.</a:t>
            </a:r>
            <a:r>
              <a:rPr lang="zh-CN" altLang="zh-CN" dirty="0"/>
              <a:t>赋值过程中的类型转换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5.</a:t>
            </a:r>
            <a:r>
              <a:rPr lang="zh-CN" altLang="zh-CN" dirty="0"/>
              <a:t>赋值表达式和赋值语句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赋值表达式的末尾没有分号，而赋值语句有</a:t>
            </a:r>
            <a:r>
              <a:rPr lang="zh-CN" altLang="en-US" dirty="0"/>
              <a:t>分号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一个表达式可以包含赋值表达式，但决不能包含赋值语句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015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BBA8-DAA4-A538-415A-497BF83E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4161B08-119B-B5F2-E24F-AE127C21B4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13DD26-3D01-4E72-D490-F76FA0F9BC1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（二）赋值语句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0F2DFC-81EF-C602-2EA5-4CBCA27551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F8C0899-2572-A5EF-EDAE-F74F3B8F3FDE}"/>
              </a:ext>
            </a:extLst>
          </p:cNvPr>
          <p:cNvSpPr txBox="1">
            <a:spLocks noChangeArrowheads="1"/>
          </p:cNvSpPr>
          <p:nvPr/>
        </p:nvSpPr>
        <p:spPr>
          <a:xfrm>
            <a:off x="520988" y="931141"/>
            <a:ext cx="8153400" cy="5737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zh-CN" dirty="0"/>
              <a:t>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zh-CN" dirty="0"/>
              <a:t>复合的赋值运算符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3.</a:t>
            </a:r>
            <a:r>
              <a:rPr lang="zh-CN" altLang="zh-CN" dirty="0"/>
              <a:t>赋值表达式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4.</a:t>
            </a:r>
            <a:r>
              <a:rPr lang="zh-CN" altLang="zh-CN" dirty="0"/>
              <a:t>赋值过程中的类型转换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5.</a:t>
            </a:r>
            <a:r>
              <a:rPr lang="zh-CN" altLang="zh-CN" dirty="0"/>
              <a:t>赋值表达式和赋值语句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6.</a:t>
            </a:r>
            <a:r>
              <a:rPr lang="zh-CN" altLang="zh-CN" dirty="0"/>
              <a:t>变量赋初值</a:t>
            </a:r>
            <a:endParaRPr lang="en-US" altLang="zh-CN" dirty="0"/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/>
              <a:t>int a=3,b=3,c;</a:t>
            </a:r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/>
              <a:t>int a=3;  </a:t>
            </a:r>
            <a:r>
              <a:rPr lang="zh-CN" altLang="en-US" dirty="0"/>
              <a:t>相当于  </a:t>
            </a:r>
            <a:r>
              <a:rPr lang="en-US" altLang="zh-CN" dirty="0"/>
              <a:t>int a;   a=3;</a:t>
            </a:r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4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471</Words>
  <Application>Microsoft Office PowerPoint</Application>
  <PresentationFormat>宽屏</PresentationFormat>
  <Paragraphs>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OPPOSans R</vt:lpstr>
      <vt:lpstr>百度综艺简体</vt:lpstr>
      <vt:lpstr>思源黑体 CN Regular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25</cp:revision>
  <dcterms:created xsi:type="dcterms:W3CDTF">2026-05-06T02:15:00Z</dcterms:created>
  <dcterms:modified xsi:type="dcterms:W3CDTF">2026-06-15T01:52:36Z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