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75" r:id="rId3"/>
    <p:sldId id="376" r:id="rId4"/>
    <p:sldId id="311" r:id="rId5"/>
    <p:sldId id="312" r:id="rId6"/>
    <p:sldId id="1192" r:id="rId7"/>
    <p:sldId id="1193" r:id="rId8"/>
    <p:sldId id="313" r:id="rId9"/>
    <p:sldId id="314" r:id="rId10"/>
    <p:sldId id="377" r:id="rId11"/>
    <p:sldId id="378" r:id="rId12"/>
    <p:sldId id="315" r:id="rId13"/>
    <p:sldId id="379" r:id="rId14"/>
    <p:sldId id="380" r:id="rId15"/>
    <p:sldId id="316" r:id="rId16"/>
    <p:sldId id="317" r:id="rId17"/>
    <p:sldId id="318" r:id="rId18"/>
    <p:sldId id="321" r:id="rId19"/>
    <p:sldId id="322" r:id="rId20"/>
    <p:sldId id="323" r:id="rId21"/>
    <p:sldId id="325" r:id="rId22"/>
    <p:sldId id="326" r:id="rId23"/>
    <p:sldId id="327" r:id="rId24"/>
    <p:sldId id="328" r:id="rId25"/>
    <p:sldId id="329" r:id="rId26"/>
    <p:sldId id="330" r:id="rId27"/>
    <p:sldId id="332" r:id="rId28"/>
    <p:sldId id="333" r:id="rId29"/>
    <p:sldId id="334" r:id="rId30"/>
    <p:sldId id="335" r:id="rId31"/>
    <p:sldId id="336" r:id="rId32"/>
    <p:sldId id="337" r:id="rId33"/>
    <p:sldId id="340" r:id="rId34"/>
    <p:sldId id="341" r:id="rId35"/>
    <p:sldId id="338" r:id="rId36"/>
    <p:sldId id="339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4" r:id="rId49"/>
    <p:sldId id="355" r:id="rId50"/>
    <p:sldId id="357" r:id="rId51"/>
    <p:sldId id="1190" r:id="rId52"/>
    <p:sldId id="1191" r:id="rId53"/>
    <p:sldId id="360" r:id="rId54"/>
    <p:sldId id="361" r:id="rId55"/>
    <p:sldId id="362" r:id="rId56"/>
    <p:sldId id="363" r:id="rId57"/>
    <p:sldId id="364" r:id="rId58"/>
    <p:sldId id="365" r:id="rId59"/>
    <p:sldId id="366" r:id="rId60"/>
    <p:sldId id="367" r:id="rId61"/>
    <p:sldId id="368" r:id="rId62"/>
    <p:sldId id="369" r:id="rId63"/>
    <p:sldId id="370" r:id="rId64"/>
    <p:sldId id="371" r:id="rId65"/>
    <p:sldId id="372" r:id="rId66"/>
    <p:sldId id="373" r:id="rId67"/>
    <p:sldId id="381" r:id="rId68"/>
    <p:sldId id="382" r:id="rId69"/>
    <p:sldId id="383" r:id="rId70"/>
    <p:sldId id="384" r:id="rId71"/>
    <p:sldId id="385" r:id="rId72"/>
    <p:sldId id="386" r:id="rId73"/>
    <p:sldId id="1189" r:id="rId74"/>
  </p:sldIdLst>
  <p:sldSz cx="9144000" cy="6858000" type="screen4x3"/>
  <p:notesSz cx="6858000" cy="9144000"/>
  <p:custDataLst>
    <p:tags r:id="rId7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9E7A7"/>
    <a:srgbClr val="3333FF"/>
    <a:srgbClr val="BD1D19"/>
    <a:srgbClr val="235A67"/>
    <a:srgbClr val="4B676D"/>
    <a:srgbClr val="008080"/>
    <a:srgbClr val="0066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39"/>
  </p:normalViewPr>
  <p:slideViewPr>
    <p:cSldViewPr showGuides="1">
      <p:cViewPr varScale="1">
        <p:scale>
          <a:sx n="76" d="100"/>
          <a:sy n="76" d="100"/>
        </p:scale>
        <p:origin x="68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4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8" Type="http://schemas.openxmlformats.org/officeDocument/2006/relationships/tags" Target="tags/tag5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6"/>
          <p:cNvSpPr>
            <a:spLocks noChangeArrowheads="1"/>
          </p:cNvSpPr>
          <p:nvPr/>
        </p:nvSpPr>
        <p:spPr bwMode="auto">
          <a:xfrm>
            <a:off x="3505200" y="2590800"/>
            <a:ext cx="4892675" cy="76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779463" y="1766888"/>
            <a:ext cx="7678737" cy="762000"/>
          </a:xfrm>
          <a:effectLst/>
        </p:spPr>
        <p:txBody>
          <a:bodyPr/>
          <a:lstStyle>
            <a:lvl1pPr algn="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64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21138" y="2860675"/>
            <a:ext cx="4437062" cy="3114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" name="Rectangle 69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266C10-E37B-431B-A9C0-22E585C487E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buFont typeface="Wingdings" panose="05000000000000000000" pitchFamily="2" charset="2"/>
              <a:buChar char="Ø"/>
              <a:defRPr/>
            </a:lvl1pPr>
            <a:lvl2pPr>
              <a:buClrTx/>
              <a:buFont typeface="Wingdings" panose="05000000000000000000" pitchFamily="2" charset="2"/>
              <a:buChar char="u"/>
              <a:defRPr/>
            </a:lvl2pPr>
            <a:lvl3pPr>
              <a:buClrTx/>
              <a:buFont typeface="Wingdings" panose="05000000000000000000" pitchFamily="2" charset="2"/>
              <a:buChar char="l"/>
              <a:defRPr sz="2800"/>
            </a:lvl3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0" y="1628775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0" y="1628775"/>
            <a:ext cx="40005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6388" y="762000"/>
            <a:ext cx="2039937" cy="5362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762000"/>
            <a:ext cx="5970588" cy="5362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1629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628775"/>
            <a:ext cx="40005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92650" y="1628775"/>
            <a:ext cx="40005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92650" y="3952875"/>
            <a:ext cx="4000500" cy="2171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1629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628775"/>
            <a:ext cx="40005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2650" y="1628775"/>
            <a:ext cx="40005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1629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39750" y="1628775"/>
            <a:ext cx="81534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5"/>
          <p:cNvSpPr>
            <a:spLocks noGrp="1"/>
          </p:cNvSpPr>
          <p:nvPr>
            <p:ph type="title"/>
          </p:nvPr>
        </p:nvSpPr>
        <p:spPr>
          <a:xfrm>
            <a:off x="533400" y="762000"/>
            <a:ext cx="8162925" cy="762000"/>
          </a:xfrm>
          <a:prstGeom prst="rect">
            <a:avLst/>
          </a:prstGeom>
          <a:noFill/>
          <a:ln w="9525">
            <a:noFill/>
          </a:ln>
          <a:effectLst>
            <a:outerShdw dist="45791" dir="3378595" algn="ctr" rotWithShape="0">
              <a:schemeClr val="accent2"/>
            </a:outerShdw>
          </a:effectLst>
        </p:spPr>
        <p:txBody>
          <a:bodyPr anchor="b" anchorCtr="0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138" name="Rectangle 66"/>
          <p:cNvSpPr>
            <a:spLocks noGrp="1"/>
          </p:cNvSpPr>
          <p:nvPr>
            <p:ph type="body" idx="1"/>
          </p:nvPr>
        </p:nvSpPr>
        <p:spPr>
          <a:xfrm>
            <a:off x="539750" y="1628775"/>
            <a:ext cx="8153400" cy="449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52525" y="62865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40" name="Rectangle 6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90925" y="62865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41" name="Rectangle 6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2865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>
                <a:latin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9A783-1A37-4E94-A558-31F8715E8AA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8" grpId="0" build="p">
        <p:tmplLst>
          <p:tmpl lvl="1">
            <p:tnLst>
              <p:par>
                <p:cTn presetID="53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3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3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3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3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3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µ"/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62.xml"/><Relationship Id="rId5" Type="http://schemas.openxmlformats.org/officeDocument/2006/relationships/slide" Target="slide61.xml"/><Relationship Id="rId4" Type="http://schemas.openxmlformats.org/officeDocument/2006/relationships/slide" Target="slide26.xml"/><Relationship Id="rId3" Type="http://schemas.openxmlformats.org/officeDocument/2006/relationships/slide" Target="slide11.xml"/><Relationship Id="rId2" Type="http://schemas.openxmlformats.org/officeDocument/2006/relationships/slide" Target="slide7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9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slide" Target="slide3.xml"/><Relationship Id="rId2" Type="http://schemas.openxmlformats.org/officeDocument/2006/relationships/slide" Target="slide52.xml"/><Relationship Id="rId1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slide" Target="slide26.xml"/><Relationship Id="rId1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2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 noChangeArrowheads="1"/>
          </p:cNvSpPr>
          <p:nvPr>
            <p:ph type="title"/>
          </p:nvPr>
        </p:nvSpPr>
        <p:spPr>
          <a:xfrm>
            <a:off x="1835150" y="623888"/>
            <a:ext cx="6813550" cy="461963"/>
          </a:xfrm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“十二五”普通高等教育本科国家级规划教材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3075" name="内容占位符 2"/>
          <p:cNvSpPr>
            <a:spLocks noGrp="1" noChangeArrowheads="1"/>
          </p:cNvSpPr>
          <p:nvPr>
            <p:ph idx="1"/>
          </p:nvPr>
        </p:nvSpPr>
        <p:spPr>
          <a:xfrm>
            <a:off x="3768725" y="4622800"/>
            <a:ext cx="1616075" cy="431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谭浩强 著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3076" name="矩形 3"/>
          <p:cNvSpPr/>
          <p:nvPr/>
        </p:nvSpPr>
        <p:spPr>
          <a:xfrm>
            <a:off x="2857500" y="2565400"/>
            <a:ext cx="3432175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8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 </a:t>
            </a:r>
            <a:r>
              <a:rPr lang="zh-CN" altLang="en-US" sz="4800" dirty="0">
                <a:solidFill>
                  <a:srgbClr val="235A67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程序设计</a:t>
            </a:r>
            <a:endParaRPr lang="zh-CN" altLang="en-US" sz="4800" dirty="0">
              <a:solidFill>
                <a:srgbClr val="235A67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077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5288" y="333375"/>
            <a:ext cx="1179512" cy="1387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内容占位符 2"/>
          <p:cNvSpPr txBox="1">
            <a:spLocks noChangeArrowheads="1"/>
          </p:cNvSpPr>
          <p:nvPr/>
        </p:nvSpPr>
        <p:spPr bwMode="auto">
          <a:xfrm>
            <a:off x="3663950" y="5084763"/>
            <a:ext cx="1824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韩旭明讲授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pic>
        <p:nvPicPr>
          <p:cNvPr id="3079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12063" y="4672013"/>
            <a:ext cx="1395412" cy="132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6200773" y="4643460"/>
            <a:ext cx="1396375" cy="137782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path path="shape">
              <a:fillToRect l="50000" t="50000" r="50000" b="50000"/>
            </a:path>
            <a:tileRect/>
          </a:gradFill>
          <a:ln w="317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lgDash"/>
          </a:ln>
        </p:spPr>
        <p:txBody>
          <a:bodyPr vert="eaVert" lIns="126000" tIns="126000" rIns="126000" bIns="12600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忠信笃敬</a:t>
            </a:r>
            <a:endParaRPr kumimoji="1" lang="en-US" altLang="zh-CN" sz="2000" b="0" i="0" u="none" strike="noStrike" kern="1200" cap="none" spc="0" normalizeH="0" baseline="0" noProof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知行合一</a:t>
            </a:r>
            <a:endParaRPr kumimoji="1" lang="en-US" altLang="zh-CN" sz="2000" b="0" i="0" u="none" strike="noStrike" kern="1200" cap="none" spc="0" normalizeH="0" baseline="0" noProof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自强不息</a:t>
            </a:r>
            <a:endParaRPr kumimoji="1" lang="en-US" altLang="zh-CN" sz="2000" b="0" i="0" u="none" strike="noStrike" kern="1200" cap="none" spc="0" normalizeH="0" baseline="0" noProof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和而不同</a:t>
            </a:r>
            <a:endParaRPr kumimoji="1" lang="zh-CN" altLang="en-US" sz="2000" b="0" i="0" u="none" strike="noStrike" kern="1200" cap="none" spc="0" normalizeH="0" baseline="0" noProof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 noChangeArrowheads="1"/>
          </p:cNvSpPr>
          <p:nvPr>
            <p:ph type="title"/>
          </p:nvPr>
        </p:nvSpPr>
        <p:spPr>
          <a:xfrm>
            <a:off x="3384550" y="633413"/>
            <a:ext cx="2374900" cy="708025"/>
          </a:xfrm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课程内容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5825" y="1341438"/>
            <a:ext cx="6423025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程序设计与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算法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程序的灵魂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最简单的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程序设计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顺序程序设计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选择结构程序设计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循环结构程序设计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利用数组处理批量数据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用函数实现模块化程序设计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善于利用指针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9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 用户自己建立数据类型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对文件的输入输出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章   常见的错误分析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795338"/>
            <a:ext cx="8001000" cy="708025"/>
          </a:xfrm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第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1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章 </a:t>
            </a:r>
            <a:r>
              <a:rPr kumimoji="1" lang="zh-CN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程序设计和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C</a:t>
            </a:r>
            <a:r>
              <a:rPr kumimoji="1" lang="zh-CN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黑体" panose="02010609060101010101" pitchFamily="2" charset="-122"/>
                <a:cs typeface="+mj-cs"/>
              </a:rPr>
              <a:t>语言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1047750" y="1714500"/>
            <a:ext cx="6477000" cy="4235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1" action="ppaction://hlinksldjump"/>
              </a:rPr>
              <a:t>1.1 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1" action="ppaction://hlinksldjump"/>
              </a:rPr>
              <a:t>什么是计算机程序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2" action="ppaction://hlinksldjump"/>
              </a:rPr>
              <a:t>1.2 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2" action="ppaction://hlinksldjump"/>
              </a:rPr>
              <a:t>什么是计算机语言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3" action="ppaction://hlinksldjump"/>
              </a:rPr>
              <a:t>1.3 C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3" action="ppaction://hlinksldjump"/>
              </a:rPr>
              <a:t>语言的发展及其特点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4" action="ppaction://hlinksldjump"/>
              </a:rPr>
              <a:t>1.4 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4" action="ppaction://hlinksldjump"/>
              </a:rPr>
              <a:t>最简单的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4" action="ppaction://hlinksldjump"/>
              </a:rPr>
              <a:t>C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4" action="ppaction://hlinksldjump"/>
              </a:rPr>
              <a:t>语言程序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5" action="ppaction://hlinksldjump"/>
              </a:rPr>
              <a:t>1.5 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5" action="ppaction://hlinksldjump"/>
              </a:rPr>
              <a:t>运行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5" action="ppaction://hlinksldjump"/>
              </a:rPr>
              <a:t>C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5" action="ppaction://hlinksldjump"/>
              </a:rPr>
              <a:t>程序的步骤与方法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6" action="ppaction://hlinksldjump"/>
              </a:rPr>
              <a:t>1.6 </a:t>
            </a:r>
            <a:r>
              <a:rPr kumimoji="1" lang="zh-CN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hlinkClick r:id="rId6" action="ppaction://hlinksldjump"/>
              </a:rPr>
              <a:t>程序设计的任务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323850" y="693738"/>
            <a:ext cx="4824413" cy="647700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1.1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什么是计算机程序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16071" name="Rectangle 7"/>
          <p:cNvSpPr>
            <a:spLocks noGrp="1" noChangeArrowheads="1"/>
          </p:cNvSpPr>
          <p:nvPr>
            <p:ph idx="1"/>
          </p:nvPr>
        </p:nvSpPr>
        <p:spPr>
          <a:xfrm>
            <a:off x="755650" y="1773238"/>
            <a:ext cx="7632700" cy="3571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一组计算机能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识别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指令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。每一条指令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使计算机执行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特定的操作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只要让计算机执行这个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，计算机就会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自动地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有条不紊地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进行工作。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计算机的一切操作都是由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程序控制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的，离开程序，计算机将一事无成。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lvl="0" indent="0" eaLnBrk="1" hangingPunct="1">
              <a:buNone/>
              <a:defRPr/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lang="en-US" altLang="zh-CN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8" name="图片 4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527775"/>
            <a:ext cx="8162925" cy="523220"/>
          </a:xfr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冯</a:t>
            </a:r>
            <a:r>
              <a:rPr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 </a:t>
            </a:r>
            <a:r>
              <a:rPr lang="zh-CN" altLang="en-US" sz="28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诺依曼原理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---《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计算机组成原理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》</a:t>
            </a:r>
            <a:endParaRPr lang="zh-CN" altLang="en-US" sz="20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440" y="1050995"/>
            <a:ext cx="8622040" cy="4495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冯诺依曼原理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（也称为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诺依曼体系结构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），是现代计算机设计的</a:t>
            </a:r>
            <a:r>
              <a:rPr lang="zh-CN" altLang="en-US" sz="22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b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它由美籍匈牙利数学家，约翰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诺依曼在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1945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年提出的。</a:t>
            </a:r>
            <a:endParaRPr lang="en-US" altLang="zh-CN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通常包含以下几个核心要点：</a:t>
            </a:r>
            <a:endParaRPr lang="zh-CN" altLang="en-US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计算机由五大基本部件组成</a:t>
            </a:r>
            <a:endParaRPr lang="en-US" altLang="zh-CN" sz="2200" b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运算器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输入设备</a:t>
            </a: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输出设备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2.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采用二进制</a:t>
            </a:r>
            <a:endParaRPr lang="en-US" altLang="zh-CN" sz="2200" b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3.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存储程序（核心思想）</a:t>
            </a:r>
            <a:endParaRPr lang="en-US" altLang="zh-CN" sz="2200" b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这是</a:t>
            </a:r>
            <a:r>
              <a:rPr lang="zh-CN" altLang="en-US" sz="22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冯诺依曼体系结构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最核心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最具革命性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的思想。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4.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指令顺序执行</a:t>
            </a:r>
            <a:endParaRPr lang="en-US" altLang="zh-CN" sz="2200" b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5.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指令由</a:t>
            </a:r>
            <a:r>
              <a:rPr lang="zh-CN" altLang="en-US" sz="22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操作码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2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地址码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zh-CN" altLang="en-US" sz="2200" b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527775"/>
            <a:ext cx="8162925" cy="523220"/>
          </a:xfr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冯</a:t>
            </a:r>
            <a:r>
              <a:rPr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 </a:t>
            </a:r>
            <a:r>
              <a:rPr lang="zh-CN" altLang="en-US" sz="28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诺依曼原理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---《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计算机组成原理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》</a:t>
            </a:r>
            <a:endParaRPr lang="zh-CN" altLang="en-US" sz="20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440" y="1052736"/>
            <a:ext cx="8622040" cy="4495800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工作流程简述</a:t>
            </a:r>
            <a:endParaRPr lang="en-US" altLang="zh-CN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1.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取指令： </a:t>
            </a: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分析指令： </a:t>
            </a: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执行指令：</a:t>
            </a: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更新指令计数器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重复步骤</a:t>
            </a:r>
            <a:r>
              <a:rPr lang="en-US" altLang="zh-CN" sz="22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，周而复始，直到程序结束。</a:t>
            </a:r>
            <a:endParaRPr lang="en-US" altLang="zh-CN" sz="2200" b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ts val="1800"/>
              </a:spcBef>
              <a:spcAft>
                <a:spcPts val="0"/>
              </a:spcAft>
              <a:buNone/>
            </a:pP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       </a:t>
            </a:r>
            <a:endParaRPr lang="en-US" altLang="zh-CN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它奠定了</a:t>
            </a:r>
            <a:r>
              <a:rPr lang="zh-CN" altLang="en-US" sz="22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现代电子计算机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，至今绝大多数计算机仍基于此原理设计，因此被称为</a:t>
            </a:r>
            <a:r>
              <a:rPr lang="zh-CN" altLang="en-US" sz="22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“冯</a:t>
            </a:r>
            <a:r>
              <a:rPr lang="en-US" altLang="zh-CN" sz="22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2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诺依曼机”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这一原理是计算机科学发展史上的一个里程碑，至今仍是</a:t>
            </a:r>
            <a:r>
              <a:rPr lang="zh-CN" altLang="en-US" sz="22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理解计算机工作原理的基石。</a:t>
            </a:r>
            <a:endParaRPr lang="en-US" altLang="zh-CN" sz="22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/>
          </p:cNvSpPr>
          <p:nvPr>
            <p:ph idx="1"/>
          </p:nvPr>
        </p:nvSpPr>
        <p:spPr>
          <a:xfrm>
            <a:off x="714375" y="1700213"/>
            <a:ext cx="7632700" cy="13557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</a:pPr>
            <a:r>
              <a:rPr kumimoji="1" lang="zh-CN" altLang="zh-CN" sz="2800" b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计算机语言</a:t>
            </a:r>
            <a:r>
              <a:rPr kumimoji="1"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zh-CN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人和计算机交流信息</a:t>
            </a:r>
            <a:r>
              <a:rPr kumimoji="1"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的、</a:t>
            </a:r>
            <a:r>
              <a:rPr kumimoji="1" lang="zh-CN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计算机和人都能识别的语言。</a:t>
            </a:r>
            <a:endParaRPr kumimoji="1"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171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323850" y="693738"/>
            <a:ext cx="4824413" cy="647700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1.2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什么是计算机</a:t>
            </a:r>
            <a:r>
              <a:rPr lang="zh-CN" altLang="en-US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 noChangeArrowheads="1"/>
          </p:cNvSpPr>
          <p:nvPr>
            <p:ph idx="1"/>
          </p:nvPr>
        </p:nvSpPr>
        <p:spPr>
          <a:xfrm>
            <a:off x="500063" y="1384300"/>
            <a:ext cx="8286750" cy="4429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计算机语言发展阶段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461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低级语言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机器语言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0 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 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组成的指令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符号语言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用英文字母和数字表示指令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47675" marR="0" lvl="1" indent="-35877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高级语言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面向程序员、可移植性好、执行效率低、便于编程高级语言。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接近于人的自然语言和数学语言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8900" marR="0" lvl="1" indent="0" algn="l" defTabSz="914400" rtl="0" eaLnBrk="1" fontAlgn="base" latinLnBrk="0" hangingPunct="1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从编程形式上分为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628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过程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628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非结构化的语言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结构化语言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628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对象的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云形标注 4"/>
          <p:cNvSpPr/>
          <p:nvPr/>
        </p:nvSpPr>
        <p:spPr>
          <a:xfrm>
            <a:off x="5005388" y="260350"/>
            <a:ext cx="3814762" cy="1728788"/>
          </a:xfrm>
          <a:prstGeom prst="cloudCallout">
            <a:avLst>
              <a:gd name="adj1" fmla="val -41532"/>
              <a:gd name="adj2" fmla="val 6478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低级语言</a:t>
            </a:r>
            <a:endParaRPr lang="en-US" altLang="zh-CN" sz="20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235A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面向机器、可移植性差、</a:t>
            </a:r>
            <a:endParaRPr lang="en-US" altLang="zh-CN" sz="2000" b="0" dirty="0">
              <a:solidFill>
                <a:srgbClr val="235A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235A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效率高、不方便编程</a:t>
            </a:r>
            <a:r>
              <a:rPr lang="zh-CN" altLang="en-US" sz="2400" b="0" dirty="0">
                <a:solidFill>
                  <a:srgbClr val="235A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0" dirty="0">
              <a:solidFill>
                <a:srgbClr val="235A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27313" y="1989138"/>
            <a:ext cx="5761037" cy="1143000"/>
          </a:xfrm>
          <a:prstGeom prst="rect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pic>
        <p:nvPicPr>
          <p:cNvPr id="8197" name="图片 6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8" name="Rectangle 2"/>
          <p:cNvSpPr>
            <a:spLocks noGrp="1"/>
          </p:cNvSpPr>
          <p:nvPr>
            <p:ph type="title"/>
          </p:nvPr>
        </p:nvSpPr>
        <p:spPr>
          <a:xfrm>
            <a:off x="323850" y="693738"/>
            <a:ext cx="4824413" cy="647700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1.2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什么是计算机</a:t>
            </a:r>
            <a:r>
              <a:rPr lang="zh-CN" altLang="en-US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6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6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6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160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50825" y="695325"/>
            <a:ext cx="81629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/>
            <a:r>
              <a:rPr lang="zh-CN" altLang="zh-CN" sz="3600" dirty="0">
                <a:solidFill>
                  <a:srgbClr val="235A67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面向过程的语言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结构化程序设计方法</a:t>
            </a:r>
            <a:endParaRPr lang="zh-CN" altLang="en-US" sz="3200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484313"/>
            <a:ext cx="81534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0" fontAlgn="base" latinLnBrk="0" hangingPunct="0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结构化程序设计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（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Structured Programming, SP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三种基本控制结构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顺序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面向过程语言的特点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自顶向下，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逐步求精，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模块化，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功能化，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高内聚，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低耦合。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250825" y="620713"/>
            <a:ext cx="5810250" cy="646112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/>
            <a:r>
              <a:rPr lang="zh-CN" altLang="en-US" sz="3600" dirty="0">
                <a:solidFill>
                  <a:srgbClr val="235A67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面向对象的程序设计方法</a:t>
            </a:r>
            <a:endParaRPr lang="zh-CN" altLang="en-US" sz="3600" dirty="0">
              <a:solidFill>
                <a:srgbClr val="235A67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1042988" y="1773238"/>
            <a:ext cx="5257800" cy="2519362"/>
          </a:xfrm>
        </p:spPr>
        <p:txBody>
          <a:bodyPr vert="horz" wrap="square" lIns="91440" tIns="45720" rIns="91440" bIns="45720" anchor="t" anchorCtr="0"/>
          <a:lstStyle/>
          <a:p>
            <a:pPr>
              <a:buFont typeface="Wingdings" panose="05000000000000000000" pitchFamily="2" charset="2"/>
              <a:buChar char="n"/>
            </a:pPr>
            <a:r>
              <a:rPr kumimoji="1" lang="zh-CN" altLang="en-US" sz="2800" b="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抽象性</a:t>
            </a:r>
            <a:endParaRPr kumimoji="1" lang="en-US" altLang="zh-CN" sz="2800" b="0" dirty="0">
              <a:solidFill>
                <a:srgbClr val="0000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kumimoji="1" lang="zh-CN" altLang="en-US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封装性</a:t>
            </a:r>
            <a:endParaRPr kumimoji="1" lang="en-US" altLang="zh-CN" sz="2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kumimoji="1" lang="zh-CN" altLang="en-US" sz="2800" b="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继承性</a:t>
            </a:r>
            <a:endParaRPr kumimoji="1" lang="en-US" altLang="zh-CN" sz="2800" b="0" dirty="0">
              <a:solidFill>
                <a:srgbClr val="0000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kumimoji="1" lang="zh-CN" altLang="en-US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多态性</a:t>
            </a:r>
            <a:endParaRPr kumimoji="1" lang="zh-CN" altLang="en-US" sz="28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250825" y="698500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16071" name="Rectangle 7"/>
          <p:cNvSpPr>
            <a:spLocks noGrp="1" noChangeArrowheads="1"/>
          </p:cNvSpPr>
          <p:nvPr>
            <p:ph idx="1"/>
          </p:nvPr>
        </p:nvSpPr>
        <p:spPr>
          <a:xfrm>
            <a:off x="899740" y="1386607"/>
            <a:ext cx="7632700" cy="530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C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语言是国际上广泛流行的计算机高级语言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900113" y="3843338"/>
            <a:ext cx="2071687" cy="534987"/>
          </a:xfrm>
          <a:prstGeom prst="flowChartProcess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BCPL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</a:t>
            </a: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3829050" y="3843338"/>
            <a:ext cx="1500188" cy="534987"/>
          </a:xfrm>
          <a:prstGeom prst="flowChartProcess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B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</a:t>
            </a: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6186488" y="3822700"/>
            <a:ext cx="1571625" cy="576263"/>
          </a:xfrm>
          <a:prstGeom prst="flowChartProcess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</a:t>
            </a: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燕尾形箭头 7"/>
          <p:cNvSpPr/>
          <p:nvPr/>
        </p:nvSpPr>
        <p:spPr>
          <a:xfrm>
            <a:off x="3043238" y="3948113"/>
            <a:ext cx="714375" cy="357187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0000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燕尾形箭头 8"/>
          <p:cNvSpPr/>
          <p:nvPr/>
        </p:nvSpPr>
        <p:spPr>
          <a:xfrm>
            <a:off x="5400675" y="3925888"/>
            <a:ext cx="714375" cy="357187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rgbClr val="0000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右大括号 10"/>
          <p:cNvSpPr/>
          <p:nvPr/>
        </p:nvSpPr>
        <p:spPr>
          <a:xfrm rot="5400000">
            <a:off x="3008313" y="3624863"/>
            <a:ext cx="601662" cy="2182813"/>
          </a:xfrm>
          <a:prstGeom prst="rightBrace">
            <a:avLst>
              <a:gd name="adj1" fmla="val 833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横卷形 11"/>
          <p:cNvSpPr/>
          <p:nvPr/>
        </p:nvSpPr>
        <p:spPr>
          <a:xfrm>
            <a:off x="1328738" y="4824413"/>
            <a:ext cx="4071937" cy="1214437"/>
          </a:xfrm>
          <a:prstGeom prst="horizontalScroll">
            <a:avLst>
              <a:gd name="adj" fmla="val 12500"/>
            </a:avLst>
          </a:prstGeom>
          <a:solidFill>
            <a:srgbClr val="C9E7A7"/>
          </a:solidFill>
          <a:ln w="952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精练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接近硬件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，但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过于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简单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, 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无数据类型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圆角矩形标注 12"/>
          <p:cNvSpPr/>
          <p:nvPr/>
        </p:nvSpPr>
        <p:spPr>
          <a:xfrm>
            <a:off x="4930775" y="2457451"/>
            <a:ext cx="3286125" cy="720725"/>
          </a:xfrm>
          <a:prstGeom prst="wedgeRoundRectCallout">
            <a:avLst>
              <a:gd name="adj1" fmla="val 10148"/>
              <a:gd name="adj2" fmla="val 131688"/>
              <a:gd name="adj3" fmla="val 16667"/>
            </a:avLst>
          </a:prstGeom>
          <a:solidFill>
            <a:srgbClr val="C9E7A7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zh-CN" sz="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具有多种数据类型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1276" name="图片 1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7"/>
          <p:cNvSpPr txBox="1">
            <a:spLocks noChangeArrowheads="1"/>
          </p:cNvSpPr>
          <p:nvPr/>
        </p:nvSpPr>
        <p:spPr>
          <a:xfrm>
            <a:off x="215806" y="2134887"/>
            <a:ext cx="7632700" cy="8559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zh-CN" b="0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 </a:t>
            </a:r>
            <a:r>
              <a:rPr lang="zh-CN" altLang="zh-CN" b="0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语言的</a:t>
            </a:r>
            <a:r>
              <a:rPr lang="zh-CN" altLang="en-US" b="0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发展历程</a:t>
            </a:r>
            <a:endParaRPr lang="zh-CN" altLang="en-US" b="0" kern="0" dirty="0">
              <a:solidFill>
                <a:srgbClr val="C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3269" y="1610816"/>
            <a:ext cx="7777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ALGOL 60      CPL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BCPL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1960          1963       1967        1970           1972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291" name="AutoShape 5"/>
          <p:cNvSpPr/>
          <p:nvPr/>
        </p:nvSpPr>
        <p:spPr>
          <a:xfrm>
            <a:off x="2485081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2292" name="AutoShape 5"/>
          <p:cNvSpPr/>
          <p:nvPr/>
        </p:nvSpPr>
        <p:spPr>
          <a:xfrm>
            <a:off x="3707456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0" dirty="0">
                <a:latin typeface="Arial" panose="020B0604020202020204" pitchFamily="34" charset="0"/>
              </a:rPr>
              <a:t> </a:t>
            </a: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2293" name="AutoShape 5"/>
          <p:cNvSpPr/>
          <p:nvPr/>
        </p:nvSpPr>
        <p:spPr>
          <a:xfrm>
            <a:off x="5147319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2294" name="AutoShape 5"/>
          <p:cNvSpPr/>
          <p:nvPr/>
        </p:nvSpPr>
        <p:spPr>
          <a:xfrm>
            <a:off x="6731644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2295" name="标题 1"/>
          <p:cNvSpPr>
            <a:spLocks noGrp="1"/>
          </p:cNvSpPr>
          <p:nvPr>
            <p:ph type="title"/>
          </p:nvPr>
        </p:nvSpPr>
        <p:spPr>
          <a:xfrm>
            <a:off x="250825" y="622300"/>
            <a:ext cx="41767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>
              <a:buNone/>
            </a:pPr>
            <a:r>
              <a:rPr lang="en-US" altLang="zh-CN" sz="3600" b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sz="3600" b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语言的发展历程</a:t>
            </a:r>
            <a:endParaRPr lang="zh-CN" altLang="en-US" sz="3600" b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288" y="2999209"/>
            <a:ext cx="8497192" cy="2085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0530" marR="0" lvl="0" indent="-1700530" algn="l" defTabSz="914400" rtl="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ts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BD1D1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ALGOL 60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1960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年出现，是一种面向问题的高级语言，它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离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硬件比较远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不宜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用来编写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系统程序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25500" marR="0" lvl="0" indent="-825500" algn="l" defTabSz="914400" rtl="0" eaLnBrk="1" fontAlgn="auto" latinLnBrk="0" hangingPunct="1">
              <a:lnSpc>
                <a:spcPct val="100000"/>
              </a:lnSpc>
              <a:spcBef>
                <a:spcPct val="40000"/>
              </a:spcBef>
              <a:spcAft>
                <a:spcPts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CPL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1963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年英国的剑桥大学推出了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CPL (combined programming language)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ALGOL 60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的基础上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接近硬件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一些，但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规模比较大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，难以实现。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6"/>
          <p:cNvSpPr>
            <a:spLocks noChangeArrowheads="1"/>
          </p:cNvSpPr>
          <p:nvPr/>
        </p:nvSpPr>
        <p:spPr bwMode="auto">
          <a:xfrm>
            <a:off x="395288" y="3050951"/>
            <a:ext cx="8497191" cy="275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992505" marR="0" lvl="0" indent="-992505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BCPL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1967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年英国剑桥大学的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Matin Richards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做了简化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，推出了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BCPL (basic combined programming language)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122680" marR="0" lvl="0" indent="-112268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1970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年美国贝尔实验室的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Ken Thompson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BCPL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为基础， 又做了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进一步简化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 设计出了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很简单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的而且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很接近硬件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 并用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 写了第一个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操作系统，但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语言过于简单，功能有限。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5" name="标题 1"/>
          <p:cNvSpPr>
            <a:spLocks noGrp="1"/>
          </p:cNvSpPr>
          <p:nvPr>
            <p:ph type="title"/>
          </p:nvPr>
        </p:nvSpPr>
        <p:spPr>
          <a:xfrm>
            <a:off x="250825" y="674688"/>
            <a:ext cx="4176713" cy="576262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>
              <a:buNone/>
            </a:pPr>
            <a:r>
              <a:rPr lang="en-US" altLang="zh-CN" sz="3600" b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sz="3600" b="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语言的发展历程</a:t>
            </a:r>
            <a:endParaRPr lang="zh-CN" altLang="en-US" sz="3600" b="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269" y="1610816"/>
            <a:ext cx="7777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ALGOL 60      CPL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BCPL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FFFFCC"/>
              </a:buClr>
              <a:buSzPct val="70000"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1960          1963       1967        1970           1972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AutoShape 5"/>
          <p:cNvSpPr/>
          <p:nvPr/>
        </p:nvSpPr>
        <p:spPr>
          <a:xfrm>
            <a:off x="2485081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4" name="AutoShape 5"/>
          <p:cNvSpPr/>
          <p:nvPr/>
        </p:nvSpPr>
        <p:spPr>
          <a:xfrm>
            <a:off x="3707456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0" dirty="0">
                <a:latin typeface="Arial" panose="020B0604020202020204" pitchFamily="34" charset="0"/>
              </a:rPr>
              <a:t> </a:t>
            </a: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147319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6731644" y="1694954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FFFF99"/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/>
          </p:cNvSpPr>
          <p:nvPr>
            <p:ph idx="1"/>
          </p:nvPr>
        </p:nvSpPr>
        <p:spPr>
          <a:xfrm>
            <a:off x="468313" y="1700213"/>
            <a:ext cx="7878762" cy="2078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最初的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语言只是为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描述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和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实现</a:t>
            </a:r>
            <a:r>
              <a:rPr kumimoji="1" lang="en-US" altLang="zh-CN" sz="2800" b="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UNIX</a:t>
            </a:r>
            <a:r>
              <a:rPr kumimoji="1" lang="zh-CN" altLang="zh-CN" sz="28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操作系统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提供一种工作语言而设计的</a:t>
            </a:r>
            <a:r>
              <a:rPr kumimoji="1" lang="zh-CN" altLang="zh-CN" sz="2800" dirty="0">
                <a:latin typeface="+mn-lt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dirty="0"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339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AutoShape 6">
            <a:hlinkClick r:id="rId3" action="ppaction://hlinksldjump"/>
          </p:cNvPr>
          <p:cNvSpPr/>
          <p:nvPr/>
        </p:nvSpPr>
        <p:spPr>
          <a:xfrm>
            <a:off x="3579813" y="2986088"/>
            <a:ext cx="1657350" cy="576262"/>
          </a:xfrm>
          <a:prstGeom prst="rightArrow">
            <a:avLst>
              <a:gd name="adj1" fmla="val 50000"/>
              <a:gd name="adj2" fmla="val 70076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4341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/>
          </p:cNvSpPr>
          <p:nvPr>
            <p:ph idx="1"/>
          </p:nvPr>
        </p:nvSpPr>
        <p:spPr>
          <a:xfrm>
            <a:off x="233363" y="1412875"/>
            <a:ext cx="8659117" cy="33845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1983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年，美国国家标准协会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(ANSI)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成立了一个委员会，根据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语言问世以来各种版本对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语言的发展和扩充，制定了第一个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语言标准草案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(’83 ANSI C)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1989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年，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ANSI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公布了一个完整的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语言标准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—ANSI X3.159-1989(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常称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ANSI 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，或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C89)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363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4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/>
          </p:cNvSpPr>
          <p:nvPr>
            <p:ph idx="1"/>
          </p:nvPr>
        </p:nvSpPr>
        <p:spPr>
          <a:xfrm>
            <a:off x="395536" y="1412875"/>
            <a:ext cx="8424935" cy="42148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1990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年，国际标准化组织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ISO(International Standard Organization)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接受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C89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作为国际标准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ISO/IEC 9899:1990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，它和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ANSI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C89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基本上是相同的。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1995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年，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ISO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对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C90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作了一些修订，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1999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年，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ISO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又对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语言标准进行修订，在基本保留原来的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语言特征的基础上，针对应用的需要，增加了一些功能，尤其是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中的一些功能，命名为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ISO/IEC 9899:1999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387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7"/>
          <p:cNvSpPr>
            <a:spLocks noGrp="1"/>
          </p:cNvSpPr>
          <p:nvPr>
            <p:ph idx="1"/>
          </p:nvPr>
        </p:nvSpPr>
        <p:spPr>
          <a:xfrm>
            <a:off x="467544" y="1484313"/>
            <a:ext cx="8280920" cy="42148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2001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2004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年先后进行了两次技术修正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TC1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TC2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）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20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ISO/IEC 9899:1999(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及其技术修正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)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被称为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C99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C99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是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C89(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及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1995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基准增补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1)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的扩充。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411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7"/>
          <p:cNvSpPr>
            <a:spLocks noGrp="1"/>
          </p:cNvSpPr>
          <p:nvPr>
            <p:ph idx="1"/>
          </p:nvPr>
        </p:nvSpPr>
        <p:spPr>
          <a:xfrm>
            <a:off x="573088" y="1447800"/>
            <a:ext cx="7632700" cy="4357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本书的叙述以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C99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标准为依据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对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C99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新增加的功能作特别的说明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）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2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目前不同软件公司提供的各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语言编译系统多数并未完全实现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C99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建议的功能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200"/>
              </a:spcBef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本书中程序基本上都可以在目前所用的编译系统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如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VC++ 6.0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Turbo C++ 3.0,GCC)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上编译和运行。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435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6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/>
          </p:cNvSpPr>
          <p:nvPr>
            <p:ph idx="1"/>
          </p:nvPr>
        </p:nvSpPr>
        <p:spPr>
          <a:xfrm>
            <a:off x="395536" y="1484313"/>
            <a:ext cx="8280919" cy="48974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语言是一种用途广泛、功能强大、使用灵活的过程性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(procedural)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编程语言，既可用于</a:t>
            </a:r>
            <a:r>
              <a:rPr kumimoji="1" lang="zh-CN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编写应用软件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，又能用于</a:t>
            </a:r>
            <a:r>
              <a:rPr kumimoji="1" lang="zh-CN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编写系统软件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。因此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语言问世以后得到迅速推广。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语言主要特点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语言简洁、紧凑，使用方便、灵活。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只有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37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个关键字、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9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种控制语句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程序书写形式自由，源程序短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eaLnBrk="1" hangingPunct="1">
              <a:buSzTx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9459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7"/>
          <p:cNvSpPr>
            <a:spLocks noGrp="1"/>
          </p:cNvSpPr>
          <p:nvPr>
            <p:ph idx="1"/>
          </p:nvPr>
        </p:nvSpPr>
        <p:spPr>
          <a:xfrm>
            <a:off x="554038" y="1412875"/>
            <a:ext cx="7632700" cy="41433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语言主要特点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运算符丰富。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有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34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种运算符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把括号、赋值、强制类型转换等都作为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运算符处理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表达式类型多样化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0483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7"/>
          <p:cNvSpPr>
            <a:spLocks noGrp="1"/>
          </p:cNvSpPr>
          <p:nvPr>
            <p:ph idx="1"/>
          </p:nvPr>
        </p:nvSpPr>
        <p:spPr>
          <a:xfrm>
            <a:off x="501650" y="1412875"/>
            <a:ext cx="8178800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语言主要特点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数据类型丰富。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包括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: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整型、浮点型、字符型、数组类型、指针类型、结构体类型、共用体类型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C99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又扩充了复数浮点类型、超长整型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(long long)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、布尔类型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(bool)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指针类型数据，能用来实现各种复杂的数据结构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如链表、树、栈等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)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的运算。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1507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8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7"/>
          <p:cNvSpPr>
            <a:spLocks noGrp="1"/>
          </p:cNvSpPr>
          <p:nvPr>
            <p:ph idx="1"/>
          </p:nvPr>
        </p:nvSpPr>
        <p:spPr>
          <a:xfrm>
            <a:off x="539750" y="1412875"/>
            <a:ext cx="8064500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语言主要特点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具有结构化的控制语句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如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if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…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else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语句、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while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语句、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do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…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while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语句、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switch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语句、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for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语句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用函数作为程序的模块单位，便于实现程序的模块化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语言是完全模块化和结构化的语言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2531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2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7"/>
          <p:cNvSpPr>
            <a:spLocks noGrp="1"/>
          </p:cNvSpPr>
          <p:nvPr>
            <p:ph idx="1"/>
          </p:nvPr>
        </p:nvSpPr>
        <p:spPr>
          <a:xfrm>
            <a:off x="584200" y="1412875"/>
            <a:ext cx="7632700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语言主要特点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语法限制不太严格，程序设计自由度大。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对数组下标越界不做检查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对变量的类型使用比较灵活，例如，整型量与字符型数据可以通用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语言允许程序编写者有较大的自由度，因此放宽了语法检查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3555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7"/>
          <p:cNvSpPr>
            <a:spLocks noGrp="1"/>
          </p:cNvSpPr>
          <p:nvPr>
            <p:ph idx="1"/>
          </p:nvPr>
        </p:nvSpPr>
        <p:spPr>
          <a:xfrm>
            <a:off x="601663" y="1484313"/>
            <a:ext cx="7632700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语言主要特点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允许直接访问物理地址，能进行位操作，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可以直接对硬件进行操作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语言具有高级语言的功能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低级语言的许多功能，可用来编写系统软件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这种双重性，使它既是成功的系统描述语言，又是通用的程序设计语言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4579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0" name="Rectangle 2"/>
          <p:cNvSpPr>
            <a:spLocks noGrp="1"/>
          </p:cNvSpPr>
          <p:nvPr>
            <p:ph type="title"/>
          </p:nvPr>
        </p:nvSpPr>
        <p:spPr>
          <a:xfrm>
            <a:off x="233363" y="695325"/>
            <a:ext cx="5572125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7"/>
          <p:cNvSpPr>
            <a:spLocks noGrp="1"/>
          </p:cNvSpPr>
          <p:nvPr>
            <p:ph idx="1"/>
          </p:nvPr>
        </p:nvSpPr>
        <p:spPr>
          <a:xfrm>
            <a:off x="463550" y="1412875"/>
            <a:ext cx="8429625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buSzTx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语言主要特点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语言编写的程序可移植性好。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的编译系统简洁，很容易移植到新系统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在新系统上运行时，可直接编译“标准链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接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库”中的大部分功能，不需要修改源代码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几乎所有计算机系统都可以使用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语言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75030" lvl="1" indent="-417830" eaLnBrk="1" hangingPunct="1">
              <a:spcBef>
                <a:spcPts val="1200"/>
              </a:spcBef>
            </a:pP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生成目标代码质量高，程序执行效率高。 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1341755" lvl="2" indent="-396875" eaLnBrk="1" hangingPunct="1">
              <a:spcBef>
                <a:spcPts val="1200"/>
              </a:spcBef>
            </a:pP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5603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233363" y="696278"/>
            <a:ext cx="5572125" cy="645160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1.3  C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语言的发展及其特点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6627" name="Rectangle 7"/>
          <p:cNvSpPr>
            <a:spLocks noGrp="1"/>
          </p:cNvSpPr>
          <p:nvPr>
            <p:ph idx="1"/>
          </p:nvPr>
        </p:nvSpPr>
        <p:spPr>
          <a:xfrm>
            <a:off x="1285875" y="1844675"/>
            <a:ext cx="6022975" cy="17287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hlinkClick r:id="rId1" action="ppaction://hlinksldjump"/>
              </a:rPr>
              <a:t>1.4.1 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hlinkClick r:id="rId1" action="ppaction://hlinksldjump"/>
              </a:rPr>
              <a:t>最简单的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hlinkClick r:id="rId1" action="ppaction://hlinksldjump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hlinkClick r:id="rId1" action="ppaction://hlinksldjump"/>
              </a:rPr>
              <a:t>语言程序举例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spcBef>
                <a:spcPts val="180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hlinkClick r:id="rId2" action="ppaction://hlinksldjump"/>
              </a:rPr>
              <a:t>1.4.2  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hlinkClick r:id="rId2" action="ppaction://hlinksldjump"/>
              </a:rPr>
              <a:t>语言程序的结构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6628" name="图片 3" descr="Untitl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/>
          </p:cNvSpPr>
          <p:nvPr>
            <p:ph idx="1"/>
          </p:nvPr>
        </p:nvSpPr>
        <p:spPr>
          <a:xfrm>
            <a:off x="627063" y="1557338"/>
            <a:ext cx="7889875" cy="15001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1.1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要求在屏幕上输出以下一行信息。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     This is a C program.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Rectangle 7"/>
          <p:cNvSpPr txBox="1"/>
          <p:nvPr/>
        </p:nvSpPr>
        <p:spPr>
          <a:xfrm>
            <a:off x="755650" y="3141663"/>
            <a:ext cx="7500938" cy="1500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解题思路：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 eaLnBrk="1" hangingPunct="1"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在主函数中用</a:t>
            </a: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printf 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函数原样输出以上文字。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7652" name="图片 4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3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/>
          </p:cNvSpPr>
          <p:nvPr>
            <p:ph idx="1"/>
          </p:nvPr>
        </p:nvSpPr>
        <p:spPr>
          <a:xfrm>
            <a:off x="611188" y="1557338"/>
            <a:ext cx="8215312" cy="35274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main( 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{                             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printf (”This is a C program.\n”);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return 0;       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}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76325" y="2708275"/>
            <a:ext cx="12144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8" name="圆角矩形标注 7"/>
          <p:cNvSpPr/>
          <p:nvPr/>
        </p:nvSpPr>
        <p:spPr>
          <a:xfrm>
            <a:off x="1149350" y="2887663"/>
            <a:ext cx="3816350" cy="463550"/>
          </a:xfrm>
          <a:prstGeom prst="wedgeRoundRectCallout">
            <a:avLst>
              <a:gd name="adj1" fmla="val -31093"/>
              <a:gd name="adj2" fmla="val -85060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函数的名字，表示</a:t>
            </a:r>
            <a:r>
              <a:rPr lang="zh-CN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主函数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横卷形 8"/>
          <p:cNvSpPr/>
          <p:nvPr/>
        </p:nvSpPr>
        <p:spPr>
          <a:xfrm>
            <a:off x="3597275" y="2024063"/>
            <a:ext cx="4248150" cy="649287"/>
          </a:xfrm>
          <a:prstGeom prst="horizontalScroll">
            <a:avLst>
              <a:gd name="adj" fmla="val 1250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程序必须有一个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main 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8678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013" y="5999163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9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/>
          </p:cNvSpPr>
          <p:nvPr>
            <p:ph idx="1"/>
          </p:nvPr>
        </p:nvSpPr>
        <p:spPr>
          <a:xfrm>
            <a:off x="684213" y="1598613"/>
            <a:ext cx="6018212" cy="36607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main( 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{                             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printf (”This is a C program.\n”);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return 0;       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}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4213" y="2636838"/>
            <a:ext cx="57467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8" name="圆角矩形标注 7"/>
          <p:cNvSpPr/>
          <p:nvPr/>
        </p:nvSpPr>
        <p:spPr>
          <a:xfrm>
            <a:off x="1403350" y="2781300"/>
            <a:ext cx="2214563" cy="503238"/>
          </a:xfrm>
          <a:prstGeom prst="wedgeRoundRectCallout">
            <a:avLst>
              <a:gd name="adj1" fmla="val -67097"/>
              <a:gd name="adj2" fmla="val -65963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主函数</a:t>
            </a:r>
            <a:r>
              <a:rPr lang="zh-CN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类型</a:t>
            </a:r>
            <a:endParaRPr lang="zh-CN" altLang="en-US" sz="24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9701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2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71" name="Rectangle 7"/>
          <p:cNvSpPr>
            <a:spLocks noGrp="1"/>
          </p:cNvSpPr>
          <p:nvPr>
            <p:ph idx="1"/>
          </p:nvPr>
        </p:nvSpPr>
        <p:spPr>
          <a:xfrm>
            <a:off x="611188" y="1520825"/>
            <a:ext cx="6192837" cy="31321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main( 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{ </a:t>
            </a:r>
            <a:r>
              <a:rPr kumimoji="1" lang="en-US" altLang="zh-CN" sz="2800" b="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                     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printf (”This is a C program.\n”);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return 0;       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} </a:t>
            </a:r>
            <a:endParaRPr kumimoji="1" lang="zh-CN" altLang="zh-CN" sz="2800" dirty="0">
              <a:solidFill>
                <a:srgbClr val="000099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3635375" y="4005263"/>
            <a:ext cx="1441450" cy="517525"/>
          </a:xfrm>
          <a:prstGeom prst="wedgeRoundRectCallout">
            <a:avLst>
              <a:gd name="adj1" fmla="val -170963"/>
              <a:gd name="adj2" fmla="val -262667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函数体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0724" name="图片 4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5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216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216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/>
          </p:cNvSpPr>
          <p:nvPr>
            <p:ph idx="1"/>
          </p:nvPr>
        </p:nvSpPr>
        <p:spPr>
          <a:xfrm>
            <a:off x="608013" y="1628775"/>
            <a:ext cx="6772275" cy="29384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main( 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{</a:t>
            </a:r>
            <a:r>
              <a:rPr kumimoji="1"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                      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printf (”This is a C program.\n”);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return 0;       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}</a:t>
            </a:r>
            <a:r>
              <a:rPr kumimoji="1"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endParaRPr kumimoji="1" lang="zh-CN" altLang="zh-CN" sz="280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2355850" y="2305050"/>
            <a:ext cx="1441450" cy="493713"/>
          </a:xfrm>
          <a:prstGeom prst="wedgeRoundRectCallout">
            <a:avLst>
              <a:gd name="adj1" fmla="val -94148"/>
              <a:gd name="adj2" fmla="val 12569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输出函数</a:t>
            </a:r>
            <a:endParaRPr lang="zh-CN" altLang="en-US" sz="2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909638" y="3502025"/>
            <a:ext cx="1008062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" name="直接连接符 5"/>
          <p:cNvCxnSpPr/>
          <p:nvPr/>
        </p:nvCxnSpPr>
        <p:spPr>
          <a:xfrm flipV="1">
            <a:off x="877888" y="3573463"/>
            <a:ext cx="5838825" cy="0"/>
          </a:xfrm>
          <a:prstGeom prst="line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圆角矩形标注 9"/>
          <p:cNvSpPr/>
          <p:nvPr/>
        </p:nvSpPr>
        <p:spPr>
          <a:xfrm>
            <a:off x="4675188" y="4064000"/>
            <a:ext cx="1481137" cy="517525"/>
          </a:xfrm>
          <a:prstGeom prst="wedgeRoundRectCallout">
            <a:avLst>
              <a:gd name="adj1" fmla="val -37032"/>
              <a:gd name="adj2" fmla="val -129954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输出语句</a:t>
            </a:r>
            <a:endParaRPr lang="zh-CN" altLang="en-US" sz="24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1751" name="图片 8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2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/>
          </p:cNvSpPr>
          <p:nvPr>
            <p:ph idx="1"/>
          </p:nvPr>
        </p:nvSpPr>
        <p:spPr>
          <a:xfrm>
            <a:off x="501650" y="1368425"/>
            <a:ext cx="6627813" cy="40719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#include &lt;stdio.h&gt;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main( 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{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                        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printf (”This is a C program.\n”);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return 0;       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}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10000"/>
              </a:lnSpc>
              <a:spcBef>
                <a:spcPts val="240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输出结果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2771" name="直接连接符 5"/>
          <p:cNvCxnSpPr/>
          <p:nvPr/>
        </p:nvCxnSpPr>
        <p:spPr>
          <a:xfrm>
            <a:off x="827088" y="3284538"/>
            <a:ext cx="4968875" cy="0"/>
          </a:xfrm>
          <a:prstGeom prst="line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2772" name="圆角矩形标注 9"/>
          <p:cNvSpPr/>
          <p:nvPr/>
        </p:nvSpPr>
        <p:spPr>
          <a:xfrm>
            <a:off x="3816350" y="3644900"/>
            <a:ext cx="1511300" cy="527050"/>
          </a:xfrm>
          <a:prstGeom prst="wedgeRoundRectCallout">
            <a:avLst>
              <a:gd name="adj1" fmla="val -35019"/>
              <a:gd name="adj2" fmla="val -101148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输出语句</a:t>
            </a:r>
            <a:endParaRPr lang="zh-CN" altLang="en-US" sz="2400" b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069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5035550"/>
            <a:ext cx="4176712" cy="696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5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5127625"/>
            <a:ext cx="4491038" cy="750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标注 6"/>
          <p:cNvSpPr/>
          <p:nvPr/>
        </p:nvSpPr>
        <p:spPr>
          <a:xfrm>
            <a:off x="5651500" y="4075113"/>
            <a:ext cx="1239838" cy="517525"/>
          </a:xfrm>
          <a:prstGeom prst="wedgeRoundRectCallout">
            <a:avLst>
              <a:gd name="adj1" fmla="val -63838"/>
              <a:gd name="adj2" fmla="val -158102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换行符</a:t>
            </a:r>
            <a:endParaRPr lang="zh-CN" altLang="en-US" sz="2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流程图: 联系 7"/>
          <p:cNvSpPr/>
          <p:nvPr/>
        </p:nvSpPr>
        <p:spPr>
          <a:xfrm>
            <a:off x="5064125" y="2924175"/>
            <a:ext cx="431800" cy="649288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pic>
        <p:nvPicPr>
          <p:cNvPr id="33797" name="图片 8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8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622300" y="1535113"/>
            <a:ext cx="6613525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(”This is a C program. \n ”);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return 0; 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输出结果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900113" y="3933825"/>
            <a:ext cx="12954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圆角矩形标注 9"/>
          <p:cNvSpPr/>
          <p:nvPr/>
        </p:nvSpPr>
        <p:spPr>
          <a:xfrm>
            <a:off x="1835150" y="4443413"/>
            <a:ext cx="3744913" cy="893762"/>
          </a:xfrm>
          <a:prstGeom prst="wedgeRoundRectCallout">
            <a:avLst>
              <a:gd name="adj1" fmla="val -44394"/>
              <a:gd name="adj2" fmla="val -10382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当</a:t>
            </a: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main( )</a:t>
            </a:r>
            <a:r>
              <a:rPr lang="zh-CN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函数执行结束前</a:t>
            </a:r>
            <a:endParaRPr lang="en-US" altLang="zh-CN" sz="24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将整数</a:t>
            </a: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0 </a:t>
            </a:r>
            <a:r>
              <a:rPr lang="zh-CN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作为函数值</a:t>
            </a:r>
            <a:endParaRPr lang="zh-CN" altLang="en-US" sz="2400" b="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4820" name="图片 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1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" name="Rectangle 7"/>
          <p:cNvSpPr txBox="1">
            <a:spLocks noChangeArrowheads="1"/>
          </p:cNvSpPr>
          <p:nvPr/>
        </p:nvSpPr>
        <p:spPr bwMode="auto">
          <a:xfrm>
            <a:off x="611188" y="1579563"/>
            <a:ext cx="6613525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(”This is a C program. \n ”);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return 0; 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/>
          <p:cNvSpPr txBox="1">
            <a:spLocks noChangeArrowheads="1"/>
          </p:cNvSpPr>
          <p:nvPr/>
        </p:nvSpPr>
        <p:spPr bwMode="auto">
          <a:xfrm>
            <a:off x="611188" y="1579563"/>
            <a:ext cx="6613525" cy="311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(”This is a C program. \n ”) 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return 0 ; 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1946275" y="4437063"/>
            <a:ext cx="2006600" cy="520700"/>
          </a:xfrm>
          <a:prstGeom prst="wedgeRoundRectCallout">
            <a:avLst>
              <a:gd name="adj1" fmla="val -34815"/>
              <a:gd name="adj2" fmla="val -115514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表示语句结束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流程图: 联系 6"/>
          <p:cNvSpPr/>
          <p:nvPr/>
        </p:nvSpPr>
        <p:spPr>
          <a:xfrm>
            <a:off x="2101850" y="3578225"/>
            <a:ext cx="214313" cy="46355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2724150" y="2446338"/>
            <a:ext cx="4464050" cy="476250"/>
          </a:xfrm>
          <a:prstGeom prst="wedgeRoundRectCallout">
            <a:avLst>
              <a:gd name="adj1" fmla="val -45472"/>
              <a:gd name="adj2" fmla="val -122750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用到函数库中的输入输出函数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55650" y="2060575"/>
            <a:ext cx="267335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35847" name="图片 10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8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7" name="流程图: 联系 6"/>
          <p:cNvSpPr/>
          <p:nvPr/>
        </p:nvSpPr>
        <p:spPr>
          <a:xfrm>
            <a:off x="5808663" y="3092450"/>
            <a:ext cx="214312" cy="46355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8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900113" y="1557338"/>
            <a:ext cx="6858000" cy="40719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语言允许用两种注释方式：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</a:pP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//  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单行注释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可单独占一行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eaLnBrk="1" hangingPunct="1"/>
            <a:r>
              <a:rPr kumimoji="1"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可</a:t>
            </a:r>
            <a:r>
              <a:rPr kumimoji="1"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出现在一行中其他内容的右侧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eaLnBrk="1" hangingPunct="1">
              <a:buSzTx/>
            </a:pPr>
            <a:r>
              <a:rPr kumimoji="1"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/*……*/ </a:t>
            </a:r>
            <a:r>
              <a:rPr kumimoji="1"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块式注释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可包含多行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6867" name="图片 3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8" name="Rectangle 2"/>
          <p:cNvSpPr>
            <a:spLocks noGrp="1"/>
          </p:cNvSpPr>
          <p:nvPr>
            <p:ph type="title"/>
          </p:nvPr>
        </p:nvSpPr>
        <p:spPr>
          <a:xfrm>
            <a:off x="219075" y="708025"/>
            <a:ext cx="5040313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 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最简单的</a:t>
            </a: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语言程序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/>
          </p:cNvSpPr>
          <p:nvPr>
            <p:ph idx="1"/>
          </p:nvPr>
        </p:nvSpPr>
        <p:spPr>
          <a:xfrm>
            <a:off x="814388" y="857250"/>
            <a:ext cx="5715000" cy="928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1.2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求两个整数之和</a:t>
            </a:r>
            <a:r>
              <a:rPr kumimoji="1" lang="zh-CN" altLang="en-US" dirty="0">
                <a:latin typeface="+mn-lt"/>
                <a:ea typeface="微软雅黑" panose="020B0503020204020204" pitchFamily="34" charset="-122"/>
                <a:cs typeface="+mn-cs"/>
              </a:rPr>
              <a:t>。</a:t>
            </a:r>
            <a:endParaRPr kumimoji="1" lang="zh-CN" altLang="zh-CN" dirty="0"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 bwMode="auto">
          <a:xfrm>
            <a:off x="468313" y="1628775"/>
            <a:ext cx="8072438" cy="3357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sz="2400" kern="1200" cap="none" spc="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解题思路</a:t>
            </a: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个变量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b 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用来存放两个整数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sum 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用来存放和数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用赋值运算符“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”把结果传送给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sum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7892" name="图片 3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/>
          </p:cNvSpPr>
          <p:nvPr>
            <p:ph idx="1"/>
          </p:nvPr>
        </p:nvSpPr>
        <p:spPr>
          <a:xfrm>
            <a:off x="714375" y="620713"/>
            <a:ext cx="7429500" cy="54006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#include &lt;stdio.h&gt;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main( )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{ 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int a,b,sum ; 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a = 123;                    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b = 456;                     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sum =  a + b;                  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printf(”sum is %d\n”,sum);              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return 0;                          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} </a:t>
            </a:r>
            <a:endParaRPr kumimoji="1"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spcBef>
                <a:spcPts val="1800"/>
              </a:spcBef>
              <a:buSzTx/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输出结果</a:t>
            </a:r>
            <a:endParaRPr kumimoji="1" lang="zh-CN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9588" y="1946275"/>
            <a:ext cx="37449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定义整型变量</a:t>
            </a:r>
            <a:r>
              <a:rPr lang="en-US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 , b , sum</a:t>
            </a:r>
            <a:endParaRPr lang="zh-CN" altLang="en-US" sz="24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右大括号 3"/>
          <p:cNvSpPr/>
          <p:nvPr/>
        </p:nvSpPr>
        <p:spPr bwMode="auto">
          <a:xfrm>
            <a:off x="2473325" y="2479675"/>
            <a:ext cx="357188" cy="579438"/>
          </a:xfrm>
          <a:prstGeom prst="rightBrace">
            <a:avLst/>
          </a:prstGeom>
          <a:ln>
            <a:solidFill>
              <a:srgbClr val="0000CC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9750" y="2578100"/>
            <a:ext cx="2490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对变量</a:t>
            </a:r>
            <a:r>
              <a:rPr lang="en-US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 , b </a:t>
            </a:r>
            <a:r>
              <a:rPr lang="zh-CN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赋值</a:t>
            </a:r>
            <a:endParaRPr lang="zh-CN" altLang="en-US" sz="24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9588" y="3211513"/>
            <a:ext cx="3529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将 </a:t>
            </a:r>
            <a:r>
              <a:rPr lang="en-US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 </a:t>
            </a:r>
            <a:r>
              <a:rPr lang="zh-CN" altLang="en-US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与 </a:t>
            </a:r>
            <a:r>
              <a:rPr lang="en-US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 </a:t>
            </a:r>
            <a:r>
              <a:rPr lang="zh-CN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</a:t>
            </a:r>
            <a:r>
              <a:rPr lang="zh-CN" altLang="en-US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和赋给 </a:t>
            </a:r>
            <a:r>
              <a:rPr lang="en-US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sum</a:t>
            </a:r>
            <a:endParaRPr lang="zh-CN" altLang="en-US" sz="24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220788" y="4162425"/>
            <a:ext cx="3455987" cy="0"/>
          </a:xfrm>
          <a:prstGeom prst="line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3686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38" y="5665788"/>
            <a:ext cx="1741487" cy="284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21" name="图片 8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5921375"/>
            <a:ext cx="469900" cy="425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/>
          <p:cNvSpPr txBox="1">
            <a:spLocks noChangeArrowheads="1"/>
          </p:cNvSpPr>
          <p:nvPr/>
        </p:nvSpPr>
        <p:spPr bwMode="auto">
          <a:xfrm>
            <a:off x="428625" y="573088"/>
            <a:ext cx="7429500" cy="439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main( )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int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a,b,sum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; 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a = 123;                    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b = 456;                     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sum =  a + b;                  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sum is %d \n ”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sum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;              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return 0;                          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05088" y="3054350"/>
            <a:ext cx="64309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%d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表示变量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sum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的值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以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十进制整型形式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输出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35150" y="4076700"/>
            <a:ext cx="936625" cy="0"/>
          </a:xfrm>
          <a:prstGeom prst="line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3994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6788" y="5402263"/>
            <a:ext cx="1595437" cy="288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476375" y="4508500"/>
            <a:ext cx="29289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原样</a:t>
            </a:r>
            <a:r>
              <a:rPr lang="zh-CN" altLang="zh-CN" sz="24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希望输出的字符</a:t>
            </a:r>
            <a:endParaRPr lang="zh-CN" altLang="en-US" sz="24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流程图: 联系 11"/>
          <p:cNvSpPr/>
          <p:nvPr/>
        </p:nvSpPr>
        <p:spPr>
          <a:xfrm>
            <a:off x="2751138" y="3573463"/>
            <a:ext cx="452437" cy="523875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68688" y="5359400"/>
            <a:ext cx="952500" cy="377825"/>
          </a:xfrm>
          <a:prstGeom prst="rect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 flipH="1">
            <a:off x="4519613" y="5329238"/>
            <a:ext cx="530225" cy="4492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pic>
        <p:nvPicPr>
          <p:cNvPr id="39946" name="图片 9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 animBg="1"/>
      <p:bldP spid="13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/>
          </p:cNvSpPr>
          <p:nvPr>
            <p:ph idx="1"/>
          </p:nvPr>
        </p:nvSpPr>
        <p:spPr>
          <a:xfrm>
            <a:off x="779463" y="765175"/>
            <a:ext cx="5929312" cy="928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1.3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求两个整数中的较大者。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7"/>
          <p:cNvSpPr txBox="1"/>
          <p:nvPr/>
        </p:nvSpPr>
        <p:spPr>
          <a:xfrm>
            <a:off x="684213" y="1633538"/>
            <a:ext cx="7207250" cy="17335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解题思路：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0100" lvl="1" indent="-342900" eaLnBrk="1" hangingPunct="1"/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用一个函数实现求两个整数中的较大者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0100" lvl="1" indent="-342900" eaLnBrk="1" hangingPunct="1"/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在主函数中调用此函数并输出结果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0964" name="图片 3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/>
          </p:cNvSpPr>
          <p:nvPr>
            <p:ph idx="1"/>
          </p:nvPr>
        </p:nvSpPr>
        <p:spPr>
          <a:xfrm>
            <a:off x="406400" y="735013"/>
            <a:ext cx="4957763" cy="5214937"/>
          </a:xfrm>
          <a:solidFill>
            <a:srgbClr val="E1FFE1">
              <a:alpha val="100000"/>
            </a:srgbClr>
          </a:solidFill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#include &lt;stdio.h&gt;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main ( )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{         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int max (int x, int y) ;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int a, b, c;         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scanf(“%d , %d”, &amp;a, &amp;b);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c = max(a , b);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printf(“ max=%d \n", c);               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return 0;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}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987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return(z);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云形标注 9"/>
          <p:cNvSpPr/>
          <p:nvPr/>
        </p:nvSpPr>
        <p:spPr>
          <a:xfrm>
            <a:off x="1630363" y="5589588"/>
            <a:ext cx="2500312" cy="928687"/>
          </a:xfrm>
          <a:prstGeom prst="cloudCallout">
            <a:avLst>
              <a:gd name="adj1" fmla="val -8597"/>
              <a:gd name="adj2" fmla="val -85116"/>
            </a:avLst>
          </a:prstGeom>
          <a:solidFill>
            <a:srgbClr val="E1FFE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主函数</a:t>
            </a:r>
            <a:endParaRPr lang="zh-CN" altLang="en-US" sz="2800" b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云形标注 10"/>
          <p:cNvSpPr/>
          <p:nvPr/>
        </p:nvSpPr>
        <p:spPr>
          <a:xfrm>
            <a:off x="6164263" y="908050"/>
            <a:ext cx="2500312" cy="928688"/>
          </a:xfrm>
          <a:prstGeom prst="cloudCallout">
            <a:avLst>
              <a:gd name="adj1" fmla="val -26801"/>
              <a:gd name="adj2" fmla="val 76889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zh-CN" sz="2800" b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800" b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990" name="图片 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return(z);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max(a , b);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云形标注 10"/>
          <p:cNvSpPr/>
          <p:nvPr/>
        </p:nvSpPr>
        <p:spPr>
          <a:xfrm>
            <a:off x="4427538" y="428625"/>
            <a:ext cx="4716462" cy="1262063"/>
          </a:xfrm>
          <a:prstGeom prst="cloudCallout">
            <a:avLst>
              <a:gd name="adj1" fmla="val 1681"/>
              <a:gd name="adj2" fmla="val 80065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将</a:t>
            </a:r>
            <a:r>
              <a:rPr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x </a:t>
            </a:r>
            <a:r>
              <a:rPr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y </a:t>
            </a:r>
            <a:r>
              <a:rPr lang="zh-CN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中较大者值</a:t>
            </a:r>
            <a:r>
              <a:rPr lang="zh-CN" altLang="en-US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返回给主函数</a:t>
            </a:r>
            <a:endParaRPr lang="zh-CN" altLang="en-US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3013" name="图片 4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035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684213" y="2051050"/>
            <a:ext cx="0" cy="1882775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44037" name="流程图: 联系 11"/>
          <p:cNvSpPr/>
          <p:nvPr/>
        </p:nvSpPr>
        <p:spPr>
          <a:xfrm>
            <a:off x="1298575" y="3881438"/>
            <a:ext cx="825500" cy="427037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cxnSp>
        <p:nvCxnSpPr>
          <p:cNvPr id="44038" name="直接箭头连接符 12"/>
          <p:cNvCxnSpPr/>
          <p:nvPr/>
        </p:nvCxnSpPr>
        <p:spPr>
          <a:xfrm flipV="1">
            <a:off x="1882775" y="2555875"/>
            <a:ext cx="4224338" cy="1343025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9" name="直接箭头连接符 18"/>
          <p:cNvCxnSpPr/>
          <p:nvPr/>
        </p:nvCxnSpPr>
        <p:spPr>
          <a:xfrm>
            <a:off x="7454900" y="2781300"/>
            <a:ext cx="0" cy="2436813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22" name="流程图: 联系 21"/>
          <p:cNvSpPr/>
          <p:nvPr/>
        </p:nvSpPr>
        <p:spPr>
          <a:xfrm>
            <a:off x="5640388" y="5392738"/>
            <a:ext cx="112712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cxnSp>
        <p:nvCxnSpPr>
          <p:cNvPr id="23" name="直接箭头连接符 22"/>
          <p:cNvCxnSpPr>
            <a:stCxn id="22" idx="2"/>
          </p:cNvCxnSpPr>
          <p:nvPr/>
        </p:nvCxnSpPr>
        <p:spPr>
          <a:xfrm flipH="1" flipV="1">
            <a:off x="2003425" y="4302125"/>
            <a:ext cx="3636963" cy="1376363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6" name="直接箭头连接符 25"/>
          <p:cNvCxnSpPr/>
          <p:nvPr/>
        </p:nvCxnSpPr>
        <p:spPr>
          <a:xfrm rot="5400000">
            <a:off x="111125" y="4872038"/>
            <a:ext cx="1143000" cy="1587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pic>
        <p:nvPicPr>
          <p:cNvPr id="44043" name="图片 11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059" name="Rectangle 7"/>
          <p:cNvSpPr txBox="1"/>
          <p:nvPr/>
        </p:nvSpPr>
        <p:spPr>
          <a:xfrm>
            <a:off x="5395913" y="2259013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62013" y="2781300"/>
            <a:ext cx="306228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1692275" y="1887538"/>
            <a:ext cx="5975350" cy="461962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因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max</a:t>
            </a:r>
            <a:r>
              <a:rPr lang="zh-CN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函数的定义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main</a:t>
            </a:r>
            <a:r>
              <a:rPr lang="zh-CN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函数之后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，需声明</a:t>
            </a:r>
            <a:endParaRPr lang="zh-CN" altLang="en-US" sz="24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5062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083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4213" y="3789363"/>
            <a:ext cx="1143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1" name="云形标注 10"/>
          <p:cNvSpPr/>
          <p:nvPr/>
        </p:nvSpPr>
        <p:spPr>
          <a:xfrm>
            <a:off x="2195513" y="1557338"/>
            <a:ext cx="2571750" cy="857250"/>
          </a:xfrm>
          <a:prstGeom prst="cloudCallout">
            <a:avLst>
              <a:gd name="adj1" fmla="val -80208"/>
              <a:gd name="adj2" fmla="val 160106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输入函数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6086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107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52488" y="3789363"/>
            <a:ext cx="3567112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1" name="云形标注 10"/>
          <p:cNvSpPr/>
          <p:nvPr/>
        </p:nvSpPr>
        <p:spPr>
          <a:xfrm>
            <a:off x="2746375" y="1504950"/>
            <a:ext cx="2571750" cy="857250"/>
          </a:xfrm>
          <a:prstGeom prst="cloudCallout">
            <a:avLst>
              <a:gd name="adj1" fmla="val -18843"/>
              <a:gd name="adj2" fmla="val 16791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输入语句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522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0" y="5541963"/>
            <a:ext cx="1262063" cy="425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1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 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131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362325" y="3789363"/>
            <a:ext cx="128587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1" name="云形标注 10"/>
          <p:cNvSpPr/>
          <p:nvPr/>
        </p:nvSpPr>
        <p:spPr>
          <a:xfrm>
            <a:off x="3494088" y="885825"/>
            <a:ext cx="3071812" cy="1500188"/>
          </a:xfrm>
          <a:prstGeom prst="cloudCallout">
            <a:avLst>
              <a:gd name="adj1" fmla="val -20292"/>
              <a:gd name="adj2" fmla="val 11563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输入的数据放到</a:t>
            </a:r>
            <a:r>
              <a:rPr lang="en-US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a, b </a:t>
            </a: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中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792288" y="3773488"/>
            <a:ext cx="142875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云形标注 9"/>
          <p:cNvSpPr/>
          <p:nvPr/>
        </p:nvSpPr>
        <p:spPr>
          <a:xfrm>
            <a:off x="1000125" y="1857375"/>
            <a:ext cx="2571750" cy="857250"/>
          </a:xfrm>
          <a:prstGeom prst="cloudCallout">
            <a:avLst>
              <a:gd name="adj1" fmla="val -861"/>
              <a:gd name="adj2" fmla="val 9791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输入格式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流程图: 联系 11"/>
          <p:cNvSpPr/>
          <p:nvPr/>
        </p:nvSpPr>
        <p:spPr>
          <a:xfrm>
            <a:off x="3330575" y="3289300"/>
            <a:ext cx="593725" cy="500063"/>
          </a:xfrm>
          <a:prstGeom prst="flowChartConnector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3" name="云形标注 12"/>
          <p:cNvSpPr/>
          <p:nvPr/>
        </p:nvSpPr>
        <p:spPr>
          <a:xfrm>
            <a:off x="2827338" y="4230688"/>
            <a:ext cx="2357437" cy="857250"/>
          </a:xfrm>
          <a:prstGeom prst="cloudCallout">
            <a:avLst>
              <a:gd name="adj1" fmla="val -3769"/>
              <a:gd name="adj2" fmla="val -80366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 </a:t>
            </a:r>
            <a:r>
              <a:rPr lang="zh-CN" altLang="en-US" sz="28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的地址</a:t>
            </a:r>
            <a:endParaRPr lang="zh-CN" altLang="en-US" sz="28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813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5513388"/>
            <a:ext cx="1292225" cy="436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9" name="图片 1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155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376363" y="4308475"/>
            <a:ext cx="19002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云形标注 9"/>
          <p:cNvSpPr/>
          <p:nvPr/>
        </p:nvSpPr>
        <p:spPr>
          <a:xfrm>
            <a:off x="214313" y="2428875"/>
            <a:ext cx="3714750" cy="857250"/>
          </a:xfrm>
          <a:prstGeom prst="cloudCallout">
            <a:avLst>
              <a:gd name="adj1" fmla="val -861"/>
              <a:gd name="adj2" fmla="val 9791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调用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max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函数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491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688" y="5495925"/>
            <a:ext cx="1347787" cy="454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179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0180" name="直接连接符 7"/>
          <p:cNvCxnSpPr/>
          <p:nvPr/>
        </p:nvCxnSpPr>
        <p:spPr>
          <a:xfrm>
            <a:off x="1449388" y="4306888"/>
            <a:ext cx="1827212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5018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5538788"/>
            <a:ext cx="1320800" cy="446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下箭头 6"/>
          <p:cNvSpPr/>
          <p:nvPr/>
        </p:nvSpPr>
        <p:spPr>
          <a:xfrm>
            <a:off x="7048500" y="1570038"/>
            <a:ext cx="357188" cy="642937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07225" y="981075"/>
            <a:ext cx="5000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7862888" y="1571625"/>
            <a:ext cx="357187" cy="6429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54950" y="981075"/>
            <a:ext cx="5000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04025" y="5984875"/>
            <a:ext cx="500063" cy="584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313" y="3708400"/>
            <a:ext cx="500062" cy="584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714375" y="3836988"/>
            <a:ext cx="401638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pic>
        <p:nvPicPr>
          <p:cNvPr id="50189" name="图片 1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流程图: 联系 17"/>
          <p:cNvSpPr/>
          <p:nvPr/>
        </p:nvSpPr>
        <p:spPr>
          <a:xfrm>
            <a:off x="6907213" y="5449888"/>
            <a:ext cx="30797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2" grpId="0" animBg="1"/>
      <p:bldP spid="13" grpId="0"/>
      <p:bldP spid="16" grpId="0" animBg="1"/>
      <p:bldP spid="17" grpId="0" animBg="1"/>
      <p:bldP spid="18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203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x, int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51204" name="直接连接符 7"/>
          <p:cNvCxnSpPr/>
          <p:nvPr/>
        </p:nvCxnSpPr>
        <p:spPr>
          <a:xfrm>
            <a:off x="755650" y="4826000"/>
            <a:ext cx="364172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7" name="下箭头 6"/>
          <p:cNvSpPr/>
          <p:nvPr/>
        </p:nvSpPr>
        <p:spPr>
          <a:xfrm>
            <a:off x="7048500" y="1570038"/>
            <a:ext cx="357188" cy="642937"/>
          </a:xfrm>
          <a:prstGeom prst="downArrow">
            <a:avLst>
              <a:gd name="adj1" fmla="val 50000"/>
              <a:gd name="adj2" fmla="val 49999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07225" y="981075"/>
            <a:ext cx="5000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7862888" y="1571625"/>
            <a:ext cx="357187" cy="6429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54950" y="981075"/>
            <a:ext cx="5000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04025" y="5984875"/>
            <a:ext cx="500063" cy="584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313" y="3708400"/>
            <a:ext cx="500062" cy="584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714375" y="3836988"/>
            <a:ext cx="401638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pic>
        <p:nvPicPr>
          <p:cNvPr id="51212" name="图片 14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流程图: 联系 17"/>
          <p:cNvSpPr/>
          <p:nvPr/>
        </p:nvSpPr>
        <p:spPr>
          <a:xfrm>
            <a:off x="6907213" y="5449888"/>
            <a:ext cx="30797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pic>
        <p:nvPicPr>
          <p:cNvPr id="5121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5395913"/>
            <a:ext cx="1184275" cy="400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338" y="5794375"/>
            <a:ext cx="1155700" cy="420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2" grpId="0" animBg="1"/>
      <p:bldP spid="13" grpId="0"/>
      <p:bldP spid="16" grpId="0" animBg="1"/>
      <p:bldP spid="17" grpId="0" animBg="1"/>
      <p:bldP spid="18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/>
          <p:cNvSpPr txBox="1">
            <a:spLocks noChangeArrowheads="1"/>
          </p:cNvSpPr>
          <p:nvPr/>
        </p:nvSpPr>
        <p:spPr bwMode="auto">
          <a:xfrm>
            <a:off x="406400" y="735013"/>
            <a:ext cx="4957763" cy="5214938"/>
          </a:xfrm>
          <a:prstGeom prst="rect">
            <a:avLst/>
          </a:prstGeom>
          <a:solidFill>
            <a:srgbClr val="E1F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 ( )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      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max (int x, int y) ;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int a, b, c;         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scanf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(“%d , %d”, &amp;a, &amp;b);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c = max  ( a , b ) ;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(“ max=%d \n", c);               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0;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1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227" name="Rectangle 7"/>
          <p:cNvSpPr txBox="1"/>
          <p:nvPr/>
        </p:nvSpPr>
        <p:spPr>
          <a:xfrm>
            <a:off x="5395913" y="2090738"/>
            <a:ext cx="3136900" cy="41227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int max(int x , int y 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                        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int z;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if  (x &gt; y)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x;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else 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     z = y; 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   return ( z ) ;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}</a:t>
            </a:r>
            <a:endParaRPr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2228" name="图片 14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9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5395913"/>
            <a:ext cx="1184275" cy="400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338" y="5794375"/>
            <a:ext cx="1155700" cy="420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流程图: 联系 17"/>
          <p:cNvSpPr/>
          <p:nvPr/>
        </p:nvSpPr>
        <p:spPr>
          <a:xfrm>
            <a:off x="7092950" y="2133600"/>
            <a:ext cx="30797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24" name="流程图: 联系 17"/>
          <p:cNvSpPr/>
          <p:nvPr/>
        </p:nvSpPr>
        <p:spPr>
          <a:xfrm>
            <a:off x="7956550" y="2133600"/>
            <a:ext cx="30797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25" name="流程图: 联系 17"/>
          <p:cNvSpPr/>
          <p:nvPr/>
        </p:nvSpPr>
        <p:spPr>
          <a:xfrm>
            <a:off x="2319338" y="3794125"/>
            <a:ext cx="30797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26" name="流程图: 联系 17"/>
          <p:cNvSpPr/>
          <p:nvPr/>
        </p:nvSpPr>
        <p:spPr>
          <a:xfrm>
            <a:off x="2714625" y="3794125"/>
            <a:ext cx="30797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27" name="云形标注 21"/>
          <p:cNvSpPr/>
          <p:nvPr/>
        </p:nvSpPr>
        <p:spPr>
          <a:xfrm>
            <a:off x="2627313" y="2500313"/>
            <a:ext cx="2714625" cy="857250"/>
          </a:xfrm>
          <a:prstGeom prst="cloudCallout">
            <a:avLst>
              <a:gd name="adj1" fmla="val -38440"/>
              <a:gd name="adj2" fmla="val 99458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实际参数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云形标注 24"/>
          <p:cNvSpPr/>
          <p:nvPr/>
        </p:nvSpPr>
        <p:spPr>
          <a:xfrm>
            <a:off x="6043613" y="981075"/>
            <a:ext cx="2714625" cy="857250"/>
          </a:xfrm>
          <a:prstGeom prst="cloudCallout">
            <a:avLst>
              <a:gd name="adj1" fmla="val -8560"/>
              <a:gd name="adj2" fmla="val 90606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形式参数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/>
          </p:cNvSpPr>
          <p:nvPr>
            <p:ph idx="1"/>
          </p:nvPr>
        </p:nvSpPr>
        <p:spPr>
          <a:xfrm>
            <a:off x="582613" y="1412875"/>
            <a:ext cx="7572375" cy="3286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一个程序由一个或多个源程序文件组成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小程序往往只包括一个源程序文件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eaLnBrk="1" hangingPunct="1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例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1.1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，例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1.2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只有一个函数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eaLnBrk="1" hangingPunct="1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例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1.3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有两个函数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流程图: 联系 3"/>
          <p:cNvSpPr/>
          <p:nvPr/>
        </p:nvSpPr>
        <p:spPr>
          <a:xfrm>
            <a:off x="1416050" y="3201988"/>
            <a:ext cx="1000125" cy="642937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流程图: 联系 4"/>
          <p:cNvSpPr/>
          <p:nvPr/>
        </p:nvSpPr>
        <p:spPr>
          <a:xfrm>
            <a:off x="2527300" y="3190875"/>
            <a:ext cx="1000125" cy="642938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流程图: 联系 5"/>
          <p:cNvSpPr/>
          <p:nvPr/>
        </p:nvSpPr>
        <p:spPr>
          <a:xfrm>
            <a:off x="1395413" y="3841750"/>
            <a:ext cx="1000125" cy="642938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54300" y="4627563"/>
            <a:ext cx="40005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只包括一个源程序文件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3255" name="图片 7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530225" y="1511300"/>
            <a:ext cx="7572375" cy="3286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</a:pP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一个源程序文件中可以包括三个部分：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预处理指令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全局声明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函数定义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59163" y="2884488"/>
            <a:ext cx="42862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#include &lt;stdio.h&gt;</a:t>
            </a:r>
            <a:r>
              <a:rPr lang="zh-CN" altLang="en-US" sz="28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等</a:t>
            </a:r>
            <a:endParaRPr lang="zh-CN" altLang="en-US" sz="2800" b="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16288" y="3460750"/>
            <a:ext cx="47863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在函数之外进行的数据声明</a:t>
            </a:r>
            <a:endParaRPr lang="zh-CN" altLang="en-US" sz="2800" b="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6288" y="4057650"/>
            <a:ext cx="51435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每个函数用来实现一定的功能</a:t>
            </a:r>
            <a:endParaRPr lang="zh-CN" altLang="en-US" sz="2800" b="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4278" name="图片 6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539750" y="1403350"/>
            <a:ext cx="7572375" cy="42862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函数是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程序的主要组成部分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809625" lvl="1" indent="-452120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一个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程序是由一个或多个函数组成的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9625" lvl="1" indent="-452120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必须包含一个</a:t>
            </a: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main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（只能有一个）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9625" lvl="1" indent="-452120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每个函数都用来实现一个或几个特定功能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9625" lvl="1" indent="-452120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被调用的函数可以是库函数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也可以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是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自己编制设计的函数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5299" name="图片 3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928688" y="1458913"/>
            <a:ext cx="7572375" cy="27860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一个函数包括两个部分：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函数首部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>
              <a:buSzTx/>
              <a:buFont typeface="Wingdings" panose="05000000000000000000" pitchFamily="2" charset="2"/>
              <a:buNone/>
            </a:pPr>
            <a:r>
              <a:rPr kumimoji="1"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int    max  (  int   x</a:t>
            </a:r>
            <a:r>
              <a:rPr kumimoji="1" lang="zh-CN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int   y )</a:t>
            </a:r>
            <a:endParaRPr kumimoji="1" lang="zh-CN" altLang="zh-CN" sz="36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27775" y="2852738"/>
            <a:ext cx="25717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4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函数的第</a:t>
            </a:r>
            <a:r>
              <a:rPr lang="en-US" altLang="zh-CN" sz="24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zh-CN" sz="24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行</a:t>
            </a:r>
            <a:endParaRPr lang="zh-CN" altLang="en-US" sz="2400" b="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95288" y="4410075"/>
            <a:ext cx="1193800" cy="515938"/>
          </a:xfrm>
          <a:prstGeom prst="wedgeRoundRectCallout">
            <a:avLst>
              <a:gd name="adj1" fmla="val 32755"/>
              <a:gd name="adj2" fmla="val -110764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函数类型</a:t>
            </a:r>
            <a:endParaRPr lang="zh-CN" altLang="en-US" sz="20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90613" y="4052888"/>
            <a:ext cx="6429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9" name="流程图: 联系 8"/>
          <p:cNvSpPr/>
          <p:nvPr/>
        </p:nvSpPr>
        <p:spPr>
          <a:xfrm>
            <a:off x="3254375" y="3557588"/>
            <a:ext cx="906463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1722438" y="4410075"/>
            <a:ext cx="1193800" cy="515938"/>
          </a:xfrm>
          <a:prstGeom prst="wedgeRoundRectCallout">
            <a:avLst>
              <a:gd name="adj1" fmla="val -565"/>
              <a:gd name="adj2" fmla="val -112532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函数名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称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endParaRPr lang="zh-CN" altLang="en-US" sz="20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3059113" y="4410075"/>
            <a:ext cx="1081087" cy="515938"/>
          </a:xfrm>
          <a:prstGeom prst="wedgeRoundRectCallout">
            <a:avLst>
              <a:gd name="adj1" fmla="val 1528"/>
              <a:gd name="adj2" fmla="val -101898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参数类型</a:t>
            </a:r>
            <a:endParaRPr lang="zh-CN" altLang="en-US" sz="20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圆角矩形标注 11"/>
          <p:cNvSpPr/>
          <p:nvPr/>
        </p:nvSpPr>
        <p:spPr>
          <a:xfrm flipH="1">
            <a:off x="4438650" y="4410075"/>
            <a:ext cx="1081088" cy="515938"/>
          </a:xfrm>
          <a:prstGeom prst="wedgeRoundRectCallout">
            <a:avLst>
              <a:gd name="adj1" fmla="val 50551"/>
              <a:gd name="adj2" fmla="val -11626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20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参数</a:t>
            </a:r>
            <a:r>
              <a:rPr lang="zh-CN" altLang="en-US" sz="20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名</a:t>
            </a:r>
            <a:endParaRPr lang="zh-CN" altLang="en-US" sz="20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979613" y="4052888"/>
            <a:ext cx="92868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" name="流程图: 联系 14"/>
          <p:cNvSpPr/>
          <p:nvPr/>
        </p:nvSpPr>
        <p:spPr>
          <a:xfrm>
            <a:off x="4962525" y="3552825"/>
            <a:ext cx="904875" cy="571500"/>
          </a:xfrm>
          <a:prstGeom prst="flowChartConnector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86250" y="3527425"/>
            <a:ext cx="357188" cy="571500"/>
          </a:xfrm>
          <a:prstGeom prst="rect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40425" y="3552825"/>
            <a:ext cx="357188" cy="571500"/>
          </a:xfrm>
          <a:prstGeom prst="rect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4000" b="0" dirty="0">
              <a:latin typeface="Arial" panose="020B0604020202020204" pitchFamily="34" charset="0"/>
            </a:endParaRPr>
          </a:p>
        </p:txBody>
      </p:sp>
      <p:pic>
        <p:nvPicPr>
          <p:cNvPr id="56334" name="图片 17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539750" y="1363663"/>
            <a:ext cx="6553200" cy="31432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一个函数包括两个部分：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函数首部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int    max  (  int   x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int   y )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>
              <a:buSzTx/>
              <a:buFont typeface="Wingdings" panose="05000000000000000000" pitchFamily="2" charset="2"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若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函数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无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参，在括弧中写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void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或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空括弧</a:t>
            </a:r>
            <a:endParaRPr kumimoji="1" lang="zh-CN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1550" y="4676775"/>
            <a:ext cx="564356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int main ( void )    </a:t>
            </a:r>
            <a:r>
              <a:rPr lang="zh-CN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或</a:t>
            </a:r>
            <a:r>
              <a:rPr lang="en-US" altLang="zh-CN" sz="2800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int main( )</a:t>
            </a:r>
            <a:endParaRPr lang="zh-CN" altLang="en-US" sz="2800" b="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7348" name="图片 4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671513" y="1377950"/>
            <a:ext cx="7572375" cy="46434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一个函数包括两个部分：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体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声明部分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buClr>
                <a:srgbClr val="FF3300"/>
              </a:buClr>
              <a:buFont typeface="Wingdings" panose="05000000000000000000" pitchFamily="2" charset="2"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定义在本函数中所用到的变量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buClr>
                <a:srgbClr val="FF3300"/>
              </a:buClr>
              <a:buFont typeface="Wingdings" panose="05000000000000000000" pitchFamily="2" charset="2"/>
            </a:pPr>
            <a:r>
              <a:rPr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对本函数所调用函数进行声明</a:t>
            </a:r>
            <a:endParaRPr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执行部分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由若干个语句组成，指定在函数中所进行的操作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857625" y="3643313"/>
            <a:ext cx="3214688" cy="642937"/>
          </a:xfrm>
          <a:prstGeom prst="wedgeRoundRectCallout">
            <a:avLst>
              <a:gd name="adj1" fmla="val -56245"/>
              <a:gd name="adj2" fmla="val 34028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可以没有声明部分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8372" name="图片 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928688" y="1427163"/>
            <a:ext cx="5083175" cy="36433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一个函数包括两个部分：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函数</a:t>
            </a:r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体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void dump ( )</a:t>
            </a:r>
            <a:endParaRPr kumimoji="1" lang="zh-CN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{        }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1692275" y="4684713"/>
            <a:ext cx="3379788" cy="642937"/>
          </a:xfrm>
          <a:prstGeom prst="wedgeRoundRectCallout">
            <a:avLst>
              <a:gd name="adj1" fmla="val -40556"/>
              <a:gd name="adj2" fmla="val -118148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可以是空函数</a:t>
            </a:r>
            <a:endParaRPr lang="zh-CN" altLang="en-US" sz="28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9396" name="图片 5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528638" y="1412875"/>
            <a:ext cx="7572375" cy="4429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 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程序总是从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main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函数开始执行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5. 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程序对计算机的操作由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语句完成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C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程序书写格式是比较自由的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一行内可以写几个语句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2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一个语句可以分写在多行上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eaLnBrk="1" hangingPunct="1"/>
            <a:r>
              <a:rPr kumimoji="1"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zh-CN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为清晰起见，习惯上每行只写一个语句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0419" name="图片 3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785813" y="1484313"/>
            <a:ext cx="7572375" cy="4429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buSzTx/>
              <a:buFont typeface="Wingdings" panose="05000000000000000000" pitchFamily="2" charset="2"/>
              <a:buNone/>
            </a:pPr>
            <a:r>
              <a:rPr kumimoji="1" lang="en-US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dirty="0">
                <a:solidFill>
                  <a:srgbClr val="235A67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语言程序的结构特点：</a:t>
            </a:r>
            <a:endParaRPr kumimoji="1" lang="en-US" altLang="zh-CN" sz="2800" dirty="0">
              <a:solidFill>
                <a:srgbClr val="235A67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程序总是从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main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函数开始执行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5. 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程序对计算机的操作由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语句完成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6.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数据声明和语句最后必须有分号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7. 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语言本身不提供输入输出语句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8.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程序应当包含注释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增加可读性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1443" name="图片 3" descr="Untitled2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6143625"/>
            <a:ext cx="469900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400675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1.4.2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语言程序的结构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539750" y="1412875"/>
            <a:ext cx="7572375" cy="4357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上机输入和编辑源程序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.c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文件）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对源程序进行编译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.obj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文件）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进行连接处理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.exe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文件）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运行可执行程序，得到运行结果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说明：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以上过程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参见教材中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图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1.1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附录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A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中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有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Visual C++ 6.0</a:t>
            </a: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中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编辑、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100000"/>
              </a:lnSpc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      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编译、连接和运行</a:t>
            </a: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程序的方法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2467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905500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1.5 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运行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程序的步骤与方法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idx="1"/>
          </p:nvPr>
        </p:nvSpPr>
        <p:spPr>
          <a:xfrm>
            <a:off x="684213" y="1484313"/>
            <a:ext cx="7072313" cy="4143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问题分析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14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对于接手的任务要进行认真的分析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14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研究所给定的条件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14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分析最后应达到的目标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14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找出解决问题的规律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14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选择解题的方法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3491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905500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1.6 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程序设计的任务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idx="1"/>
          </p:nvPr>
        </p:nvSpPr>
        <p:spPr>
          <a:xfrm>
            <a:off x="755650" y="1357313"/>
            <a:ext cx="7072313" cy="4143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问题分析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设计算法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14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设计出解题的方法和具体步骤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4515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905500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1.6 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程序设计的任务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611188" y="1365250"/>
            <a:ext cx="7072312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问题分析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设计算法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编写程序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对源程序进行编辑、编译和连接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5.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运行程序，分析结果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结果错了，程序肯定错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lvl="1" eaLnBrk="1" hangingPunct="1"/>
            <a:r>
              <a:rPr kumimoji="1"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结果对了，程序未必对</a:t>
            </a:r>
            <a:endParaRPr kumimoji="1" lang="en-US" altLang="zh-CN" b="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5539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905500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1.6 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程序设计的任务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/>
          </p:cNvSpPr>
          <p:nvPr>
            <p:ph idx="1"/>
          </p:nvPr>
        </p:nvSpPr>
        <p:spPr>
          <a:xfrm>
            <a:off x="539750" y="1365250"/>
            <a:ext cx="7072313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问题分析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设计算法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编写程序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对源程序进行编辑、编译和连接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5.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运行程序，分析结果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kumimoji="1" lang="en-US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6. </a:t>
            </a:r>
            <a:r>
              <a:rPr kumimoji="1" lang="zh-CN" altLang="zh-CN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编写程序文档</a:t>
            </a:r>
            <a:endParaRPr kumimoji="1" lang="en-US" altLang="zh-CN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6563" name="图片 3" descr="Untitled.png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5937250"/>
            <a:ext cx="92710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905500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1.6 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程序设计的任务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7888" y="1628775"/>
            <a:ext cx="7388225" cy="2951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1.7.1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基本符号集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1.7.2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标识符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1.7.3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预定义标识符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0825" y="622300"/>
            <a:ext cx="5905500" cy="646113"/>
          </a:xfrm>
          <a:prstGeom prst="rect">
            <a:avLst/>
          </a:prstGeom>
          <a:noFill/>
          <a:ln>
            <a:noFill/>
          </a:ln>
          <a:effectLst>
            <a:outerShdw dist="45791" dir="3378596" algn="ctr" rotWithShape="0">
              <a:schemeClr val="accent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1.7  C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语言的字符集和标识符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323850" y="733425"/>
            <a:ext cx="4248150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1.7.1 </a:t>
            </a:r>
            <a:r>
              <a:rPr lang="zh-CN" altLang="en-US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基本符号集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阿拉伯数字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个：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大小写英文字母各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26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个：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A,B,C,…,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Z,a,b,c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,…,z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下划线：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235A67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235A67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特殊符号：主要是运算符和操作符 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xfrm>
            <a:off x="323850" y="757238"/>
            <a:ext cx="4103688" cy="646112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1.7.2 </a:t>
            </a:r>
            <a:r>
              <a:rPr lang="zh-CN" altLang="en-US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标识符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字符序列，用作常量、变量、函数、文件指针、类型的名字。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用户标识符              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保留字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关键字          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预定义标识符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xfrm>
            <a:off x="319088" y="620713"/>
            <a:ext cx="8162925" cy="646112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1.7.2 </a:t>
            </a:r>
            <a:r>
              <a:rPr lang="zh-CN" altLang="en-US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标识符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255713"/>
            <a:ext cx="8716963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用户标识符：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714375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用来标识变量名、符号常量名、函数名、数组名、类型名、文件名的有效字符序列称为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标识符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(identifier)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。简单地说，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标识符就是一个名字。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构成规则：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700405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由英文字母、数字、下划线组成，且第一个字符不能是数字；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如：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average, _total, lotus_1;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Ｊ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ohn,y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123,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＃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33,3d64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>
          <a:xfrm>
            <a:off x="250825" y="765175"/>
            <a:ext cx="4465638" cy="646113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>
              <a:buNone/>
            </a:pPr>
            <a:r>
              <a:rPr lang="zh-CN" altLang="en-US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用户标识符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539750" y="1628775"/>
            <a:ext cx="8153400" cy="3240088"/>
          </a:xfrm>
        </p:spPr>
        <p:txBody>
          <a:bodyPr vert="horz" wrap="square" lIns="91440" tIns="45720" rIns="91440" bIns="45720" anchor="t" anchorCtr="0"/>
          <a:lstStyle/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英文字母区别大小写；</a:t>
            </a:r>
            <a:endParaRPr kumimoji="1"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依据系统不同，通常识别前面多少个字符；</a:t>
            </a:r>
            <a:endParaRPr kumimoji="1"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800" b="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取名遵循“简洁明了”和“见名知意”</a:t>
            </a:r>
            <a:endParaRPr kumimoji="1"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endParaRPr kumimoji="1" lang="zh-CN" altLang="en-US" dirty="0"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179388" y="620713"/>
            <a:ext cx="4248150" cy="646112"/>
          </a:xfrm>
        </p:spPr>
        <p:txBody>
          <a:bodyPr vert="horz" wrap="square" lIns="91440" tIns="45720" rIns="91440" bIns="45720" anchor="b" anchorCtr="0">
            <a:spAutoFit/>
          </a:bodyPr>
          <a:lstStyle/>
          <a:p>
            <a:pPr algn="l">
              <a:buNone/>
            </a:pPr>
            <a:r>
              <a:rPr lang="en-US" altLang="zh-CN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1.7.2 </a:t>
            </a:r>
            <a:r>
              <a:rPr lang="zh-CN" altLang="en-US" sz="3600" dirty="0">
                <a:solidFill>
                  <a:srgbClr val="235A67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标识符</a:t>
            </a:r>
            <a:endParaRPr lang="zh-CN" altLang="en-US" sz="3600" dirty="0">
              <a:solidFill>
                <a:srgbClr val="235A67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4938" y="1341438"/>
            <a:ext cx="85852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保留字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关键字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是编译系统固有的，用做语句名、类型名的标识符。不允许作为用户标识符使用。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预定义标识符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允许用户作其他其途，但将失去系统规定的原意。  例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define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include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0" name="组合 3"/>
          <p:cNvGrpSpPr>
            <a:grpSpLocks noChangeAspect="1"/>
          </p:cNvGrpSpPr>
          <p:nvPr/>
        </p:nvGrpSpPr>
        <p:grpSpPr>
          <a:xfrm>
            <a:off x="271463" y="1066800"/>
            <a:ext cx="468312" cy="468313"/>
            <a:chOff x="2558424" y="1401428"/>
            <a:chExt cx="1318727" cy="1318727"/>
          </a:xfrm>
        </p:grpSpPr>
        <p:sp>
          <p:nvSpPr>
            <p:cNvPr id="5" name="椭圆 4"/>
            <p:cNvSpPr/>
            <p:nvPr/>
          </p:nvSpPr>
          <p:spPr>
            <a:xfrm>
              <a:off x="2558424" y="1401428"/>
              <a:ext cx="1318727" cy="131872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73736" name="Freeform 11"/>
            <p:cNvSpPr/>
            <p:nvPr/>
          </p:nvSpPr>
          <p:spPr>
            <a:xfrm>
              <a:off x="2676010" y="1814946"/>
              <a:ext cx="1083553" cy="597017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683" h="376">
                  <a:moveTo>
                    <a:pt x="7" y="118"/>
                  </a:moveTo>
                  <a:cubicBezTo>
                    <a:pt x="334" y="1"/>
                    <a:pt x="334" y="1"/>
                    <a:pt x="334" y="1"/>
                  </a:cubicBezTo>
                  <a:cubicBezTo>
                    <a:pt x="336" y="0"/>
                    <a:pt x="339" y="0"/>
                    <a:pt x="341" y="1"/>
                  </a:cubicBezTo>
                  <a:cubicBezTo>
                    <a:pt x="675" y="118"/>
                    <a:pt x="675" y="118"/>
                    <a:pt x="675" y="118"/>
                  </a:cubicBezTo>
                  <a:cubicBezTo>
                    <a:pt x="680" y="120"/>
                    <a:pt x="683" y="124"/>
                    <a:pt x="683" y="129"/>
                  </a:cubicBezTo>
                  <a:cubicBezTo>
                    <a:pt x="682" y="134"/>
                    <a:pt x="679" y="138"/>
                    <a:pt x="675" y="139"/>
                  </a:cubicBezTo>
                  <a:cubicBezTo>
                    <a:pt x="561" y="172"/>
                    <a:pt x="561" y="172"/>
                    <a:pt x="561" y="172"/>
                  </a:cubicBezTo>
                  <a:cubicBezTo>
                    <a:pt x="537" y="136"/>
                    <a:pt x="430" y="119"/>
                    <a:pt x="338" y="119"/>
                  </a:cubicBezTo>
                  <a:cubicBezTo>
                    <a:pt x="333" y="119"/>
                    <a:pt x="328" y="124"/>
                    <a:pt x="328" y="130"/>
                  </a:cubicBezTo>
                  <a:cubicBezTo>
                    <a:pt x="328" y="136"/>
                    <a:pt x="333" y="140"/>
                    <a:pt x="338" y="140"/>
                  </a:cubicBezTo>
                  <a:cubicBezTo>
                    <a:pt x="452" y="140"/>
                    <a:pt x="534" y="164"/>
                    <a:pt x="545" y="185"/>
                  </a:cubicBezTo>
                  <a:cubicBezTo>
                    <a:pt x="545" y="255"/>
                    <a:pt x="545" y="255"/>
                    <a:pt x="545" y="255"/>
                  </a:cubicBezTo>
                  <a:cubicBezTo>
                    <a:pt x="545" y="255"/>
                    <a:pt x="545" y="255"/>
                    <a:pt x="545" y="256"/>
                  </a:cubicBezTo>
                  <a:cubicBezTo>
                    <a:pt x="545" y="283"/>
                    <a:pt x="452" y="305"/>
                    <a:pt x="337" y="305"/>
                  </a:cubicBezTo>
                  <a:cubicBezTo>
                    <a:pt x="223" y="305"/>
                    <a:pt x="130" y="283"/>
                    <a:pt x="130" y="256"/>
                  </a:cubicBezTo>
                  <a:cubicBezTo>
                    <a:pt x="130" y="255"/>
                    <a:pt x="130" y="255"/>
                    <a:pt x="130" y="255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71" y="249"/>
                    <a:pt x="71" y="249"/>
                    <a:pt x="71" y="249"/>
                  </a:cubicBezTo>
                  <a:cubicBezTo>
                    <a:pt x="83" y="253"/>
                    <a:pt x="92" y="264"/>
                    <a:pt x="92" y="277"/>
                  </a:cubicBezTo>
                  <a:cubicBezTo>
                    <a:pt x="92" y="288"/>
                    <a:pt x="85" y="298"/>
                    <a:pt x="75" y="303"/>
                  </a:cubicBezTo>
                  <a:cubicBezTo>
                    <a:pt x="82" y="338"/>
                    <a:pt x="82" y="338"/>
                    <a:pt x="82" y="338"/>
                  </a:cubicBezTo>
                  <a:cubicBezTo>
                    <a:pt x="86" y="354"/>
                    <a:pt x="26" y="376"/>
                    <a:pt x="28" y="36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1" y="296"/>
                    <a:pt x="26" y="287"/>
                    <a:pt x="26" y="277"/>
                  </a:cubicBezTo>
                  <a:cubicBezTo>
                    <a:pt x="26" y="264"/>
                    <a:pt x="34" y="253"/>
                    <a:pt x="46" y="249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3" y="138"/>
                    <a:pt x="0" y="134"/>
                    <a:pt x="0" y="129"/>
                  </a:cubicBezTo>
                  <a:cubicBezTo>
                    <a:pt x="0" y="124"/>
                    <a:pt x="3" y="120"/>
                    <a:pt x="7" y="118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31" name="文本框 6"/>
          <p:cNvSpPr txBox="1"/>
          <p:nvPr/>
        </p:nvSpPr>
        <p:spPr>
          <a:xfrm>
            <a:off x="698017" y="1088677"/>
            <a:ext cx="12620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6858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1069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授课人</a:t>
            </a:r>
            <a:endParaRPr lang="zh-CN" altLang="en-US" sz="2400" b="0" dirty="0">
              <a:solidFill>
                <a:srgbClr val="1069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1" descr="G:\韩旭明照片-小二寸\韩旭明-白色底照片（低像素）.jpg"/>
          <p:cNvSpPr/>
          <p:nvPr/>
        </p:nvSpPr>
        <p:spPr>
          <a:xfrm>
            <a:off x="4129088" y="2782888"/>
            <a:ext cx="885825" cy="1292225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3733" name="Rectangle 1"/>
          <p:cNvSpPr/>
          <p:nvPr/>
        </p:nvSpPr>
        <p:spPr>
          <a:xfrm>
            <a:off x="1956435" y="750570"/>
            <a:ext cx="7206615" cy="606107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µ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defTabSz="6858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韩旭明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暨南大学信息科学技术学院教授、</a:t>
            </a:r>
            <a:r>
              <a:rPr lang="zh-CN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博士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、博士生导师；</a:t>
            </a:r>
            <a:endParaRPr lang="zh-CN" altLang="en-US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研究方向：人工智能、机器学习、深度学习、协同智能与优化等</a:t>
            </a:r>
            <a:endParaRPr lang="zh-CN" altLang="en-US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具体包括：目标优化、强化学习、迁移学习、计算机视觉、演化学习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lang="en-US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深度模型剪枝、联邦学习、声纹识别、大数据分析、</a:t>
            </a:r>
            <a:endParaRPr lang="zh-CN" altLang="en-US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聚类分析、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CNN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BERT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ResNet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U-Net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生成式对抗深度模型及网络等。</a:t>
            </a:r>
            <a:endParaRPr lang="zh-CN" altLang="en-US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广东省计算机学会“物联网与网络专委会”副主任委员；</a:t>
            </a:r>
            <a:endParaRPr lang="zh-CN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中国机械工业教育协会“人工智能与大数据专业委员会”副主任委员</a:t>
            </a:r>
            <a:endParaRPr lang="zh-CN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吉林省“拔尖创新人才”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吉林省领军人才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吉林省“特色高水平学科计算机科学技术学科首席负责人”</a:t>
            </a:r>
            <a:endParaRPr lang="zh-CN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国家“一流本科专业”软件工程负责人。</a:t>
            </a:r>
            <a:endParaRPr lang="en-US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目前，已在国内外期刊和国际学术会议，如：《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Information Sciences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》《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IEEE Internet of Things Journal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》《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Swarm and Evolutionary Computation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》《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IEEE Transactions on Neural Networks and Learning Systems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》《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Artificial Intelligence Review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》《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Pattern Recognition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》《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Knowledge-Based Systems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》《计算机研究与发展》等发表学术论文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150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余篇；出版学术专著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部；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主持国家自然科学基金面上项目、国家社会科学基金项目、吉林省科技攻关项目、吉林省产业技术研究专项等省级各类项目共计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项。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获省科学技术进步奖、省教学成果奖、省科学技术奖等各类奖项</a:t>
            </a:r>
            <a:r>
              <a:rPr lang="en-US" altLang="zh-CN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1600" b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余项。</a:t>
            </a:r>
            <a:endParaRPr lang="zh-CN" altLang="en-US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16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联系方式：</a:t>
            </a:r>
            <a:r>
              <a:rPr lang="en-US" altLang="zh-CN" sz="1600" b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hanxuming@jnu.edu.cn</a:t>
            </a:r>
            <a:endParaRPr lang="zh-CN" altLang="en-US" sz="1600" b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defTabSz="685800">
              <a:lnSpc>
                <a:spcPts val="22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1600" b="0" dirty="0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3734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180" y="1844442"/>
            <a:ext cx="1576387" cy="2025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UNIT_PLACING_PICTURE_USER_VIEWPORT" val="{&quot;height&quot;:2185,&quot;width&quot;:1856}"/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2325.9984251968503,&quot;width&quot;:2295.6}"/>
</p:tagLst>
</file>

<file path=ppt/tags/tag4.xml><?xml version="1.0" encoding="utf-8"?>
<p:tagLst xmlns:p="http://schemas.openxmlformats.org/presentationml/2006/main">
  <p:tag name="KSO_WM_BEAUTIFY_FLAG" val=""/>
  <p:tag name="KSO_WM_UNIT_PLACING_PICTURE_USER_VIEWPORT" val="{&quot;height&quot;:4254,&quot;width&quot;:3310}"/>
</p:tagLst>
</file>

<file path=ppt/tags/tag5.xml><?xml version="1.0" encoding="utf-8"?>
<p:tagLst xmlns:p="http://schemas.openxmlformats.org/presentationml/2006/main">
  <p:tag name="COMMONDATA" val="eyJoZGlkIjoiMmNiZjk1NWEyMGY5OGFmYTIwY2NjYjdlMjc5N2RjNGEifQ=="/>
</p:tagLst>
</file>

<file path=ppt/theme/theme1.xml><?xml version="1.0" encoding="utf-8"?>
<a:theme xmlns:a="http://schemas.openxmlformats.org/drawingml/2006/main" name="Bold Stripes">
  <a:themeElements>
    <a:clrScheme name="">
      <a:dk1>
        <a:srgbClr val="000000"/>
      </a:dk1>
      <a:lt1>
        <a:srgbClr val="F36721"/>
      </a:lt1>
      <a:dk2>
        <a:srgbClr val="000000"/>
      </a:dk2>
      <a:lt2>
        <a:srgbClr val="EAEAEA"/>
      </a:lt2>
      <a:accent1>
        <a:srgbClr val="FFFFFF"/>
      </a:accent1>
      <a:accent2>
        <a:srgbClr val="DDDDDD"/>
      </a:accent2>
      <a:accent3>
        <a:srgbClr val="F8B8AB"/>
      </a:accent3>
      <a:accent4>
        <a:srgbClr val="000000"/>
      </a:accent4>
      <a:accent5>
        <a:srgbClr val="FFFFFF"/>
      </a:accent5>
      <a:accent6>
        <a:srgbClr val="C8C8C8"/>
      </a:accent6>
      <a:hlink>
        <a:srgbClr val="000000"/>
      </a:hlink>
      <a:folHlink>
        <a:srgbClr val="969696"/>
      </a:folHlink>
    </a:clrScheme>
    <a:fontScheme name="Bold Stripes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5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6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7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5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6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7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8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0000CC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5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6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7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8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9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0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1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2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3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FB737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4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993300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5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0000CC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16">
        <a:dk1>
          <a:srgbClr val="000000"/>
        </a:dk1>
        <a:lt1>
          <a:srgbClr val="F36721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8B8AB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006699"/>
        </a:hlink>
        <a:folHlink>
          <a:srgbClr val="DB034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13139</Words>
  <Application>WPS 演示</Application>
  <PresentationFormat>全屏显示(4:3)</PresentationFormat>
  <Paragraphs>878</Paragraphs>
  <Slides>72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5" baseType="lpstr">
      <vt:lpstr>Arial</vt:lpstr>
      <vt:lpstr>宋体</vt:lpstr>
      <vt:lpstr>Wingdings</vt:lpstr>
      <vt:lpstr>Verdana</vt:lpstr>
      <vt:lpstr>黑体</vt:lpstr>
      <vt:lpstr>Times New Roman</vt:lpstr>
      <vt:lpstr>华文行楷</vt:lpstr>
      <vt:lpstr>微软雅黑</vt:lpstr>
      <vt:lpstr>Arial Unicode MS</vt:lpstr>
      <vt:lpstr>Calibri</vt:lpstr>
      <vt:lpstr>Arial</vt:lpstr>
      <vt:lpstr>微软雅黑 Light</vt:lpstr>
      <vt:lpstr>Bold Stripes</vt:lpstr>
      <vt:lpstr>“十二五”普通高等教育本科国家级规划教材</vt:lpstr>
      <vt:lpstr>课程内容</vt:lpstr>
      <vt:lpstr>第1章 程序设计和C语言</vt:lpstr>
      <vt:lpstr>1.1 什么是计算机程序</vt:lpstr>
      <vt:lpstr>冯. 诺依曼原理 ---《计算机组成原理》</vt:lpstr>
      <vt:lpstr>冯. 诺依曼原理 ---《计算机组成原理》</vt:lpstr>
      <vt:lpstr>1.2 什么是计算机语言</vt:lpstr>
      <vt:lpstr>1.2 什么是计算机语言</vt:lpstr>
      <vt:lpstr>面向过程的语言-结构化程序设计方法</vt:lpstr>
      <vt:lpstr>面向对象的程序设计方法</vt:lpstr>
      <vt:lpstr>1.3  C语言的发展及其特点</vt:lpstr>
      <vt:lpstr>C语言的发展历程</vt:lpstr>
      <vt:lpstr>C语言的发展历程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1.3  C语言的发展及其特点</vt:lpstr>
      <vt:lpstr>1.4 最简单的C语言程序</vt:lpstr>
      <vt:lpstr>1.4 最简单的C语言程序</vt:lpstr>
      <vt:lpstr>1.4 最简单的C语言程序</vt:lpstr>
      <vt:lpstr>1.4 最简单的C语言程序</vt:lpstr>
      <vt:lpstr>1.4 最简单的C语言程序</vt:lpstr>
      <vt:lpstr>1.4 最简单的C语言程序</vt:lpstr>
      <vt:lpstr>1.4 最简单的C语言程序</vt:lpstr>
      <vt:lpstr>1.4 最简单的C语言程序</vt:lpstr>
      <vt:lpstr>1.4 最简单的C语言程序</vt:lpstr>
      <vt:lpstr>1.4 最简单的C语言程序</vt:lpstr>
      <vt:lpstr>1.4 最简单的C语言程序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1.7.1 基本符号集</vt:lpstr>
      <vt:lpstr>1.7.2 标识符</vt:lpstr>
      <vt:lpstr>1.7.2 标识符</vt:lpstr>
      <vt:lpstr>用户标识符</vt:lpstr>
      <vt:lpstr>1.7.2 标识符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谭浩强</dc:creator>
  <cp:lastModifiedBy>韩旭明</cp:lastModifiedBy>
  <cp:revision>818</cp:revision>
  <dcterms:created xsi:type="dcterms:W3CDTF">2002-12-29T13:24:00Z</dcterms:created>
  <dcterms:modified xsi:type="dcterms:W3CDTF">2025-10-09T05:50:30Z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78F899F9E7E4454189134EDB3978BA2B_12</vt:lpwstr>
  </property>
  <property fmtid="{D5CDD505-2E9C-101B-9397-08002B2CF9AE}" pid="3" name="KSOProductBuildVer">
    <vt:lpwstr>2052-12.1.0.21915</vt:lpwstr>
  </property>
</Properties>
</file>